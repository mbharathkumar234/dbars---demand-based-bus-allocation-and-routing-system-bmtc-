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1.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tableStyles1.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1.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5"/>
  </p:sldMasterIdLst>
  <p:notesMasterIdLst>
    <p:notesMasterId r:id="rId6"/>
  </p:notesMasterIdLst>
  <p:sldIdLst>
    <p:sldId id="256" r:id="rId7"/>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69" r:id="rId20"/>
  </p:sldIdLst>
  <p:sldSz cy="6858000" cx="9906000"/>
  <p:notesSz cx="6761150" cy="99425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A4A3A4"/>
          </p15:clr>
        </p15:guide>
        <p15:guide id="2" pos="3120">
          <p15:clr>
            <a:srgbClr val="A4A3A4"/>
          </p15:clr>
        </p15:guide>
      </p15:sldGuideLst>
    </p:ext>
    <p:ext uri="{2D200454-40CA-4A62-9FC3-DE9A4176ACB9}">
      <p15:notesGuideLst>
        <p15:guide id="1" orient="horz" pos="3132">
          <p15:clr>
            <a:srgbClr val="A4A3A4"/>
          </p15:clr>
        </p15:guide>
        <p15:guide id="2" pos="2130">
          <p15:clr>
            <a:srgbClr val="A4A3A4"/>
          </p15:clr>
        </p15:guide>
      </p15:notesGuideLst>
    </p:ext>
  </p:extLst>
</p:presentation>
</file>

<file path=ppt/presProps1.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1.xml><?xml version="1.0" encoding="utf-8"?>
<a:tblStyleLst xmlns:a="http://schemas.openxmlformats.org/drawingml/2006/main" xmlns:r="http://schemas.openxmlformats.org/officeDocument/2006/relationships" def="{90651C3A-4460-11DB-9652-00E08161165F}">
  <a:tblStyle styleId="{9B3D1C26-BEBA-40EB-B880-04AE644533D2}" styleName="Table_0">
    <a:wholeTbl>
      <a:tcTxStyle b="off" i="off">
        <a:font>
          <a:latin typeface="Calibri"/>
          <a:ea typeface="Calibri"/>
          <a:cs typeface="Calibri"/>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8ECF4"/>
          </a:solidFill>
        </a:fill>
      </a:tcStyle>
    </a:wholeTbl>
    <a:band1H>
      <a:tcTxStyle b="off" i="off"/>
      <a:tcStyle>
        <a:tcBdr/>
        <a:fill>
          <a:solidFill>
            <a:srgbClr val="CFD7E7"/>
          </a:solidFill>
        </a:fill>
      </a:tcStyle>
    </a:band1H>
    <a:band2H>
      <a:tcTxStyle b="off" i="off"/>
      <a:tcStyle>
        <a:tcBdr/>
      </a:tcStyle>
    </a:band2H>
    <a:band1V>
      <a:tcTxStyle b="off" i="off"/>
      <a:tcStyle>
        <a:tcBdr/>
        <a:fill>
          <a:solidFill>
            <a:srgbClr val="CFD7E7"/>
          </a:solidFill>
        </a:fill>
      </a:tcStyle>
    </a:band1V>
    <a:band2V>
      <a:tcTxStyle b="off" i="off"/>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b="off" i="off"/>
      <a:tcStyle>
        <a:tcBdr/>
      </a:tcStyle>
    </a:seCell>
    <a:swCell>
      <a:tcTxStyle b="off" i="off"/>
      <a:tcStyle>
        <a:tcBdr/>
      </a:tcStyle>
    </a:swCell>
    <a:firstRow>
      <a:tcTxStyle b="on" i="off">
        <a:font>
          <a:latin typeface="Calibri"/>
          <a:ea typeface="Calibri"/>
          <a:cs typeface="Calibri"/>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b="off" i="off"/>
      <a:tcStyle>
        <a:tcBdr/>
      </a:tcStyle>
    </a:neCell>
    <a:nwCell>
      <a:tcTxStyle b="off" i="off"/>
      <a:tcStyle>
        <a:tcBdr/>
      </a:tcStyle>
    </a:nwCell>
  </a:tblStyle>
  <a:tblStyle styleId="{9F6D2E3C-A018-442B-BF50-C8C78C53ADB0}" styleName="Table_1">
    <a:wholeTbl>
      <a:tcTxStyle b="off" i="off">
        <a:font>
          <a:latin typeface="Arial"/>
          <a:ea typeface="Arial"/>
          <a:cs typeface="Arial"/>
        </a:font>
        <a:srgbClr val="000000"/>
      </a:tcTxStyle>
      <a:tcStyle>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Lst>
</file>

<file path=ppt/viewProps1.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3120"/>
      </p:guideLst>
    </p:cSldViewPr>
  </p:slideViewPr>
  <p:notesViewPr>
    <p:cSldViewPr snapToGrid="0">
      <p:cViewPr varScale="1">
        <p:scale>
          <a:sx n="100" d="100"/>
          <a:sy n="100" d="100"/>
        </p:scale>
        <p:origin x="0" y="0"/>
      </p:cViewPr>
      <p:guideLst>
        <p:guide pos="3132" orient="horz"/>
        <p:guide pos="2130"/>
      </p:guideLst>
    </p:cSldViewPr>
  </p:notes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1.xml"/><Relationship Id="rId3" Type="http://schemas.openxmlformats.org/officeDocument/2006/relationships/presProps" Target="presProps1.xml"/><Relationship Id="rId4" Type="http://schemas.openxmlformats.org/officeDocument/2006/relationships/tableStyles" Target="tableStyles1.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29837" cy="497126"/>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29761" y="0"/>
            <a:ext cx="2929837" cy="497126"/>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8975" y="746125"/>
            <a:ext cx="5383213" cy="37274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76117" y="4722694"/>
            <a:ext cx="5408930" cy="4474131"/>
          </a:xfrm>
          <a:prstGeom prst="rect">
            <a:avLst/>
          </a:prstGeom>
          <a:noFill/>
          <a:ln>
            <a:noFill/>
          </a:ln>
        </p:spPr>
        <p:txBody>
          <a:bodyPr spcFirstLastPara="1" wrap="square" lIns="91425" tIns="45700" rIns="91425" bIns="45700" anchor="t" anchorCtr="0">
            <a:norm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9443662"/>
            <a:ext cx="2929837" cy="497126"/>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29761" y="9443662"/>
            <a:ext cx="2929837" cy="497126"/>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pPr marL="0" marR="0" lvl="0" indent="0" algn="r" rtl="0">
                <a:lnSpc>
                  <a:spcPct val="100000"/>
                </a:lnSpc>
                <a:spcBef>
                  <a:spcPts val="0"/>
                </a:spcBef>
                <a:spcAft>
                  <a:spcPts val="0"/>
                </a:spcAft>
                <a:buClr>
                  <a:srgbClr val="000000"/>
                </a:buClr>
                <a:buSzPts val="1200"/>
                <a:buFont typeface="Arial"/>
                <a:buNone/>
              </a:p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p15:notes"/>
          <p:cNvSpPr txBox="1">
            <a:spLocks noGrp="1"/>
          </p:cNvSpPr>
          <p:nvPr>
            <p:ph type="body" idx="1"/>
          </p:nvPr>
        </p:nvSpPr>
        <p:spPr>
          <a:xfrm>
            <a:off x="676117" y="4722694"/>
            <a:ext cx="5408930" cy="4474131"/>
          </a:xfrm>
          <a:prstGeom prst="rect">
            <a:avLst/>
          </a:prstGeom>
          <a:noFill/>
          <a:ln>
            <a:noFill/>
          </a:ln>
        </p:spPr>
        <p:txBody>
          <a:bodyPr spcFirstLastPara="1" wrap="square" lIns="91425" tIns="45700" rIns="91425" bIns="45700" anchor="t" anchorCtr="0">
            <a:noAutofit/>
          </a:bodyPr>
          <a:lstStyle/>
          <a:p>
            <a:r>
              <a:t>CLOSE (15 seconds). Thank the panel and invite questions. Likely questions and honest answers:</a:t>
            </a:r>
          </a:p>
          <a:p>
            <a:r>
              <a:t>1) Where is the AI? The routing engine has none: classical retrieval and graph search. The planned assistant is read-only and cites sources.</a:t>
            </a:r>
          </a:p>
          <a:p>
            <a:r>
              <a:t>2) What is new versus Namma BMTC 2.0, Moovit or Google Maps? They serve riders; DBARS adds the operator side (demand to dispatch, fleet and crew, waybills, reimbursement) and open data, and complements them.</a:t>
            </a:r>
          </a:p>
          <a:p>
            <a:r>
              <a:t>3) How will accuracy be judged? Acceptance targets on slide 15, with a metric that can fail.</a:t>
            </a:r>
          </a:p>
          <a:p>
            <a:r>
              <a:t>4) Will BMTC give data? The pilot asks for one depot's rosters and a vehicle feed; without them the plan still runs on the published timetable.</a:t>
            </a:r>
          </a:p>
          <a:p>
            <a:r>
              <a:t>5) How much have you done already? Answer truthfully. This deck is deliberately about the idea and the plan; do not claim that nothing exists if you have working code, and do not present it as a finished result either.</a:t>
            </a:r>
          </a:p>
        </p:txBody>
      </p:sp>
      <p:sp>
        <p:nvSpPr>
          <p:cNvPr id="162" name="Google Shape;162;p15:notes"/>
          <p:cNvSpPr>
            <a:spLocks noGrp="1" noRot="1" noChangeAspect="1"/>
          </p:cNvSpPr>
          <p:nvPr>
            <p:ph type="sldImg" idx="2"/>
          </p:nvPr>
        </p:nvSpPr>
        <p:spPr>
          <a:xfrm>
            <a:off x="688975" y="746125"/>
            <a:ext cx="5383213" cy="37274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OPENING (30 seconds). Good morning. We are proposing DBARS, the Demand Based Bus Allocation and Routing System, for BMTC. The idea in one line: one published timetable, three products. A journey planner for commuters, a fleet and crew planner for depot managers, and an open data feed for the wider ecosystem. We will show why the idea is worth a final-year project, how we will do it in 16 weeks, and what makes it different from the apps that already exist.</a:t>
            </a:r>
          </a:p>
          <a:p/>
          <a:p>
            <a:r>
              <a:t>Before presenting: fill in student names, registration numbers, batch number and guide details (highlighted in yellow), then remove the highlight.</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ROADMAP (20 seconds). We follow the standard pre-project format: introduction, literature survey and gaps, problem statement, objectives, methodology. We then add four slides that matter for approval: the planned features, a fair comparison with existing services, why DBARS is unique, and the value for BMTC. The plan closes with the Gantt chart, the risks and how we will manage them, and the conclusion.</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INTRODUCTION (1 minute). Domain: urban public transport, BMTC in Bengaluru, a fleet of over 7,000 buses (Sustainable Bus, September 2025). Why it matters: buses are the mass-mobility service. General issue: commuter apps such as Namma BMTC 2.0, Moovit and Google-type planners already cover trip planning, tracking and tickets, so we are NOT proposing to rebuild them. The unaddressed side is the operator's: fleet, crew and demand. Why now: Shakti (June 2023) changed ridership; an Azim Premji University report analysed 28.9 million trips over 27 months.</a:t>
            </a:r>
          </a:p>
          <a:p/>
          <a:p>
            <a:r>
              <a:t>The dataset numbers (6,737 route-directions, 3,940 bus numbers, 4,883 stops) describe the BMTC timetable we will work from; '44 depots' is the depot list we plan against. They are inputs, not results.</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LITERATURE SURVEY, part 1 (1 minute). Twelve sources, eleven peer-reviewed journal articles and one university report, all 2020 to 2025. Say: 'We surveyed three themes: journey planning and GTFS, vehicle and crew scheduling, and Bengaluru-specific demand and policy.'</a:t>
            </a:r>
          </a:p>
          <a:p/>
          <a:p>
            <a:r>
              <a:t>Key contrast: [1] ULTRA optimises the passenger side only. [4], [5] and [6] optimise the operator side, but on small instances (six lines, up to 30 trips, up to 595 shifts) and separately from any commuter tool. DBARS proposes to compute both from one dataset.</a:t>
            </a:r>
          </a:p>
          <a:p/>
          <a:p>
            <a:r>
              <a:t>If asked why not exact methods: [5] reports exact MILP results on instances of up to 30 trips, while a city timetable has thousands of trips, so we plan greedy chaining plus a hard lower bound (peak concurrent trips) to show how close to minimal the result is.</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LITERATURE SURVEY, part 2 (1 minute). Papers [8] and [9] are Bengaluru-specific and use BMTC data: ridership responds to frequency (with diminishing returns) and irregular headways reduce boardings. [12] documents the Shakti surge. [10] and [11] explain two planned design choices: honest ETA when live data is missing, and an assistant that only answers from retrieved evidence.</a:t>
            </a:r>
          </a:p>
          <a:p/>
          <a:p>
            <a:r>
              <a:t>Note for panel: [12] is an institutional report, not a journal article; the other eleven are peer-reviewed journal papers published between 2020 and 2025.</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RESEARCH GAPS (1 minute). A research gap is what existing work has not addressed, and it is the bridge to our project. G1: the two sides are studied separately. G2: scheduling papers use small instances; we aim at the whole network. G3: GTFS studies stop at static schedules; we plan a feed with alerts and honest labels for estimated values. G4: demand studies are offline; nobody feeds commuter demand into depot decisions.</a:t>
            </a:r>
          </a:p>
          <a:p/>
          <a:p>
            <a:r>
              <a:t>Caution: these are gaps in the twelve papers we surveyed, not a claim about all literature. If challenged, say 'in the surveyed work'. Also be aware that a static BMTC GTFS schedule feed is already listed on the Mobility Database [18]; we do not claim otherwise, we plan to extend it.</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PROBLEM STATEMENT (45 seconds). Read the statement, then point to the three tiles: the commuter's question, the operator's question and the ecosystem's question. Then explain the title: 'Demand Based Bus Allocation' is the planned voting loop from commuters to depot recommendations, and 'Routing System' is the journey planner.</a:t>
            </a:r>
          </a:p>
          <a:p/>
          <a:p>
            <a:r>
              <a:t>For the ecosystem tile: a static BMTC GTFS schedule feed is listed on the Mobility Database (feed mdb-2595). Say 'static schedule', and that we add alerts and honest labelling. Do not say that no feed exists.</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OBJECTIVES (1 minute). Four objectives, each starting with an infinitive verb and each with a measurable success target so the panel can judge the project at the end.</a:t>
            </a:r>
          </a:p>
          <a:p/>
          <a:p>
            <a:r>
              <a:t>1) Develop: journey planner; targets are the acceptance thresholds we will enforce: best-option rate at least 0.70, within 2 stops at least 0.92, p90 latency at most 1.6 s.</a:t>
            </a:r>
          </a:p>
          <a:p>
            <a:r>
              <a:t>2) Establish: operations planner, with a hard lower bound so we can say how close to minimal the fleet is.</a:t>
            </a:r>
          </a:p>
          <a:p>
            <a:r>
              <a:t>3) Analyse: demand loop plus money handling: fare value versus fare collected for Shakti.</a:t>
            </a:r>
          </a:p>
          <a:p>
            <a:r>
              <a:t>4) Publish and evaluate: GTFS export and an honest evaluation, where the headline metric can fail.</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METHODOLOGY (2 minutes). Read as objective, how, why.</a:t>
            </a:r>
          </a:p>
          <a:p/>
          <a:p>
            <a:r>
              <a:t>1) Search: for every route and every ordered pair of stops (i before j) we store the route, so a direct journey is a dictionary lookup. Transfers intersect the routes serving each end but reject any changeover more than 1.2 km apart, because Bengaluru reuses stop names. Anchored resolution keeps a map from drawing a wrong, longer path.</a:t>
            </a:r>
          </a:p>
          <a:p>
            <a:r>
              <a:t>2) Operations: greedy blocking is optimal without an idle cap; the peak-concurrency bound is the hard floor. Crew duties are cut with dynamic programming and paired greedily.</a:t>
            </a:r>
          </a:p>
          <a:p>
            <a:r>
              <a:t>3) Demand and money: four fraud heuristics; Shakti keeps fare value and fare collected separate; offline sync is idempotent.</a:t>
            </a:r>
          </a:p>
          <a:p>
            <a:r>
              <a:t>4) Open data: mark every interpolated stop time as not exact; never publish simulated positions as live.</a:t>
            </a:r>
          </a:p>
          <a:p/>
          <a:p>
            <a:r>
              <a:t>Why not machine learning? The routing engine is classical information retrieval and graph search, benchmarked against baseline rankers. Say this clearly: a professor will ask 'where is the AI?'</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PROPOSED ARCHITECTURE (1 minute 30 seconds). Four layers with a one-way dependency rule: API (HTTP only) calls services (business rules, the only place the database is touched), which call engines (pure computation over files) and data.</a:t>
            </a:r>
          </a:p>
          <a:p/>
          <a:p>
            <a:r>
              <a:t>The key design decision: engines read files, not the database. If MongoDB is down, people can still find their bus; only logins and tickets stop. This is a deliberate resilience choice for a public service.</a:t>
            </a:r>
          </a:p>
          <a:p/>
          <a:p>
            <a:r>
              <a:t>The AI layer is additive and read-only: it retrieves and cites, and it cannot change any operational data. Do not call the project LLM-powered; the routing engine is classical search.</a:t>
            </a:r>
          </a:p>
          <a:p/>
          <a:p>
            <a:r>
              <a:t>Stack choices are proposals; they were chosen for fast development, strong typing, and easy deployment with Docker.</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PLANNED FEATURES (1 minute 30 seconds). Walk the four columns left to right; every item is a feature we plan to build.</a:t>
            </a:r>
          </a:p>
          <a:p/>
          <a:p>
            <a:r>
              <a:t>Commuter: journey search with transfers, fares, maps and Metro links, four languages and an SMS channel for feature phones, votes for routes, QR tickets. Conductor: works offline, sync cannot double-count, cash variance is reported and never silently corrected, Shakti trips keep both the fare value and the fare collected. Depot manager and HQ: the operator-side tools consumer apps do not describe: minimum fleet, crew duties, what-if scenarios, ranked demand recommendations, reimbursement reporting, audit log. Open data and admin: GTFS and GTFS-Realtime alerts; vehicle positions only ever published if live.</a:t>
            </a:r>
          </a:p>
          <a:p/>
          <a:p>
            <a:r>
              <a:t>Four design rules cut across everything: label data honestly, work offline, keep AI read-only, use open standards.</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EXISTING SERVICES VS DBARS (1 minute 30 seconds). Be generous to the competition; the panel will trust us more.</a:t>
            </a:r>
          </a:p>
          <a:p/>
          <a:p>
            <a:r>
              <a:t>What exists: Namma BMTC 2.0 (launched September 2026) offers digital bus and Metro tickets, an NCMC card, passes, live tracking with ETA, a bus-plus-Metro journey planner and Kannada and English [14, 15]. Moovit lists BMTC schedules, routes, real-time arrivals and trip planning [16]. Chalo offers live tracking, mobile tickets and passes, but its cities page does not list Bengaluru [17]. A static BMTC GTFS schedule feed is listed on the Mobility Database [18].</a:t>
            </a:r>
          </a:p>
          <a:p/>
          <a:p>
            <a:r>
              <a:t>So journey planning, tracking and ticketing are NOT our differentiators; we say we will match them. The rows that matter are 4 to 6: demand to dispatch, fleet and crew planning, and the conductor and cash path. These are operator back-office functions that the consumer apps' public descriptions do not mention.</a:t>
            </a:r>
          </a:p>
          <a:p/>
          <a:p>
            <a:r>
              <a:t>Caution: the wording is 'not described', never 'does not have'. If a panel member says Namma BMTC 2.0 already does something on the slide, agree and move to the rows they do not cover. Note: sources conflict on who developed Namma BMTC 2.0, so do not attribute it to a company.</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WHY UNIQUE (1 minute 30 seconds). This is the slide that answers 'why continue with this idea?'</a:t>
            </a:r>
          </a:p>
          <a:p/>
          <a:p>
            <a:r>
              <a:t>Five reasons, in order of strength. 1) The closed loop from demand to dispatch: none of the public descriptions of the existing apps mention it, and it is the reason for the project's name. 2) One dataset for both sides. 3) The money path: Shakti reimbursement needs the full fare value of free rides; offline conductor sales need idempotent sync; cash variance must be visible, not hidden. 4) Honest labels: we never present simulated positions as live. 5) Open and inclusive.</a:t>
            </a:r>
          </a:p>
          <a:p/>
          <a:p>
            <a:r>
              <a:t>Positioning matters when pitching to BMTC: we complement Namma BMTC 2.0 rather than replace it. For the academic panel, the uniqueness is also the research contribution: operator-side scheduling and rider-side search from one dataset, which the surveyed literature treats separately (gap G1).</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SDGs (45 seconds). Primary goal is SDG 11, target 11.2 on affordable, accessible and sustainable transport. Supporting goals: SDG 9 (reliable, resilient infrastructure), SDG 5 (target 5.b, enabling technology for women's empowerment, via Shakti-aware ticketing) and SDG 16 (target 16.6, accountable and transparent institutions, via the audit log and honest data labelling).</a:t>
            </a:r>
          </a:p>
          <a:p/>
          <a:p>
            <a:r>
              <a:t>Be modest on SDG 5: the project will support the free-travel entitlement digitally; it does not verify eligibility (self-declared in the current plan; identity verification is a later extension).</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EXPECTED OUTCOMES (1 minute). Four categories as the template requires: functional, performance, practical impact and extension.</a:t>
            </a:r>
          </a:p>
          <a:p/>
          <a:p>
            <a:r>
              <a:t>The performance targets are acceptance thresholds we will enforce in an automated accuracy check; the check fails the build if the headline metric slips. Explain the metrics: 'best-option rate' is how often the best valid bus is ranked first; 'within 2 stops' is how often the top result is within two stops of the best; 'mean percentile rank' is the average position of the best option (lower is better); 'coverage' is how often any valid bus is returned. We deliberately do NOT headline coverage, because it is easy to satisfy.</a:t>
            </a:r>
          </a:p>
          <a:p/>
          <a:p>
            <a:r>
              <a:t>The 2.0 to 2.5 crew-to-bus range for real transport undertakings is a rule-of-thumb figure we will use as a sanity check on the crew plan.</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VALUE FOR BMTC (1 minute 30 seconds). This is the pitch slide. Open with the contrast: consumer apps answer the rider's question; nobody, in the public descriptions we reviewed, answers the operator's question from the same data.</a:t>
            </a:r>
          </a:p>
          <a:p/>
          <a:p>
            <a:r>
              <a:t>Three audiences: commuters, depot managers and HQ, and the ecosystem. Stress the trust features: cash variance is reported and never silently corrected; simulated vehicle positions are never published as real.</a:t>
            </a:r>
          </a:p>
          <a:p/>
          <a:p>
            <a:r>
              <a:t>The pilot is a PROPOSAL. Ask BMTC for three things: one depot's actual rosters for comparison, access to a vehicle-location feed, and a few routes for a conductor pilot.</a:t>
            </a:r>
          </a:p>
          <a:p/>
          <a:p>
            <a:r>
              <a:t>Do not quote rupee savings: we have no measured savings figure, and inventing one would not survive a question.</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GANTT CHART (30 seconds). The 16-week plan groups the work into six phases: data and survey; journey engine; operations engines (vehicle blocking, crew duties); platform services (auth, votes, tickets, waybills); open data and interface (GTFS, tracking, React); evaluation, assistant and release (tests, CI, deployment).</a:t>
            </a:r>
          </a:p>
          <a:p/>
          <a:p>
            <a:r>
              <a:t>Review points are suggested for weeks 4, 8, 12 and 16 so the guide and panel can check progress. The plan is ordered so the core (journey search and fleet planning) is delivered first and the extras (assistant, extra languages) last; if time runs short, the extras slip and the core does not.</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RISKS AND MITIGATION (1 minute). Naming risks up front shows the panel we have thought about delivery.</a:t>
            </a:r>
          </a:p>
          <a:p/>
          <a:p>
            <a:r>
              <a:t>Biggest risk: no live vehicle feed. We do not depend on it: the adapter interface lets BMTC's feed plug in later, and until then positions are labelled as estimates. Second: fleet and crew numbers are modelled under stated assumptions, so the pilot step compares them with real rosters. Others are engineering risks with concrete mitigations. The scope risk is handled by the phased plan: core first, extras last.</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CONCLUSION (45 seconds). Answer the template's four questions: what problem, why relevant, what outcome, why feasible. Feasibility rests on four things: the data inputs are available, the methods are established in the literature, the technology is standard, and the plan is phased with the core first.</a:t>
            </a:r>
          </a:p>
          <a:p/>
          <a:p>
            <a:r>
              <a:t>Close on the ask: 'We request approval to proceed with DBARS as our final-year project.' Then the one-line idea: both sides of the same question, from one dataset.</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REFERENCES. Twelve literature sources plus web sources. [1]-[11] are peer-reviewed journal articles (2020 to 2025) and [12] is a university report. [13]-[19] are web sources used for the SDG wording and for the comparison with existing services, accessed September 2026: app-store and news descriptions, Moovit's BMTC page, Chalo's cities page, the Mobility Database listing of a static BMTC GTFS feed, and the fleet-size report.</a:t>
            </a:r>
          </a:p>
          <a:p/>
          <a:p>
            <a:r>
              <a:t>The project data itself (BMTC published timetable, stop coordinates, fare table, Namma Metro network) is in the dataset folder of the repository and is not a literature reference.</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6"/>
        <p:cNvGrpSpPr/>
        <p:nvPr/>
      </p:nvGrpSpPr>
      <p:grpSpPr>
        <a:xfrm>
          <a:off x="0" y="0"/>
          <a:ext cx="0" cy="0"/>
          <a:chOff x="0" y="0"/>
          <a:chExt cx="0" cy="0"/>
        </a:xfrm>
      </p:grpSpPr>
      <p:sp>
        <p:nvSpPr>
          <p:cNvPr id="17" name="Google Shape;17;p17"/>
          <p:cNvSpPr txBox="1">
            <a:spLocks noGrp="1"/>
          </p:cNvSpPr>
          <p:nvPr>
            <p:ph type="ctrTitle"/>
          </p:nvPr>
        </p:nvSpPr>
        <p:spPr>
          <a:xfrm>
            <a:off x="742950" y="2130426"/>
            <a:ext cx="8420100" cy="1470025"/>
          </a:xfrm>
          <a:prstGeom prst="rect">
            <a:avLst/>
          </a:prstGeom>
          <a:noFill/>
          <a:ln>
            <a:noFill/>
          </a:ln>
        </p:spPr>
        <p:txBody>
          <a:bodyPr spcFirstLastPara="1" wrap="square" lIns="91425" tIns="45700" rIns="91425" bIns="45700" anchor="t" anchorCtr="0">
            <a:noAutofit/>
          </a:bodyPr>
          <a:lstStyle>
            <a:lvl1pPr marR="0" lvl="0" algn="ctr" rtl="0">
              <a:lnSpc>
                <a:spcPct val="10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8" name="Google Shape;18;p17"/>
          <p:cNvSpPr txBox="1">
            <a:spLocks noGrp="1"/>
          </p:cNvSpPr>
          <p:nvPr>
            <p:ph type="subTitle" idx="1"/>
          </p:nvPr>
        </p:nvSpPr>
        <p:spPr>
          <a:xfrm>
            <a:off x="1485900" y="3886200"/>
            <a:ext cx="6934200" cy="1752600"/>
          </a:xfrm>
          <a:prstGeom prst="rect">
            <a:avLst/>
          </a:prstGeom>
          <a:noFill/>
          <a:ln>
            <a:noFill/>
          </a:ln>
        </p:spPr>
        <p:txBody>
          <a:bodyPr spcFirstLastPara="1" wrap="square" lIns="91425" tIns="45700" rIns="91425" bIns="45700" anchor="t" anchorCtr="0">
            <a:noAutofit/>
          </a:bodyPr>
          <a:lstStyle>
            <a:lvl1pPr marR="0" lvl="0" algn="ctr" rtl="0">
              <a:lnSpc>
                <a:spcPct val="100000"/>
              </a:lnSpc>
              <a:spcBef>
                <a:spcPts val="640"/>
              </a:spcBef>
              <a:spcAft>
                <a:spcPts val="0"/>
              </a:spcAft>
              <a:buClr>
                <a:srgbClr val="888888"/>
              </a:buClr>
              <a:buSzPts val="3200"/>
              <a:buFont typeface="Arial"/>
              <a:buNone/>
              <a:defRPr sz="3200" b="0" i="0" u="none" strike="noStrike" cap="none">
                <a:solidFill>
                  <a:srgbClr val="888888"/>
                </a:solidFill>
                <a:latin typeface="Calibri"/>
                <a:ea typeface="Calibri"/>
                <a:cs typeface="Calibri"/>
                <a:sym typeface="Calibri"/>
              </a:defRPr>
            </a:lvl1pPr>
            <a:lvl2pPr marR="0" lvl="1" algn="ctr" rtl="0">
              <a:lnSpc>
                <a:spcPct val="100000"/>
              </a:lnSpc>
              <a:spcBef>
                <a:spcPts val="560"/>
              </a:spcBef>
              <a:spcAft>
                <a:spcPts val="0"/>
              </a:spcAft>
              <a:buClr>
                <a:srgbClr val="888888"/>
              </a:buClr>
              <a:buSzPts val="2800"/>
              <a:buFont typeface="Arial"/>
              <a:buNone/>
              <a:defRPr sz="2800" b="0" i="0" u="none" strike="noStrike" cap="none">
                <a:solidFill>
                  <a:srgbClr val="888888"/>
                </a:solidFill>
                <a:latin typeface="Calibri"/>
                <a:ea typeface="Calibri"/>
                <a:cs typeface="Calibri"/>
                <a:sym typeface="Calibri"/>
              </a:defRPr>
            </a:lvl2pPr>
            <a:lvl3pPr marR="0" lvl="2" algn="ctr" rtl="0">
              <a:lnSpc>
                <a:spcPct val="100000"/>
              </a:lnSpc>
              <a:spcBef>
                <a:spcPts val="48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3pPr>
            <a:lvl4pPr marR="0" lvl="3"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4pPr>
            <a:lvl5pPr marR="0" lvl="4"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5pPr>
            <a:lvl6pPr marR="0" lvl="5"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6pPr>
            <a:lvl7pPr marR="0" lvl="6"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7pPr>
            <a:lvl8pPr marR="0" lvl="7"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8pPr>
            <a:lvl9pPr marR="0" lvl="8"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9pPr>
          </a:lstStyle>
          <a:p>
            <a:endParaRPr/>
          </a:p>
        </p:txBody>
      </p:sp>
      <p:sp>
        <p:nvSpPr>
          <p:cNvPr id="19" name="Google Shape;19;p17"/>
          <p:cNvSpPr txBox="1">
            <a:spLocks noGrp="1"/>
          </p:cNvSpPr>
          <p:nvPr>
            <p:ph type="dt" idx="10"/>
          </p:nvPr>
        </p:nvSpPr>
        <p:spPr>
          <a:xfrm>
            <a:off x="495300" y="6356351"/>
            <a:ext cx="2311400" cy="365125"/>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17"/>
          <p:cNvSpPr txBox="1">
            <a:spLocks noGrp="1"/>
          </p:cNvSpPr>
          <p:nvPr>
            <p:ph type="ftr" idx="11"/>
          </p:nvPr>
        </p:nvSpPr>
        <p:spPr>
          <a:xfrm>
            <a:off x="3384550" y="6356351"/>
            <a:ext cx="3136900" cy="365125"/>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21" name="Google Shape;21;p17"/>
          <p:cNvSpPr txBox="1">
            <a:spLocks noGrp="1"/>
          </p:cNvSpPr>
          <p:nvPr>
            <p:ph type="sldNum" idx="12"/>
          </p:nvPr>
        </p:nvSpPr>
        <p:spPr>
          <a:xfrm>
            <a:off x="7099300" y="6356351"/>
            <a:ext cx="2311400" cy="365125"/>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9pPr>
          </a:lstStyle>
          <a:p>
            <a:pPr marL="0" lvl="0" indent="0" algn="l" rtl="0">
              <a:spcBef>
                <a:spcPts val="0"/>
              </a:spcBef>
              <a:spcAft>
                <a:spcPts val="0"/>
              </a:spcAft>
              <a:buNone/>
            </a:pPr>
            <a:fld id="{00000000-1234-1234-1234-123412341234}" type="slidenum">
              <a:rPr lang="en-US"/>
              <a:pPr marL="0" lvl="0" indent="0" algn="l" rtl="0">
                <a:spcBef>
                  <a:spcPts val="0"/>
                </a:spcBef>
                <a:spcAft>
                  <a:spcPts val="0"/>
                </a:spcAft>
                <a:buNone/>
              </a:pPr>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2"/>
        <p:cNvGrpSpPr/>
        <p:nvPr/>
      </p:nvGrpSpPr>
      <p:grpSpPr>
        <a:xfrm>
          <a:off x="0" y="0"/>
          <a:ext cx="0" cy="0"/>
          <a:chOff x="0" y="0"/>
          <a:chExt cx="0" cy="0"/>
        </a:xfrm>
      </p:grpSpPr>
      <p:sp>
        <p:nvSpPr>
          <p:cNvPr id="23" name="Google Shape;23;p18"/>
          <p:cNvSpPr txBox="1">
            <a:spLocks noGrp="1"/>
          </p:cNvSpPr>
          <p:nvPr>
            <p:ph type="title"/>
          </p:nvPr>
        </p:nvSpPr>
        <p:spPr>
          <a:xfrm>
            <a:off x="495300" y="274638"/>
            <a:ext cx="8915400" cy="1143000"/>
          </a:xfrm>
          <a:prstGeom prst="rect">
            <a:avLst/>
          </a:prstGeom>
          <a:noFill/>
          <a:ln>
            <a:noFill/>
          </a:ln>
        </p:spPr>
        <p:txBody>
          <a:bodyPr spcFirstLastPara="1" wrap="square" lIns="91425" tIns="45700" rIns="91425" bIns="45700" anchor="t" anchorCtr="0">
            <a:noAutofit/>
          </a:bodyPr>
          <a:lstStyle>
            <a:lvl1pPr marR="0" lvl="0" algn="ctr" rtl="0">
              <a:lnSpc>
                <a:spcPct val="10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24" name="Google Shape;24;p18"/>
          <p:cNvSpPr txBox="1">
            <a:spLocks noGrp="1"/>
          </p:cNvSpPr>
          <p:nvPr>
            <p:ph type="body" idx="1"/>
          </p:nvPr>
        </p:nvSpPr>
        <p:spPr>
          <a:xfrm>
            <a:off x="495300" y="1600201"/>
            <a:ext cx="8915400" cy="4525963"/>
          </a:xfrm>
          <a:prstGeom prst="rect">
            <a:avLst/>
          </a:prstGeom>
          <a:noFill/>
          <a:ln>
            <a:noFill/>
          </a:ln>
        </p:spPr>
        <p:txBody>
          <a:bodyPr spcFirstLastPara="1" wrap="square" lIns="91425" tIns="45700" rIns="91425" bIns="45700" anchor="t" anchorCtr="0">
            <a:noAutofit/>
          </a:bodyPr>
          <a:lstStyle>
            <a:lvl1pPr marL="457200" marR="0" lvl="0" indent="-431800" algn="l" rtl="0">
              <a:lnSpc>
                <a:spcPct val="100000"/>
              </a:lnSpc>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100000"/>
              </a:lnSpc>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25" name="Google Shape;25;p18"/>
          <p:cNvSpPr txBox="1">
            <a:spLocks noGrp="1"/>
          </p:cNvSpPr>
          <p:nvPr>
            <p:ph type="dt" idx="10"/>
          </p:nvPr>
        </p:nvSpPr>
        <p:spPr>
          <a:xfrm>
            <a:off x="519336" y="6308727"/>
            <a:ext cx="2311400" cy="365125"/>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18"/>
          <p:cNvSpPr txBox="1">
            <a:spLocks noGrp="1"/>
          </p:cNvSpPr>
          <p:nvPr>
            <p:ph type="ftr" idx="11"/>
          </p:nvPr>
        </p:nvSpPr>
        <p:spPr>
          <a:xfrm>
            <a:off x="3384550" y="6356351"/>
            <a:ext cx="3136900" cy="365125"/>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27" name="Google Shape;27;p18"/>
          <p:cNvSpPr txBox="1">
            <a:spLocks noGrp="1"/>
          </p:cNvSpPr>
          <p:nvPr>
            <p:ph type="sldNum" idx="12"/>
          </p:nvPr>
        </p:nvSpPr>
        <p:spPr>
          <a:xfrm>
            <a:off x="7099300" y="6356351"/>
            <a:ext cx="2311400" cy="365125"/>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9pPr>
          </a:lstStyle>
          <a:p>
            <a:pPr marL="0" lvl="0" indent="0" algn="l" rtl="0">
              <a:spcBef>
                <a:spcPts val="0"/>
              </a:spcBef>
              <a:spcAft>
                <a:spcPts val="0"/>
              </a:spcAft>
              <a:buNone/>
            </a:pPr>
            <a:fld id="{00000000-1234-1234-1234-123412341234}" type="slidenum">
              <a:rPr lang="en-US"/>
              <a:pPr marL="0" lvl="0" indent="0" algn="l" rtl="0">
                <a:spcBef>
                  <a:spcPts val="0"/>
                </a:spcBef>
                <a:spcAft>
                  <a:spcPts val="0"/>
                </a:spcAft>
                <a:buNone/>
              </a:pPr>
              <a:t>‹#›</a:t>
            </a:fld>
            <a:endParaRPr/>
          </a:p>
        </p:txBody>
      </p:sp>
      <p:sp>
        <p:nvSpPr>
          <p:cNvPr id="28" name="Google Shape;28;p18"/>
          <p:cNvSpPr/>
          <p:nvPr/>
        </p:nvSpPr>
        <p:spPr>
          <a:xfrm>
            <a:off x="200472" y="6721476"/>
            <a:ext cx="294828" cy="91900"/>
          </a:xfrm>
          <a:prstGeom prst="rect">
            <a:avLst/>
          </a:prstGeom>
          <a:solidFill>
            <a:srgbClr val="FF0000"/>
          </a:solidFill>
          <a:ln w="25400" cap="flat" cmpd="sng">
            <a:solidFill>
              <a:srgbClr val="FF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pic>
        <p:nvPicPr>
          <p:cNvPr id="29" name="Google Shape;29;p18"/>
          <p:cNvPicPr preferRelativeResize="0"/>
          <p:nvPr/>
        </p:nvPicPr>
        <p:blipFill rotWithShape="1">
          <a:blip r:embed="rId2">
            <a:alphaModFix/>
          </a:blip>
          <a:srcRect/>
          <a:stretch/>
        </p:blipFill>
        <p:spPr>
          <a:xfrm>
            <a:off x="272480" y="6705906"/>
            <a:ext cx="2416616" cy="152094"/>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0"/>
        <p:cNvGrpSpPr/>
        <p:nvPr/>
      </p:nvGrpSpPr>
      <p:grpSpPr>
        <a:xfrm>
          <a:off x="0" y="0"/>
          <a:ext cx="0" cy="0"/>
          <a:chOff x="0" y="0"/>
          <a:chExt cx="0" cy="0"/>
        </a:xfrm>
      </p:grpSpPr>
      <p:sp>
        <p:nvSpPr>
          <p:cNvPr id="31" name="Google Shape;31;p19"/>
          <p:cNvSpPr txBox="1">
            <a:spLocks noGrp="1"/>
          </p:cNvSpPr>
          <p:nvPr>
            <p:ph type="title"/>
          </p:nvPr>
        </p:nvSpPr>
        <p:spPr>
          <a:xfrm>
            <a:off x="495300" y="274638"/>
            <a:ext cx="8915400" cy="1143000"/>
          </a:xfrm>
          <a:prstGeom prst="rect">
            <a:avLst/>
          </a:prstGeom>
          <a:noFill/>
          <a:ln>
            <a:noFill/>
          </a:ln>
        </p:spPr>
        <p:txBody>
          <a:bodyPr spcFirstLastPara="1" wrap="square" lIns="91425" tIns="45700" rIns="91425" bIns="45700" anchor="t" anchorCtr="0">
            <a:noAutofit/>
          </a:bodyPr>
          <a:lstStyle>
            <a:lvl1pPr marR="0" lvl="0" algn="ctr" rtl="0">
              <a:lnSpc>
                <a:spcPct val="10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32" name="Google Shape;32;p19"/>
          <p:cNvSpPr txBox="1">
            <a:spLocks noGrp="1"/>
          </p:cNvSpPr>
          <p:nvPr>
            <p:ph type="dt" idx="10"/>
          </p:nvPr>
        </p:nvSpPr>
        <p:spPr>
          <a:xfrm>
            <a:off x="495300" y="6356351"/>
            <a:ext cx="2311400" cy="365125"/>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33" name="Google Shape;33;p19"/>
          <p:cNvSpPr txBox="1">
            <a:spLocks noGrp="1"/>
          </p:cNvSpPr>
          <p:nvPr>
            <p:ph type="ftr" idx="11"/>
          </p:nvPr>
        </p:nvSpPr>
        <p:spPr>
          <a:xfrm>
            <a:off x="3384550" y="6356351"/>
            <a:ext cx="3136900" cy="365125"/>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34" name="Google Shape;34;p19"/>
          <p:cNvSpPr txBox="1">
            <a:spLocks noGrp="1"/>
          </p:cNvSpPr>
          <p:nvPr>
            <p:ph type="sldNum" idx="12"/>
          </p:nvPr>
        </p:nvSpPr>
        <p:spPr>
          <a:xfrm>
            <a:off x="7099300" y="6356351"/>
            <a:ext cx="2311400" cy="365125"/>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9pPr>
          </a:lstStyle>
          <a:p>
            <a:pPr marL="0" lvl="0" indent="0" algn="l" rtl="0">
              <a:spcBef>
                <a:spcPts val="0"/>
              </a:spcBef>
              <a:spcAft>
                <a:spcPts val="0"/>
              </a:spcAft>
              <a:buNone/>
            </a:pPr>
            <a:fld id="{00000000-1234-1234-1234-123412341234}" type="slidenum">
              <a:rPr lang="en-US"/>
              <a:pPr marL="0" lvl="0" indent="0" algn="l" rtl="0">
                <a:spcBef>
                  <a:spcPts val="0"/>
                </a:spcBef>
                <a:spcAft>
                  <a:spcPts val="0"/>
                </a:spcAft>
                <a:buNone/>
              </a:pPr>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5"/>
        <p:cNvGrpSpPr/>
        <p:nvPr/>
      </p:nvGrpSpPr>
      <p:grpSpPr>
        <a:xfrm>
          <a:off x="0" y="0"/>
          <a:ext cx="0" cy="0"/>
          <a:chOff x="0" y="0"/>
          <a:chExt cx="0" cy="0"/>
        </a:xfrm>
      </p:grpSpPr>
      <p:sp>
        <p:nvSpPr>
          <p:cNvPr id="36" name="Google Shape;36;p20"/>
          <p:cNvSpPr txBox="1">
            <a:spLocks noGrp="1"/>
          </p:cNvSpPr>
          <p:nvPr>
            <p:ph type="title"/>
          </p:nvPr>
        </p:nvSpPr>
        <p:spPr>
          <a:xfrm>
            <a:off x="782506" y="4406901"/>
            <a:ext cx="8420100" cy="1362075"/>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chemeClr val="dk1"/>
              </a:buClr>
              <a:buSzPts val="4000"/>
              <a:buFont typeface="Calibri"/>
              <a:buNone/>
              <a:defRPr sz="4000" b="1"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37" name="Google Shape;37;p20"/>
          <p:cNvSpPr txBox="1">
            <a:spLocks noGrp="1"/>
          </p:cNvSpPr>
          <p:nvPr>
            <p:ph type="body" idx="1"/>
          </p:nvPr>
        </p:nvSpPr>
        <p:spPr>
          <a:xfrm>
            <a:off x="782506" y="2906713"/>
            <a:ext cx="8420100" cy="1500187"/>
          </a:xfrm>
          <a:prstGeom prst="rect">
            <a:avLst/>
          </a:prstGeom>
          <a:noFill/>
          <a:ln>
            <a:noFill/>
          </a:ln>
        </p:spPr>
        <p:txBody>
          <a:bodyPr spcFirstLastPara="1" wrap="square" lIns="91425" tIns="45700" rIns="91425" bIns="45700" anchor="b" anchorCtr="0">
            <a:noAutofit/>
          </a:bodyPr>
          <a:lstStyle>
            <a:lvl1pPr marL="457200" marR="0" lvl="0" indent="-228600" algn="l"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1pPr>
            <a:lvl2pPr marL="914400" marR="0" lvl="1" indent="-228600" algn="l"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2pPr>
            <a:lvl3pPr marL="1371600" marR="0" lvl="2" indent="-228600" algn="l" rtl="0">
              <a:lnSpc>
                <a:spcPct val="100000"/>
              </a:lnSpc>
              <a:spcBef>
                <a:spcPts val="32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3pPr>
            <a:lvl4pPr marL="1828800" marR="0" lvl="3" indent="-228600" algn="l" rtl="0">
              <a:lnSpc>
                <a:spcPct val="100000"/>
              </a:lnSpc>
              <a:spcBef>
                <a:spcPts val="28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4pPr>
            <a:lvl5pPr marL="2286000" marR="0" lvl="4" indent="-228600" algn="l" rtl="0">
              <a:lnSpc>
                <a:spcPct val="100000"/>
              </a:lnSpc>
              <a:spcBef>
                <a:spcPts val="28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5pPr>
            <a:lvl6pPr marL="2743200" marR="0" lvl="5" indent="-228600" algn="l" rtl="0">
              <a:lnSpc>
                <a:spcPct val="100000"/>
              </a:lnSpc>
              <a:spcBef>
                <a:spcPts val="28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6pPr>
            <a:lvl7pPr marL="3200400" marR="0" lvl="6" indent="-228600" algn="l" rtl="0">
              <a:lnSpc>
                <a:spcPct val="100000"/>
              </a:lnSpc>
              <a:spcBef>
                <a:spcPts val="28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7pPr>
            <a:lvl8pPr marL="3657600" marR="0" lvl="7" indent="-228600" algn="l" rtl="0">
              <a:lnSpc>
                <a:spcPct val="100000"/>
              </a:lnSpc>
              <a:spcBef>
                <a:spcPts val="28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8pPr>
            <a:lvl9pPr marL="4114800" marR="0" lvl="8" indent="-228600" algn="l" rtl="0">
              <a:lnSpc>
                <a:spcPct val="100000"/>
              </a:lnSpc>
              <a:spcBef>
                <a:spcPts val="28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9pPr>
          </a:lstStyle>
          <a:p>
            <a:endParaRPr/>
          </a:p>
        </p:txBody>
      </p:sp>
      <p:sp>
        <p:nvSpPr>
          <p:cNvPr id="38" name="Google Shape;38;p20"/>
          <p:cNvSpPr txBox="1">
            <a:spLocks noGrp="1"/>
          </p:cNvSpPr>
          <p:nvPr>
            <p:ph type="dt" idx="10"/>
          </p:nvPr>
        </p:nvSpPr>
        <p:spPr>
          <a:xfrm>
            <a:off x="495300" y="6356351"/>
            <a:ext cx="2311400" cy="365125"/>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39" name="Google Shape;39;p20"/>
          <p:cNvSpPr txBox="1">
            <a:spLocks noGrp="1"/>
          </p:cNvSpPr>
          <p:nvPr>
            <p:ph type="ftr" idx="11"/>
          </p:nvPr>
        </p:nvSpPr>
        <p:spPr>
          <a:xfrm>
            <a:off x="3384550" y="6356351"/>
            <a:ext cx="3136900" cy="365125"/>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0" name="Google Shape;40;p20"/>
          <p:cNvSpPr txBox="1">
            <a:spLocks noGrp="1"/>
          </p:cNvSpPr>
          <p:nvPr>
            <p:ph type="sldNum" idx="12"/>
          </p:nvPr>
        </p:nvSpPr>
        <p:spPr>
          <a:xfrm>
            <a:off x="7099300" y="6356351"/>
            <a:ext cx="2311400" cy="365125"/>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9pPr>
          </a:lstStyle>
          <a:p>
            <a:pPr marL="0" lvl="0" indent="0" algn="l" rtl="0">
              <a:spcBef>
                <a:spcPts val="0"/>
              </a:spcBef>
              <a:spcAft>
                <a:spcPts val="0"/>
              </a:spcAft>
              <a:buNone/>
            </a:pPr>
            <a:fld id="{00000000-1234-1234-1234-123412341234}" type="slidenum">
              <a:rPr lang="en-US"/>
              <a:pPr marL="0" lvl="0" indent="0" algn="l" rtl="0">
                <a:spcBef>
                  <a:spcPts val="0"/>
                </a:spcBef>
                <a:spcAft>
                  <a:spcPts val="0"/>
                </a:spcAft>
                <a:buNone/>
              </a:pPr>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41"/>
        <p:cNvGrpSpPr/>
        <p:nvPr/>
      </p:nvGrpSpPr>
      <p:grpSpPr>
        <a:xfrm>
          <a:off x="0" y="0"/>
          <a:ext cx="0" cy="0"/>
          <a:chOff x="0" y="0"/>
          <a:chExt cx="0" cy="0"/>
        </a:xfrm>
      </p:grpSpPr>
      <p:sp>
        <p:nvSpPr>
          <p:cNvPr id="42" name="Google Shape;42;p21"/>
          <p:cNvSpPr txBox="1">
            <a:spLocks noGrp="1"/>
          </p:cNvSpPr>
          <p:nvPr>
            <p:ph type="title"/>
          </p:nvPr>
        </p:nvSpPr>
        <p:spPr>
          <a:xfrm>
            <a:off x="495300" y="274638"/>
            <a:ext cx="8915400" cy="1143000"/>
          </a:xfrm>
          <a:prstGeom prst="rect">
            <a:avLst/>
          </a:prstGeom>
          <a:noFill/>
          <a:ln>
            <a:noFill/>
          </a:ln>
        </p:spPr>
        <p:txBody>
          <a:bodyPr spcFirstLastPara="1" wrap="square" lIns="91425" tIns="45700" rIns="91425" bIns="45700" anchor="t" anchorCtr="0">
            <a:noAutofit/>
          </a:bodyPr>
          <a:lstStyle>
            <a:lvl1pPr marR="0" lvl="0" algn="ctr" rtl="0">
              <a:lnSpc>
                <a:spcPct val="10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43" name="Google Shape;43;p21"/>
          <p:cNvSpPr txBox="1">
            <a:spLocks noGrp="1"/>
          </p:cNvSpPr>
          <p:nvPr>
            <p:ph type="body" idx="1"/>
          </p:nvPr>
        </p:nvSpPr>
        <p:spPr>
          <a:xfrm>
            <a:off x="495300" y="1600201"/>
            <a:ext cx="4375150" cy="4525963"/>
          </a:xfrm>
          <a:prstGeom prst="rect">
            <a:avLst/>
          </a:prstGeom>
          <a:noFill/>
          <a:ln>
            <a:noFill/>
          </a:ln>
        </p:spPr>
        <p:txBody>
          <a:bodyPr spcFirstLastPara="1" wrap="square" lIns="91425" tIns="45700" rIns="91425" bIns="45700" anchor="t" anchorCtr="0">
            <a:noAutofit/>
          </a:bodyPr>
          <a:lstStyle>
            <a:lvl1pPr marL="457200" marR="0" lvl="0" indent="-406400" algn="l" rtl="0">
              <a:lnSpc>
                <a:spcPct val="100000"/>
              </a:lnSpc>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100000"/>
              </a:lnSpc>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 name="Google Shape;44;p21"/>
          <p:cNvSpPr txBox="1">
            <a:spLocks noGrp="1"/>
          </p:cNvSpPr>
          <p:nvPr>
            <p:ph type="body" idx="2"/>
          </p:nvPr>
        </p:nvSpPr>
        <p:spPr>
          <a:xfrm>
            <a:off x="5035550" y="1600201"/>
            <a:ext cx="4375150" cy="4525963"/>
          </a:xfrm>
          <a:prstGeom prst="rect">
            <a:avLst/>
          </a:prstGeom>
          <a:noFill/>
          <a:ln>
            <a:noFill/>
          </a:ln>
        </p:spPr>
        <p:txBody>
          <a:bodyPr spcFirstLastPara="1" wrap="square" lIns="91425" tIns="45700" rIns="91425" bIns="45700" anchor="t" anchorCtr="0">
            <a:noAutofit/>
          </a:bodyPr>
          <a:lstStyle>
            <a:lvl1pPr marL="457200" marR="0" lvl="0" indent="-406400" algn="l" rtl="0">
              <a:lnSpc>
                <a:spcPct val="100000"/>
              </a:lnSpc>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100000"/>
              </a:lnSpc>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5" name="Google Shape;45;p21"/>
          <p:cNvSpPr txBox="1">
            <a:spLocks noGrp="1"/>
          </p:cNvSpPr>
          <p:nvPr>
            <p:ph type="dt" idx="10"/>
          </p:nvPr>
        </p:nvSpPr>
        <p:spPr>
          <a:xfrm>
            <a:off x="1280592" y="6356351"/>
            <a:ext cx="2657500" cy="365125"/>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6" name="Google Shape;46;p21"/>
          <p:cNvSpPr txBox="1">
            <a:spLocks noGrp="1"/>
          </p:cNvSpPr>
          <p:nvPr>
            <p:ph type="ftr" idx="11"/>
          </p:nvPr>
        </p:nvSpPr>
        <p:spPr>
          <a:xfrm>
            <a:off x="3384550" y="6356351"/>
            <a:ext cx="3136900" cy="365125"/>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21"/>
          <p:cNvSpPr txBox="1">
            <a:spLocks noGrp="1"/>
          </p:cNvSpPr>
          <p:nvPr>
            <p:ph type="sldNum" idx="12"/>
          </p:nvPr>
        </p:nvSpPr>
        <p:spPr>
          <a:xfrm>
            <a:off x="7099300" y="6356351"/>
            <a:ext cx="2311400" cy="365125"/>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9pPr>
          </a:lstStyle>
          <a:p>
            <a:pPr marL="0" lvl="0" indent="0" algn="l" rtl="0">
              <a:spcBef>
                <a:spcPts val="0"/>
              </a:spcBef>
              <a:spcAft>
                <a:spcPts val="0"/>
              </a:spcAft>
              <a:buNone/>
            </a:pPr>
            <a:fld id="{00000000-1234-1234-1234-123412341234}" type="slidenum">
              <a:rPr lang="en-US"/>
              <a:pPr marL="0" lvl="0" indent="0" algn="l" rtl="0">
                <a:spcBef>
                  <a:spcPts val="0"/>
                </a:spcBef>
                <a:spcAft>
                  <a:spcPts val="0"/>
                </a:spcAft>
                <a:buNone/>
              </a:pPr>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8"/>
        <p:cNvGrpSpPr/>
        <p:nvPr/>
      </p:nvGrpSpPr>
      <p:grpSpPr>
        <a:xfrm>
          <a:off x="0" y="0"/>
          <a:ext cx="0" cy="0"/>
          <a:chOff x="0" y="0"/>
          <a:chExt cx="0" cy="0"/>
        </a:xfrm>
      </p:grpSpPr>
      <p:sp>
        <p:nvSpPr>
          <p:cNvPr id="49" name="Google Shape;49;p22"/>
          <p:cNvSpPr txBox="1">
            <a:spLocks noGrp="1"/>
          </p:cNvSpPr>
          <p:nvPr>
            <p:ph type="title"/>
          </p:nvPr>
        </p:nvSpPr>
        <p:spPr>
          <a:xfrm>
            <a:off x="495300" y="274638"/>
            <a:ext cx="8915400" cy="1143000"/>
          </a:xfrm>
          <a:prstGeom prst="rect">
            <a:avLst/>
          </a:prstGeom>
          <a:noFill/>
          <a:ln>
            <a:noFill/>
          </a:ln>
        </p:spPr>
        <p:txBody>
          <a:bodyPr spcFirstLastPara="1" wrap="square" lIns="91425" tIns="45700" rIns="91425" bIns="45700" anchor="t" anchorCtr="0">
            <a:noAutofit/>
          </a:bodyPr>
          <a:lstStyle>
            <a:lvl1pPr marR="0" lvl="0" algn="ctr" rtl="0">
              <a:lnSpc>
                <a:spcPct val="10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50" name="Google Shape;50;p22"/>
          <p:cNvSpPr txBox="1">
            <a:spLocks noGrp="1"/>
          </p:cNvSpPr>
          <p:nvPr>
            <p:ph type="body" idx="1"/>
          </p:nvPr>
        </p:nvSpPr>
        <p:spPr>
          <a:xfrm>
            <a:off x="495300" y="1535113"/>
            <a:ext cx="4376870" cy="639762"/>
          </a:xfrm>
          <a:prstGeom prst="rect">
            <a:avLst/>
          </a:prstGeom>
          <a:noFill/>
          <a:ln>
            <a:noFill/>
          </a:ln>
        </p:spPr>
        <p:txBody>
          <a:bodyPr spcFirstLastPara="1" wrap="square" lIns="91425" tIns="45700" rIns="91425" bIns="45700" anchor="b" anchorCtr="0">
            <a:noAutofit/>
          </a:bodyPr>
          <a:lstStyle>
            <a:lvl1pPr marL="457200" marR="0" lvl="0" indent="-228600" algn="l" rtl="0">
              <a:lnSpc>
                <a:spcPct val="100000"/>
              </a:lnSpc>
              <a:spcBef>
                <a:spcPts val="48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4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51" name="Google Shape;51;p22"/>
          <p:cNvSpPr txBox="1">
            <a:spLocks noGrp="1"/>
          </p:cNvSpPr>
          <p:nvPr>
            <p:ph type="body" idx="2"/>
          </p:nvPr>
        </p:nvSpPr>
        <p:spPr>
          <a:xfrm>
            <a:off x="495300" y="2174875"/>
            <a:ext cx="4376870" cy="3951288"/>
          </a:xfrm>
          <a:prstGeom prst="rect">
            <a:avLst/>
          </a:prstGeom>
          <a:noFill/>
          <a:ln>
            <a:noFill/>
          </a:ln>
        </p:spPr>
        <p:txBody>
          <a:bodyPr spcFirstLastPara="1" wrap="square" lIns="91425" tIns="45700" rIns="91425" bIns="45700" anchor="t" anchorCtr="0">
            <a:noAutofit/>
          </a:bodyPr>
          <a:lstStyle>
            <a:lvl1pPr marL="457200" marR="0" lvl="0" indent="-381000" algn="l" rtl="0">
              <a:lnSpc>
                <a:spcPct val="100000"/>
              </a:lnSpc>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1pPr>
            <a:lvl2pPr marL="914400" marR="0" lvl="1"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
        <p:nvSpPr>
          <p:cNvPr id="52" name="Google Shape;52;p22"/>
          <p:cNvSpPr txBox="1">
            <a:spLocks noGrp="1"/>
          </p:cNvSpPr>
          <p:nvPr>
            <p:ph type="body" idx="3"/>
          </p:nvPr>
        </p:nvSpPr>
        <p:spPr>
          <a:xfrm>
            <a:off x="5032111" y="1535113"/>
            <a:ext cx="4378590" cy="639762"/>
          </a:xfrm>
          <a:prstGeom prst="rect">
            <a:avLst/>
          </a:prstGeom>
          <a:noFill/>
          <a:ln>
            <a:noFill/>
          </a:ln>
        </p:spPr>
        <p:txBody>
          <a:bodyPr spcFirstLastPara="1" wrap="square" lIns="91425" tIns="45700" rIns="91425" bIns="45700" anchor="b" anchorCtr="0">
            <a:noAutofit/>
          </a:bodyPr>
          <a:lstStyle>
            <a:lvl1pPr marL="457200" marR="0" lvl="0" indent="-228600" algn="l" rtl="0">
              <a:lnSpc>
                <a:spcPct val="100000"/>
              </a:lnSpc>
              <a:spcBef>
                <a:spcPts val="48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4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53" name="Google Shape;53;p22"/>
          <p:cNvSpPr txBox="1">
            <a:spLocks noGrp="1"/>
          </p:cNvSpPr>
          <p:nvPr>
            <p:ph type="body" idx="4"/>
          </p:nvPr>
        </p:nvSpPr>
        <p:spPr>
          <a:xfrm>
            <a:off x="5032111" y="2174875"/>
            <a:ext cx="4378590" cy="3951288"/>
          </a:xfrm>
          <a:prstGeom prst="rect">
            <a:avLst/>
          </a:prstGeom>
          <a:noFill/>
          <a:ln>
            <a:noFill/>
          </a:ln>
        </p:spPr>
        <p:txBody>
          <a:bodyPr spcFirstLastPara="1" wrap="square" lIns="91425" tIns="45700" rIns="91425" bIns="45700" anchor="t" anchorCtr="0">
            <a:noAutofit/>
          </a:bodyPr>
          <a:lstStyle>
            <a:lvl1pPr marL="457200" marR="0" lvl="0" indent="-381000" algn="l" rtl="0">
              <a:lnSpc>
                <a:spcPct val="100000"/>
              </a:lnSpc>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1pPr>
            <a:lvl2pPr marL="914400" marR="0" lvl="1"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
        <p:nvSpPr>
          <p:cNvPr id="54" name="Google Shape;54;p22"/>
          <p:cNvSpPr txBox="1">
            <a:spLocks noGrp="1"/>
          </p:cNvSpPr>
          <p:nvPr>
            <p:ph type="dt" idx="10"/>
          </p:nvPr>
        </p:nvSpPr>
        <p:spPr>
          <a:xfrm>
            <a:off x="495300" y="6356351"/>
            <a:ext cx="2311400" cy="365125"/>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5" name="Google Shape;55;p22"/>
          <p:cNvSpPr txBox="1">
            <a:spLocks noGrp="1"/>
          </p:cNvSpPr>
          <p:nvPr>
            <p:ph type="ftr" idx="11"/>
          </p:nvPr>
        </p:nvSpPr>
        <p:spPr>
          <a:xfrm>
            <a:off x="3384550" y="6356351"/>
            <a:ext cx="3136900" cy="365125"/>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6" name="Google Shape;56;p22"/>
          <p:cNvSpPr txBox="1">
            <a:spLocks noGrp="1"/>
          </p:cNvSpPr>
          <p:nvPr>
            <p:ph type="sldNum" idx="12"/>
          </p:nvPr>
        </p:nvSpPr>
        <p:spPr>
          <a:xfrm>
            <a:off x="7099300" y="6356351"/>
            <a:ext cx="2311400" cy="365125"/>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9pPr>
          </a:lstStyle>
          <a:p>
            <a:pPr marL="0" lvl="0" indent="0" algn="l" rtl="0">
              <a:spcBef>
                <a:spcPts val="0"/>
              </a:spcBef>
              <a:spcAft>
                <a:spcPts val="0"/>
              </a:spcAft>
              <a:buNone/>
            </a:pPr>
            <a:fld id="{00000000-1234-1234-1234-123412341234}" type="slidenum">
              <a:rPr lang="en-US"/>
              <a:pPr marL="0" lvl="0" indent="0" algn="l" rtl="0">
                <a:spcBef>
                  <a:spcPts val="0"/>
                </a:spcBef>
                <a:spcAft>
                  <a:spcPts val="0"/>
                </a:spcAft>
                <a:buNone/>
              </a:pPr>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57"/>
        <p:cNvGrpSpPr/>
        <p:nvPr/>
      </p:nvGrpSpPr>
      <p:grpSpPr>
        <a:xfrm>
          <a:off x="0" y="0"/>
          <a:ext cx="0" cy="0"/>
          <a:chOff x="0" y="0"/>
          <a:chExt cx="0" cy="0"/>
        </a:xfrm>
      </p:grpSpPr>
      <p:sp>
        <p:nvSpPr>
          <p:cNvPr id="58" name="Google Shape;58;p23"/>
          <p:cNvSpPr/>
          <p:nvPr/>
        </p:nvSpPr>
        <p:spPr>
          <a:xfrm>
            <a:off x="0" y="0"/>
            <a:ext cx="9906000" cy="152400"/>
          </a:xfrm>
          <a:prstGeom prst="rect">
            <a:avLst/>
          </a:prstGeom>
          <a:solidFill>
            <a:srgbClr val="009900"/>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59" name="Google Shape;59;p23"/>
          <p:cNvSpPr/>
          <p:nvPr/>
        </p:nvSpPr>
        <p:spPr>
          <a:xfrm>
            <a:off x="0" y="6705600"/>
            <a:ext cx="9906000" cy="152400"/>
          </a:xfrm>
          <a:prstGeom prst="rect">
            <a:avLst/>
          </a:prstGeom>
          <a:solidFill>
            <a:srgbClr val="FF0000"/>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60" name="Google Shape;60;p23"/>
          <p:cNvSpPr txBox="1"/>
          <p:nvPr/>
        </p:nvSpPr>
        <p:spPr>
          <a:xfrm>
            <a:off x="0" y="6654842"/>
            <a:ext cx="2747868" cy="253916"/>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050"/>
              <a:buFont typeface="Arial"/>
              <a:buNone/>
            </a:pPr>
            <a:r>
              <a:rPr lang="en-US" sz="1050" b="0" i="0" u="none" strike="noStrike" cap="none">
                <a:solidFill>
                  <a:schemeClr val="lt1"/>
                </a:solidFill>
                <a:latin typeface="Calibri"/>
                <a:ea typeface="Calibri"/>
                <a:cs typeface="Calibri"/>
                <a:sym typeface="Calibri"/>
              </a:rPr>
              <a:t>©M. S. Ramaiah University of Applied Sciences</a:t>
            </a:r>
            <a:endParaRPr sz="1050" b="0" i="0" u="none" strike="noStrike" cap="none">
              <a:solidFill>
                <a:schemeClr val="lt1"/>
              </a:solidFill>
              <a:latin typeface="Calibri"/>
              <a:ea typeface="Calibri"/>
              <a:cs typeface="Calibri"/>
              <a:sym typeface="Calibri"/>
            </a:endParaRPr>
          </a:p>
        </p:txBody>
      </p:sp>
      <p:sp>
        <p:nvSpPr>
          <p:cNvPr id="61" name="Google Shape;61;p23"/>
          <p:cNvSpPr/>
          <p:nvPr/>
        </p:nvSpPr>
        <p:spPr>
          <a:xfrm>
            <a:off x="9525000" y="6324600"/>
            <a:ext cx="381000" cy="533400"/>
          </a:xfrm>
          <a:prstGeom prst="rect">
            <a:avLst/>
          </a:prstGeom>
          <a:solidFill>
            <a:srgbClr val="FF0000"/>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62" name="Google Shape;62;p23"/>
          <p:cNvSpPr/>
          <p:nvPr/>
        </p:nvSpPr>
        <p:spPr>
          <a:xfrm>
            <a:off x="9505750" y="6324600"/>
            <a:ext cx="457176" cy="36933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US" sz="1800" b="0" i="0" u="none" strike="noStrike" cap="none">
                <a:solidFill>
                  <a:schemeClr val="lt1"/>
                </a:solidFill>
                <a:latin typeface="Calibri"/>
                <a:ea typeface="Calibri"/>
                <a:cs typeface="Calibri"/>
                <a:sym typeface="Calibri"/>
              </a:rPr>
              <a:pPr marL="0" marR="0" lvl="0" indent="0" algn="l" rtl="0">
                <a:lnSpc>
                  <a:spcPct val="100000"/>
                </a:lnSpc>
                <a:spcBef>
                  <a:spcPts val="0"/>
                </a:spcBef>
                <a:spcAft>
                  <a:spcPts val="0"/>
                </a:spcAft>
                <a:buClr>
                  <a:srgbClr val="000000"/>
                </a:buClr>
                <a:buSzPts val="1800"/>
                <a:buFont typeface="Arial"/>
                <a:buNone/>
              </a:pPr>
              <a:t>‹#›</a:t>
            </a:fld>
            <a:endParaRPr sz="1800" b="0" i="0" u="none" strike="noStrike" cap="none">
              <a:solidFill>
                <a:schemeClr val="lt1"/>
              </a:solidFill>
              <a:latin typeface="Calibri"/>
              <a:ea typeface="Calibri"/>
              <a:cs typeface="Calibri"/>
              <a:sym typeface="Calibri"/>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63"/>
        <p:cNvGrpSpPr/>
        <p:nvPr/>
      </p:nvGrpSpPr>
      <p:grpSpPr>
        <a:xfrm>
          <a:off x="0" y="0"/>
          <a:ext cx="0" cy="0"/>
          <a:chOff x="0" y="0"/>
          <a:chExt cx="0" cy="0"/>
        </a:xfrm>
      </p:grpSpPr>
      <p:sp>
        <p:nvSpPr>
          <p:cNvPr id="64" name="Google Shape;64;p24"/>
          <p:cNvSpPr txBox="1">
            <a:spLocks noGrp="1"/>
          </p:cNvSpPr>
          <p:nvPr>
            <p:ph type="title"/>
          </p:nvPr>
        </p:nvSpPr>
        <p:spPr>
          <a:xfrm>
            <a:off x="495300" y="273050"/>
            <a:ext cx="3259006" cy="1162050"/>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chemeClr val="dk1"/>
              </a:buClr>
              <a:buSzPts val="2000"/>
              <a:buFont typeface="Calibri"/>
              <a:buNone/>
              <a:defRPr sz="2000" b="1"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65" name="Google Shape;65;p24"/>
          <p:cNvSpPr txBox="1">
            <a:spLocks noGrp="1"/>
          </p:cNvSpPr>
          <p:nvPr>
            <p:ph type="body" idx="1"/>
          </p:nvPr>
        </p:nvSpPr>
        <p:spPr>
          <a:xfrm>
            <a:off x="3872971" y="273051"/>
            <a:ext cx="5537729" cy="5853113"/>
          </a:xfrm>
          <a:prstGeom prst="rect">
            <a:avLst/>
          </a:prstGeom>
          <a:noFill/>
          <a:ln>
            <a:noFill/>
          </a:ln>
        </p:spPr>
        <p:txBody>
          <a:bodyPr spcFirstLastPara="1" wrap="square" lIns="91425" tIns="45700" rIns="91425" bIns="45700" anchor="t" anchorCtr="0">
            <a:noAutofit/>
          </a:bodyPr>
          <a:lstStyle>
            <a:lvl1pPr marL="457200" marR="0" lvl="0" indent="-431800" algn="l" rtl="0">
              <a:lnSpc>
                <a:spcPct val="100000"/>
              </a:lnSpc>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100000"/>
              </a:lnSpc>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66" name="Google Shape;66;p24"/>
          <p:cNvSpPr txBox="1">
            <a:spLocks noGrp="1"/>
          </p:cNvSpPr>
          <p:nvPr>
            <p:ph type="body" idx="2"/>
          </p:nvPr>
        </p:nvSpPr>
        <p:spPr>
          <a:xfrm>
            <a:off x="495300" y="1435101"/>
            <a:ext cx="3259006" cy="469106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28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24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dk1"/>
              </a:buClr>
              <a:buSzPts val="900"/>
              <a:buFont typeface="Arial"/>
              <a:buNone/>
              <a:defRPr sz="9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dk1"/>
              </a:buClr>
              <a:buSzPts val="900"/>
              <a:buFont typeface="Arial"/>
              <a:buNone/>
              <a:defRPr sz="9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9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9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9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9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67" name="Google Shape;67;p24"/>
          <p:cNvSpPr txBox="1">
            <a:spLocks noGrp="1"/>
          </p:cNvSpPr>
          <p:nvPr>
            <p:ph type="dt" idx="10"/>
          </p:nvPr>
        </p:nvSpPr>
        <p:spPr>
          <a:xfrm>
            <a:off x="495300" y="6356351"/>
            <a:ext cx="2311400" cy="365125"/>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68" name="Google Shape;68;p24"/>
          <p:cNvSpPr txBox="1">
            <a:spLocks noGrp="1"/>
          </p:cNvSpPr>
          <p:nvPr>
            <p:ph type="ftr" idx="11"/>
          </p:nvPr>
        </p:nvSpPr>
        <p:spPr>
          <a:xfrm>
            <a:off x="3384550" y="6356351"/>
            <a:ext cx="3136900" cy="365125"/>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69" name="Google Shape;69;p24"/>
          <p:cNvSpPr txBox="1">
            <a:spLocks noGrp="1"/>
          </p:cNvSpPr>
          <p:nvPr>
            <p:ph type="sldNum" idx="12"/>
          </p:nvPr>
        </p:nvSpPr>
        <p:spPr>
          <a:xfrm>
            <a:off x="7099300" y="6356351"/>
            <a:ext cx="2311400" cy="365125"/>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9pPr>
          </a:lstStyle>
          <a:p>
            <a:pPr marL="0" lvl="0" indent="0" algn="l" rtl="0">
              <a:spcBef>
                <a:spcPts val="0"/>
              </a:spcBef>
              <a:spcAft>
                <a:spcPts val="0"/>
              </a:spcAft>
              <a:buNone/>
            </a:pPr>
            <a:fld id="{00000000-1234-1234-1234-123412341234}" type="slidenum">
              <a:rPr lang="en-US"/>
              <a:pPr marL="0" lvl="0" indent="0" algn="l" rtl="0">
                <a:spcBef>
                  <a:spcPts val="0"/>
                </a:spcBef>
                <a:spcAft>
                  <a:spcPts val="0"/>
                </a:spcAft>
                <a:buNone/>
              </a:pPr>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70"/>
        <p:cNvGrpSpPr/>
        <p:nvPr/>
      </p:nvGrpSpPr>
      <p:grpSpPr>
        <a:xfrm>
          <a:off x="0" y="0"/>
          <a:ext cx="0" cy="0"/>
          <a:chOff x="0" y="0"/>
          <a:chExt cx="0" cy="0"/>
        </a:xfrm>
      </p:grpSpPr>
      <p:sp>
        <p:nvSpPr>
          <p:cNvPr id="71" name="Google Shape;71;p25"/>
          <p:cNvSpPr txBox="1">
            <a:spLocks noGrp="1"/>
          </p:cNvSpPr>
          <p:nvPr>
            <p:ph type="title"/>
          </p:nvPr>
        </p:nvSpPr>
        <p:spPr>
          <a:xfrm>
            <a:off x="1941645" y="4800600"/>
            <a:ext cx="5943600" cy="566738"/>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chemeClr val="dk1"/>
              </a:buClr>
              <a:buSzPts val="2000"/>
              <a:buFont typeface="Calibri"/>
              <a:buNone/>
              <a:defRPr sz="2000" b="1"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72" name="Google Shape;72;p25"/>
          <p:cNvSpPr>
            <a:spLocks noGrp="1"/>
          </p:cNvSpPr>
          <p:nvPr>
            <p:ph type="pic" idx="2"/>
          </p:nvPr>
        </p:nvSpPr>
        <p:spPr>
          <a:xfrm>
            <a:off x="1941645" y="612775"/>
            <a:ext cx="5943600" cy="4114800"/>
          </a:xfrm>
          <a:prstGeom prst="rect">
            <a:avLst/>
          </a:prstGeom>
          <a:noFill/>
          <a:ln>
            <a:noFill/>
          </a:ln>
        </p:spPr>
      </p:sp>
      <p:sp>
        <p:nvSpPr>
          <p:cNvPr id="73" name="Google Shape;73;p25"/>
          <p:cNvSpPr txBox="1">
            <a:spLocks noGrp="1"/>
          </p:cNvSpPr>
          <p:nvPr>
            <p:ph type="body" idx="1"/>
          </p:nvPr>
        </p:nvSpPr>
        <p:spPr>
          <a:xfrm>
            <a:off x="1941645" y="5367338"/>
            <a:ext cx="5943600" cy="804862"/>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28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24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dk1"/>
              </a:buClr>
              <a:buSzPts val="900"/>
              <a:buFont typeface="Arial"/>
              <a:buNone/>
              <a:defRPr sz="9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dk1"/>
              </a:buClr>
              <a:buSzPts val="900"/>
              <a:buFont typeface="Arial"/>
              <a:buNone/>
              <a:defRPr sz="9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9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9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9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9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74" name="Google Shape;74;p25"/>
          <p:cNvSpPr txBox="1">
            <a:spLocks noGrp="1"/>
          </p:cNvSpPr>
          <p:nvPr>
            <p:ph type="dt" idx="10"/>
          </p:nvPr>
        </p:nvSpPr>
        <p:spPr>
          <a:xfrm>
            <a:off x="495300" y="6356351"/>
            <a:ext cx="2311400" cy="365125"/>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75" name="Google Shape;75;p25"/>
          <p:cNvSpPr txBox="1">
            <a:spLocks noGrp="1"/>
          </p:cNvSpPr>
          <p:nvPr>
            <p:ph type="ftr" idx="11"/>
          </p:nvPr>
        </p:nvSpPr>
        <p:spPr>
          <a:xfrm>
            <a:off x="3384550" y="6356351"/>
            <a:ext cx="3136900" cy="365125"/>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76" name="Google Shape;76;p25"/>
          <p:cNvSpPr txBox="1">
            <a:spLocks noGrp="1"/>
          </p:cNvSpPr>
          <p:nvPr>
            <p:ph type="sldNum" idx="12"/>
          </p:nvPr>
        </p:nvSpPr>
        <p:spPr>
          <a:xfrm>
            <a:off x="7099300" y="6356351"/>
            <a:ext cx="2311400" cy="365125"/>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9pPr>
          </a:lstStyle>
          <a:p>
            <a:pPr marL="0" lvl="0" indent="0" algn="l" rtl="0">
              <a:spcBef>
                <a:spcPts val="0"/>
              </a:spcBef>
              <a:spcAft>
                <a:spcPts val="0"/>
              </a:spcAft>
              <a:buNone/>
            </a:pPr>
            <a:fld id="{00000000-1234-1234-1234-123412341234}" type="slidenum">
              <a:rPr lang="en-US"/>
              <a:pPr marL="0" lvl="0" indent="0" algn="l" rtl="0">
                <a:spcBef>
                  <a:spcPts val="0"/>
                </a:spcBef>
                <a:spcAft>
                  <a:spcPts val="0"/>
                </a:spcAft>
                <a:buNone/>
              </a:pPr>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7"/>
        <p:cNvGrpSpPr/>
        <p:nvPr/>
      </p:nvGrpSpPr>
      <p:grpSpPr>
        <a:xfrm>
          <a:off x="0" y="0"/>
          <a:ext cx="0" cy="0"/>
          <a:chOff x="0" y="0"/>
          <a:chExt cx="0" cy="0"/>
        </a:xfrm>
      </p:grpSpPr>
      <p:sp>
        <p:nvSpPr>
          <p:cNvPr id="78" name="Google Shape;78;p26"/>
          <p:cNvSpPr txBox="1">
            <a:spLocks noGrp="1"/>
          </p:cNvSpPr>
          <p:nvPr>
            <p:ph type="title"/>
          </p:nvPr>
        </p:nvSpPr>
        <p:spPr>
          <a:xfrm>
            <a:off x="495300" y="274638"/>
            <a:ext cx="8915400" cy="1143000"/>
          </a:xfrm>
          <a:prstGeom prst="rect">
            <a:avLst/>
          </a:prstGeom>
          <a:noFill/>
          <a:ln>
            <a:noFill/>
          </a:ln>
        </p:spPr>
        <p:txBody>
          <a:bodyPr spcFirstLastPara="1" wrap="square" lIns="91425" tIns="45700" rIns="91425" bIns="45700" anchor="t" anchorCtr="0">
            <a:noAutofit/>
          </a:bodyPr>
          <a:lstStyle>
            <a:lvl1pPr marR="0" lvl="0" algn="ctr" rtl="0">
              <a:lnSpc>
                <a:spcPct val="10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79" name="Google Shape;79;p26"/>
          <p:cNvSpPr txBox="1">
            <a:spLocks noGrp="1"/>
          </p:cNvSpPr>
          <p:nvPr>
            <p:ph type="body" idx="1"/>
          </p:nvPr>
        </p:nvSpPr>
        <p:spPr>
          <a:xfrm rot="5400000">
            <a:off x="2690018" y="-594518"/>
            <a:ext cx="4525963" cy="8915400"/>
          </a:xfrm>
          <a:prstGeom prst="rect">
            <a:avLst/>
          </a:prstGeom>
          <a:noFill/>
          <a:ln>
            <a:noFill/>
          </a:ln>
        </p:spPr>
        <p:txBody>
          <a:bodyPr spcFirstLastPara="1" wrap="square" lIns="91425" tIns="45700" rIns="91425" bIns="45700" anchor="t" anchorCtr="0">
            <a:noAutofit/>
          </a:bodyPr>
          <a:lstStyle>
            <a:lvl1pPr marL="457200" marR="0" lvl="0" indent="-431800" algn="l" rtl="0">
              <a:lnSpc>
                <a:spcPct val="100000"/>
              </a:lnSpc>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100000"/>
              </a:lnSpc>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0" name="Google Shape;80;p26"/>
          <p:cNvSpPr txBox="1">
            <a:spLocks noGrp="1"/>
          </p:cNvSpPr>
          <p:nvPr>
            <p:ph type="dt" idx="10"/>
          </p:nvPr>
        </p:nvSpPr>
        <p:spPr>
          <a:xfrm>
            <a:off x="495300" y="6356351"/>
            <a:ext cx="2311400" cy="365125"/>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1" name="Google Shape;81;p26"/>
          <p:cNvSpPr txBox="1">
            <a:spLocks noGrp="1"/>
          </p:cNvSpPr>
          <p:nvPr>
            <p:ph type="ftr" idx="11"/>
          </p:nvPr>
        </p:nvSpPr>
        <p:spPr>
          <a:xfrm>
            <a:off x="3384550" y="6356351"/>
            <a:ext cx="3136900" cy="365125"/>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26"/>
          <p:cNvSpPr txBox="1">
            <a:spLocks noGrp="1"/>
          </p:cNvSpPr>
          <p:nvPr>
            <p:ph type="sldNum" idx="12"/>
          </p:nvPr>
        </p:nvSpPr>
        <p:spPr>
          <a:xfrm>
            <a:off x="7099300" y="6356351"/>
            <a:ext cx="2311400" cy="365125"/>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9pPr>
          </a:lstStyle>
          <a:p>
            <a:pPr marL="0" lvl="0" indent="0" algn="l" rtl="0">
              <a:spcBef>
                <a:spcPts val="0"/>
              </a:spcBef>
              <a:spcAft>
                <a:spcPts val="0"/>
              </a:spcAft>
              <a:buNone/>
            </a:pPr>
            <a:fld id="{00000000-1234-1234-1234-123412341234}" type="slidenum">
              <a:rPr lang="en-US"/>
              <a:pPr marL="0" lvl="0" indent="0" algn="l" rtl="0">
                <a:spcBef>
                  <a:spcPts val="0"/>
                </a:spcBef>
                <a:spcAft>
                  <a:spcPts val="0"/>
                </a:spcAft>
                <a:buNone/>
              </a:pPr>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83"/>
        <p:cNvGrpSpPr/>
        <p:nvPr/>
      </p:nvGrpSpPr>
      <p:grpSpPr>
        <a:xfrm>
          <a:off x="0" y="0"/>
          <a:ext cx="0" cy="0"/>
          <a:chOff x="0" y="0"/>
          <a:chExt cx="0" cy="0"/>
        </a:xfrm>
      </p:grpSpPr>
      <p:sp>
        <p:nvSpPr>
          <p:cNvPr id="84" name="Google Shape;84;p27"/>
          <p:cNvSpPr txBox="1">
            <a:spLocks noGrp="1"/>
          </p:cNvSpPr>
          <p:nvPr>
            <p:ph type="title"/>
          </p:nvPr>
        </p:nvSpPr>
        <p:spPr>
          <a:xfrm rot="5400000">
            <a:off x="5370512" y="2085976"/>
            <a:ext cx="5851525" cy="2228850"/>
          </a:xfrm>
          <a:prstGeom prst="rect">
            <a:avLst/>
          </a:prstGeom>
          <a:noFill/>
          <a:ln>
            <a:noFill/>
          </a:ln>
        </p:spPr>
        <p:txBody>
          <a:bodyPr spcFirstLastPara="1" wrap="square" lIns="91425" tIns="45700" rIns="91425" bIns="45700" anchor="t" anchorCtr="0">
            <a:noAutofit/>
          </a:bodyPr>
          <a:lstStyle>
            <a:lvl1pPr marR="0" lvl="0" algn="ctr" rtl="0">
              <a:lnSpc>
                <a:spcPct val="10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85" name="Google Shape;85;p27"/>
          <p:cNvSpPr txBox="1">
            <a:spLocks noGrp="1"/>
          </p:cNvSpPr>
          <p:nvPr>
            <p:ph type="body" idx="1"/>
          </p:nvPr>
        </p:nvSpPr>
        <p:spPr>
          <a:xfrm rot="5400000">
            <a:off x="830262" y="-60323"/>
            <a:ext cx="5851525" cy="6521450"/>
          </a:xfrm>
          <a:prstGeom prst="rect">
            <a:avLst/>
          </a:prstGeom>
          <a:noFill/>
          <a:ln>
            <a:noFill/>
          </a:ln>
        </p:spPr>
        <p:txBody>
          <a:bodyPr spcFirstLastPara="1" wrap="square" lIns="91425" tIns="45700" rIns="91425" bIns="45700" anchor="t" anchorCtr="0">
            <a:noAutofit/>
          </a:bodyPr>
          <a:lstStyle>
            <a:lvl1pPr marL="457200" marR="0" lvl="0" indent="-431800" algn="l" rtl="0">
              <a:lnSpc>
                <a:spcPct val="100000"/>
              </a:lnSpc>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100000"/>
              </a:lnSpc>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6" name="Google Shape;86;p27"/>
          <p:cNvSpPr txBox="1">
            <a:spLocks noGrp="1"/>
          </p:cNvSpPr>
          <p:nvPr>
            <p:ph type="dt" idx="10"/>
          </p:nvPr>
        </p:nvSpPr>
        <p:spPr>
          <a:xfrm>
            <a:off x="495300" y="6356351"/>
            <a:ext cx="2311400" cy="365125"/>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7" name="Google Shape;87;p27"/>
          <p:cNvSpPr txBox="1">
            <a:spLocks noGrp="1"/>
          </p:cNvSpPr>
          <p:nvPr>
            <p:ph type="ftr" idx="11"/>
          </p:nvPr>
        </p:nvSpPr>
        <p:spPr>
          <a:xfrm>
            <a:off x="3384550" y="6356351"/>
            <a:ext cx="3136900" cy="365125"/>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8" name="Google Shape;88;p27"/>
          <p:cNvSpPr txBox="1">
            <a:spLocks noGrp="1"/>
          </p:cNvSpPr>
          <p:nvPr>
            <p:ph type="sldNum" idx="12"/>
          </p:nvPr>
        </p:nvSpPr>
        <p:spPr>
          <a:xfrm>
            <a:off x="7099300" y="6356351"/>
            <a:ext cx="2311400" cy="365125"/>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rgbClr val="000000"/>
              </a:buClr>
              <a:buSzPts val="1800"/>
              <a:buFont typeface="Arial"/>
              <a:buNone/>
              <a:defRPr sz="1800" b="0" i="0" u="none" strike="noStrike" cap="none">
                <a:solidFill>
                  <a:schemeClr val="dk1"/>
                </a:solidFill>
                <a:latin typeface="Calibri"/>
                <a:ea typeface="Calibri"/>
                <a:cs typeface="Calibri"/>
                <a:sym typeface="Calibri"/>
              </a:defRPr>
            </a:lvl9pPr>
          </a:lstStyle>
          <a:p>
            <a:pPr marL="0" lvl="0" indent="0" algn="l" rtl="0">
              <a:spcBef>
                <a:spcPts val="0"/>
              </a:spcBef>
              <a:spcAft>
                <a:spcPts val="0"/>
              </a:spcAft>
              <a:buNone/>
            </a:pPr>
            <a:fld id="{00000000-1234-1234-1234-123412341234}" type="slidenum">
              <a:rPr lang="en-US"/>
              <a:pPr marL="0" lvl="0" indent="0" algn="l" rtl="0">
                <a:spcBef>
                  <a:spcPts val="0"/>
                </a:spcBef>
                <a:spcAft>
                  <a:spcPts val="0"/>
                </a:spcAft>
                <a:buNone/>
              </a:pPr>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6"/>
          <p:cNvSpPr/>
          <p:nvPr/>
        </p:nvSpPr>
        <p:spPr>
          <a:xfrm>
            <a:off x="0" y="0"/>
            <a:ext cx="9906000" cy="152400"/>
          </a:xfrm>
          <a:prstGeom prst="rect">
            <a:avLst/>
          </a:prstGeom>
          <a:solidFill>
            <a:srgbClr val="009900"/>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1" name="Google Shape;11;p16"/>
          <p:cNvSpPr/>
          <p:nvPr/>
        </p:nvSpPr>
        <p:spPr>
          <a:xfrm>
            <a:off x="0" y="6705600"/>
            <a:ext cx="9906000" cy="152400"/>
          </a:xfrm>
          <a:prstGeom prst="rect">
            <a:avLst/>
          </a:prstGeom>
          <a:solidFill>
            <a:srgbClr val="FF0000"/>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2" name="Google Shape;12;p16"/>
          <p:cNvSpPr txBox="1"/>
          <p:nvPr/>
        </p:nvSpPr>
        <p:spPr>
          <a:xfrm>
            <a:off x="6633" y="6654842"/>
            <a:ext cx="2747868" cy="253916"/>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050"/>
              <a:buFont typeface="Arial"/>
              <a:buNone/>
            </a:pPr>
            <a:r>
              <a:rPr lang="en-US" sz="1050" b="0" i="0" u="none" strike="noStrike" cap="none">
                <a:solidFill>
                  <a:schemeClr val="lt1"/>
                </a:solidFill>
                <a:latin typeface="Calibri"/>
                <a:ea typeface="Calibri"/>
                <a:cs typeface="Calibri"/>
                <a:sym typeface="Calibri"/>
              </a:rPr>
              <a:t>©M. S. Ramaiah University of Applied Sciences</a:t>
            </a:r>
            <a:endParaRPr sz="1050" b="0" i="0" u="none" strike="noStrike" cap="none">
              <a:solidFill>
                <a:schemeClr val="lt1"/>
              </a:solidFill>
              <a:latin typeface="Calibri"/>
              <a:ea typeface="Calibri"/>
              <a:cs typeface="Calibri"/>
              <a:sym typeface="Calibri"/>
            </a:endParaRPr>
          </a:p>
        </p:txBody>
      </p:sp>
      <p:sp>
        <p:nvSpPr>
          <p:cNvPr id="13" name="Google Shape;13;p16"/>
          <p:cNvSpPr/>
          <p:nvPr/>
        </p:nvSpPr>
        <p:spPr>
          <a:xfrm>
            <a:off x="9525000" y="6324600"/>
            <a:ext cx="381000" cy="533400"/>
          </a:xfrm>
          <a:prstGeom prst="rect">
            <a:avLst/>
          </a:prstGeom>
          <a:solidFill>
            <a:srgbClr val="FF0000"/>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4" name="Google Shape;14;p16"/>
          <p:cNvSpPr/>
          <p:nvPr/>
        </p:nvSpPr>
        <p:spPr>
          <a:xfrm>
            <a:off x="9505750" y="6324600"/>
            <a:ext cx="457176" cy="36933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US" sz="1800" b="0" i="0" u="none" strike="noStrike" cap="none">
                <a:solidFill>
                  <a:schemeClr val="lt1"/>
                </a:solidFill>
                <a:latin typeface="Calibri"/>
                <a:ea typeface="Calibri"/>
                <a:cs typeface="Calibri"/>
                <a:sym typeface="Calibri"/>
              </a:rPr>
              <a:pPr marL="0" marR="0" lvl="0" indent="0" algn="l" rtl="0">
                <a:lnSpc>
                  <a:spcPct val="100000"/>
                </a:lnSpc>
                <a:spcBef>
                  <a:spcPts val="0"/>
                </a:spcBef>
                <a:spcAft>
                  <a:spcPts val="0"/>
                </a:spcAft>
                <a:buClr>
                  <a:srgbClr val="000000"/>
                </a:buClr>
                <a:buSzPts val="1800"/>
                <a:buFont typeface="Arial"/>
                <a:buNone/>
              </a:pPr>
              <a:t>‹#›</a:t>
            </a:fld>
            <a:endParaRPr sz="1800" b="0" i="0" u="none" strike="noStrike" cap="none">
              <a:solidFill>
                <a:schemeClr val="lt1"/>
              </a:solidFill>
              <a:latin typeface="Calibri"/>
              <a:ea typeface="Calibri"/>
              <a:cs typeface="Calibri"/>
              <a:sym typeface="Calibri"/>
            </a:endParaRPr>
          </a:p>
        </p:txBody>
      </p:sp>
      <p:pic>
        <p:nvPicPr>
          <p:cNvPr id="15" name="Google Shape;15;p16" descr="C:\Users\Paramesh\Desktop\Logo\Logo.png"/>
          <p:cNvPicPr preferRelativeResize="0"/>
          <p:nvPr/>
        </p:nvPicPr>
        <p:blipFill rotWithShape="1">
          <a:blip r:embed="rId13">
            <a:alphaModFix/>
          </a:blip>
          <a:srcRect/>
          <a:stretch/>
        </p:blipFill>
        <p:spPr>
          <a:xfrm>
            <a:off x="128464" y="6337321"/>
            <a:ext cx="262890" cy="342900"/>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ubtitle 2"/>
          <p:cNvSpPr txBox="1">
            <a:spLocks noGrp="1"/>
          </p:cNvSpPr>
          <p:nvPr>
            <p:ph type="subTitle" idx="1"/>
          </p:nvPr>
        </p:nvSpPr>
        <p:spPr>
          <a:xfrm>
            <a:off x="409816" y="4491395"/>
            <a:ext cx="4509589" cy="1989303"/>
          </a:xfrm>
          <a:prstGeom prst="rect">
            <a:avLst/>
          </a:prstGeom>
        </p:spPr>
        <p:txBody>
          <a:bodyPr vert="horz" lIns="91440" tIns="45720" rIns="91440" bIns="45720" rtlCol="0">
            <a:noAutofit/>
          </a:bodyPr>
          <a:lstStyle>
            <a:lvl1pPr marL="0" indent="0" algn="ctr" defTabSz="914400" rtl="0" eaLnBrk="1" latinLnBrk="0" hangingPunct="1">
              <a:spcBef>
                <a:spcPct val="20000"/>
              </a:spcBef>
              <a:buFont typeface="Arial" pitchFamily="34" charset="0"/>
              <a:buNone/>
              <a:defRPr sz="3200" kern="1200">
                <a:solidFill>
                  <a:schemeClr val="tx1">
                    <a:tint val="75000"/>
                  </a:schemeClr>
                </a:solidFill>
                <a:latin typeface="+mn-lt"/>
                <a:ea typeface="+mn-ea"/>
                <a:cs typeface="+mn-cs"/>
              </a:defRPr>
            </a:lvl1pPr>
            <a:lvl2pPr marL="457200" indent="0" algn="ctr" defTabSz="914400" rtl="0" eaLnBrk="1" latinLnBrk="0" hangingPunct="1">
              <a:spcBef>
                <a:spcPct val="20000"/>
              </a:spcBef>
              <a:buFont typeface="Arial" pitchFamily="34" charset="0"/>
              <a:buNone/>
              <a:defRPr sz="2800" kern="1200">
                <a:solidFill>
                  <a:schemeClr val="tx1">
                    <a:tint val="75000"/>
                  </a:schemeClr>
                </a:solidFill>
                <a:latin typeface="+mn-lt"/>
                <a:ea typeface="+mn-ea"/>
                <a:cs typeface="+mn-cs"/>
              </a:defRPr>
            </a:lvl2pPr>
            <a:lvl3pPr marL="914400" indent="0" algn="ctr" defTabSz="914400" rtl="0" eaLnBrk="1" latinLnBrk="0" hangingPunct="1">
              <a:spcBef>
                <a:spcPct val="20000"/>
              </a:spcBef>
              <a:buFont typeface="Arial" pitchFamily="34" charset="0"/>
              <a:buNone/>
              <a:defRPr sz="2400" kern="1200">
                <a:solidFill>
                  <a:schemeClr val="tx1">
                    <a:tint val="75000"/>
                  </a:schemeClr>
                </a:solidFill>
                <a:latin typeface="+mn-lt"/>
                <a:ea typeface="+mn-ea"/>
                <a:cs typeface="+mn-cs"/>
              </a:defRPr>
            </a:lvl3pPr>
            <a:lvl4pPr marL="1371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4pPr>
            <a:lvl5pPr marL="18288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5pPr>
            <a:lvl6pPr marL="22860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6pPr>
            <a:lvl7pPr marL="27432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7pPr>
            <a:lvl8pPr marL="32004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8pPr>
            <a:lvl9pPr marL="3657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9pPr>
          </a:lstStyle>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2000" b="1" i="0" u="none" strike="noStrike" kern="1200" cap="none" spc="0" normalizeH="0" baseline="0" noProof="0" dirty="0">
                <a:ln>
                  <a:noFill/>
                </a:ln>
                <a:solidFill>
                  <a:schemeClr val="tx1"/>
                </a:solidFill>
                <a:effectLst/>
                <a:uLnTx/>
                <a:uFillTx/>
                <a:latin typeface="Bookman Old Style" pitchFamily="18" charset="0"/>
                <a:ea typeface="+mn-ea"/>
                <a:cs typeface="+mn-cs"/>
              </a:rPr>
              <a:t>Team Details</a:t>
            </a:r>
          </a:p>
          <a:p>
            <a:pPr marL="0" marR="0" lvl="0" indent="0" algn="l" defTabSz="914400" rtl="0" eaLnBrk="1" fontAlgn="auto" latinLnBrk="0" hangingPunct="1">
              <a:lnSpc>
                <a:spcPct val="100000"/>
              </a:lnSpc>
              <a:spcBef>
                <a:spcPts val="600"/>
              </a:spcBef>
              <a:spcAft>
                <a:spcPts val="0"/>
              </a:spcAft>
              <a:buClrTx/>
              <a:buSzTx/>
              <a:buFont typeface="Arial" pitchFamily="34" charset="0"/>
              <a:buNone/>
              <a:tabLst/>
              <a:defRPr/>
            </a:pPr>
            <a:r>
              <a:rPr kumimoji="0" lang="en-US" sz="1800" b="1" i="0" u="none" strike="noStrike" kern="1200" cap="none" spc="0" normalizeH="0" baseline="0" noProof="0" dirty="0">
                <a:ln>
                  <a:noFill/>
                </a:ln>
                <a:solidFill>
                  <a:schemeClr val="tx1"/>
                </a:solidFill>
                <a:effectLst/>
                <a:highlight>
                  <a:srgbClr val="FFFF00"/>
                </a:highlight>
                <a:uLnTx/>
                <a:uFillTx/>
                <a:latin typeface="Book Antiqua" pitchFamily="18" charset="0"/>
                <a:ea typeface="+mn-ea"/>
                <a:cs typeface="+mn-cs"/>
              </a:rPr>
              <a:t>Student Name1: Reg. No.</a:t>
            </a:r>
          </a:p>
          <a:p>
            <a:pPr marL="0" marR="0" lvl="0" indent="0" algn="l" defTabSz="914400" rtl="0" eaLnBrk="1" fontAlgn="auto" latinLnBrk="0" hangingPunct="1">
              <a:lnSpc>
                <a:spcPct val="100000"/>
              </a:lnSpc>
              <a:spcBef>
                <a:spcPts val="600"/>
              </a:spcBef>
              <a:spcAft>
                <a:spcPts val="0"/>
              </a:spcAft>
              <a:buClrTx/>
              <a:buSzTx/>
              <a:buFont typeface="Arial" pitchFamily="34" charset="0"/>
              <a:buNone/>
              <a:tabLst/>
              <a:defRPr/>
            </a:pPr>
            <a:r>
              <a:rPr kumimoji="0" lang="en-US" sz="1800" b="1" i="0" u="none" strike="noStrike" kern="1200" cap="none" spc="0" normalizeH="0" baseline="0" noProof="0" dirty="0">
                <a:ln>
                  <a:noFill/>
                </a:ln>
                <a:solidFill>
                  <a:schemeClr val="tx1"/>
                </a:solidFill>
                <a:effectLst/>
                <a:highlight>
                  <a:srgbClr val="FFFF00"/>
                </a:highlight>
                <a:uLnTx/>
                <a:uFillTx/>
                <a:latin typeface="Book Antiqua" pitchFamily="18" charset="0"/>
                <a:ea typeface="+mn-ea"/>
                <a:cs typeface="+mn-cs"/>
              </a:rPr>
              <a:t>Student Name2: Reg. No.</a:t>
            </a:r>
          </a:p>
          <a:p>
            <a:pPr marL="0" marR="0" lvl="0" indent="0" algn="l" defTabSz="914400" rtl="0" eaLnBrk="1" fontAlgn="auto" latinLnBrk="0" hangingPunct="1">
              <a:lnSpc>
                <a:spcPct val="100000"/>
              </a:lnSpc>
              <a:spcBef>
                <a:spcPts val="600"/>
              </a:spcBef>
              <a:spcAft>
                <a:spcPts val="0"/>
              </a:spcAft>
              <a:buClrTx/>
              <a:buSzTx/>
              <a:buFont typeface="Arial" pitchFamily="34" charset="0"/>
              <a:buNone/>
              <a:tabLst/>
              <a:defRPr/>
            </a:pPr>
            <a:r>
              <a:rPr kumimoji="0" lang="en-US" sz="1800" b="1" i="0" u="none" strike="noStrike" kern="1200" cap="none" spc="0" normalizeH="0" baseline="0" noProof="0" dirty="0">
                <a:ln>
                  <a:noFill/>
                </a:ln>
                <a:solidFill>
                  <a:schemeClr val="tx1"/>
                </a:solidFill>
                <a:effectLst/>
                <a:highlight>
                  <a:srgbClr val="FFFF00"/>
                </a:highlight>
                <a:uLnTx/>
                <a:uFillTx/>
                <a:latin typeface="Book Antiqua" pitchFamily="18" charset="0"/>
                <a:ea typeface="+mn-ea"/>
                <a:cs typeface="+mn-cs"/>
              </a:rPr>
              <a:t>Student Name3: Reg. No.</a:t>
            </a:r>
          </a:p>
          <a:p>
            <a:pPr lvl="0" algn="l">
              <a:spcBef>
                <a:spcPts val="600"/>
              </a:spcBef>
              <a:buClrTx/>
              <a:buSzTx/>
              <a:defRPr/>
            </a:pPr>
            <a:r>
              <a:rPr lang="en-US" sz="1800" b="1" dirty="0">
                <a:solidFill>
                  <a:schemeClr val="tx1"/>
                </a:solidFill>
                <a:highlight>
                  <a:srgbClr val="FFFF00"/>
                </a:highlight>
                <a:latin typeface="Book Antiqua" pitchFamily="18" charset="0"/>
              </a:rPr>
              <a:t>Student Name4: Reg. No.</a:t>
            </a:r>
          </a:p>
          <a:p>
            <a:pPr marL="0" marR="0" lvl="0" indent="0" algn="l" defTabSz="914400" rtl="0" eaLnBrk="1" fontAlgn="auto" latinLnBrk="0" hangingPunct="1">
              <a:lnSpc>
                <a:spcPct val="100000"/>
              </a:lnSpc>
              <a:spcBef>
                <a:spcPts val="600"/>
              </a:spcBef>
              <a:spcAft>
                <a:spcPts val="0"/>
              </a:spcAft>
              <a:buClrTx/>
              <a:buSzTx/>
              <a:buFont typeface="Arial" pitchFamily="34" charset="0"/>
              <a:buNone/>
              <a:tabLst/>
              <a:defRPr/>
            </a:pPr>
            <a:endParaRPr kumimoji="0" lang="en-US" sz="1800" b="1" i="0" u="none" strike="noStrike" kern="1200" cap="none" spc="0" normalizeH="0" baseline="0" noProof="0" dirty="0">
              <a:ln>
                <a:noFill/>
              </a:ln>
              <a:solidFill>
                <a:schemeClr val="tx1"/>
              </a:solidFill>
              <a:effectLst/>
              <a:uLnTx/>
              <a:uFillTx/>
              <a:latin typeface="Book Antiqua" pitchFamily="18"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itchFamily="34" charset="0"/>
              <a:buNone/>
              <a:tabLst/>
              <a:defRPr/>
            </a:pPr>
            <a:endParaRPr kumimoji="0" lang="en-US" sz="2000" b="1" i="0" u="none" strike="noStrike" kern="1200" cap="none" spc="0" normalizeH="0" baseline="0" noProof="0" dirty="0">
              <a:ln>
                <a:noFill/>
              </a:ln>
              <a:solidFill>
                <a:schemeClr val="tx1"/>
              </a:solidFill>
              <a:effectLst/>
              <a:uLnTx/>
              <a:uFillTx/>
              <a:latin typeface="Bookman Old Style" pitchFamily="18"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itchFamily="34" charset="0"/>
              <a:buNone/>
              <a:tabLst/>
              <a:defRPr/>
            </a:pPr>
            <a:endParaRPr kumimoji="0" lang="en-US" sz="2000" b="1" i="0" u="none" strike="noStrike" kern="1200" cap="none" spc="0" normalizeH="0" baseline="0" noProof="0" dirty="0">
              <a:ln>
                <a:noFill/>
              </a:ln>
              <a:solidFill>
                <a:schemeClr val="tx1"/>
              </a:solidFill>
              <a:effectLst/>
              <a:uLnTx/>
              <a:uFillTx/>
              <a:latin typeface="Bookman Old Style" pitchFamily="18" charset="0"/>
              <a:ea typeface="+mn-ea"/>
              <a:cs typeface="+mn-cs"/>
            </a:endParaRPr>
          </a:p>
        </p:txBody>
      </p:sp>
      <p:sp>
        <p:nvSpPr>
          <p:cNvPr id="5" name="Title 4"/>
          <p:cNvSpPr txBox="1">
            <a:spLocks noGrp="1"/>
          </p:cNvSpPr>
          <p:nvPr>
            <p:ph type="ctrTitle"/>
          </p:nvPr>
        </p:nvSpPr>
        <p:spPr>
          <a:xfrm>
            <a:off x="914400" y="1742502"/>
            <a:ext cx="8403771" cy="830956"/>
          </a:xfrm>
          <a:prstGeom prst="rect">
            <a:avLst/>
          </a:prstGeom>
          <a:noFill/>
        </p:spPr>
        <p:txBody>
          <a:bodyPr wrap="square" rtlCol="0">
            <a:spAutoFit/>
          </a:bodyPr>
          <a:lstStyle/>
          <a:p>
            <a:pPr algn="ctr"/>
            <a:r>
              <a:rPr lang="en-US" sz="2400" b="1" dirty="0">
                <a:solidFill>
                  <a:schemeClr val="tx1"/>
                </a:solidFill>
              </a:rPr>
              <a:t>Faculty of Engineering and Technology</a:t>
            </a:r>
          </a:p>
          <a:p>
            <a:pPr algn="ctr"/>
            <a:r>
              <a:rPr lang="en-US" sz="2400" b="1" dirty="0">
                <a:solidFill>
                  <a:schemeClr val="tx1"/>
                </a:solidFill>
              </a:rPr>
              <a:t>Department of Computer Science and Engineering</a:t>
            </a:r>
          </a:p>
        </p:txBody>
      </p:sp>
      <p:sp>
        <p:nvSpPr>
          <p:cNvPr id="6" name="Text Box 9"/>
          <p:cNvSpPr txBox="1">
            <a:spLocks noChangeArrowheads="1"/>
          </p:cNvSpPr>
          <p:nvPr/>
        </p:nvSpPr>
        <p:spPr bwMode="auto">
          <a:xfrm>
            <a:off x="4919404" y="4491395"/>
            <a:ext cx="4610394" cy="1815882"/>
          </a:xfrm>
          <a:prstGeom prst="rect">
            <a:avLst/>
          </a:prstGeom>
          <a:noFill/>
          <a:ln w="9525">
            <a:noFill/>
            <a:miter lim="800000"/>
            <a:headEnd/>
            <a:tailEnd/>
          </a:ln>
        </p:spPr>
        <p:txBody>
          <a:bodyPr wrap="square">
            <a:spAutoFit/>
          </a:bodyPr>
          <a:lstStyle/>
          <a:p>
            <a:pPr>
              <a:spcBef>
                <a:spcPct val="20000"/>
              </a:spcBef>
              <a:buClrTx/>
            </a:pPr>
            <a:r>
              <a:rPr lang="en-US" sz="2000" b="1" kern="1200" dirty="0">
                <a:solidFill>
                  <a:schemeClr val="tx1"/>
                </a:solidFill>
                <a:latin typeface="Bookman Old Style" pitchFamily="18" charset="0"/>
                <a:ea typeface="+mn-ea"/>
                <a:cs typeface="+mn-cs"/>
              </a:rPr>
              <a:t>Guide</a:t>
            </a:r>
          </a:p>
          <a:p>
            <a:pPr>
              <a:spcBef>
                <a:spcPts val="600"/>
              </a:spcBef>
              <a:buClrTx/>
              <a:buFontTx/>
              <a:buNone/>
            </a:pPr>
            <a:r>
              <a:rPr lang="en-US" sz="2000" b="1" kern="1200" dirty="0">
                <a:solidFill>
                  <a:schemeClr val="tx1"/>
                </a:solidFill>
                <a:highlight>
                  <a:srgbClr val="FFFF00"/>
                </a:highlight>
                <a:latin typeface="Bookman Old Style" pitchFamily="18" charset="0"/>
                <a:ea typeface="+mn-ea"/>
                <a:cs typeface="+mn-cs"/>
              </a:rPr>
              <a:t>Dr./Mr./Ms. Faculty Name</a:t>
            </a:r>
          </a:p>
          <a:p>
            <a:pPr>
              <a:spcBef>
                <a:spcPts val="600"/>
              </a:spcBef>
              <a:buClrTx/>
              <a:buFontTx/>
              <a:buNone/>
            </a:pPr>
            <a:r>
              <a:rPr lang="en-US" sz="1600" kern="1200" dirty="0">
                <a:solidFill>
                  <a:schemeClr val="tx1"/>
                </a:solidFill>
                <a:highlight>
                  <a:srgbClr val="FFFF00"/>
                </a:highlight>
                <a:latin typeface="Bookman Old Style" pitchFamily="18" charset="0"/>
                <a:ea typeface="+mn-ea"/>
                <a:cs typeface="+mn-cs"/>
              </a:rPr>
              <a:t>Professor/Assoc. Professor/Asst. Professor</a:t>
            </a:r>
          </a:p>
          <a:p>
            <a:pPr>
              <a:spcBef>
                <a:spcPts val="600"/>
              </a:spcBef>
              <a:buClrTx/>
              <a:buFontTx/>
              <a:buNone/>
            </a:pPr>
            <a:r>
              <a:rPr lang="en-US" sz="1600" kern="1200" dirty="0">
                <a:solidFill>
                  <a:schemeClr val="tx1"/>
                </a:solidFill>
                <a:latin typeface="Bookman Old Style" pitchFamily="18" charset="0"/>
                <a:ea typeface="+mn-ea"/>
                <a:cs typeface="+mn-cs"/>
              </a:rPr>
              <a:t>Dept. of CSE, MSRUAS, Bengaluru</a:t>
            </a:r>
          </a:p>
          <a:p>
            <a:pPr>
              <a:spcBef>
                <a:spcPts val="600"/>
              </a:spcBef>
              <a:buClrTx/>
              <a:buFontTx/>
              <a:buNone/>
            </a:pPr>
            <a:endParaRPr lang="en-US" sz="2000" kern="1200" dirty="0">
              <a:solidFill>
                <a:schemeClr val="tx1"/>
              </a:solidFill>
              <a:latin typeface="Bookman Old Style" pitchFamily="18" charset="0"/>
              <a:ea typeface="+mn-ea"/>
              <a:cs typeface="+mn-cs"/>
            </a:endParaRPr>
          </a:p>
        </p:txBody>
      </p:sp>
      <p:sp>
        <p:nvSpPr>
          <p:cNvPr id="7" name="Google Shape;93;p1"/>
          <p:cNvSpPr txBox="1">
            <a:spLocks/>
          </p:cNvSpPr>
          <p:nvPr/>
        </p:nvSpPr>
        <p:spPr>
          <a:xfrm>
            <a:off x="548640" y="2697480"/>
            <a:ext cx="8805672" cy="1600200"/>
          </a:xfrm>
          <a:prstGeom prst="rect">
            <a:avLst/>
          </a:prstGeom>
          <a:noFill/>
          <a:ln>
            <a:noFill/>
          </a:ln>
        </p:spPr>
        <p:txBody>
          <a:bodyPr spcFirstLastPara="1" vert="horz" wrap="square" lIns="91425" tIns="45700" rIns="91425" bIns="45700" rtlCol="0" anchor="ctr" anchorCtr="0">
            <a:noAutofit/>
          </a:bodyPr>
          <a:lstStyle>
            <a:lvl1pPr algn="ctr" defTabSz="742950" rtl="0" eaLnBrk="1" latinLnBrk="0" hangingPunct="1">
              <a:lnSpc>
                <a:spcPct val="90000"/>
              </a:lnSpc>
              <a:spcBef>
                <a:spcPct val="0"/>
              </a:spcBef>
              <a:buNone/>
              <a:defRPr sz="3900" kern="1200">
                <a:solidFill>
                  <a:schemeClr val="tx1"/>
                </a:solidFill>
                <a:latin typeface="+mj-lt"/>
                <a:ea typeface="+mj-ea"/>
                <a:cs typeface="+mj-cs"/>
              </a:defRPr>
            </a:lvl1pPr>
          </a:lstStyle>
          <a:p>
            <a:pPr>
              <a:lnSpc>
                <a:spcPct val="100000"/>
              </a:lnSpc>
              <a:spcBef>
                <a:spcPts val="600"/>
              </a:spcBef>
              <a:buClr>
                <a:srgbClr val="FF0000"/>
              </a:buClr>
              <a:buSzPts val="3200"/>
              <a:buFontTx/>
            </a:pPr>
            <a:r>
              <a:rPr lang="en-US" sz="2400" b="1" dirty="0"/>
              <a:t>Pre-Project Presentation</a:t>
            </a:r>
            <a:br>
              <a:rPr lang="en-US" sz="2400" b="1" dirty="0"/>
            </a:br>
            <a:r>
              <a:rPr lang="en-US" sz="2200" b="1" dirty="0">
                <a:solidFill>
                  <a:srgbClr val="FF0000"/>
                </a:solidFill>
              </a:rPr>
              <a:t>DBARS: Demand Based Bus Allocation &amp; Routing System</a:t>
            </a:r>
          </a:p>
          <a:p>
            <a:pPr>
              <a:lnSpc>
                <a:spcPct val="100000"/>
              </a:lnSpc>
              <a:spcBef>
                <a:spcPts val="600"/>
              </a:spcBef>
              <a:buClr>
                <a:srgbClr val="FF0000"/>
              </a:buClr>
              <a:buSzPts val="3200"/>
              <a:buFontTx/>
            </a:pPr>
            <a:r>
              <a:rPr lang="en-US" sz="1400" b="0" dirty="0" i="1">
                <a:solidFill>
                  <a:srgbClr val="4B5563"/>
                </a:solidFill>
              </a:rPr>
              <a:t>One BMTC timetable, three products: find the bus  |  plan the fleet  |  open the data</a:t>
            </a:r>
          </a:p>
          <a:p>
            <a:pPr>
              <a:lnSpc>
                <a:spcPct val="100000"/>
              </a:lnSpc>
              <a:spcBef>
                <a:spcPts val="600"/>
              </a:spcBef>
              <a:buClr>
                <a:srgbClr val="FF0000"/>
              </a:buClr>
              <a:buSzPts val="3200"/>
              <a:buFontTx/>
            </a:pPr>
            <a:r>
              <a:rPr lang="en-US" sz="1600" b="1" dirty="0">
                <a:solidFill>
                  <a:srgbClr val="FF0000"/>
                </a:solidFill>
                <a:highlight>
                  <a:srgbClr val="FFFF00"/>
                </a:highlight>
              </a:rPr>
              <a:t>Project Batch No.: &lt;&lt;to be filled&gt;&gt;</a:t>
            </a:r>
            <a:br>
              <a:rPr lang="en-US" sz="2400" b="1" dirty="0">
                <a:solidFill>
                  <a:srgbClr val="FF0000"/>
                </a:solidFill>
              </a:rPr>
            </a:br>
            <a:endParaRPr lang="en-US" sz="2400" b="1" dirty="0">
              <a:solidFill>
                <a:srgbClr val="FF0000"/>
              </a:solidFill>
            </a:endParaRPr>
          </a:p>
        </p:txBody>
      </p:sp>
      <p:pic>
        <p:nvPicPr>
          <p:cNvPr id="9" name="Picture 8">
            <a:extLst>
              <a:ext uri="{FF2B5EF4-FFF2-40B4-BE49-F238E27FC236}">
                <a16:creationId xmlns:a16="http://schemas.microsoft.com/office/drawing/2014/main" id="{ED9AE390-1EBF-06F6-7AA0-D50F7D61EA96}"/>
              </a:ext>
            </a:extLst>
          </p:cNvPr>
          <p:cNvPicPr>
            <a:picLocks noChangeAspect="1"/>
          </p:cNvPicPr>
          <p:nvPr/>
        </p:nvPicPr>
        <p:blipFill>
          <a:blip r:embed="rId2"/>
          <a:stretch>
            <a:fillRect/>
          </a:stretch>
        </p:blipFill>
        <p:spPr>
          <a:xfrm>
            <a:off x="3066380" y="406143"/>
            <a:ext cx="3310210" cy="1155033"/>
          </a:xfrm>
          <a:prstGeom prst="rect">
            <a:avLst/>
          </a:prstGeom>
        </p:spPr>
      </p:pic>
    </p:spTree>
    <p:extLst>
      <p:ext uri="{BB962C8B-B14F-4D97-AF65-F5344CB8AC3E}">
        <p14:creationId xmlns:p14="http://schemas.microsoft.com/office/powerpoint/2010/main" val="13877242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sp>
        <p:nvSpPr>
          <p:cNvPr id="164" name="Google Shape;164;p15"/>
          <p:cNvSpPr txBox="1">
            <a:spLocks noGrp="1"/>
          </p:cNvSpPr>
          <p:nvPr>
            <p:ph type="ctrTitle"/>
          </p:nvPr>
        </p:nvSpPr>
        <p:spPr>
          <a:xfrm>
            <a:off x="742950" y="2103120"/>
            <a:ext cx="8420100" cy="1188720"/>
          </a:xfrm>
          <a:prstGeom prst="rect">
            <a:avLst/>
          </a:prstGeom>
          <a:noFill/>
          <a:ln>
            <a:noFill/>
          </a:ln>
        </p:spPr>
        <p:txBody>
          <a:bodyPr spcFirstLastPara="1" wrap="square" lIns="91425" tIns="45700" rIns="91425" bIns="45700" anchor="t" anchorCtr="0">
            <a:noAutofit/>
          </a:bodyPr>
          <a:lstStyle/>
          <a:p>
            <a:pPr marL="0" lvl="0" indent="0" algn="ctr" rtl="0">
              <a:lnSpc>
                <a:spcPct val="100000"/>
              </a:lnSpc>
              <a:spcBef>
                <a:spcPts val="0"/>
              </a:spcBef>
              <a:spcAft>
                <a:spcPts val="0"/>
              </a:spcAft>
              <a:buClr>
                <a:schemeClr val="dk2"/>
              </a:buClr>
              <a:buSzPts val="4000"/>
              <a:buFont typeface="Calibri"/>
              <a:buNone/>
            </a:pPr>
            <a:r>
              <a:rPr lang="en-US" sz="4000" b="1">
                <a:solidFill>
                  <a:schemeClr val="dk2"/>
                </a:solidFill>
                <a:latin typeface="Calibri"/>
                <a:ea typeface="Calibri"/>
                <a:cs typeface="Calibri"/>
                <a:sym typeface="Calibri"/>
              </a:rPr>
              <a:t>Thank You</a:t>
            </a:r>
            <a:endParaRPr sz="4000" b="1">
              <a:solidFill>
                <a:schemeClr val="dk2"/>
              </a:solidFill>
              <a:latin typeface="Calibri"/>
              <a:ea typeface="Calibri"/>
              <a:cs typeface="Calibri"/>
              <a:sym typeface="Calibri"/>
            </a:endParaRPr>
          </a:p>
        </p:txBody>
      </p:sp>
      <p:pic>
        <p:nvPicPr>
          <p:cNvPr id="165" name="Google Shape;165;p15"/>
          <p:cNvPicPr preferRelativeResize="0"/>
          <p:nvPr/>
        </p:nvPicPr>
        <p:blipFill rotWithShape="1">
          <a:blip r:embed="rId3">
            <a:alphaModFix/>
          </a:blip>
          <a:srcRect/>
          <a:stretch/>
        </p:blipFill>
        <p:spPr>
          <a:xfrm>
            <a:off x="200472" y="6714622"/>
            <a:ext cx="2416616" cy="152094"/>
          </a:xfrm>
          <a:prstGeom prst="rect">
            <a:avLst/>
          </a:prstGeom>
          <a:noFill/>
          <a:ln>
            <a:noFill/>
          </a:ln>
        </p:spPr>
      </p:pic>
      <p:sp>
        <p:nvSpPr>
          <p:cNvPr id="166" name="TextBox 165"/>
          <p:cNvSpPr txBox="1"/>
          <p:nvPr/>
        </p:nvSpPr>
        <p:spPr>
          <a:xfrm>
            <a:off x="548640" y="3291840"/>
            <a:ext cx="8805672" cy="457200"/>
          </a:xfrm>
          <a:prstGeom prst="rect">
            <a:avLst/>
          </a:prstGeom>
          <a:noFill/>
        </p:spPr>
        <p:txBody>
          <a:bodyPr wrap="square" anchor="t" lIns="73152" rIns="73152"/>
          <a:lstStyle/>
          <a:p>
            <a:pPr algn="ctr"/>
            <a:r>
              <a:rPr sz="2200" b="1" i="0">
                <a:solidFill>
                  <a:srgbClr val="C00000"/>
                </a:solidFill>
                <a:latin typeface="Arial"/>
              </a:rPr>
              <a:t>Questions and Discussion</a:t>
            </a:r>
            <a:endParaRPr sz="2200"/>
          </a:p>
        </p:txBody>
      </p:sp>
      <p:sp>
        <p:nvSpPr>
          <p:cNvPr id="167" name="TextBox 166"/>
          <p:cNvSpPr txBox="1"/>
          <p:nvPr/>
        </p:nvSpPr>
        <p:spPr>
          <a:xfrm>
            <a:off x="548640" y="3931920"/>
            <a:ext cx="8805672" cy="457200"/>
          </a:xfrm>
          <a:prstGeom prst="rect">
            <a:avLst/>
          </a:prstGeom>
          <a:noFill/>
        </p:spPr>
        <p:txBody>
          <a:bodyPr wrap="square" anchor="t" lIns="73152" rIns="73152"/>
          <a:lstStyle/>
          <a:p>
            <a:pPr algn="ctr"/>
            <a:r>
              <a:rPr sz="1600" b="1" i="0">
                <a:solidFill>
                  <a:srgbClr val="1F2937"/>
                </a:solidFill>
                <a:latin typeface="Arial"/>
              </a:rPr>
              <a:t>DBARS: Demand Based Bus Allocation &amp; Routing System</a:t>
            </a:r>
            <a:endParaRPr sz="1600"/>
          </a:p>
        </p:txBody>
      </p:sp>
      <p:sp>
        <p:nvSpPr>
          <p:cNvPr id="168" name="TextBox 167"/>
          <p:cNvSpPr txBox="1"/>
          <p:nvPr/>
        </p:nvSpPr>
        <p:spPr>
          <a:xfrm>
            <a:off x="548640" y="4389120"/>
            <a:ext cx="8805672" cy="457200"/>
          </a:xfrm>
          <a:prstGeom prst="rect">
            <a:avLst/>
          </a:prstGeom>
          <a:noFill/>
        </p:spPr>
        <p:txBody>
          <a:bodyPr wrap="square" anchor="t" lIns="73152" rIns="73152"/>
          <a:lstStyle/>
          <a:p>
            <a:pPr algn="ctr"/>
            <a:r>
              <a:rPr sz="1400" b="0" i="1">
                <a:solidFill>
                  <a:srgbClr val="4B5563"/>
                </a:solidFill>
                <a:latin typeface="Arial"/>
              </a:rPr>
              <a:t>One timetable. Three products. Both sides of the same question.</a:t>
            </a:r>
            <a:endParaRPr sz="1400"/>
          </a:p>
        </p:txBody>
      </p:sp>
      <p:sp>
        <p:nvSpPr>
          <p:cNvPr id="169" name="Rounded Rectangle 168"/>
          <p:cNvSpPr/>
          <p:nvPr/>
        </p:nvSpPr>
        <p:spPr>
          <a:xfrm>
            <a:off x="1234440" y="5074920"/>
            <a:ext cx="2331720" cy="502920"/>
          </a:xfrm>
          <a:prstGeom prst="roundRect">
            <a:avLst>
              <a:gd name="adj" fmla="val 40000"/>
            </a:avLst>
          </a:prstGeom>
          <a:solidFill>
            <a:srgbClr val="C00000"/>
          </a:solidFill>
          <a:ln>
            <a:noFill/>
          </a:ln>
          <a:effectLst/>
        </p:spPr>
        <p:txBody>
          <a:bodyPr rtlCol="0" anchor="ctr" wrap="square" lIns="73152" rIns="73152"/>
          <a:lstStyle/>
          <a:p>
            <a:pPr algn="ctr"/>
            <a:r>
              <a:rPr sz="1400" b="1" i="0">
                <a:solidFill>
                  <a:srgbClr val="FFFFFF"/>
                </a:solidFill>
                <a:latin typeface="Arial"/>
              </a:rPr>
              <a:t>Find the bus</a:t>
            </a:r>
            <a:endParaRPr sz="1400"/>
          </a:p>
        </p:txBody>
      </p:sp>
      <p:sp>
        <p:nvSpPr>
          <p:cNvPr id="170" name="Rounded Rectangle 169"/>
          <p:cNvSpPr/>
          <p:nvPr/>
        </p:nvSpPr>
        <p:spPr>
          <a:xfrm>
            <a:off x="3749039" y="5074920"/>
            <a:ext cx="2331720" cy="502920"/>
          </a:xfrm>
          <a:prstGeom prst="roundRect">
            <a:avLst>
              <a:gd name="adj" fmla="val 40000"/>
            </a:avLst>
          </a:prstGeom>
          <a:solidFill>
            <a:srgbClr val="C00000"/>
          </a:solidFill>
          <a:ln>
            <a:noFill/>
          </a:ln>
          <a:effectLst/>
        </p:spPr>
        <p:txBody>
          <a:bodyPr rtlCol="0" anchor="ctr" wrap="square" lIns="73152" rIns="73152"/>
          <a:lstStyle/>
          <a:p>
            <a:pPr algn="ctr"/>
            <a:r>
              <a:rPr sz="1400" b="1" i="0">
                <a:solidFill>
                  <a:srgbClr val="FFFFFF"/>
                </a:solidFill>
                <a:latin typeface="Arial"/>
              </a:rPr>
              <a:t>Plan the fleet</a:t>
            </a:r>
            <a:endParaRPr sz="1400"/>
          </a:p>
        </p:txBody>
      </p:sp>
      <p:sp>
        <p:nvSpPr>
          <p:cNvPr id="171" name="Rounded Rectangle 170"/>
          <p:cNvSpPr/>
          <p:nvPr/>
        </p:nvSpPr>
        <p:spPr>
          <a:xfrm>
            <a:off x="6263640" y="5074920"/>
            <a:ext cx="2331720" cy="502920"/>
          </a:xfrm>
          <a:prstGeom prst="roundRect">
            <a:avLst>
              <a:gd name="adj" fmla="val 40000"/>
            </a:avLst>
          </a:prstGeom>
          <a:solidFill>
            <a:srgbClr val="C00000"/>
          </a:solidFill>
          <a:ln>
            <a:noFill/>
          </a:ln>
          <a:effectLst/>
        </p:spPr>
        <p:txBody>
          <a:bodyPr rtlCol="0" anchor="ctr" wrap="square" lIns="73152" rIns="73152"/>
          <a:lstStyle/>
          <a:p>
            <a:pPr algn="ctr"/>
            <a:r>
              <a:rPr sz="1400" b="1" i="0">
                <a:solidFill>
                  <a:srgbClr val="FFFFFF"/>
                </a:solidFill>
                <a:latin typeface="Arial"/>
              </a:rPr>
              <a:t>Open the data</a:t>
            </a:r>
            <a:endParaRPr sz="140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19456"/>
            <a:ext cx="8988552" cy="603504"/>
          </a:xfrm>
        </p:spPr>
        <p:txBody>
          <a:bodyPr anchor="ctr" wrap="square"/>
          <a:lstStyle/>
          <a:p>
            <a:pPr algn="ctr"/>
            <a:r>
              <a:rPr sz="2800" b="1" i="0">
                <a:solidFill>
                  <a:srgbClr val="FF0000"/>
                </a:solidFill>
                <a:latin typeface="Arial"/>
              </a:rPr>
              <a:t>Outline</a:t>
            </a:r>
          </a:p>
        </p:txBody>
      </p:sp>
      <p:sp>
        <p:nvSpPr>
          <p:cNvPr id="3" name="Rounded Rectangle 2"/>
          <p:cNvSpPr/>
          <p:nvPr/>
        </p:nvSpPr>
        <p:spPr>
          <a:xfrm>
            <a:off x="548640" y="1051560"/>
            <a:ext cx="4343400" cy="512064"/>
          </a:xfrm>
          <a:prstGeom prst="roundRect">
            <a:avLst>
              <a:gd name="adj" fmla="val 12000"/>
            </a:avLst>
          </a:prstGeom>
          <a:solidFill>
            <a:srgbClr val="F3F4F6"/>
          </a:solidFill>
          <a:ln>
            <a:noFill/>
          </a:ln>
          <a:effectLst/>
        </p:spPr>
        <p:txBody>
          <a:bodyPr rtlCol="0" anchor="ctr"/>
          <a:lstStyle/>
          <a:p>
            <a:pPr algn="ctr"/>
          </a:p>
        </p:txBody>
      </p:sp>
      <p:sp>
        <p:nvSpPr>
          <p:cNvPr id="4" name="Oval 3"/>
          <p:cNvSpPr/>
          <p:nvPr/>
        </p:nvSpPr>
        <p:spPr>
          <a:xfrm>
            <a:off x="640080" y="1115568"/>
            <a:ext cx="384048" cy="384048"/>
          </a:xfrm>
          <a:prstGeom prst="ellipse">
            <a:avLst/>
          </a:prstGeom>
          <a:solidFill>
            <a:srgbClr val="C00000"/>
          </a:solidFill>
          <a:ln>
            <a:noFill/>
          </a:ln>
          <a:effectLst/>
        </p:spPr>
        <p:txBody>
          <a:bodyPr rtlCol="0" anchor="ctr" wrap="none" lIns="0" tIns="0" rIns="0" bIns="0"/>
          <a:lstStyle/>
          <a:p>
            <a:pPr algn="ctr"/>
            <a:r>
              <a:rPr sz="1300" b="1" i="0">
                <a:solidFill>
                  <a:srgbClr val="FFFFFF"/>
                </a:solidFill>
                <a:latin typeface="Arial"/>
              </a:rPr>
              <a:t>1</a:t>
            </a:r>
            <a:endParaRPr sz="1300"/>
          </a:p>
        </p:txBody>
      </p:sp>
      <p:sp>
        <p:nvSpPr>
          <p:cNvPr id="5" name="TextBox 4"/>
          <p:cNvSpPr txBox="1"/>
          <p:nvPr/>
        </p:nvSpPr>
        <p:spPr>
          <a:xfrm>
            <a:off x="1143000" y="1051560"/>
            <a:ext cx="3657600" cy="512064"/>
          </a:xfrm>
          <a:prstGeom prst="rect">
            <a:avLst/>
          </a:prstGeom>
          <a:noFill/>
        </p:spPr>
        <p:txBody>
          <a:bodyPr wrap="square" anchor="ctr" lIns="73152" rIns="73152"/>
          <a:lstStyle/>
          <a:p>
            <a:pPr algn="l"/>
            <a:r>
              <a:rPr sz="1400" b="1" i="0">
                <a:solidFill>
                  <a:srgbClr val="1F2937"/>
                </a:solidFill>
                <a:latin typeface="Arial"/>
              </a:rPr>
              <a:t>Introduction</a:t>
            </a:r>
            <a:endParaRPr sz="1400"/>
          </a:p>
        </p:txBody>
      </p:sp>
      <p:sp>
        <p:nvSpPr>
          <p:cNvPr id="6" name="Rounded Rectangle 5"/>
          <p:cNvSpPr/>
          <p:nvPr/>
        </p:nvSpPr>
        <p:spPr>
          <a:xfrm>
            <a:off x="548640" y="1691639"/>
            <a:ext cx="4343400" cy="512064"/>
          </a:xfrm>
          <a:prstGeom prst="roundRect">
            <a:avLst>
              <a:gd name="adj" fmla="val 12000"/>
            </a:avLst>
          </a:prstGeom>
          <a:solidFill>
            <a:srgbClr val="F3F4F6"/>
          </a:solidFill>
          <a:ln>
            <a:noFill/>
          </a:ln>
          <a:effectLst/>
        </p:spPr>
        <p:txBody>
          <a:bodyPr rtlCol="0" anchor="ctr"/>
          <a:lstStyle/>
          <a:p>
            <a:pPr algn="ctr"/>
          </a:p>
        </p:txBody>
      </p:sp>
      <p:sp>
        <p:nvSpPr>
          <p:cNvPr id="7" name="Oval 6"/>
          <p:cNvSpPr/>
          <p:nvPr/>
        </p:nvSpPr>
        <p:spPr>
          <a:xfrm>
            <a:off x="640080" y="1755648"/>
            <a:ext cx="384048" cy="384048"/>
          </a:xfrm>
          <a:prstGeom prst="ellipse">
            <a:avLst/>
          </a:prstGeom>
          <a:solidFill>
            <a:srgbClr val="C00000"/>
          </a:solidFill>
          <a:ln>
            <a:noFill/>
          </a:ln>
          <a:effectLst/>
        </p:spPr>
        <p:txBody>
          <a:bodyPr rtlCol="0" anchor="ctr" wrap="none" lIns="0" tIns="0" rIns="0" bIns="0"/>
          <a:lstStyle/>
          <a:p>
            <a:pPr algn="ctr"/>
            <a:r>
              <a:rPr sz="1300" b="1" i="0">
                <a:solidFill>
                  <a:srgbClr val="FFFFFF"/>
                </a:solidFill>
                <a:latin typeface="Arial"/>
              </a:rPr>
              <a:t>2</a:t>
            </a:r>
            <a:endParaRPr sz="1300"/>
          </a:p>
        </p:txBody>
      </p:sp>
      <p:sp>
        <p:nvSpPr>
          <p:cNvPr id="8" name="TextBox 7"/>
          <p:cNvSpPr txBox="1"/>
          <p:nvPr/>
        </p:nvSpPr>
        <p:spPr>
          <a:xfrm>
            <a:off x="1143000" y="1691639"/>
            <a:ext cx="3657600" cy="512064"/>
          </a:xfrm>
          <a:prstGeom prst="rect">
            <a:avLst/>
          </a:prstGeom>
          <a:noFill/>
        </p:spPr>
        <p:txBody>
          <a:bodyPr wrap="square" anchor="ctr" lIns="73152" rIns="73152"/>
          <a:lstStyle/>
          <a:p>
            <a:pPr algn="l"/>
            <a:r>
              <a:rPr sz="1400" b="1" i="0">
                <a:solidFill>
                  <a:srgbClr val="1F2937"/>
                </a:solidFill>
                <a:latin typeface="Arial"/>
              </a:rPr>
              <a:t>Literature Survey and Research Gaps</a:t>
            </a:r>
            <a:endParaRPr sz="1400"/>
          </a:p>
        </p:txBody>
      </p:sp>
      <p:sp>
        <p:nvSpPr>
          <p:cNvPr id="9" name="Rounded Rectangle 8"/>
          <p:cNvSpPr/>
          <p:nvPr/>
        </p:nvSpPr>
        <p:spPr>
          <a:xfrm>
            <a:off x="548640" y="2331720"/>
            <a:ext cx="4343400" cy="512064"/>
          </a:xfrm>
          <a:prstGeom prst="roundRect">
            <a:avLst>
              <a:gd name="adj" fmla="val 12000"/>
            </a:avLst>
          </a:prstGeom>
          <a:solidFill>
            <a:srgbClr val="F3F4F6"/>
          </a:solidFill>
          <a:ln>
            <a:noFill/>
          </a:ln>
          <a:effectLst/>
        </p:spPr>
        <p:txBody>
          <a:bodyPr rtlCol="0" anchor="ctr"/>
          <a:lstStyle/>
          <a:p>
            <a:pPr algn="ctr"/>
          </a:p>
        </p:txBody>
      </p:sp>
      <p:sp>
        <p:nvSpPr>
          <p:cNvPr id="10" name="Oval 9"/>
          <p:cNvSpPr/>
          <p:nvPr/>
        </p:nvSpPr>
        <p:spPr>
          <a:xfrm>
            <a:off x="640080" y="2395727"/>
            <a:ext cx="384048" cy="384048"/>
          </a:xfrm>
          <a:prstGeom prst="ellipse">
            <a:avLst/>
          </a:prstGeom>
          <a:solidFill>
            <a:srgbClr val="C00000"/>
          </a:solidFill>
          <a:ln>
            <a:noFill/>
          </a:ln>
          <a:effectLst/>
        </p:spPr>
        <p:txBody>
          <a:bodyPr rtlCol="0" anchor="ctr" wrap="none" lIns="0" tIns="0" rIns="0" bIns="0"/>
          <a:lstStyle/>
          <a:p>
            <a:pPr algn="ctr"/>
            <a:r>
              <a:rPr sz="1300" b="1" i="0">
                <a:solidFill>
                  <a:srgbClr val="FFFFFF"/>
                </a:solidFill>
                <a:latin typeface="Arial"/>
              </a:rPr>
              <a:t>3</a:t>
            </a:r>
            <a:endParaRPr sz="1300"/>
          </a:p>
        </p:txBody>
      </p:sp>
      <p:sp>
        <p:nvSpPr>
          <p:cNvPr id="11" name="TextBox 10"/>
          <p:cNvSpPr txBox="1"/>
          <p:nvPr/>
        </p:nvSpPr>
        <p:spPr>
          <a:xfrm>
            <a:off x="1143000" y="2331720"/>
            <a:ext cx="3657600" cy="512064"/>
          </a:xfrm>
          <a:prstGeom prst="rect">
            <a:avLst/>
          </a:prstGeom>
          <a:noFill/>
        </p:spPr>
        <p:txBody>
          <a:bodyPr wrap="square" anchor="ctr" lIns="73152" rIns="73152"/>
          <a:lstStyle/>
          <a:p>
            <a:pPr algn="l"/>
            <a:r>
              <a:rPr sz="1400" b="1" i="0">
                <a:solidFill>
                  <a:srgbClr val="1F2937"/>
                </a:solidFill>
                <a:latin typeface="Arial"/>
              </a:rPr>
              <a:t>Problem Statement</a:t>
            </a:r>
            <a:endParaRPr sz="1400"/>
          </a:p>
        </p:txBody>
      </p:sp>
      <p:sp>
        <p:nvSpPr>
          <p:cNvPr id="12" name="Rounded Rectangle 11"/>
          <p:cNvSpPr/>
          <p:nvPr/>
        </p:nvSpPr>
        <p:spPr>
          <a:xfrm>
            <a:off x="548640" y="2971799"/>
            <a:ext cx="4343400" cy="512064"/>
          </a:xfrm>
          <a:prstGeom prst="roundRect">
            <a:avLst>
              <a:gd name="adj" fmla="val 12000"/>
            </a:avLst>
          </a:prstGeom>
          <a:solidFill>
            <a:srgbClr val="F3F4F6"/>
          </a:solidFill>
          <a:ln>
            <a:noFill/>
          </a:ln>
          <a:effectLst/>
        </p:spPr>
        <p:txBody>
          <a:bodyPr rtlCol="0" anchor="ctr"/>
          <a:lstStyle/>
          <a:p>
            <a:pPr algn="ctr"/>
          </a:p>
        </p:txBody>
      </p:sp>
      <p:sp>
        <p:nvSpPr>
          <p:cNvPr id="13" name="Oval 12"/>
          <p:cNvSpPr/>
          <p:nvPr/>
        </p:nvSpPr>
        <p:spPr>
          <a:xfrm>
            <a:off x="640080" y="3035807"/>
            <a:ext cx="384048" cy="384048"/>
          </a:xfrm>
          <a:prstGeom prst="ellipse">
            <a:avLst/>
          </a:prstGeom>
          <a:solidFill>
            <a:srgbClr val="C00000"/>
          </a:solidFill>
          <a:ln>
            <a:noFill/>
          </a:ln>
          <a:effectLst/>
        </p:spPr>
        <p:txBody>
          <a:bodyPr rtlCol="0" anchor="ctr" wrap="none" lIns="0" tIns="0" rIns="0" bIns="0"/>
          <a:lstStyle/>
          <a:p>
            <a:pPr algn="ctr"/>
            <a:r>
              <a:rPr sz="1300" b="1" i="0">
                <a:solidFill>
                  <a:srgbClr val="FFFFFF"/>
                </a:solidFill>
                <a:latin typeface="Arial"/>
              </a:rPr>
              <a:t>4</a:t>
            </a:r>
            <a:endParaRPr sz="1300"/>
          </a:p>
        </p:txBody>
      </p:sp>
      <p:sp>
        <p:nvSpPr>
          <p:cNvPr id="14" name="TextBox 13"/>
          <p:cNvSpPr txBox="1"/>
          <p:nvPr/>
        </p:nvSpPr>
        <p:spPr>
          <a:xfrm>
            <a:off x="1143000" y="2971799"/>
            <a:ext cx="3657600" cy="512064"/>
          </a:xfrm>
          <a:prstGeom prst="rect">
            <a:avLst/>
          </a:prstGeom>
          <a:noFill/>
        </p:spPr>
        <p:txBody>
          <a:bodyPr wrap="square" anchor="ctr" lIns="73152" rIns="73152"/>
          <a:lstStyle/>
          <a:p>
            <a:pPr algn="l"/>
            <a:r>
              <a:rPr sz="1400" b="1" i="0">
                <a:solidFill>
                  <a:srgbClr val="1F2937"/>
                </a:solidFill>
                <a:latin typeface="Arial"/>
              </a:rPr>
              <a:t>Objectives</a:t>
            </a:r>
            <a:endParaRPr sz="1400"/>
          </a:p>
        </p:txBody>
      </p:sp>
      <p:sp>
        <p:nvSpPr>
          <p:cNvPr id="15" name="Rounded Rectangle 14"/>
          <p:cNvSpPr/>
          <p:nvPr/>
        </p:nvSpPr>
        <p:spPr>
          <a:xfrm>
            <a:off x="548640" y="3611879"/>
            <a:ext cx="4343400" cy="512064"/>
          </a:xfrm>
          <a:prstGeom prst="roundRect">
            <a:avLst>
              <a:gd name="adj" fmla="val 12000"/>
            </a:avLst>
          </a:prstGeom>
          <a:solidFill>
            <a:srgbClr val="F3F4F6"/>
          </a:solidFill>
          <a:ln>
            <a:noFill/>
          </a:ln>
          <a:effectLst/>
        </p:spPr>
        <p:txBody>
          <a:bodyPr rtlCol="0" anchor="ctr"/>
          <a:lstStyle/>
          <a:p>
            <a:pPr algn="ctr"/>
          </a:p>
        </p:txBody>
      </p:sp>
      <p:sp>
        <p:nvSpPr>
          <p:cNvPr id="16" name="Oval 15"/>
          <p:cNvSpPr/>
          <p:nvPr/>
        </p:nvSpPr>
        <p:spPr>
          <a:xfrm>
            <a:off x="640080" y="3675887"/>
            <a:ext cx="384048" cy="384048"/>
          </a:xfrm>
          <a:prstGeom prst="ellipse">
            <a:avLst/>
          </a:prstGeom>
          <a:solidFill>
            <a:srgbClr val="C00000"/>
          </a:solidFill>
          <a:ln>
            <a:noFill/>
          </a:ln>
          <a:effectLst/>
        </p:spPr>
        <p:txBody>
          <a:bodyPr rtlCol="0" anchor="ctr" wrap="none" lIns="0" tIns="0" rIns="0" bIns="0"/>
          <a:lstStyle/>
          <a:p>
            <a:pPr algn="ctr"/>
            <a:r>
              <a:rPr sz="1300" b="1" i="0">
                <a:solidFill>
                  <a:srgbClr val="FFFFFF"/>
                </a:solidFill>
                <a:latin typeface="Arial"/>
              </a:rPr>
              <a:t>5</a:t>
            </a:r>
            <a:endParaRPr sz="1300"/>
          </a:p>
        </p:txBody>
      </p:sp>
      <p:sp>
        <p:nvSpPr>
          <p:cNvPr id="17" name="TextBox 16"/>
          <p:cNvSpPr txBox="1"/>
          <p:nvPr/>
        </p:nvSpPr>
        <p:spPr>
          <a:xfrm>
            <a:off x="1143000" y="3611879"/>
            <a:ext cx="3657600" cy="512064"/>
          </a:xfrm>
          <a:prstGeom prst="rect">
            <a:avLst/>
          </a:prstGeom>
          <a:noFill/>
        </p:spPr>
        <p:txBody>
          <a:bodyPr wrap="square" anchor="ctr" lIns="73152" rIns="73152"/>
          <a:lstStyle/>
          <a:p>
            <a:pPr algn="l"/>
            <a:r>
              <a:rPr sz="1400" b="1" i="0">
                <a:solidFill>
                  <a:srgbClr val="1F2937"/>
                </a:solidFill>
                <a:latin typeface="Arial"/>
              </a:rPr>
              <a:t>Proposed Methodology</a:t>
            </a:r>
            <a:endParaRPr sz="1400"/>
          </a:p>
        </p:txBody>
      </p:sp>
      <p:sp>
        <p:nvSpPr>
          <p:cNvPr id="18" name="Rounded Rectangle 17"/>
          <p:cNvSpPr/>
          <p:nvPr/>
        </p:nvSpPr>
        <p:spPr>
          <a:xfrm>
            <a:off x="548640" y="4251960"/>
            <a:ext cx="4343400" cy="512064"/>
          </a:xfrm>
          <a:prstGeom prst="roundRect">
            <a:avLst>
              <a:gd name="adj" fmla="val 12000"/>
            </a:avLst>
          </a:prstGeom>
          <a:solidFill>
            <a:srgbClr val="F3F4F6"/>
          </a:solidFill>
          <a:ln>
            <a:noFill/>
          </a:ln>
          <a:effectLst/>
        </p:spPr>
        <p:txBody>
          <a:bodyPr rtlCol="0" anchor="ctr"/>
          <a:lstStyle/>
          <a:p>
            <a:pPr algn="ctr"/>
          </a:p>
        </p:txBody>
      </p:sp>
      <p:sp>
        <p:nvSpPr>
          <p:cNvPr id="19" name="Oval 18"/>
          <p:cNvSpPr/>
          <p:nvPr/>
        </p:nvSpPr>
        <p:spPr>
          <a:xfrm>
            <a:off x="640080" y="4315968"/>
            <a:ext cx="384048" cy="384048"/>
          </a:xfrm>
          <a:prstGeom prst="ellipse">
            <a:avLst/>
          </a:prstGeom>
          <a:solidFill>
            <a:srgbClr val="C00000"/>
          </a:solidFill>
          <a:ln>
            <a:noFill/>
          </a:ln>
          <a:effectLst/>
        </p:spPr>
        <p:txBody>
          <a:bodyPr rtlCol="0" anchor="ctr" wrap="none" lIns="0" tIns="0" rIns="0" bIns="0"/>
          <a:lstStyle/>
          <a:p>
            <a:pPr algn="ctr"/>
            <a:r>
              <a:rPr sz="1300" b="1" i="0">
                <a:solidFill>
                  <a:srgbClr val="FFFFFF"/>
                </a:solidFill>
                <a:latin typeface="Arial"/>
              </a:rPr>
              <a:t>6</a:t>
            </a:r>
            <a:endParaRPr sz="1300"/>
          </a:p>
        </p:txBody>
      </p:sp>
      <p:sp>
        <p:nvSpPr>
          <p:cNvPr id="20" name="TextBox 19"/>
          <p:cNvSpPr txBox="1"/>
          <p:nvPr/>
        </p:nvSpPr>
        <p:spPr>
          <a:xfrm>
            <a:off x="1143000" y="4251960"/>
            <a:ext cx="3657600" cy="512064"/>
          </a:xfrm>
          <a:prstGeom prst="rect">
            <a:avLst/>
          </a:prstGeom>
          <a:noFill/>
        </p:spPr>
        <p:txBody>
          <a:bodyPr wrap="square" anchor="ctr" lIns="73152" rIns="73152"/>
          <a:lstStyle/>
          <a:p>
            <a:pPr algn="l"/>
            <a:r>
              <a:rPr sz="1400" b="1" i="0">
                <a:solidFill>
                  <a:srgbClr val="1F2937"/>
                </a:solidFill>
                <a:latin typeface="Arial"/>
              </a:rPr>
              <a:t>Proposed System Architecture</a:t>
            </a:r>
            <a:endParaRPr sz="1400"/>
          </a:p>
        </p:txBody>
      </p:sp>
      <p:sp>
        <p:nvSpPr>
          <p:cNvPr id="21" name="Rounded Rectangle 20"/>
          <p:cNvSpPr/>
          <p:nvPr/>
        </p:nvSpPr>
        <p:spPr>
          <a:xfrm>
            <a:off x="548640" y="4892040"/>
            <a:ext cx="4343400" cy="512064"/>
          </a:xfrm>
          <a:prstGeom prst="roundRect">
            <a:avLst>
              <a:gd name="adj" fmla="val 12000"/>
            </a:avLst>
          </a:prstGeom>
          <a:solidFill>
            <a:srgbClr val="F3F4F6"/>
          </a:solidFill>
          <a:ln>
            <a:noFill/>
          </a:ln>
          <a:effectLst/>
        </p:spPr>
        <p:txBody>
          <a:bodyPr rtlCol="0" anchor="ctr"/>
          <a:lstStyle/>
          <a:p>
            <a:pPr algn="ctr"/>
          </a:p>
        </p:txBody>
      </p:sp>
      <p:sp>
        <p:nvSpPr>
          <p:cNvPr id="22" name="Oval 21"/>
          <p:cNvSpPr/>
          <p:nvPr/>
        </p:nvSpPr>
        <p:spPr>
          <a:xfrm>
            <a:off x="640080" y="4956048"/>
            <a:ext cx="384048" cy="384048"/>
          </a:xfrm>
          <a:prstGeom prst="ellipse">
            <a:avLst/>
          </a:prstGeom>
          <a:solidFill>
            <a:srgbClr val="C00000"/>
          </a:solidFill>
          <a:ln>
            <a:noFill/>
          </a:ln>
          <a:effectLst/>
        </p:spPr>
        <p:txBody>
          <a:bodyPr rtlCol="0" anchor="ctr" wrap="none" lIns="0" tIns="0" rIns="0" bIns="0"/>
          <a:lstStyle/>
          <a:p>
            <a:pPr algn="ctr"/>
            <a:r>
              <a:rPr sz="1300" b="1" i="0">
                <a:solidFill>
                  <a:srgbClr val="FFFFFF"/>
                </a:solidFill>
                <a:latin typeface="Arial"/>
              </a:rPr>
              <a:t>7</a:t>
            </a:r>
            <a:endParaRPr sz="1300"/>
          </a:p>
        </p:txBody>
      </p:sp>
      <p:sp>
        <p:nvSpPr>
          <p:cNvPr id="23" name="TextBox 22"/>
          <p:cNvSpPr txBox="1"/>
          <p:nvPr/>
        </p:nvSpPr>
        <p:spPr>
          <a:xfrm>
            <a:off x="1143000" y="4892040"/>
            <a:ext cx="3657600" cy="512064"/>
          </a:xfrm>
          <a:prstGeom prst="rect">
            <a:avLst/>
          </a:prstGeom>
          <a:noFill/>
        </p:spPr>
        <p:txBody>
          <a:bodyPr wrap="square" anchor="ctr" lIns="73152" rIns="73152"/>
          <a:lstStyle/>
          <a:p>
            <a:pPr algn="l"/>
            <a:r>
              <a:rPr sz="1400" b="1" i="0">
                <a:solidFill>
                  <a:srgbClr val="1F2937"/>
                </a:solidFill>
                <a:latin typeface="Arial"/>
              </a:rPr>
              <a:t>Planned Features by User</a:t>
            </a:r>
            <a:endParaRPr sz="1400"/>
          </a:p>
        </p:txBody>
      </p:sp>
      <p:sp>
        <p:nvSpPr>
          <p:cNvPr id="24" name="Rounded Rectangle 23"/>
          <p:cNvSpPr/>
          <p:nvPr/>
        </p:nvSpPr>
        <p:spPr>
          <a:xfrm>
            <a:off x="548640" y="5532119"/>
            <a:ext cx="4343400" cy="512064"/>
          </a:xfrm>
          <a:prstGeom prst="roundRect">
            <a:avLst>
              <a:gd name="adj" fmla="val 12000"/>
            </a:avLst>
          </a:prstGeom>
          <a:solidFill>
            <a:srgbClr val="F3F4F6"/>
          </a:solidFill>
          <a:ln>
            <a:noFill/>
          </a:ln>
          <a:effectLst/>
        </p:spPr>
        <p:txBody>
          <a:bodyPr rtlCol="0" anchor="ctr"/>
          <a:lstStyle/>
          <a:p>
            <a:pPr algn="ctr"/>
          </a:p>
        </p:txBody>
      </p:sp>
      <p:sp>
        <p:nvSpPr>
          <p:cNvPr id="25" name="Oval 24"/>
          <p:cNvSpPr/>
          <p:nvPr/>
        </p:nvSpPr>
        <p:spPr>
          <a:xfrm>
            <a:off x="640080" y="5596127"/>
            <a:ext cx="384048" cy="384048"/>
          </a:xfrm>
          <a:prstGeom prst="ellipse">
            <a:avLst/>
          </a:prstGeom>
          <a:solidFill>
            <a:srgbClr val="C00000"/>
          </a:solidFill>
          <a:ln>
            <a:noFill/>
          </a:ln>
          <a:effectLst/>
        </p:spPr>
        <p:txBody>
          <a:bodyPr rtlCol="0" anchor="ctr" wrap="none" lIns="0" tIns="0" rIns="0" bIns="0"/>
          <a:lstStyle/>
          <a:p>
            <a:pPr algn="ctr"/>
            <a:r>
              <a:rPr sz="1300" b="1" i="0">
                <a:solidFill>
                  <a:srgbClr val="FFFFFF"/>
                </a:solidFill>
                <a:latin typeface="Arial"/>
              </a:rPr>
              <a:t>8</a:t>
            </a:r>
            <a:endParaRPr sz="1300"/>
          </a:p>
        </p:txBody>
      </p:sp>
      <p:sp>
        <p:nvSpPr>
          <p:cNvPr id="26" name="TextBox 25"/>
          <p:cNvSpPr txBox="1"/>
          <p:nvPr/>
        </p:nvSpPr>
        <p:spPr>
          <a:xfrm>
            <a:off x="1143000" y="5532119"/>
            <a:ext cx="3657600" cy="512064"/>
          </a:xfrm>
          <a:prstGeom prst="rect">
            <a:avLst/>
          </a:prstGeom>
          <a:noFill/>
        </p:spPr>
        <p:txBody>
          <a:bodyPr wrap="square" anchor="ctr" lIns="73152" rIns="73152"/>
          <a:lstStyle/>
          <a:p>
            <a:pPr algn="l"/>
            <a:r>
              <a:rPr sz="1400" b="1" i="0">
                <a:solidFill>
                  <a:srgbClr val="1F2937"/>
                </a:solidFill>
                <a:latin typeface="Arial"/>
              </a:rPr>
              <a:t>Existing Services vs DBARS</a:t>
            </a:r>
            <a:endParaRPr sz="1400"/>
          </a:p>
        </p:txBody>
      </p:sp>
      <p:sp>
        <p:nvSpPr>
          <p:cNvPr id="27" name="Rounded Rectangle 26"/>
          <p:cNvSpPr/>
          <p:nvPr/>
        </p:nvSpPr>
        <p:spPr>
          <a:xfrm>
            <a:off x="5120640" y="1051560"/>
            <a:ext cx="4343400" cy="512064"/>
          </a:xfrm>
          <a:prstGeom prst="roundRect">
            <a:avLst>
              <a:gd name="adj" fmla="val 12000"/>
            </a:avLst>
          </a:prstGeom>
          <a:solidFill>
            <a:srgbClr val="F3F4F6"/>
          </a:solidFill>
          <a:ln>
            <a:noFill/>
          </a:ln>
          <a:effectLst/>
        </p:spPr>
        <p:txBody>
          <a:bodyPr rtlCol="0" anchor="ctr"/>
          <a:lstStyle/>
          <a:p>
            <a:pPr algn="ctr"/>
          </a:p>
        </p:txBody>
      </p:sp>
      <p:sp>
        <p:nvSpPr>
          <p:cNvPr id="28" name="Oval 27"/>
          <p:cNvSpPr/>
          <p:nvPr/>
        </p:nvSpPr>
        <p:spPr>
          <a:xfrm>
            <a:off x="5212079" y="1115568"/>
            <a:ext cx="384048" cy="384048"/>
          </a:xfrm>
          <a:prstGeom prst="ellipse">
            <a:avLst/>
          </a:prstGeom>
          <a:solidFill>
            <a:srgbClr val="C00000"/>
          </a:solidFill>
          <a:ln>
            <a:noFill/>
          </a:ln>
          <a:effectLst/>
        </p:spPr>
        <p:txBody>
          <a:bodyPr rtlCol="0" anchor="ctr" wrap="none" lIns="0" tIns="0" rIns="0" bIns="0"/>
          <a:lstStyle/>
          <a:p>
            <a:pPr algn="ctr"/>
            <a:r>
              <a:rPr sz="1300" b="1" i="0">
                <a:solidFill>
                  <a:srgbClr val="FFFFFF"/>
                </a:solidFill>
                <a:latin typeface="Arial"/>
              </a:rPr>
              <a:t>9</a:t>
            </a:r>
            <a:endParaRPr sz="1300"/>
          </a:p>
        </p:txBody>
      </p:sp>
      <p:sp>
        <p:nvSpPr>
          <p:cNvPr id="29" name="TextBox 28"/>
          <p:cNvSpPr txBox="1"/>
          <p:nvPr/>
        </p:nvSpPr>
        <p:spPr>
          <a:xfrm>
            <a:off x="5715000" y="1051560"/>
            <a:ext cx="3657600" cy="512064"/>
          </a:xfrm>
          <a:prstGeom prst="rect">
            <a:avLst/>
          </a:prstGeom>
          <a:noFill/>
        </p:spPr>
        <p:txBody>
          <a:bodyPr wrap="square" anchor="ctr" lIns="73152" rIns="73152"/>
          <a:lstStyle/>
          <a:p>
            <a:pPr algn="l"/>
            <a:r>
              <a:rPr sz="1400" b="1" i="0">
                <a:solidFill>
                  <a:srgbClr val="1F2937"/>
                </a:solidFill>
                <a:latin typeface="Arial"/>
              </a:rPr>
              <a:t>Why DBARS Is Unique</a:t>
            </a:r>
            <a:endParaRPr sz="1400"/>
          </a:p>
        </p:txBody>
      </p:sp>
      <p:sp>
        <p:nvSpPr>
          <p:cNvPr id="30" name="Rounded Rectangle 29"/>
          <p:cNvSpPr/>
          <p:nvPr/>
        </p:nvSpPr>
        <p:spPr>
          <a:xfrm>
            <a:off x="5120640" y="1691639"/>
            <a:ext cx="4343400" cy="512064"/>
          </a:xfrm>
          <a:prstGeom prst="roundRect">
            <a:avLst>
              <a:gd name="adj" fmla="val 12000"/>
            </a:avLst>
          </a:prstGeom>
          <a:solidFill>
            <a:srgbClr val="F3F4F6"/>
          </a:solidFill>
          <a:ln>
            <a:noFill/>
          </a:ln>
          <a:effectLst/>
        </p:spPr>
        <p:txBody>
          <a:bodyPr rtlCol="0" anchor="ctr"/>
          <a:lstStyle/>
          <a:p>
            <a:pPr algn="ctr"/>
          </a:p>
        </p:txBody>
      </p:sp>
      <p:sp>
        <p:nvSpPr>
          <p:cNvPr id="31" name="Oval 30"/>
          <p:cNvSpPr/>
          <p:nvPr/>
        </p:nvSpPr>
        <p:spPr>
          <a:xfrm>
            <a:off x="5212079" y="1755648"/>
            <a:ext cx="384048" cy="384048"/>
          </a:xfrm>
          <a:prstGeom prst="ellipse">
            <a:avLst/>
          </a:prstGeom>
          <a:solidFill>
            <a:srgbClr val="C00000"/>
          </a:solidFill>
          <a:ln>
            <a:noFill/>
          </a:ln>
          <a:effectLst/>
        </p:spPr>
        <p:txBody>
          <a:bodyPr rtlCol="0" anchor="ctr" wrap="none" lIns="0" tIns="0" rIns="0" bIns="0"/>
          <a:lstStyle/>
          <a:p>
            <a:pPr algn="ctr"/>
            <a:r>
              <a:rPr sz="1300" b="1" i="0">
                <a:solidFill>
                  <a:srgbClr val="FFFFFF"/>
                </a:solidFill>
                <a:latin typeface="Arial"/>
              </a:rPr>
              <a:t>10</a:t>
            </a:r>
            <a:endParaRPr sz="1300"/>
          </a:p>
        </p:txBody>
      </p:sp>
      <p:sp>
        <p:nvSpPr>
          <p:cNvPr id="32" name="TextBox 31"/>
          <p:cNvSpPr txBox="1"/>
          <p:nvPr/>
        </p:nvSpPr>
        <p:spPr>
          <a:xfrm>
            <a:off x="5715000" y="1691639"/>
            <a:ext cx="3657600" cy="512064"/>
          </a:xfrm>
          <a:prstGeom prst="rect">
            <a:avLst/>
          </a:prstGeom>
          <a:noFill/>
        </p:spPr>
        <p:txBody>
          <a:bodyPr wrap="square" anchor="ctr" lIns="73152" rIns="73152"/>
          <a:lstStyle/>
          <a:p>
            <a:pPr algn="l"/>
            <a:r>
              <a:rPr sz="1400" b="1" i="0">
                <a:solidFill>
                  <a:srgbClr val="1F2937"/>
                </a:solidFill>
                <a:latin typeface="Arial"/>
              </a:rPr>
              <a:t>Sustainable Development Goals</a:t>
            </a:r>
            <a:endParaRPr sz="1400"/>
          </a:p>
        </p:txBody>
      </p:sp>
      <p:sp>
        <p:nvSpPr>
          <p:cNvPr id="33" name="Rounded Rectangle 32"/>
          <p:cNvSpPr/>
          <p:nvPr/>
        </p:nvSpPr>
        <p:spPr>
          <a:xfrm>
            <a:off x="5120640" y="2331720"/>
            <a:ext cx="4343400" cy="512064"/>
          </a:xfrm>
          <a:prstGeom prst="roundRect">
            <a:avLst>
              <a:gd name="adj" fmla="val 12000"/>
            </a:avLst>
          </a:prstGeom>
          <a:solidFill>
            <a:srgbClr val="F3F4F6"/>
          </a:solidFill>
          <a:ln>
            <a:noFill/>
          </a:ln>
          <a:effectLst/>
        </p:spPr>
        <p:txBody>
          <a:bodyPr rtlCol="0" anchor="ctr"/>
          <a:lstStyle/>
          <a:p>
            <a:pPr algn="ctr"/>
          </a:p>
        </p:txBody>
      </p:sp>
      <p:sp>
        <p:nvSpPr>
          <p:cNvPr id="34" name="Oval 33"/>
          <p:cNvSpPr/>
          <p:nvPr/>
        </p:nvSpPr>
        <p:spPr>
          <a:xfrm>
            <a:off x="5212079" y="2395727"/>
            <a:ext cx="384048" cy="384048"/>
          </a:xfrm>
          <a:prstGeom prst="ellipse">
            <a:avLst/>
          </a:prstGeom>
          <a:solidFill>
            <a:srgbClr val="C00000"/>
          </a:solidFill>
          <a:ln>
            <a:noFill/>
          </a:ln>
          <a:effectLst/>
        </p:spPr>
        <p:txBody>
          <a:bodyPr rtlCol="0" anchor="ctr" wrap="none" lIns="0" tIns="0" rIns="0" bIns="0"/>
          <a:lstStyle/>
          <a:p>
            <a:pPr algn="ctr"/>
            <a:r>
              <a:rPr sz="1300" b="1" i="0">
                <a:solidFill>
                  <a:srgbClr val="FFFFFF"/>
                </a:solidFill>
                <a:latin typeface="Arial"/>
              </a:rPr>
              <a:t>11</a:t>
            </a:r>
            <a:endParaRPr sz="1300"/>
          </a:p>
        </p:txBody>
      </p:sp>
      <p:sp>
        <p:nvSpPr>
          <p:cNvPr id="35" name="TextBox 34"/>
          <p:cNvSpPr txBox="1"/>
          <p:nvPr/>
        </p:nvSpPr>
        <p:spPr>
          <a:xfrm>
            <a:off x="5715000" y="2331720"/>
            <a:ext cx="3657600" cy="512064"/>
          </a:xfrm>
          <a:prstGeom prst="rect">
            <a:avLst/>
          </a:prstGeom>
          <a:noFill/>
        </p:spPr>
        <p:txBody>
          <a:bodyPr wrap="square" anchor="ctr" lIns="73152" rIns="73152"/>
          <a:lstStyle/>
          <a:p>
            <a:pPr algn="l"/>
            <a:r>
              <a:rPr sz="1400" b="1" i="0">
                <a:solidFill>
                  <a:srgbClr val="1F2937"/>
                </a:solidFill>
                <a:latin typeface="Arial"/>
              </a:rPr>
              <a:t>Expected Outcomes</a:t>
            </a:r>
            <a:endParaRPr sz="1400"/>
          </a:p>
        </p:txBody>
      </p:sp>
      <p:sp>
        <p:nvSpPr>
          <p:cNvPr id="36" name="Rounded Rectangle 35"/>
          <p:cNvSpPr/>
          <p:nvPr/>
        </p:nvSpPr>
        <p:spPr>
          <a:xfrm>
            <a:off x="5120640" y="2971799"/>
            <a:ext cx="4343400" cy="512064"/>
          </a:xfrm>
          <a:prstGeom prst="roundRect">
            <a:avLst>
              <a:gd name="adj" fmla="val 12000"/>
            </a:avLst>
          </a:prstGeom>
          <a:solidFill>
            <a:srgbClr val="F3F4F6"/>
          </a:solidFill>
          <a:ln>
            <a:noFill/>
          </a:ln>
          <a:effectLst/>
        </p:spPr>
        <p:txBody>
          <a:bodyPr rtlCol="0" anchor="ctr"/>
          <a:lstStyle/>
          <a:p>
            <a:pPr algn="ctr"/>
          </a:p>
        </p:txBody>
      </p:sp>
      <p:sp>
        <p:nvSpPr>
          <p:cNvPr id="37" name="Oval 36"/>
          <p:cNvSpPr/>
          <p:nvPr/>
        </p:nvSpPr>
        <p:spPr>
          <a:xfrm>
            <a:off x="5212079" y="3035807"/>
            <a:ext cx="384048" cy="384048"/>
          </a:xfrm>
          <a:prstGeom prst="ellipse">
            <a:avLst/>
          </a:prstGeom>
          <a:solidFill>
            <a:srgbClr val="C00000"/>
          </a:solidFill>
          <a:ln>
            <a:noFill/>
          </a:ln>
          <a:effectLst/>
        </p:spPr>
        <p:txBody>
          <a:bodyPr rtlCol="0" anchor="ctr" wrap="none" lIns="0" tIns="0" rIns="0" bIns="0"/>
          <a:lstStyle/>
          <a:p>
            <a:pPr algn="ctr"/>
            <a:r>
              <a:rPr sz="1300" b="1" i="0">
                <a:solidFill>
                  <a:srgbClr val="FFFFFF"/>
                </a:solidFill>
                <a:latin typeface="Arial"/>
              </a:rPr>
              <a:t>12</a:t>
            </a:r>
            <a:endParaRPr sz="1300"/>
          </a:p>
        </p:txBody>
      </p:sp>
      <p:sp>
        <p:nvSpPr>
          <p:cNvPr id="38" name="TextBox 37"/>
          <p:cNvSpPr txBox="1"/>
          <p:nvPr/>
        </p:nvSpPr>
        <p:spPr>
          <a:xfrm>
            <a:off x="5715000" y="2971799"/>
            <a:ext cx="3657600" cy="512064"/>
          </a:xfrm>
          <a:prstGeom prst="rect">
            <a:avLst/>
          </a:prstGeom>
          <a:noFill/>
        </p:spPr>
        <p:txBody>
          <a:bodyPr wrap="square" anchor="ctr" lIns="73152" rIns="73152"/>
          <a:lstStyle/>
          <a:p>
            <a:pPr algn="l"/>
            <a:r>
              <a:rPr sz="1400" b="1" i="0">
                <a:solidFill>
                  <a:srgbClr val="1F2937"/>
                </a:solidFill>
                <a:latin typeface="Arial"/>
              </a:rPr>
              <a:t>Value for BMTC and Pilot Plan</a:t>
            </a:r>
            <a:endParaRPr sz="1400"/>
          </a:p>
        </p:txBody>
      </p:sp>
      <p:sp>
        <p:nvSpPr>
          <p:cNvPr id="39" name="Rounded Rectangle 38"/>
          <p:cNvSpPr/>
          <p:nvPr/>
        </p:nvSpPr>
        <p:spPr>
          <a:xfrm>
            <a:off x="5120640" y="3611879"/>
            <a:ext cx="4343400" cy="512064"/>
          </a:xfrm>
          <a:prstGeom prst="roundRect">
            <a:avLst>
              <a:gd name="adj" fmla="val 12000"/>
            </a:avLst>
          </a:prstGeom>
          <a:solidFill>
            <a:srgbClr val="F3F4F6"/>
          </a:solidFill>
          <a:ln>
            <a:noFill/>
          </a:ln>
          <a:effectLst/>
        </p:spPr>
        <p:txBody>
          <a:bodyPr rtlCol="0" anchor="ctr"/>
          <a:lstStyle/>
          <a:p>
            <a:pPr algn="ctr"/>
          </a:p>
        </p:txBody>
      </p:sp>
      <p:sp>
        <p:nvSpPr>
          <p:cNvPr id="40" name="Oval 39"/>
          <p:cNvSpPr/>
          <p:nvPr/>
        </p:nvSpPr>
        <p:spPr>
          <a:xfrm>
            <a:off x="5212079" y="3675887"/>
            <a:ext cx="384048" cy="384048"/>
          </a:xfrm>
          <a:prstGeom prst="ellipse">
            <a:avLst/>
          </a:prstGeom>
          <a:solidFill>
            <a:srgbClr val="C00000"/>
          </a:solidFill>
          <a:ln>
            <a:noFill/>
          </a:ln>
          <a:effectLst/>
        </p:spPr>
        <p:txBody>
          <a:bodyPr rtlCol="0" anchor="ctr" wrap="none" lIns="0" tIns="0" rIns="0" bIns="0"/>
          <a:lstStyle/>
          <a:p>
            <a:pPr algn="ctr"/>
            <a:r>
              <a:rPr sz="1300" b="1" i="0">
                <a:solidFill>
                  <a:srgbClr val="FFFFFF"/>
                </a:solidFill>
                <a:latin typeface="Arial"/>
              </a:rPr>
              <a:t>13</a:t>
            </a:r>
            <a:endParaRPr sz="1300"/>
          </a:p>
        </p:txBody>
      </p:sp>
      <p:sp>
        <p:nvSpPr>
          <p:cNvPr id="41" name="TextBox 40"/>
          <p:cNvSpPr txBox="1"/>
          <p:nvPr/>
        </p:nvSpPr>
        <p:spPr>
          <a:xfrm>
            <a:off x="5715000" y="3611879"/>
            <a:ext cx="3657600" cy="512064"/>
          </a:xfrm>
          <a:prstGeom prst="rect">
            <a:avLst/>
          </a:prstGeom>
          <a:noFill/>
        </p:spPr>
        <p:txBody>
          <a:bodyPr wrap="square" anchor="ctr" lIns="73152" rIns="73152"/>
          <a:lstStyle/>
          <a:p>
            <a:pPr algn="l"/>
            <a:r>
              <a:rPr sz="1400" b="1" i="0">
                <a:solidFill>
                  <a:srgbClr val="1F2937"/>
                </a:solidFill>
                <a:latin typeface="Arial"/>
              </a:rPr>
              <a:t>Gantt Chart for Work Plan</a:t>
            </a:r>
            <a:endParaRPr sz="1400"/>
          </a:p>
        </p:txBody>
      </p:sp>
      <p:sp>
        <p:nvSpPr>
          <p:cNvPr id="42" name="Rounded Rectangle 41"/>
          <p:cNvSpPr/>
          <p:nvPr/>
        </p:nvSpPr>
        <p:spPr>
          <a:xfrm>
            <a:off x="5120640" y="4251960"/>
            <a:ext cx="4343400" cy="512064"/>
          </a:xfrm>
          <a:prstGeom prst="roundRect">
            <a:avLst>
              <a:gd name="adj" fmla="val 12000"/>
            </a:avLst>
          </a:prstGeom>
          <a:solidFill>
            <a:srgbClr val="F3F4F6"/>
          </a:solidFill>
          <a:ln>
            <a:noFill/>
          </a:ln>
          <a:effectLst/>
        </p:spPr>
        <p:txBody>
          <a:bodyPr rtlCol="0" anchor="ctr"/>
          <a:lstStyle/>
          <a:p>
            <a:pPr algn="ctr"/>
          </a:p>
        </p:txBody>
      </p:sp>
      <p:sp>
        <p:nvSpPr>
          <p:cNvPr id="43" name="Oval 42"/>
          <p:cNvSpPr/>
          <p:nvPr/>
        </p:nvSpPr>
        <p:spPr>
          <a:xfrm>
            <a:off x="5212079" y="4315968"/>
            <a:ext cx="384048" cy="384048"/>
          </a:xfrm>
          <a:prstGeom prst="ellipse">
            <a:avLst/>
          </a:prstGeom>
          <a:solidFill>
            <a:srgbClr val="C00000"/>
          </a:solidFill>
          <a:ln>
            <a:noFill/>
          </a:ln>
          <a:effectLst/>
        </p:spPr>
        <p:txBody>
          <a:bodyPr rtlCol="0" anchor="ctr" wrap="none" lIns="0" tIns="0" rIns="0" bIns="0"/>
          <a:lstStyle/>
          <a:p>
            <a:pPr algn="ctr"/>
            <a:r>
              <a:rPr sz="1300" b="1" i="0">
                <a:solidFill>
                  <a:srgbClr val="FFFFFF"/>
                </a:solidFill>
                <a:latin typeface="Arial"/>
              </a:rPr>
              <a:t>14</a:t>
            </a:r>
            <a:endParaRPr sz="1300"/>
          </a:p>
        </p:txBody>
      </p:sp>
      <p:sp>
        <p:nvSpPr>
          <p:cNvPr id="44" name="TextBox 43"/>
          <p:cNvSpPr txBox="1"/>
          <p:nvPr/>
        </p:nvSpPr>
        <p:spPr>
          <a:xfrm>
            <a:off x="5715000" y="4251960"/>
            <a:ext cx="3657600" cy="512064"/>
          </a:xfrm>
          <a:prstGeom prst="rect">
            <a:avLst/>
          </a:prstGeom>
          <a:noFill/>
        </p:spPr>
        <p:txBody>
          <a:bodyPr wrap="square" anchor="ctr" lIns="73152" rIns="73152"/>
          <a:lstStyle/>
          <a:p>
            <a:pPr algn="l"/>
            <a:r>
              <a:rPr sz="1400" b="1" i="0">
                <a:solidFill>
                  <a:srgbClr val="1F2937"/>
                </a:solidFill>
                <a:latin typeface="Arial"/>
              </a:rPr>
              <a:t>Risks and Mitigation</a:t>
            </a:r>
            <a:endParaRPr sz="1400"/>
          </a:p>
        </p:txBody>
      </p:sp>
      <p:sp>
        <p:nvSpPr>
          <p:cNvPr id="45" name="Rounded Rectangle 44"/>
          <p:cNvSpPr/>
          <p:nvPr/>
        </p:nvSpPr>
        <p:spPr>
          <a:xfrm>
            <a:off x="5120640" y="4892040"/>
            <a:ext cx="4343400" cy="512064"/>
          </a:xfrm>
          <a:prstGeom prst="roundRect">
            <a:avLst>
              <a:gd name="adj" fmla="val 12000"/>
            </a:avLst>
          </a:prstGeom>
          <a:solidFill>
            <a:srgbClr val="F3F4F6"/>
          </a:solidFill>
          <a:ln>
            <a:noFill/>
          </a:ln>
          <a:effectLst/>
        </p:spPr>
        <p:txBody>
          <a:bodyPr rtlCol="0" anchor="ctr"/>
          <a:lstStyle/>
          <a:p>
            <a:pPr algn="ctr"/>
          </a:p>
        </p:txBody>
      </p:sp>
      <p:sp>
        <p:nvSpPr>
          <p:cNvPr id="46" name="Oval 45"/>
          <p:cNvSpPr/>
          <p:nvPr/>
        </p:nvSpPr>
        <p:spPr>
          <a:xfrm>
            <a:off x="5212079" y="4956048"/>
            <a:ext cx="384048" cy="384048"/>
          </a:xfrm>
          <a:prstGeom prst="ellipse">
            <a:avLst/>
          </a:prstGeom>
          <a:solidFill>
            <a:srgbClr val="C00000"/>
          </a:solidFill>
          <a:ln>
            <a:noFill/>
          </a:ln>
          <a:effectLst/>
        </p:spPr>
        <p:txBody>
          <a:bodyPr rtlCol="0" anchor="ctr" wrap="none" lIns="0" tIns="0" rIns="0" bIns="0"/>
          <a:lstStyle/>
          <a:p>
            <a:pPr algn="ctr"/>
            <a:r>
              <a:rPr sz="1300" b="1" i="0">
                <a:solidFill>
                  <a:srgbClr val="FFFFFF"/>
                </a:solidFill>
                <a:latin typeface="Arial"/>
              </a:rPr>
              <a:t>15</a:t>
            </a:r>
            <a:endParaRPr sz="1300"/>
          </a:p>
        </p:txBody>
      </p:sp>
      <p:sp>
        <p:nvSpPr>
          <p:cNvPr id="47" name="TextBox 46"/>
          <p:cNvSpPr txBox="1"/>
          <p:nvPr/>
        </p:nvSpPr>
        <p:spPr>
          <a:xfrm>
            <a:off x="5715000" y="4892040"/>
            <a:ext cx="3657600" cy="512064"/>
          </a:xfrm>
          <a:prstGeom prst="rect">
            <a:avLst/>
          </a:prstGeom>
          <a:noFill/>
        </p:spPr>
        <p:txBody>
          <a:bodyPr wrap="square" anchor="ctr" lIns="73152" rIns="73152"/>
          <a:lstStyle/>
          <a:p>
            <a:pPr algn="l"/>
            <a:r>
              <a:rPr sz="1400" b="1" i="0">
                <a:solidFill>
                  <a:srgbClr val="1F2937"/>
                </a:solidFill>
                <a:latin typeface="Arial"/>
              </a:rPr>
              <a:t>Conclusion</a:t>
            </a:r>
            <a:endParaRPr sz="1400"/>
          </a:p>
        </p:txBody>
      </p:sp>
      <p:sp>
        <p:nvSpPr>
          <p:cNvPr id="48" name="Rounded Rectangle 47"/>
          <p:cNvSpPr/>
          <p:nvPr/>
        </p:nvSpPr>
        <p:spPr>
          <a:xfrm>
            <a:off x="5120640" y="5532119"/>
            <a:ext cx="4343400" cy="512064"/>
          </a:xfrm>
          <a:prstGeom prst="roundRect">
            <a:avLst>
              <a:gd name="adj" fmla="val 12000"/>
            </a:avLst>
          </a:prstGeom>
          <a:solidFill>
            <a:srgbClr val="F3F4F6"/>
          </a:solidFill>
          <a:ln>
            <a:noFill/>
          </a:ln>
          <a:effectLst/>
        </p:spPr>
        <p:txBody>
          <a:bodyPr rtlCol="0" anchor="ctr"/>
          <a:lstStyle/>
          <a:p>
            <a:pPr algn="ctr"/>
          </a:p>
        </p:txBody>
      </p:sp>
      <p:sp>
        <p:nvSpPr>
          <p:cNvPr id="49" name="Oval 48"/>
          <p:cNvSpPr/>
          <p:nvPr/>
        </p:nvSpPr>
        <p:spPr>
          <a:xfrm>
            <a:off x="5212079" y="5596127"/>
            <a:ext cx="384048" cy="384048"/>
          </a:xfrm>
          <a:prstGeom prst="ellipse">
            <a:avLst/>
          </a:prstGeom>
          <a:solidFill>
            <a:srgbClr val="C00000"/>
          </a:solidFill>
          <a:ln>
            <a:noFill/>
          </a:ln>
          <a:effectLst/>
        </p:spPr>
        <p:txBody>
          <a:bodyPr rtlCol="0" anchor="ctr" wrap="none" lIns="0" tIns="0" rIns="0" bIns="0"/>
          <a:lstStyle/>
          <a:p>
            <a:pPr algn="ctr"/>
            <a:r>
              <a:rPr sz="1300" b="1" i="0">
                <a:solidFill>
                  <a:srgbClr val="FFFFFF"/>
                </a:solidFill>
                <a:latin typeface="Arial"/>
              </a:rPr>
              <a:t>16</a:t>
            </a:r>
            <a:endParaRPr sz="1300"/>
          </a:p>
        </p:txBody>
      </p:sp>
      <p:sp>
        <p:nvSpPr>
          <p:cNvPr id="50" name="TextBox 49"/>
          <p:cNvSpPr txBox="1"/>
          <p:nvPr/>
        </p:nvSpPr>
        <p:spPr>
          <a:xfrm>
            <a:off x="5715000" y="5532119"/>
            <a:ext cx="3657600" cy="512064"/>
          </a:xfrm>
          <a:prstGeom prst="rect">
            <a:avLst/>
          </a:prstGeom>
          <a:noFill/>
        </p:spPr>
        <p:txBody>
          <a:bodyPr wrap="square" anchor="ctr" lIns="73152" rIns="73152"/>
          <a:lstStyle/>
          <a:p>
            <a:pPr algn="l"/>
            <a:r>
              <a:rPr sz="1400" b="1" i="0">
                <a:solidFill>
                  <a:srgbClr val="1F2937"/>
                </a:solidFill>
                <a:latin typeface="Arial"/>
              </a:rPr>
              <a:t>References</a:t>
            </a:r>
            <a:endParaRPr sz="140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19456"/>
            <a:ext cx="8988552" cy="603504"/>
          </a:xfrm>
        </p:spPr>
        <p:txBody>
          <a:bodyPr anchor="ctr" wrap="square"/>
          <a:lstStyle/>
          <a:p>
            <a:pPr algn="ctr"/>
            <a:r>
              <a:rPr sz="2800" b="1" i="0">
                <a:solidFill>
                  <a:srgbClr val="FF0000"/>
                </a:solidFill>
                <a:latin typeface="Arial"/>
              </a:rPr>
              <a:t>Introduction</a:t>
            </a:r>
          </a:p>
        </p:txBody>
      </p:sp>
      <p:sp>
        <p:nvSpPr>
          <p:cNvPr id="3" name="Rounded Rectangle 2"/>
          <p:cNvSpPr/>
          <p:nvPr/>
        </p:nvSpPr>
        <p:spPr>
          <a:xfrm>
            <a:off x="457200" y="914400"/>
            <a:ext cx="4434840" cy="1600200"/>
          </a:xfrm>
          <a:prstGeom prst="roundRect">
            <a:avLst>
              <a:gd name="adj" fmla="val 5000"/>
            </a:avLst>
          </a:prstGeom>
          <a:solidFill>
            <a:srgbClr val="F3F4F6"/>
          </a:solidFill>
          <a:ln>
            <a:noFill/>
          </a:ln>
          <a:effectLst/>
        </p:spPr>
        <p:txBody>
          <a:bodyPr rtlCol="0" anchor="ctr"/>
          <a:lstStyle/>
          <a:p>
            <a:pPr algn="ctr"/>
          </a:p>
        </p:txBody>
      </p:sp>
      <p:sp>
        <p:nvSpPr>
          <p:cNvPr id="4" name="Oval 3"/>
          <p:cNvSpPr/>
          <p:nvPr/>
        </p:nvSpPr>
        <p:spPr>
          <a:xfrm>
            <a:off x="594360" y="1033271"/>
            <a:ext cx="365760" cy="365760"/>
          </a:xfrm>
          <a:prstGeom prst="ellipse">
            <a:avLst/>
          </a:prstGeom>
          <a:solidFill>
            <a:srgbClr val="C00000"/>
          </a:solidFill>
          <a:ln>
            <a:noFill/>
          </a:ln>
          <a:effectLst/>
        </p:spPr>
        <p:txBody>
          <a:bodyPr rtlCol="0" anchor="ctr" wrap="none" lIns="0" tIns="0" rIns="0" bIns="0"/>
          <a:lstStyle/>
          <a:p>
            <a:pPr algn="ctr"/>
            <a:r>
              <a:rPr sz="1300" b="1" i="0">
                <a:solidFill>
                  <a:srgbClr val="FFFFFF"/>
                </a:solidFill>
                <a:latin typeface="Arial"/>
              </a:rPr>
              <a:t>1</a:t>
            </a:r>
            <a:endParaRPr sz="1300"/>
          </a:p>
        </p:txBody>
      </p:sp>
      <p:sp>
        <p:nvSpPr>
          <p:cNvPr id="5" name="TextBox 4"/>
          <p:cNvSpPr txBox="1"/>
          <p:nvPr/>
        </p:nvSpPr>
        <p:spPr>
          <a:xfrm>
            <a:off x="1051560" y="1033271"/>
            <a:ext cx="3703320" cy="365760"/>
          </a:xfrm>
          <a:prstGeom prst="rect">
            <a:avLst/>
          </a:prstGeom>
          <a:noFill/>
        </p:spPr>
        <p:txBody>
          <a:bodyPr wrap="square" anchor="ctr" lIns="73152" rIns="73152"/>
          <a:lstStyle/>
          <a:p>
            <a:pPr algn="l"/>
            <a:r>
              <a:rPr sz="1500" b="1" i="0">
                <a:solidFill>
                  <a:srgbClr val="C00000"/>
                </a:solidFill>
                <a:latin typeface="Arial"/>
              </a:rPr>
              <a:t>The domain</a:t>
            </a:r>
            <a:endParaRPr sz="1500"/>
          </a:p>
        </p:txBody>
      </p:sp>
      <p:sp>
        <p:nvSpPr>
          <p:cNvPr id="6" name="TextBox 5"/>
          <p:cNvSpPr txBox="1"/>
          <p:nvPr/>
        </p:nvSpPr>
        <p:spPr>
          <a:xfrm>
            <a:off x="566928" y="1463040"/>
            <a:ext cx="4215383" cy="1005840"/>
          </a:xfrm>
          <a:prstGeom prst="rect">
            <a:avLst/>
          </a:prstGeom>
          <a:noFill/>
        </p:spPr>
        <p:txBody>
          <a:bodyPr wrap="square" anchor="t" lIns="73152" rIns="73152"/>
          <a:lstStyle/>
          <a:p>
            <a:pPr algn="l"/>
            <a:r>
              <a:rPr sz="1200" b="0" i="0">
                <a:solidFill>
                  <a:srgbClr val="1F2937"/>
                </a:solidFill>
                <a:latin typeface="Arial"/>
              </a:rPr>
              <a:t>Urban public transport: Bengaluru's city bus network run by BMTC, whose fleet has crossed 7,000 buses [19]. We will work on BMTC's published timetable: 6,737 route-directions, 3,940 bus numbers and 4,883 stops.</a:t>
            </a:r>
            <a:endParaRPr sz="1200"/>
          </a:p>
        </p:txBody>
      </p:sp>
      <p:sp>
        <p:nvSpPr>
          <p:cNvPr id="7" name="Rounded Rectangle 6"/>
          <p:cNvSpPr/>
          <p:nvPr/>
        </p:nvSpPr>
        <p:spPr>
          <a:xfrm>
            <a:off x="5010912" y="914400"/>
            <a:ext cx="4434840" cy="1600200"/>
          </a:xfrm>
          <a:prstGeom prst="roundRect">
            <a:avLst>
              <a:gd name="adj" fmla="val 5000"/>
            </a:avLst>
          </a:prstGeom>
          <a:solidFill>
            <a:srgbClr val="F3F4F6"/>
          </a:solidFill>
          <a:ln>
            <a:noFill/>
          </a:ln>
          <a:effectLst/>
        </p:spPr>
        <p:txBody>
          <a:bodyPr rtlCol="0" anchor="ctr"/>
          <a:lstStyle/>
          <a:p>
            <a:pPr algn="ctr"/>
          </a:p>
        </p:txBody>
      </p:sp>
      <p:sp>
        <p:nvSpPr>
          <p:cNvPr id="8" name="Oval 7"/>
          <p:cNvSpPr/>
          <p:nvPr/>
        </p:nvSpPr>
        <p:spPr>
          <a:xfrm>
            <a:off x="5148072" y="1033271"/>
            <a:ext cx="365760" cy="365760"/>
          </a:xfrm>
          <a:prstGeom prst="ellipse">
            <a:avLst/>
          </a:prstGeom>
          <a:solidFill>
            <a:srgbClr val="C00000"/>
          </a:solidFill>
          <a:ln>
            <a:noFill/>
          </a:ln>
          <a:effectLst/>
        </p:spPr>
        <p:txBody>
          <a:bodyPr rtlCol="0" anchor="ctr" wrap="none" lIns="0" tIns="0" rIns="0" bIns="0"/>
          <a:lstStyle/>
          <a:p>
            <a:pPr algn="ctr"/>
            <a:r>
              <a:rPr sz="1300" b="1" i="0">
                <a:solidFill>
                  <a:srgbClr val="FFFFFF"/>
                </a:solidFill>
                <a:latin typeface="Arial"/>
              </a:rPr>
              <a:t>2</a:t>
            </a:r>
            <a:endParaRPr sz="1300"/>
          </a:p>
        </p:txBody>
      </p:sp>
      <p:sp>
        <p:nvSpPr>
          <p:cNvPr id="9" name="TextBox 8"/>
          <p:cNvSpPr txBox="1"/>
          <p:nvPr/>
        </p:nvSpPr>
        <p:spPr>
          <a:xfrm>
            <a:off x="5605272" y="1033271"/>
            <a:ext cx="3703320" cy="365760"/>
          </a:xfrm>
          <a:prstGeom prst="rect">
            <a:avLst/>
          </a:prstGeom>
          <a:noFill/>
        </p:spPr>
        <p:txBody>
          <a:bodyPr wrap="square" anchor="ctr" lIns="73152" rIns="73152"/>
          <a:lstStyle/>
          <a:p>
            <a:pPr algn="l"/>
            <a:r>
              <a:rPr sz="1500" b="1" i="0">
                <a:solidFill>
                  <a:srgbClr val="C00000"/>
                </a:solidFill>
                <a:latin typeface="Arial"/>
              </a:rPr>
              <a:t>Why it matters</a:t>
            </a:r>
            <a:endParaRPr sz="1500"/>
          </a:p>
        </p:txBody>
      </p:sp>
      <p:sp>
        <p:nvSpPr>
          <p:cNvPr id="10" name="TextBox 9"/>
          <p:cNvSpPr txBox="1"/>
          <p:nvPr/>
        </p:nvSpPr>
        <p:spPr>
          <a:xfrm>
            <a:off x="5120640" y="1463040"/>
            <a:ext cx="4215383" cy="1005840"/>
          </a:xfrm>
          <a:prstGeom prst="rect">
            <a:avLst/>
          </a:prstGeom>
          <a:noFill/>
        </p:spPr>
        <p:txBody>
          <a:bodyPr wrap="square" anchor="t" lIns="73152" rIns="73152"/>
          <a:lstStyle/>
          <a:p>
            <a:pPr algn="l"/>
            <a:r>
              <a:rPr sz="1200" b="0" i="0">
                <a:solidFill>
                  <a:srgbClr val="1F2937"/>
                </a:solidFill>
                <a:latin typeface="Arial"/>
              </a:rPr>
              <a:t>Buses are the everyday mass-mobility service of a fast-growing city. Riders need to find and pay for the right bus; the operator needs to size its fleet and crew. Both depend on accurate, connected data.</a:t>
            </a:r>
            <a:endParaRPr sz="1200"/>
          </a:p>
        </p:txBody>
      </p:sp>
      <p:sp>
        <p:nvSpPr>
          <p:cNvPr id="11" name="Rounded Rectangle 10"/>
          <p:cNvSpPr/>
          <p:nvPr/>
        </p:nvSpPr>
        <p:spPr>
          <a:xfrm>
            <a:off x="457200" y="2633472"/>
            <a:ext cx="4434840" cy="1600200"/>
          </a:xfrm>
          <a:prstGeom prst="roundRect">
            <a:avLst>
              <a:gd name="adj" fmla="val 5000"/>
            </a:avLst>
          </a:prstGeom>
          <a:solidFill>
            <a:srgbClr val="F3F4F6"/>
          </a:solidFill>
          <a:ln>
            <a:noFill/>
          </a:ln>
          <a:effectLst/>
        </p:spPr>
        <p:txBody>
          <a:bodyPr rtlCol="0" anchor="ctr"/>
          <a:lstStyle/>
          <a:p>
            <a:pPr algn="ctr"/>
          </a:p>
        </p:txBody>
      </p:sp>
      <p:sp>
        <p:nvSpPr>
          <p:cNvPr id="12" name="Oval 11"/>
          <p:cNvSpPr/>
          <p:nvPr/>
        </p:nvSpPr>
        <p:spPr>
          <a:xfrm>
            <a:off x="594360" y="2752344"/>
            <a:ext cx="365760" cy="365760"/>
          </a:xfrm>
          <a:prstGeom prst="ellipse">
            <a:avLst/>
          </a:prstGeom>
          <a:solidFill>
            <a:srgbClr val="C00000"/>
          </a:solidFill>
          <a:ln>
            <a:noFill/>
          </a:ln>
          <a:effectLst/>
        </p:spPr>
        <p:txBody>
          <a:bodyPr rtlCol="0" anchor="ctr" wrap="none" lIns="0" tIns="0" rIns="0" bIns="0"/>
          <a:lstStyle/>
          <a:p>
            <a:pPr algn="ctr"/>
            <a:r>
              <a:rPr sz="1300" b="1" i="0">
                <a:solidFill>
                  <a:srgbClr val="FFFFFF"/>
                </a:solidFill>
                <a:latin typeface="Arial"/>
              </a:rPr>
              <a:t>3</a:t>
            </a:r>
            <a:endParaRPr sz="1300"/>
          </a:p>
        </p:txBody>
      </p:sp>
      <p:sp>
        <p:nvSpPr>
          <p:cNvPr id="13" name="TextBox 12"/>
          <p:cNvSpPr txBox="1"/>
          <p:nvPr/>
        </p:nvSpPr>
        <p:spPr>
          <a:xfrm>
            <a:off x="1051560" y="2752344"/>
            <a:ext cx="3703320" cy="365760"/>
          </a:xfrm>
          <a:prstGeom prst="rect">
            <a:avLst/>
          </a:prstGeom>
          <a:noFill/>
        </p:spPr>
        <p:txBody>
          <a:bodyPr wrap="square" anchor="ctr" lIns="73152" rIns="73152"/>
          <a:lstStyle/>
          <a:p>
            <a:pPr algn="l"/>
            <a:r>
              <a:rPr sz="1500" b="1" i="0">
                <a:solidFill>
                  <a:srgbClr val="C00000"/>
                </a:solidFill>
                <a:latin typeface="Arial"/>
              </a:rPr>
              <a:t>The general issue</a:t>
            </a:r>
            <a:endParaRPr sz="1500"/>
          </a:p>
        </p:txBody>
      </p:sp>
      <p:sp>
        <p:nvSpPr>
          <p:cNvPr id="14" name="TextBox 13"/>
          <p:cNvSpPr txBox="1"/>
          <p:nvPr/>
        </p:nvSpPr>
        <p:spPr>
          <a:xfrm>
            <a:off x="566928" y="3182112"/>
            <a:ext cx="4215383" cy="1005840"/>
          </a:xfrm>
          <a:prstGeom prst="rect">
            <a:avLst/>
          </a:prstGeom>
          <a:noFill/>
        </p:spPr>
        <p:txBody>
          <a:bodyPr wrap="square" anchor="t" lIns="73152" rIns="73152"/>
          <a:lstStyle/>
          <a:p>
            <a:pPr algn="l"/>
            <a:r>
              <a:rPr sz="1200" b="0" i="0">
                <a:solidFill>
                  <a:srgbClr val="1F2937"/>
                </a:solidFill>
                <a:latin typeface="Arial"/>
              </a:rPr>
              <a:t>Consumer apps now cover trip planning, live tracking and ticketing [14-18]. What we did not find in them is the operator's side in their public descriptions: how many buses and crew a timetable needs, and how commuter demand reaches depot decisions.</a:t>
            </a:r>
            <a:endParaRPr sz="1200"/>
          </a:p>
        </p:txBody>
      </p:sp>
      <p:sp>
        <p:nvSpPr>
          <p:cNvPr id="15" name="Rounded Rectangle 14"/>
          <p:cNvSpPr/>
          <p:nvPr/>
        </p:nvSpPr>
        <p:spPr>
          <a:xfrm>
            <a:off x="5010912" y="2633472"/>
            <a:ext cx="4434840" cy="1600200"/>
          </a:xfrm>
          <a:prstGeom prst="roundRect">
            <a:avLst>
              <a:gd name="adj" fmla="val 5000"/>
            </a:avLst>
          </a:prstGeom>
          <a:solidFill>
            <a:srgbClr val="F3F4F6"/>
          </a:solidFill>
          <a:ln>
            <a:noFill/>
          </a:ln>
          <a:effectLst/>
        </p:spPr>
        <p:txBody>
          <a:bodyPr rtlCol="0" anchor="ctr"/>
          <a:lstStyle/>
          <a:p>
            <a:pPr algn="ctr"/>
          </a:p>
        </p:txBody>
      </p:sp>
      <p:sp>
        <p:nvSpPr>
          <p:cNvPr id="16" name="Oval 15"/>
          <p:cNvSpPr/>
          <p:nvPr/>
        </p:nvSpPr>
        <p:spPr>
          <a:xfrm>
            <a:off x="5148072" y="2752344"/>
            <a:ext cx="365760" cy="365760"/>
          </a:xfrm>
          <a:prstGeom prst="ellipse">
            <a:avLst/>
          </a:prstGeom>
          <a:solidFill>
            <a:srgbClr val="C00000"/>
          </a:solidFill>
          <a:ln>
            <a:noFill/>
          </a:ln>
          <a:effectLst/>
        </p:spPr>
        <p:txBody>
          <a:bodyPr rtlCol="0" anchor="ctr" wrap="none" lIns="0" tIns="0" rIns="0" bIns="0"/>
          <a:lstStyle/>
          <a:p>
            <a:pPr algn="ctr"/>
            <a:r>
              <a:rPr sz="1300" b="1" i="0">
                <a:solidFill>
                  <a:srgbClr val="FFFFFF"/>
                </a:solidFill>
                <a:latin typeface="Arial"/>
              </a:rPr>
              <a:t>4</a:t>
            </a:r>
            <a:endParaRPr sz="1300"/>
          </a:p>
        </p:txBody>
      </p:sp>
      <p:sp>
        <p:nvSpPr>
          <p:cNvPr id="17" name="TextBox 16"/>
          <p:cNvSpPr txBox="1"/>
          <p:nvPr/>
        </p:nvSpPr>
        <p:spPr>
          <a:xfrm>
            <a:off x="5605272" y="2752344"/>
            <a:ext cx="3703320" cy="365760"/>
          </a:xfrm>
          <a:prstGeom prst="rect">
            <a:avLst/>
          </a:prstGeom>
          <a:noFill/>
        </p:spPr>
        <p:txBody>
          <a:bodyPr wrap="square" anchor="ctr" lIns="73152" rIns="73152"/>
          <a:lstStyle/>
          <a:p>
            <a:pPr algn="l"/>
            <a:r>
              <a:rPr sz="1500" b="1" i="0">
                <a:solidFill>
                  <a:srgbClr val="C00000"/>
                </a:solidFill>
                <a:latin typeface="Arial"/>
              </a:rPr>
              <a:t>Why it is relevant today</a:t>
            </a:r>
            <a:endParaRPr sz="1500"/>
          </a:p>
        </p:txBody>
      </p:sp>
      <p:sp>
        <p:nvSpPr>
          <p:cNvPr id="18" name="TextBox 17"/>
          <p:cNvSpPr txBox="1"/>
          <p:nvPr/>
        </p:nvSpPr>
        <p:spPr>
          <a:xfrm>
            <a:off x="5120640" y="3182112"/>
            <a:ext cx="4215383" cy="1005840"/>
          </a:xfrm>
          <a:prstGeom prst="rect">
            <a:avLst/>
          </a:prstGeom>
          <a:noFill/>
        </p:spPr>
        <p:txBody>
          <a:bodyPr wrap="square" anchor="t" lIns="73152" rIns="73152"/>
          <a:lstStyle/>
          <a:p>
            <a:pPr algn="l"/>
            <a:r>
              <a:rPr sz="1200" b="0" i="0">
                <a:solidFill>
                  <a:srgbClr val="1F2937"/>
                </a:solidFill>
                <a:latin typeface="Arial"/>
              </a:rPr>
              <a:t>Karnataka's Shakti free-travel scheme (June 2023) reshaped ridership: 28.9 million trips were analysed over 27 months [12]. With tickets and tracking going digital, demand-aware planning and exact reimbursement tracking are now both urgent and possible.</a:t>
            </a:r>
            <a:endParaRPr sz="1200"/>
          </a:p>
        </p:txBody>
      </p:sp>
      <p:sp>
        <p:nvSpPr>
          <p:cNvPr id="19" name="Rounded Rectangle 18"/>
          <p:cNvSpPr/>
          <p:nvPr/>
        </p:nvSpPr>
        <p:spPr>
          <a:xfrm>
            <a:off x="457200" y="4480560"/>
            <a:ext cx="2148840" cy="868680"/>
          </a:xfrm>
          <a:prstGeom prst="roundRect">
            <a:avLst>
              <a:gd name="adj" fmla="val 8000"/>
            </a:avLst>
          </a:prstGeom>
          <a:solidFill>
            <a:srgbClr val="FFFFFF"/>
          </a:solidFill>
          <a:ln w="15875">
            <a:solidFill>
              <a:srgbClr val="C00000"/>
            </a:solidFill>
          </a:ln>
          <a:effectLst/>
        </p:spPr>
        <p:txBody>
          <a:bodyPr rtlCol="0" anchor="ctr"/>
          <a:lstStyle/>
          <a:p>
            <a:pPr algn="ctr"/>
          </a:p>
        </p:txBody>
      </p:sp>
      <p:sp>
        <p:nvSpPr>
          <p:cNvPr id="20" name="TextBox 19"/>
          <p:cNvSpPr txBox="1"/>
          <p:nvPr/>
        </p:nvSpPr>
        <p:spPr>
          <a:xfrm>
            <a:off x="457200" y="4526280"/>
            <a:ext cx="2148840" cy="502920"/>
          </a:xfrm>
          <a:prstGeom prst="rect">
            <a:avLst/>
          </a:prstGeom>
          <a:noFill/>
        </p:spPr>
        <p:txBody>
          <a:bodyPr wrap="square" anchor="ctr" lIns="73152" rIns="73152"/>
          <a:lstStyle/>
          <a:p>
            <a:pPr algn="ctr"/>
            <a:r>
              <a:rPr sz="2600" b="1" i="0">
                <a:solidFill>
                  <a:srgbClr val="C00000"/>
                </a:solidFill>
                <a:latin typeface="Arial"/>
              </a:rPr>
              <a:t>7,000+</a:t>
            </a:r>
            <a:endParaRPr sz="2600"/>
          </a:p>
        </p:txBody>
      </p:sp>
      <p:sp>
        <p:nvSpPr>
          <p:cNvPr id="21" name="TextBox 20"/>
          <p:cNvSpPr txBox="1"/>
          <p:nvPr/>
        </p:nvSpPr>
        <p:spPr>
          <a:xfrm>
            <a:off x="457200" y="5010912"/>
            <a:ext cx="2148840" cy="292608"/>
          </a:xfrm>
          <a:prstGeom prst="rect">
            <a:avLst/>
          </a:prstGeom>
          <a:noFill/>
        </p:spPr>
        <p:txBody>
          <a:bodyPr wrap="square" anchor="t" lIns="73152" rIns="73152"/>
          <a:lstStyle/>
          <a:p>
            <a:pPr algn="ctr"/>
            <a:r>
              <a:rPr sz="1100" b="0" i="0">
                <a:solidFill>
                  <a:srgbClr val="4B5563"/>
                </a:solidFill>
                <a:latin typeface="Arial"/>
              </a:rPr>
              <a:t>buses in BMTC's fleet</a:t>
            </a:r>
            <a:endParaRPr sz="1100"/>
          </a:p>
        </p:txBody>
      </p:sp>
      <p:sp>
        <p:nvSpPr>
          <p:cNvPr id="22" name="Rounded Rectangle 21"/>
          <p:cNvSpPr/>
          <p:nvPr/>
        </p:nvSpPr>
        <p:spPr>
          <a:xfrm>
            <a:off x="2736799" y="4480560"/>
            <a:ext cx="2148840" cy="868680"/>
          </a:xfrm>
          <a:prstGeom prst="roundRect">
            <a:avLst>
              <a:gd name="adj" fmla="val 8000"/>
            </a:avLst>
          </a:prstGeom>
          <a:solidFill>
            <a:srgbClr val="FFFFFF"/>
          </a:solidFill>
          <a:ln w="15875">
            <a:solidFill>
              <a:srgbClr val="C00000"/>
            </a:solidFill>
          </a:ln>
          <a:effectLst/>
        </p:spPr>
        <p:txBody>
          <a:bodyPr rtlCol="0" anchor="ctr"/>
          <a:lstStyle/>
          <a:p>
            <a:pPr algn="ctr"/>
          </a:p>
        </p:txBody>
      </p:sp>
      <p:sp>
        <p:nvSpPr>
          <p:cNvPr id="23" name="TextBox 22"/>
          <p:cNvSpPr txBox="1"/>
          <p:nvPr/>
        </p:nvSpPr>
        <p:spPr>
          <a:xfrm>
            <a:off x="2736799" y="4526280"/>
            <a:ext cx="2148840" cy="502920"/>
          </a:xfrm>
          <a:prstGeom prst="rect">
            <a:avLst/>
          </a:prstGeom>
          <a:noFill/>
        </p:spPr>
        <p:txBody>
          <a:bodyPr wrap="square" anchor="ctr" lIns="73152" rIns="73152"/>
          <a:lstStyle/>
          <a:p>
            <a:pPr algn="ctr"/>
            <a:r>
              <a:rPr sz="2600" b="1" i="0">
                <a:solidFill>
                  <a:srgbClr val="C00000"/>
                </a:solidFill>
                <a:latin typeface="Arial"/>
              </a:rPr>
              <a:t>6,737</a:t>
            </a:r>
            <a:endParaRPr sz="2600"/>
          </a:p>
        </p:txBody>
      </p:sp>
      <p:sp>
        <p:nvSpPr>
          <p:cNvPr id="24" name="TextBox 23"/>
          <p:cNvSpPr txBox="1"/>
          <p:nvPr/>
        </p:nvSpPr>
        <p:spPr>
          <a:xfrm>
            <a:off x="2736799" y="5010912"/>
            <a:ext cx="2148840" cy="292608"/>
          </a:xfrm>
          <a:prstGeom prst="rect">
            <a:avLst/>
          </a:prstGeom>
          <a:noFill/>
        </p:spPr>
        <p:txBody>
          <a:bodyPr wrap="square" anchor="t" lIns="73152" rIns="73152"/>
          <a:lstStyle/>
          <a:p>
            <a:pPr algn="ctr"/>
            <a:r>
              <a:rPr sz="1100" b="0" i="0">
                <a:solidFill>
                  <a:srgbClr val="4B5563"/>
                </a:solidFill>
                <a:latin typeface="Arial"/>
              </a:rPr>
              <a:t>route-directions in the dataset</a:t>
            </a:r>
            <a:endParaRPr sz="1100"/>
          </a:p>
        </p:txBody>
      </p:sp>
      <p:sp>
        <p:nvSpPr>
          <p:cNvPr id="25" name="Rounded Rectangle 24"/>
          <p:cNvSpPr/>
          <p:nvPr/>
        </p:nvSpPr>
        <p:spPr>
          <a:xfrm>
            <a:off x="5016398" y="4480560"/>
            <a:ext cx="2148840" cy="868680"/>
          </a:xfrm>
          <a:prstGeom prst="roundRect">
            <a:avLst>
              <a:gd name="adj" fmla="val 8000"/>
            </a:avLst>
          </a:prstGeom>
          <a:solidFill>
            <a:srgbClr val="FFFFFF"/>
          </a:solidFill>
          <a:ln w="15875">
            <a:solidFill>
              <a:srgbClr val="C00000"/>
            </a:solidFill>
          </a:ln>
          <a:effectLst/>
        </p:spPr>
        <p:txBody>
          <a:bodyPr rtlCol="0" anchor="ctr"/>
          <a:lstStyle/>
          <a:p>
            <a:pPr algn="ctr"/>
          </a:p>
        </p:txBody>
      </p:sp>
      <p:sp>
        <p:nvSpPr>
          <p:cNvPr id="26" name="TextBox 25"/>
          <p:cNvSpPr txBox="1"/>
          <p:nvPr/>
        </p:nvSpPr>
        <p:spPr>
          <a:xfrm>
            <a:off x="5016398" y="4526280"/>
            <a:ext cx="2148840" cy="502920"/>
          </a:xfrm>
          <a:prstGeom prst="rect">
            <a:avLst/>
          </a:prstGeom>
          <a:noFill/>
        </p:spPr>
        <p:txBody>
          <a:bodyPr wrap="square" anchor="ctr" lIns="73152" rIns="73152"/>
          <a:lstStyle/>
          <a:p>
            <a:pPr algn="ctr"/>
            <a:r>
              <a:rPr sz="2600" b="1" i="0">
                <a:solidFill>
                  <a:srgbClr val="C00000"/>
                </a:solidFill>
                <a:latin typeface="Arial"/>
              </a:rPr>
              <a:t>4,883</a:t>
            </a:r>
            <a:endParaRPr sz="2600"/>
          </a:p>
        </p:txBody>
      </p:sp>
      <p:sp>
        <p:nvSpPr>
          <p:cNvPr id="27" name="TextBox 26"/>
          <p:cNvSpPr txBox="1"/>
          <p:nvPr/>
        </p:nvSpPr>
        <p:spPr>
          <a:xfrm>
            <a:off x="5016398" y="5010912"/>
            <a:ext cx="2148840" cy="292608"/>
          </a:xfrm>
          <a:prstGeom prst="rect">
            <a:avLst/>
          </a:prstGeom>
          <a:noFill/>
        </p:spPr>
        <p:txBody>
          <a:bodyPr wrap="square" anchor="t" lIns="73152" rIns="73152"/>
          <a:lstStyle/>
          <a:p>
            <a:pPr algn="ctr"/>
            <a:r>
              <a:rPr sz="1100" b="0" i="0">
                <a:solidFill>
                  <a:srgbClr val="4B5563"/>
                </a:solidFill>
                <a:latin typeface="Arial"/>
              </a:rPr>
              <a:t>bus stops in the dataset</a:t>
            </a:r>
            <a:endParaRPr sz="1100"/>
          </a:p>
        </p:txBody>
      </p:sp>
      <p:sp>
        <p:nvSpPr>
          <p:cNvPr id="28" name="Rounded Rectangle 27"/>
          <p:cNvSpPr/>
          <p:nvPr/>
        </p:nvSpPr>
        <p:spPr>
          <a:xfrm>
            <a:off x="7295997" y="4480560"/>
            <a:ext cx="2148840" cy="868680"/>
          </a:xfrm>
          <a:prstGeom prst="roundRect">
            <a:avLst>
              <a:gd name="adj" fmla="val 8000"/>
            </a:avLst>
          </a:prstGeom>
          <a:solidFill>
            <a:srgbClr val="FFFFFF"/>
          </a:solidFill>
          <a:ln w="15875">
            <a:solidFill>
              <a:srgbClr val="C00000"/>
            </a:solidFill>
          </a:ln>
          <a:effectLst/>
        </p:spPr>
        <p:txBody>
          <a:bodyPr rtlCol="0" anchor="ctr"/>
          <a:lstStyle/>
          <a:p>
            <a:pPr algn="ctr"/>
          </a:p>
        </p:txBody>
      </p:sp>
      <p:sp>
        <p:nvSpPr>
          <p:cNvPr id="29" name="TextBox 28"/>
          <p:cNvSpPr txBox="1"/>
          <p:nvPr/>
        </p:nvSpPr>
        <p:spPr>
          <a:xfrm>
            <a:off x="7295997" y="4526280"/>
            <a:ext cx="2148840" cy="502920"/>
          </a:xfrm>
          <a:prstGeom prst="rect">
            <a:avLst/>
          </a:prstGeom>
          <a:noFill/>
        </p:spPr>
        <p:txBody>
          <a:bodyPr wrap="square" anchor="ctr" lIns="73152" rIns="73152"/>
          <a:lstStyle/>
          <a:p>
            <a:pPr algn="ctr"/>
            <a:r>
              <a:rPr sz="2600" b="1" i="0">
                <a:solidFill>
                  <a:srgbClr val="C00000"/>
                </a:solidFill>
                <a:latin typeface="Arial"/>
              </a:rPr>
              <a:t>44</a:t>
            </a:r>
            <a:endParaRPr sz="2600"/>
          </a:p>
        </p:txBody>
      </p:sp>
      <p:sp>
        <p:nvSpPr>
          <p:cNvPr id="30" name="TextBox 29"/>
          <p:cNvSpPr txBox="1"/>
          <p:nvPr/>
        </p:nvSpPr>
        <p:spPr>
          <a:xfrm>
            <a:off x="7295997" y="5010912"/>
            <a:ext cx="2148840" cy="292608"/>
          </a:xfrm>
          <a:prstGeom prst="rect">
            <a:avLst/>
          </a:prstGeom>
          <a:noFill/>
        </p:spPr>
        <p:txBody>
          <a:bodyPr wrap="square" anchor="t" lIns="73152" rIns="73152"/>
          <a:lstStyle/>
          <a:p>
            <a:pPr algn="ctr"/>
            <a:r>
              <a:rPr sz="1100" b="0" i="0">
                <a:solidFill>
                  <a:srgbClr val="4B5563"/>
                </a:solidFill>
                <a:latin typeface="Arial"/>
              </a:rPr>
              <a:t>depots to plan for</a:t>
            </a:r>
            <a:endParaRPr sz="1100"/>
          </a:p>
        </p:txBody>
      </p:sp>
      <p:sp>
        <p:nvSpPr>
          <p:cNvPr id="31" name="Rounded Rectangle 30"/>
          <p:cNvSpPr/>
          <p:nvPr/>
        </p:nvSpPr>
        <p:spPr>
          <a:xfrm>
            <a:off x="457200" y="5486400"/>
            <a:ext cx="8988552" cy="749808"/>
          </a:xfrm>
          <a:prstGeom prst="roundRect">
            <a:avLst>
              <a:gd name="adj" fmla="val 10000"/>
            </a:avLst>
          </a:prstGeom>
          <a:solidFill>
            <a:srgbClr val="E6F4EA"/>
          </a:solidFill>
          <a:ln>
            <a:noFill/>
          </a:ln>
          <a:effectLst/>
        </p:spPr>
        <p:txBody>
          <a:bodyPr rtlCol="0" anchor="ctr" wrap="square" lIns="182880" rIns="182880"/>
          <a:lstStyle/>
          <a:p>
            <a:pPr algn="ctr"/>
            <a:r>
              <a:rPr sz="1250" b="1" i="0">
                <a:solidFill>
                  <a:srgbClr val="0B8A3E"/>
                </a:solidFill>
                <a:latin typeface="Arial"/>
              </a:rPr>
              <a:t>DBARS will turn one published BMTC timetable into three products: a journey planner for commuters, a fleet and crew planner for depots, and an open GTFS feed for everyone else.</a:t>
            </a:r>
            <a:endParaRPr sz="125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19456"/>
            <a:ext cx="8988552" cy="603504"/>
          </a:xfrm>
        </p:spPr>
        <p:txBody>
          <a:bodyPr anchor="ctr" wrap="square"/>
          <a:lstStyle/>
          <a:p>
            <a:pPr algn="ctr"/>
            <a:r>
              <a:rPr sz="2800" b="1" i="0">
                <a:solidFill>
                  <a:srgbClr val="FF0000"/>
                </a:solidFill>
                <a:latin typeface="Arial"/>
              </a:rPr>
              <a:t>Literature Survey (1/2)</a:t>
            </a:r>
          </a:p>
        </p:txBody>
      </p:sp>
      <p:graphicFrame>
        <p:nvGraphicFramePr>
          <p:cNvPr id="3" name="Table 2"/>
          <p:cNvGraphicFramePr>
            <a:graphicFrameLocks noGrp="1"/>
          </p:cNvGraphicFramePr>
          <p:nvPr/>
        </p:nvGraphicFramePr>
        <p:xfrm>
          <a:off x="457200" y="914400"/>
          <a:ext cx="8988552" cy="4700016"/>
        </p:xfrm>
        <a:graphic>
          <a:graphicData uri="http://schemas.openxmlformats.org/drawingml/2006/table">
            <a:tbl>
              <a:tblPr firstRow="0" bandRow="0">
                <a:tableStyleId>{2D5ABB26-0587-4C30-8999-92F81FD0307C}</a:tableStyleId>
              </a:tblPr>
              <a:tblGrid>
                <a:gridCol w="365760"/>
                <a:gridCol w="2240280"/>
                <a:gridCol w="1691640"/>
                <a:gridCol w="1371600"/>
                <a:gridCol w="1600200"/>
                <a:gridCol w="1719072"/>
              </a:tblGrid>
              <a:tr h="310896">
                <a:tc>
                  <a:txBody>
                    <a:bodyPr wrap="square" anchor="ctr" lIns="45720" tIns="27432" rIns="45720" bIns="27432"/>
                    <a:lstStyle/>
                    <a:p>
                      <a:pPr algn="ctr"/>
                      <a:r>
                        <a:rPr sz="1050" b="1" i="0">
                          <a:solidFill>
                            <a:srgbClr val="FFFFFF"/>
                          </a:solidFill>
                          <a:latin typeface="Arial"/>
                        </a:rPr>
                        <a:t>Ref.</a:t>
                      </a:r>
                      <a:endParaRPr sz="1050"/>
                    </a:p>
                  </a:txBody>
                  <a:tcPr marL="45720" marT="27432" marR="45720" marB="27432"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27432" rIns="45720" bIns="27432"/>
                    <a:lstStyle/>
                    <a:p>
                      <a:pPr algn="l"/>
                      <a:r>
                        <a:rPr sz="1050" b="1" i="0">
                          <a:solidFill>
                            <a:srgbClr val="FFFFFF"/>
                          </a:solidFill>
                          <a:latin typeface="Arial"/>
                        </a:rPr>
                        <a:t>Title and Year</a:t>
                      </a:r>
                      <a:endParaRPr sz="1050"/>
                    </a:p>
                  </a:txBody>
                  <a:tcPr marL="45720" marT="27432" marR="45720" marB="27432"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27432" rIns="45720" bIns="27432"/>
                    <a:lstStyle/>
                    <a:p>
                      <a:pPr algn="l"/>
                      <a:r>
                        <a:rPr sz="1050" b="1" i="0">
                          <a:solidFill>
                            <a:srgbClr val="FFFFFF"/>
                          </a:solidFill>
                          <a:latin typeface="Arial"/>
                        </a:rPr>
                        <a:t>Methodology</a:t>
                      </a:r>
                      <a:endParaRPr sz="1050"/>
                    </a:p>
                  </a:txBody>
                  <a:tcPr marL="45720" marT="27432" marR="45720" marB="27432"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27432" rIns="45720" bIns="27432"/>
                    <a:lstStyle/>
                    <a:p>
                      <a:pPr algn="l"/>
                      <a:r>
                        <a:rPr sz="1050" b="1" i="0">
                          <a:solidFill>
                            <a:srgbClr val="FFFFFF"/>
                          </a:solidFill>
                          <a:latin typeface="Arial"/>
                        </a:rPr>
                        <a:t>Dataset</a:t>
                      </a:r>
                      <a:endParaRPr sz="1050"/>
                    </a:p>
                  </a:txBody>
                  <a:tcPr marL="45720" marT="27432" marR="45720" marB="27432"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27432" rIns="45720" bIns="27432"/>
                    <a:lstStyle/>
                    <a:p>
                      <a:pPr algn="l"/>
                      <a:r>
                        <a:rPr sz="1050" b="1" i="0">
                          <a:solidFill>
                            <a:srgbClr val="FFFFFF"/>
                          </a:solidFill>
                          <a:latin typeface="Arial"/>
                        </a:rPr>
                        <a:t>Limitations</a:t>
                      </a:r>
                      <a:endParaRPr sz="1050"/>
                    </a:p>
                  </a:txBody>
                  <a:tcPr marL="45720" marT="27432" marR="45720" marB="27432"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27432" rIns="45720" bIns="27432"/>
                    <a:lstStyle/>
                    <a:p>
                      <a:pPr algn="l"/>
                      <a:r>
                        <a:rPr sz="1050" b="1" i="0">
                          <a:solidFill>
                            <a:srgbClr val="FFFFFF"/>
                          </a:solidFill>
                          <a:latin typeface="Arial"/>
                        </a:rPr>
                        <a:t>Observations</a:t>
                      </a:r>
                      <a:endParaRPr sz="1050"/>
                    </a:p>
                  </a:txBody>
                  <a:tcPr marL="45720" marT="27432" marR="45720" marB="27432"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r>
              <a:tr h="731520">
                <a:tc>
                  <a:txBody>
                    <a:bodyPr wrap="square" anchor="t" lIns="45720" tIns="27432" rIns="45720" bIns="27432"/>
                    <a:lstStyle/>
                    <a:p>
                      <a:pPr algn="ctr"/>
                      <a:r>
                        <a:rPr sz="950" b="1" i="0">
                          <a:solidFill>
                            <a:srgbClr val="1F2937"/>
                          </a:solidFill>
                          <a:latin typeface="Arial"/>
                        </a:rPr>
                        <a:t>[1]</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t" lIns="45720" tIns="27432" rIns="45720" bIns="27432"/>
                    <a:lstStyle/>
                    <a:p>
                      <a:pPr algn="l"/>
                      <a:r>
                        <a:rPr sz="950" b="1" i="0">
                          <a:solidFill>
                            <a:srgbClr val="1F2937"/>
                          </a:solidFill>
                          <a:latin typeface="Arial"/>
                        </a:rPr>
                        <a:t>ULTRA: Unlimited transfers for efficient multimodal journey planning</a:t>
                      </a:r>
                      <a:endParaRPr sz="950"/>
                    </a:p>
                    <a:p>
                      <a:pPr algn="l"/>
                      <a:r>
                        <a:rPr sz="950" b="0" i="0">
                          <a:solidFill>
                            <a:srgbClr val="1F2937"/>
                          </a:solidFill>
                          <a:latin typeface="Arial"/>
                        </a:rPr>
                        <a:t>Baum et al., Transportation Science, 2023</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t" lIns="45720" tIns="27432" rIns="45720" bIns="27432"/>
                    <a:lstStyle/>
                    <a:p>
                      <a:pPr algn="l"/>
                      <a:r>
                        <a:rPr sz="950" b="0" i="0">
                          <a:solidFill>
                            <a:srgbClr val="1F2937"/>
                          </a:solidFill>
                          <a:latin typeface="Arial"/>
                        </a:rPr>
                        <a:t>Preprocessing computes transfer shortcuts; Pareto-optimal journeys on arrival time and number of trips; ~10x faster than prior approaches</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t" lIns="45720" tIns="27432" rIns="45720" bIns="27432"/>
                    <a:lstStyle/>
                    <a:p>
                      <a:pPr algn="l"/>
                      <a:r>
                        <a:rPr sz="950" b="0" i="0">
                          <a:solidFill>
                            <a:srgbClr val="1F2937"/>
                          </a:solidFill>
                          <a:latin typeface="Arial"/>
                        </a:rPr>
                        <a:t>Public-transit networks combined with secondary modes</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t" lIns="45720" tIns="27432" rIns="45720" bIns="27432"/>
                    <a:lstStyle/>
                    <a:p>
                      <a:pPr algn="l"/>
                      <a:r>
                        <a:rPr sz="950" b="0" i="0">
                          <a:solidFill>
                            <a:srgbClr val="1F2937"/>
                          </a:solidFill>
                          <a:latin typeface="Arial"/>
                        </a:rPr>
                        <a:t>Passenger-side objective only; no fleet or crew planning</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t" lIns="45720" tIns="27432" rIns="45720" bIns="27432"/>
                    <a:lstStyle/>
                    <a:p>
                      <a:pPr algn="l"/>
                      <a:r>
                        <a:rPr sz="950" b="0" i="0">
                          <a:solidFill>
                            <a:srgbClr val="1F2937"/>
                          </a:solidFill>
                          <a:latin typeface="Arial"/>
                        </a:rPr>
                        <a:t>Transfers drive journey cost: DBARS will limit changes and reject unwalkable interchanges (over 1.2 km)</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noFill/>
                  </a:tcPr>
                </a:tc>
              </a:tr>
              <a:tr h="731520">
                <a:tc>
                  <a:txBody>
                    <a:bodyPr wrap="square" anchor="t" lIns="45720" tIns="27432" rIns="45720" bIns="27432"/>
                    <a:lstStyle/>
                    <a:p>
                      <a:pPr algn="ctr"/>
                      <a:r>
                        <a:rPr sz="950" b="1" i="0">
                          <a:solidFill>
                            <a:srgbClr val="1F2937"/>
                          </a:solidFill>
                          <a:latin typeface="Arial"/>
                        </a:rPr>
                        <a:t>[2]</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solidFill>
                      <a:srgbClr val="F3F4F6"/>
                    </a:solidFill>
                  </a:tcPr>
                </a:tc>
                <a:tc>
                  <a:txBody>
                    <a:bodyPr wrap="square" anchor="t" lIns="45720" tIns="27432" rIns="45720" bIns="27432"/>
                    <a:lstStyle/>
                    <a:p>
                      <a:pPr algn="l"/>
                      <a:r>
                        <a:rPr sz="950" b="1" i="0">
                          <a:solidFill>
                            <a:srgbClr val="1F2937"/>
                          </a:solidFill>
                          <a:latin typeface="Arial"/>
                        </a:rPr>
                        <a:t>Analyzing transit systems using GTFS by generating spatiotemporal transit networks</a:t>
                      </a:r>
                      <a:endParaRPr sz="950"/>
                    </a:p>
                    <a:p>
                      <a:pPr algn="l"/>
                      <a:r>
                        <a:rPr sz="950" b="0" i="0">
                          <a:solidFill>
                            <a:srgbClr val="1F2937"/>
                          </a:solidFill>
                          <a:latin typeface="Arial"/>
                        </a:rPr>
                        <a:t>Liu et al., Information, 2025</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solidFill>
                      <a:srgbClr val="F3F4F6"/>
                    </a:solidFill>
                  </a:tcPr>
                </a:tc>
                <a:tc>
                  <a:txBody>
                    <a:bodyPr wrap="square" anchor="t" lIns="45720" tIns="27432" rIns="45720" bIns="27432"/>
                    <a:lstStyle/>
                    <a:p>
                      <a:pPr algn="l"/>
                      <a:r>
                        <a:rPr sz="950" b="0" i="0">
                          <a:solidFill>
                            <a:srgbClr val="1F2937"/>
                          </a:solidFill>
                          <a:latin typeface="Arial"/>
                        </a:rPr>
                        <a:t>GTFS2STN converts GTFS to spatiotemporal networks; Dijkstra shortest paths; before/after statistical tests</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solidFill>
                      <a:srgbClr val="F3F4F6"/>
                    </a:solidFill>
                  </a:tcPr>
                </a:tc>
                <a:tc>
                  <a:txBody>
                    <a:bodyPr wrap="square" anchor="t" lIns="45720" tIns="27432" rIns="45720" bIns="27432"/>
                    <a:lstStyle/>
                    <a:p>
                      <a:pPr algn="l"/>
                      <a:r>
                        <a:rPr sz="950" b="0" i="0">
                          <a:solidFill>
                            <a:srgbClr val="1F2937"/>
                          </a:solidFill>
                          <a:latin typeface="Arial"/>
                        </a:rPr>
                        <a:t>WeGo Transit (Nashville) GTFS, 2019 to 2024; checked against Google Maps (MAPE within 12%)</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solidFill>
                      <a:srgbClr val="F3F4F6"/>
                    </a:solidFill>
                  </a:tcPr>
                </a:tc>
                <a:tc>
                  <a:txBody>
                    <a:bodyPr wrap="square" anchor="t" lIns="45720" tIns="27432" rIns="45720" bIns="27432"/>
                    <a:lstStyle/>
                    <a:p>
                      <a:pPr algn="l"/>
                      <a:r>
                        <a:rPr sz="950" b="0" i="0">
                          <a:solidFill>
                            <a:srgbClr val="1F2937"/>
                          </a:solidFill>
                          <a:latin typeface="Arial"/>
                        </a:rPr>
                        <a:t>Circular walk buffers; cannot merge several feeds; memory-heavy; no demand side</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solidFill>
                      <a:srgbClr val="F3F4F6"/>
                    </a:solidFill>
                  </a:tcPr>
                </a:tc>
                <a:tc>
                  <a:txBody>
                    <a:bodyPr wrap="square" anchor="t" lIns="45720" tIns="27432" rIns="45720" bIns="27432"/>
                    <a:lstStyle/>
                    <a:p>
                      <a:pPr algn="l"/>
                      <a:r>
                        <a:rPr sz="950" b="0" i="0">
                          <a:solidFill>
                            <a:srgbClr val="1F2937"/>
                          </a:solidFill>
                          <a:latin typeface="Arial"/>
                        </a:rPr>
                        <a:t>GTFS is the standard analysis input: DBARS will publish the BMTC network as GTFS</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solidFill>
                      <a:srgbClr val="F3F4F6"/>
                    </a:solidFill>
                  </a:tcPr>
                </a:tc>
              </a:tr>
              <a:tr h="731520">
                <a:tc>
                  <a:txBody>
                    <a:bodyPr wrap="square" anchor="t" lIns="45720" tIns="27432" rIns="45720" bIns="27432"/>
                    <a:lstStyle/>
                    <a:p>
                      <a:pPr algn="ctr"/>
                      <a:r>
                        <a:rPr sz="950" b="1" i="0">
                          <a:solidFill>
                            <a:srgbClr val="1F2937"/>
                          </a:solidFill>
                          <a:latin typeface="Arial"/>
                        </a:rPr>
                        <a:t>[3]</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t" lIns="45720" tIns="27432" rIns="45720" bIns="27432"/>
                    <a:lstStyle/>
                    <a:p>
                      <a:pPr algn="l"/>
                      <a:r>
                        <a:rPr sz="950" b="1" i="0">
                          <a:solidFill>
                            <a:srgbClr val="1F2937"/>
                          </a:solidFill>
                          <a:latin typeface="Arial"/>
                        </a:rPr>
                        <a:t>Visualizing public transit system operation with GTFS data: Calgary, Canada</a:t>
                      </a:r>
                      <a:endParaRPr sz="950"/>
                    </a:p>
                    <a:p>
                      <a:pPr algn="l"/>
                      <a:r>
                        <a:rPr sz="950" b="0" i="0">
                          <a:solidFill>
                            <a:srgbClr val="1F2937"/>
                          </a:solidFill>
                          <a:latin typeface="Arial"/>
                        </a:rPr>
                        <a:t>Prommaharaj et al., Heliyon, 2020</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t" lIns="45720" tIns="27432" rIns="45720" bIns="27432"/>
                    <a:lstStyle/>
                    <a:p>
                      <a:pPr algn="l"/>
                      <a:r>
                        <a:rPr sz="950" b="0" i="0">
                          <a:solidFill>
                            <a:srgbClr val="1F2937"/>
                          </a:solidFill>
                          <a:latin typeface="Arial"/>
                        </a:rPr>
                        <a:t>PubtraVis: six interactive visualisation modules; cosine similarity and X-means clustering</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t" lIns="45720" tIns="27432" rIns="45720" bIns="27432"/>
                    <a:lstStyle/>
                    <a:p>
                      <a:pPr algn="l"/>
                      <a:r>
                        <a:rPr sz="950" b="0" i="0">
                          <a:solidFill>
                            <a:srgbClr val="1F2937"/>
                          </a:solidFill>
                          <a:latin typeface="Arial"/>
                        </a:rPr>
                        <a:t>Calgary Transit static GTFS, Apr to Jun 2016 (755 MB, 8 CSV files)</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t" lIns="45720" tIns="27432" rIns="45720" bIns="27432"/>
                    <a:lstStyle/>
                    <a:p>
                      <a:pPr algn="l"/>
                      <a:r>
                        <a:rPr sz="950" b="0" i="0">
                          <a:solidFill>
                            <a:srgbClr val="1F2937"/>
                          </a:solidFill>
                          <a:latin typeface="Arial"/>
                        </a:rPr>
                        <a:t>Static GTFS only, no real-time data; ease of use needs work</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t" lIns="45720" tIns="27432" rIns="45720" bIns="27432"/>
                    <a:lstStyle/>
                    <a:p>
                      <a:pPr algn="l"/>
                      <a:r>
                        <a:rPr sz="950" b="0" i="0">
                          <a:solidFill>
                            <a:srgbClr val="1F2937"/>
                          </a:solidFill>
                          <a:latin typeface="Arial"/>
                        </a:rPr>
                        <a:t>Analysis and visualisation for planners; no journey search or fleet sizing</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noFill/>
                  </a:tcPr>
                </a:tc>
              </a:tr>
              <a:tr h="731520">
                <a:tc>
                  <a:txBody>
                    <a:bodyPr wrap="square" anchor="t" lIns="45720" tIns="27432" rIns="45720" bIns="27432"/>
                    <a:lstStyle/>
                    <a:p>
                      <a:pPr algn="ctr"/>
                      <a:r>
                        <a:rPr sz="950" b="1" i="0">
                          <a:solidFill>
                            <a:srgbClr val="1F2937"/>
                          </a:solidFill>
                          <a:latin typeface="Arial"/>
                        </a:rPr>
                        <a:t>[4]</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solidFill>
                      <a:srgbClr val="F3F4F6"/>
                    </a:solidFill>
                  </a:tcPr>
                </a:tc>
                <a:tc>
                  <a:txBody>
                    <a:bodyPr wrap="square" anchor="t" lIns="45720" tIns="27432" rIns="45720" bIns="27432"/>
                    <a:lstStyle/>
                    <a:p>
                      <a:pPr algn="l"/>
                      <a:r>
                        <a:rPr sz="950" b="1" i="0">
                          <a:solidFill>
                            <a:srgbClr val="1F2937"/>
                          </a:solidFill>
                          <a:latin typeface="Arial"/>
                        </a:rPr>
                        <a:t>Multi-depot vehicle scheduling with multiple vehicle types on overlapped bus routes</a:t>
                      </a:r>
                      <a:endParaRPr sz="950"/>
                    </a:p>
                    <a:p>
                      <a:pPr algn="l"/>
                      <a:r>
                        <a:rPr sz="950" b="0" i="0">
                          <a:solidFill>
                            <a:srgbClr val="1F2937"/>
                          </a:solidFill>
                          <a:latin typeface="Arial"/>
                        </a:rPr>
                        <a:t>Shang et al., Expert Systems with Applications, 2023</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solidFill>
                      <a:srgbClr val="F3F4F6"/>
                    </a:solidFill>
                  </a:tcPr>
                </a:tc>
                <a:tc>
                  <a:txBody>
                    <a:bodyPr wrap="square" anchor="t" lIns="45720" tIns="27432" rIns="45720" bIns="27432"/>
                    <a:lstStyle/>
                    <a:p>
                      <a:pPr algn="l"/>
                      <a:r>
                        <a:rPr sz="950" b="0" i="0">
                          <a:solidFill>
                            <a:srgbClr val="1F2937"/>
                          </a:solidFill>
                          <a:latin typeface="Arial"/>
                        </a:rPr>
                        <a:t>Bi-objective integer programming; capacity-constrained incremental assignment; Pareto solutions</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solidFill>
                      <a:srgbClr val="F3F4F6"/>
                    </a:solidFill>
                  </a:tcPr>
                </a:tc>
                <a:tc>
                  <a:txBody>
                    <a:bodyPr wrap="square" anchor="t" lIns="45720" tIns="27432" rIns="45720" bIns="27432"/>
                    <a:lstStyle/>
                    <a:p>
                      <a:pPr algn="l"/>
                      <a:r>
                        <a:rPr sz="950" b="0" i="0">
                          <a:solidFill>
                            <a:srgbClr val="1F2937"/>
                          </a:solidFill>
                          <a:latin typeface="Arial"/>
                        </a:rPr>
                        <a:t>Beijing: about 1.18 million bus-card swipes on six congested lines</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solidFill>
                      <a:srgbClr val="F3F4F6"/>
                    </a:solidFill>
                  </a:tcPr>
                </a:tc>
                <a:tc>
                  <a:txBody>
                    <a:bodyPr wrap="square" anchor="t" lIns="45720" tIns="27432" rIns="45720" bIns="27432"/>
                    <a:lstStyle/>
                    <a:p>
                      <a:pPr algn="l"/>
                      <a:r>
                        <a:rPr sz="950" b="0" i="0">
                          <a:solidFill>
                            <a:srgbClr val="1F2937"/>
                          </a:solidFill>
                          <a:latin typeface="Arial"/>
                        </a:rPr>
                        <a:t>Mixed vehicle types give irregular departures; regional use needs multi-operator coordination</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solidFill>
                      <a:srgbClr val="F3F4F6"/>
                    </a:solidFill>
                  </a:tcPr>
                </a:tc>
                <a:tc>
                  <a:txBody>
                    <a:bodyPr wrap="square" anchor="t" lIns="45720" tIns="27432" rIns="45720" bIns="27432"/>
                    <a:lstStyle/>
                    <a:p>
                      <a:pPr algn="l"/>
                      <a:r>
                        <a:rPr sz="950" b="0" i="0">
                          <a:solidFill>
                            <a:srgbClr val="1F2937"/>
                          </a:solidFill>
                          <a:latin typeface="Arial"/>
                        </a:rPr>
                        <a:t>Validated on six lines; DBARS aims at a whole timetable across 44 depots</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solidFill>
                      <a:srgbClr val="F3F4F6"/>
                    </a:solidFill>
                  </a:tcPr>
                </a:tc>
              </a:tr>
              <a:tr h="731520">
                <a:tc>
                  <a:txBody>
                    <a:bodyPr wrap="square" anchor="t" lIns="45720" tIns="27432" rIns="45720" bIns="27432"/>
                    <a:lstStyle/>
                    <a:p>
                      <a:pPr algn="ctr"/>
                      <a:r>
                        <a:rPr sz="950" b="1" i="0">
                          <a:solidFill>
                            <a:srgbClr val="1F2937"/>
                          </a:solidFill>
                          <a:latin typeface="Arial"/>
                        </a:rPr>
                        <a:t>[5]</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t" lIns="45720" tIns="27432" rIns="45720" bIns="27432"/>
                    <a:lstStyle/>
                    <a:p>
                      <a:pPr algn="l"/>
                      <a:r>
                        <a:rPr sz="950" b="1" i="0">
                          <a:solidFill>
                            <a:srgbClr val="1F2937"/>
                          </a:solidFill>
                          <a:latin typeface="Arial"/>
                        </a:rPr>
                        <a:t>An exact approach for the multi-depot electric bus scheduling problem with time windows</a:t>
                      </a:r>
                      <a:endParaRPr sz="950"/>
                    </a:p>
                    <a:p>
                      <a:pPr algn="l"/>
                      <a:r>
                        <a:rPr sz="950" b="0" i="0">
                          <a:solidFill>
                            <a:srgbClr val="1F2937"/>
                          </a:solidFill>
                          <a:latin typeface="Arial"/>
                        </a:rPr>
                        <a:t>Gkiotsalitis et al., European J. of Operational Research, 2023</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t" lIns="45720" tIns="27432" rIns="45720" bIns="27432"/>
                    <a:lstStyle/>
                    <a:p>
                      <a:pPr algn="l"/>
                      <a:r>
                        <a:rPr sz="950" b="0" i="0">
                          <a:solidFill>
                            <a:srgbClr val="1F2937"/>
                          </a:solidFill>
                          <a:latin typeface="Arial"/>
                        </a:rPr>
                        <a:t>Mixed-integer linear programme with valid inequalities and charging-capacity constraints</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t" lIns="45720" tIns="27432" rIns="45720" bIns="27432"/>
                    <a:lstStyle/>
                    <a:p>
                      <a:pPr algn="l"/>
                      <a:r>
                        <a:rPr sz="950" b="0" i="0">
                          <a:solidFill>
                            <a:srgbClr val="1F2937"/>
                          </a:solidFill>
                          <a:latin typeface="Arial"/>
                        </a:rPr>
                        <a:t>Benchmark instances (Carpaneto et al., 1989) plus a toy network</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t" lIns="45720" tIns="27432" rIns="45720" bIns="27432"/>
                    <a:lstStyle/>
                    <a:p>
                      <a:pPr algn="l"/>
                      <a:r>
                        <a:rPr sz="950" b="0" i="0">
                          <a:solidFill>
                            <a:srgbClr val="1F2937"/>
                          </a:solidFill>
                          <a:latin typeface="Arial"/>
                        </a:rPr>
                        <a:t>Exact method tested on instances of up to 30 trips</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t" lIns="45720" tIns="27432" rIns="45720" bIns="27432"/>
                    <a:lstStyle/>
                    <a:p>
                      <a:pPr algn="l"/>
                      <a:r>
                        <a:rPr sz="950" b="0" i="0">
                          <a:solidFill>
                            <a:srgbClr val="1F2937"/>
                          </a:solidFill>
                          <a:latin typeface="Arial"/>
                        </a:rPr>
                        <a:t>Exact solvers do not reach a city timetable: DBARS will use greedy chaining with a provable lower bound</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noFill/>
                  </a:tcPr>
                </a:tc>
              </a:tr>
              <a:tr h="731520">
                <a:tc>
                  <a:txBody>
                    <a:bodyPr wrap="square" anchor="t" lIns="45720" tIns="27432" rIns="45720" bIns="27432"/>
                    <a:lstStyle/>
                    <a:p>
                      <a:pPr algn="ctr"/>
                      <a:r>
                        <a:rPr sz="950" b="1" i="0">
                          <a:solidFill>
                            <a:srgbClr val="1F2937"/>
                          </a:solidFill>
                          <a:latin typeface="Arial"/>
                        </a:rPr>
                        <a:t>[6]</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solidFill>
                      <a:srgbClr val="F3F4F6"/>
                    </a:solidFill>
                  </a:tcPr>
                </a:tc>
                <a:tc>
                  <a:txBody>
                    <a:bodyPr wrap="square" anchor="t" lIns="45720" tIns="27432" rIns="45720" bIns="27432"/>
                    <a:lstStyle/>
                    <a:p>
                      <a:pPr algn="l"/>
                      <a:r>
                        <a:rPr sz="950" b="1" i="0">
                          <a:solidFill>
                            <a:srgbClr val="1F2937"/>
                          </a:solidFill>
                          <a:latin typeface="Arial"/>
                        </a:rPr>
                        <a:t>A GRASP algorithm for the bus crew scheduling problem</a:t>
                      </a:r>
                      <a:endParaRPr sz="950"/>
                    </a:p>
                    <a:p>
                      <a:pPr algn="l"/>
                      <a:r>
                        <a:rPr sz="950" b="0" i="0">
                          <a:solidFill>
                            <a:srgbClr val="1F2937"/>
                          </a:solidFill>
                          <a:latin typeface="Arial"/>
                        </a:rPr>
                        <a:t>Pardo-Pena et al., Int. J. of Industrial Eng. Computations, 2024</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solidFill>
                      <a:srgbClr val="F3F4F6"/>
                    </a:solidFill>
                  </a:tcPr>
                </a:tc>
                <a:tc>
                  <a:txBody>
                    <a:bodyPr wrap="square" anchor="t" lIns="45720" tIns="27432" rIns="45720" bIns="27432"/>
                    <a:lstStyle/>
                    <a:p>
                      <a:pPr algn="l"/>
                      <a:r>
                        <a:rPr sz="950" b="0" i="0">
                          <a:solidFill>
                            <a:srgbClr val="1F2937"/>
                          </a:solidFill>
                          <a:latin typeface="Arial"/>
                        </a:rPr>
                        <a:t>GRASP metaheuristic: constructive step, repair and local search (INSERT, SWAP)</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solidFill>
                      <a:srgbClr val="F3F4F6"/>
                    </a:solidFill>
                  </a:tcPr>
                </a:tc>
                <a:tc>
                  <a:txBody>
                    <a:bodyPr wrap="square" anchor="t" lIns="45720" tIns="27432" rIns="45720" bIns="27432"/>
                    <a:lstStyle/>
                    <a:p>
                      <a:pPr algn="l"/>
                      <a:r>
                        <a:rPr sz="950" b="0" i="0">
                          <a:solidFill>
                            <a:srgbClr val="1F2937"/>
                          </a:solidFill>
                          <a:latin typeface="Arial"/>
                        </a:rPr>
                        <a:t>Musliu (2006) instances of 42 to 595 shifts; real data from operator INTEGRA S.A.</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solidFill>
                      <a:srgbClr val="F3F4F6"/>
                    </a:solidFill>
                  </a:tcPr>
                </a:tc>
                <a:tc>
                  <a:txBody>
                    <a:bodyPr wrap="square" anchor="t" lIns="45720" tIns="27432" rIns="45720" bIns="27432"/>
                    <a:lstStyle/>
                    <a:p>
                      <a:pPr algn="l"/>
                      <a:r>
                        <a:rPr sz="950" b="0" i="0">
                          <a:solidFill>
                            <a:srgbClr val="1F2937"/>
                          </a:solidFill>
                          <a:latin typeface="Arial"/>
                        </a:rPr>
                        <a:t>One instance stayed infeasible; results depend on tuning; satisfaction model is simple</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solidFill>
                      <a:srgbClr val="F3F4F6"/>
                    </a:solidFill>
                  </a:tcPr>
                </a:tc>
                <a:tc>
                  <a:txBody>
                    <a:bodyPr wrap="square" anchor="t" lIns="45720" tIns="27432" rIns="45720" bIns="27432"/>
                    <a:lstStyle/>
                    <a:p>
                      <a:pPr algn="l"/>
                      <a:r>
                        <a:rPr sz="950" b="0" i="0">
                          <a:solidFill>
                            <a:srgbClr val="1F2937"/>
                          </a:solidFill>
                          <a:latin typeface="Arial"/>
                        </a:rPr>
                        <a:t>Crew studied apart from vehicle blocks: DBARS will cut duties directly from blocks</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solidFill>
                      <a:srgbClr val="F3F4F6"/>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19456"/>
            <a:ext cx="8988552" cy="603504"/>
          </a:xfrm>
        </p:spPr>
        <p:txBody>
          <a:bodyPr anchor="ctr" wrap="square"/>
          <a:lstStyle/>
          <a:p>
            <a:pPr algn="ctr"/>
            <a:r>
              <a:rPr sz="2800" b="1" i="0">
                <a:solidFill>
                  <a:srgbClr val="FF0000"/>
                </a:solidFill>
                <a:latin typeface="Arial"/>
              </a:rPr>
              <a:t>Literature Survey (2/2)</a:t>
            </a:r>
          </a:p>
        </p:txBody>
      </p:sp>
      <p:graphicFrame>
        <p:nvGraphicFramePr>
          <p:cNvPr id="3" name="Table 2"/>
          <p:cNvGraphicFramePr>
            <a:graphicFrameLocks noGrp="1"/>
          </p:cNvGraphicFramePr>
          <p:nvPr/>
        </p:nvGraphicFramePr>
        <p:xfrm>
          <a:off x="457200" y="914400"/>
          <a:ext cx="8988552" cy="4700016"/>
        </p:xfrm>
        <a:graphic>
          <a:graphicData uri="http://schemas.openxmlformats.org/drawingml/2006/table">
            <a:tbl>
              <a:tblPr firstRow="0" bandRow="0">
                <a:tableStyleId>{2D5ABB26-0587-4C30-8999-92F81FD0307C}</a:tableStyleId>
              </a:tblPr>
              <a:tblGrid>
                <a:gridCol w="365760"/>
                <a:gridCol w="2240280"/>
                <a:gridCol w="1691640"/>
                <a:gridCol w="1371600"/>
                <a:gridCol w="1600200"/>
                <a:gridCol w="1719072"/>
              </a:tblGrid>
              <a:tr h="310896">
                <a:tc>
                  <a:txBody>
                    <a:bodyPr wrap="square" anchor="ctr" lIns="45720" tIns="27432" rIns="45720" bIns="27432"/>
                    <a:lstStyle/>
                    <a:p>
                      <a:pPr algn="ctr"/>
                      <a:r>
                        <a:rPr sz="1050" b="1" i="0">
                          <a:solidFill>
                            <a:srgbClr val="FFFFFF"/>
                          </a:solidFill>
                          <a:latin typeface="Arial"/>
                        </a:rPr>
                        <a:t>Ref.</a:t>
                      </a:r>
                      <a:endParaRPr sz="1050"/>
                    </a:p>
                  </a:txBody>
                  <a:tcPr marL="45720" marT="27432" marR="45720" marB="27432"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27432" rIns="45720" bIns="27432"/>
                    <a:lstStyle/>
                    <a:p>
                      <a:pPr algn="l"/>
                      <a:r>
                        <a:rPr sz="1050" b="1" i="0">
                          <a:solidFill>
                            <a:srgbClr val="FFFFFF"/>
                          </a:solidFill>
                          <a:latin typeface="Arial"/>
                        </a:rPr>
                        <a:t>Title and Year</a:t>
                      </a:r>
                      <a:endParaRPr sz="1050"/>
                    </a:p>
                  </a:txBody>
                  <a:tcPr marL="45720" marT="27432" marR="45720" marB="27432"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27432" rIns="45720" bIns="27432"/>
                    <a:lstStyle/>
                    <a:p>
                      <a:pPr algn="l"/>
                      <a:r>
                        <a:rPr sz="1050" b="1" i="0">
                          <a:solidFill>
                            <a:srgbClr val="FFFFFF"/>
                          </a:solidFill>
                          <a:latin typeface="Arial"/>
                        </a:rPr>
                        <a:t>Methodology</a:t>
                      </a:r>
                      <a:endParaRPr sz="1050"/>
                    </a:p>
                  </a:txBody>
                  <a:tcPr marL="45720" marT="27432" marR="45720" marB="27432"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27432" rIns="45720" bIns="27432"/>
                    <a:lstStyle/>
                    <a:p>
                      <a:pPr algn="l"/>
                      <a:r>
                        <a:rPr sz="1050" b="1" i="0">
                          <a:solidFill>
                            <a:srgbClr val="FFFFFF"/>
                          </a:solidFill>
                          <a:latin typeface="Arial"/>
                        </a:rPr>
                        <a:t>Dataset</a:t>
                      </a:r>
                      <a:endParaRPr sz="1050"/>
                    </a:p>
                  </a:txBody>
                  <a:tcPr marL="45720" marT="27432" marR="45720" marB="27432"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27432" rIns="45720" bIns="27432"/>
                    <a:lstStyle/>
                    <a:p>
                      <a:pPr algn="l"/>
                      <a:r>
                        <a:rPr sz="1050" b="1" i="0">
                          <a:solidFill>
                            <a:srgbClr val="FFFFFF"/>
                          </a:solidFill>
                          <a:latin typeface="Arial"/>
                        </a:rPr>
                        <a:t>Limitations</a:t>
                      </a:r>
                      <a:endParaRPr sz="1050"/>
                    </a:p>
                  </a:txBody>
                  <a:tcPr marL="45720" marT="27432" marR="45720" marB="27432"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27432" rIns="45720" bIns="27432"/>
                    <a:lstStyle/>
                    <a:p>
                      <a:pPr algn="l"/>
                      <a:r>
                        <a:rPr sz="1050" b="1" i="0">
                          <a:solidFill>
                            <a:srgbClr val="FFFFFF"/>
                          </a:solidFill>
                          <a:latin typeface="Arial"/>
                        </a:rPr>
                        <a:t>Observations</a:t>
                      </a:r>
                      <a:endParaRPr sz="1050"/>
                    </a:p>
                  </a:txBody>
                  <a:tcPr marL="45720" marT="27432" marR="45720" marB="27432"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r>
              <a:tr h="731520">
                <a:tc>
                  <a:txBody>
                    <a:bodyPr wrap="square" anchor="t" lIns="45720" tIns="27432" rIns="45720" bIns="27432"/>
                    <a:lstStyle/>
                    <a:p>
                      <a:pPr algn="ctr"/>
                      <a:r>
                        <a:rPr sz="950" b="1" i="0">
                          <a:solidFill>
                            <a:srgbClr val="1F2937"/>
                          </a:solidFill>
                          <a:latin typeface="Arial"/>
                        </a:rPr>
                        <a:t>[7]</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t" lIns="45720" tIns="27432" rIns="45720" bIns="27432"/>
                    <a:lstStyle/>
                    <a:p>
                      <a:pPr algn="l"/>
                      <a:r>
                        <a:rPr sz="950" b="1" i="0">
                          <a:solidFill>
                            <a:srgbClr val="1F2937"/>
                          </a:solidFill>
                          <a:latin typeface="Arial"/>
                        </a:rPr>
                        <a:t>Optimizing bus driver scheduling: a set covering approach for reducing transportation costs</a:t>
                      </a:r>
                      <a:endParaRPr sz="950"/>
                    </a:p>
                    <a:p>
                      <a:pPr algn="l"/>
                      <a:r>
                        <a:rPr sz="950" b="0" i="0">
                          <a:solidFill>
                            <a:srgbClr val="1F2937"/>
                          </a:solidFill>
                          <a:latin typeface="Arial"/>
                        </a:rPr>
                        <a:t>Argilan &amp; Bekesi, Applied System Innovation, 2025</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t" lIns="45720" tIns="27432" rIns="45720" bIns="27432"/>
                    <a:lstStyle/>
                    <a:p>
                      <a:pPr algn="l"/>
                      <a:r>
                        <a:rPr sz="950" b="0" i="0">
                          <a:solidFill>
                            <a:srgbClr val="1F2937"/>
                          </a:solidFill>
                          <a:latin typeface="Arial"/>
                        </a:rPr>
                        <a:t>Set covering with column generation and heuristics; time-space network; label-setting for shortest paths</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t" lIns="45720" tIns="27432" rIns="45720" bIns="27432"/>
                    <a:lstStyle/>
                    <a:p>
                      <a:pPr algn="l"/>
                      <a:r>
                        <a:rPr sz="950" b="0" i="0">
                          <a:solidFill>
                            <a:srgbClr val="1F2937"/>
                          </a:solidFill>
                          <a:latin typeface="Arial"/>
                        </a:rPr>
                        <a:t>Benchmarks A200 (200 trips, 2 depots) and A400, plus real operational data</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t" lIns="45720" tIns="27432" rIns="45720" bIns="27432"/>
                    <a:lstStyle/>
                    <a:p>
                      <a:pPr algn="l"/>
                      <a:r>
                        <a:rPr sz="950" b="0" i="0">
                          <a:solidFill>
                            <a:srgbClr val="1F2937"/>
                          </a:solidFill>
                          <a:latin typeface="Arial"/>
                        </a:rPr>
                        <a:t>Integrated models simplify driving rules due to problem size; local rules need special checks</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t" lIns="45720" tIns="27432" rIns="45720" bIns="27432"/>
                    <a:lstStyle/>
                    <a:p>
                      <a:pPr algn="l"/>
                      <a:r>
                        <a:rPr sz="950" b="0" i="0">
                          <a:solidFill>
                            <a:srgbClr val="1F2937"/>
                          </a:solidFill>
                          <a:latin typeface="Arial"/>
                        </a:rPr>
                        <a:t>Crew rules are the hard part: DBARS will model spread-over, driving-time and break limits</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noFill/>
                  </a:tcPr>
                </a:tc>
              </a:tr>
              <a:tr h="731520">
                <a:tc>
                  <a:txBody>
                    <a:bodyPr wrap="square" anchor="t" lIns="45720" tIns="27432" rIns="45720" bIns="27432"/>
                    <a:lstStyle/>
                    <a:p>
                      <a:pPr algn="ctr"/>
                      <a:r>
                        <a:rPr sz="950" b="1" i="0">
                          <a:solidFill>
                            <a:srgbClr val="1F2937"/>
                          </a:solidFill>
                          <a:latin typeface="Arial"/>
                        </a:rPr>
                        <a:t>[8]</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solidFill>
                      <a:srgbClr val="F3F4F6"/>
                    </a:solidFill>
                  </a:tcPr>
                </a:tc>
                <a:tc>
                  <a:txBody>
                    <a:bodyPr wrap="square" anchor="t" lIns="45720" tIns="27432" rIns="45720" bIns="27432"/>
                    <a:lstStyle/>
                    <a:p>
                      <a:pPr algn="l"/>
                      <a:r>
                        <a:rPr sz="950" b="1" i="0">
                          <a:solidFill>
                            <a:srgbClr val="1F2937"/>
                          </a:solidFill>
                          <a:latin typeface="Arial"/>
                        </a:rPr>
                        <a:t>A direct demand model for bus transit ridership in Bengaluru, India</a:t>
                      </a:r>
                      <a:endParaRPr sz="950"/>
                    </a:p>
                    <a:p>
                      <a:pPr algn="l"/>
                      <a:r>
                        <a:rPr sz="950" b="0" i="0">
                          <a:solidFill>
                            <a:srgbClr val="1F2937"/>
                          </a:solidFill>
                          <a:latin typeface="Arial"/>
                        </a:rPr>
                        <a:t>Deepa et al., Transportation Research Part A, 2022</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solidFill>
                      <a:srgbClr val="F3F4F6"/>
                    </a:solidFill>
                  </a:tcPr>
                </a:tc>
                <a:tc>
                  <a:txBody>
                    <a:bodyPr wrap="square" anchor="t" lIns="45720" tIns="27432" rIns="45720" bIns="27432"/>
                    <a:lstStyle/>
                    <a:p>
                      <a:pPr algn="l"/>
                      <a:r>
                        <a:rPr sz="950" b="0" i="0">
                          <a:solidFill>
                            <a:srgbClr val="1F2937"/>
                          </a:solidFill>
                          <a:latin typeface="Arial"/>
                        </a:rPr>
                        <a:t>Stop-route demand model; Voronoi catchments; two-stage residual inclusion; piecewise frequency effect</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solidFill>
                      <a:srgbClr val="F3F4F6"/>
                    </a:solidFill>
                  </a:tcPr>
                </a:tc>
                <a:tc>
                  <a:txBody>
                    <a:bodyPr wrap="square" anchor="t" lIns="45720" tIns="27432" rIns="45720" bIns="27432"/>
                    <a:lstStyle/>
                    <a:p>
                      <a:pPr algn="l"/>
                      <a:r>
                        <a:rPr sz="950" b="0" i="0">
                          <a:solidFill>
                            <a:srgbClr val="1F2937"/>
                          </a:solidFill>
                          <a:latin typeface="Arial"/>
                        </a:rPr>
                        <a:t>BMTC boardings at fare-stage clusters, morning peak</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solidFill>
                      <a:srgbClr val="F3F4F6"/>
                    </a:solidFill>
                  </a:tcPr>
                </a:tc>
                <a:tc>
                  <a:txBody>
                    <a:bodyPr wrap="square" anchor="t" lIns="45720" tIns="27432" rIns="45720" bIns="27432"/>
                    <a:lstStyle/>
                    <a:p>
                      <a:pPr algn="l"/>
                      <a:r>
                        <a:rPr sz="950" b="0" i="0">
                          <a:solidFill>
                            <a:srgbClr val="1F2937"/>
                          </a:solidFill>
                          <a:latin typeface="Arial"/>
                        </a:rPr>
                        <a:t>Needs fare-stage level data, not individual stops</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solidFill>
                      <a:srgbClr val="F3F4F6"/>
                    </a:solidFill>
                  </a:tcPr>
                </a:tc>
                <a:tc>
                  <a:txBody>
                    <a:bodyPr wrap="square" anchor="t" lIns="45720" tIns="27432" rIns="45720" bIns="27432"/>
                    <a:lstStyle/>
                    <a:p>
                      <a:pPr algn="l"/>
                      <a:r>
                        <a:rPr sz="950" b="0" i="0">
                          <a:solidFill>
                            <a:srgbClr val="1F2937"/>
                          </a:solidFill>
                          <a:latin typeface="Arial"/>
                        </a:rPr>
                        <a:t>Ridership gains flatten at high frequency: supports demand-based, not blanket, allocation</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solidFill>
                      <a:srgbClr val="F3F4F6"/>
                    </a:solidFill>
                  </a:tcPr>
                </a:tc>
              </a:tr>
              <a:tr h="731520">
                <a:tc>
                  <a:txBody>
                    <a:bodyPr wrap="square" anchor="t" lIns="45720" tIns="27432" rIns="45720" bIns="27432"/>
                    <a:lstStyle/>
                    <a:p>
                      <a:pPr algn="ctr"/>
                      <a:r>
                        <a:rPr sz="950" b="1" i="0">
                          <a:solidFill>
                            <a:srgbClr val="1F2937"/>
                          </a:solidFill>
                          <a:latin typeface="Arial"/>
                        </a:rPr>
                        <a:t>[9]</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t" lIns="45720" tIns="27432" rIns="45720" bIns="27432"/>
                    <a:lstStyle/>
                    <a:p>
                      <a:pPr algn="l"/>
                      <a:r>
                        <a:rPr sz="950" b="1" i="0">
                          <a:solidFill>
                            <a:srgbClr val="1F2937"/>
                          </a:solidFill>
                          <a:latin typeface="Arial"/>
                        </a:rPr>
                        <a:t>The adverse impact of headway variability on bus transit ridership: Bengaluru</a:t>
                      </a:r>
                      <a:endParaRPr sz="950"/>
                    </a:p>
                    <a:p>
                      <a:pPr algn="l"/>
                      <a:r>
                        <a:rPr sz="950" b="0" i="0">
                          <a:solidFill>
                            <a:srgbClr val="1F2937"/>
                          </a:solidFill>
                          <a:latin typeface="Arial"/>
                        </a:rPr>
                        <a:t>Deepa et al., Transport Policy, 2023</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t" lIns="45720" tIns="27432" rIns="45720" bIns="27432"/>
                    <a:lstStyle/>
                    <a:p>
                      <a:pPr algn="l"/>
                      <a:r>
                        <a:rPr sz="950" b="0" i="0">
                          <a:solidFill>
                            <a:srgbClr val="1F2937"/>
                          </a:solidFill>
                          <a:latin typeface="Arial"/>
                        </a:rPr>
                        <a:t>Direct demand models at route and stop level; two-stage residual inclusion</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t" lIns="45720" tIns="27432" rIns="45720" bIns="27432"/>
                    <a:lstStyle/>
                    <a:p>
                      <a:pPr algn="l"/>
                      <a:r>
                        <a:rPr sz="950" b="0" i="0">
                          <a:solidFill>
                            <a:srgbClr val="1F2937"/>
                          </a:solidFill>
                          <a:latin typeface="Arial"/>
                        </a:rPr>
                        <a:t>BMTC demand and supply data (over 6,000 buses)</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t" lIns="45720" tIns="27432" rIns="45720" bIns="27432"/>
                    <a:lstStyle/>
                    <a:p>
                      <a:pPr algn="l"/>
                      <a:r>
                        <a:rPr sz="950" b="0" i="0">
                          <a:solidFill>
                            <a:srgbClr val="1F2937"/>
                          </a:solidFill>
                          <a:latin typeface="Arial"/>
                        </a:rPr>
                        <a:t>Single city; limits generalisation</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t" lIns="45720" tIns="27432" rIns="45720" bIns="27432"/>
                    <a:lstStyle/>
                    <a:p>
                      <a:pPr algn="l"/>
                      <a:r>
                        <a:rPr sz="950" b="0" i="0">
                          <a:solidFill>
                            <a:srgbClr val="1F2937"/>
                          </a:solidFill>
                          <a:latin typeface="Arial"/>
                        </a:rPr>
                        <a:t>Irregular headways cut boardings: DBARS will report schedule adherence and ETA confidence</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noFill/>
                  </a:tcPr>
                </a:tc>
              </a:tr>
              <a:tr h="731520">
                <a:tc>
                  <a:txBody>
                    <a:bodyPr wrap="square" anchor="t" lIns="45720" tIns="27432" rIns="45720" bIns="27432"/>
                    <a:lstStyle/>
                    <a:p>
                      <a:pPr algn="ctr"/>
                      <a:r>
                        <a:rPr sz="950" b="1" i="0">
                          <a:solidFill>
                            <a:srgbClr val="1F2937"/>
                          </a:solidFill>
                          <a:latin typeface="Arial"/>
                        </a:rPr>
                        <a:t>[10]</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solidFill>
                      <a:srgbClr val="F3F4F6"/>
                    </a:solidFill>
                  </a:tcPr>
                </a:tc>
                <a:tc>
                  <a:txBody>
                    <a:bodyPr wrap="square" anchor="t" lIns="45720" tIns="27432" rIns="45720" bIns="27432"/>
                    <a:lstStyle/>
                    <a:p>
                      <a:pPr algn="l"/>
                      <a:r>
                        <a:rPr sz="950" b="1" i="0">
                          <a:solidFill>
                            <a:srgbClr val="1F2937"/>
                          </a:solidFill>
                          <a:latin typeface="Arial"/>
                        </a:rPr>
                        <a:t>A review of bus arrival time prediction using artificial intelligence</a:t>
                      </a:r>
                      <a:endParaRPr sz="950"/>
                    </a:p>
                    <a:p>
                      <a:pPr algn="l"/>
                      <a:r>
                        <a:rPr sz="950" b="0" i="0">
                          <a:solidFill>
                            <a:srgbClr val="1F2937"/>
                          </a:solidFill>
                          <a:latin typeface="Arial"/>
                        </a:rPr>
                        <a:t>Singh &amp; Kumar, WIREs Data Mining and Knowledge Discovery, 2022</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solidFill>
                      <a:srgbClr val="F3F4F6"/>
                    </a:solidFill>
                  </a:tcPr>
                </a:tc>
                <a:tc>
                  <a:txBody>
                    <a:bodyPr wrap="square" anchor="t" lIns="45720" tIns="27432" rIns="45720" bIns="27432"/>
                    <a:lstStyle/>
                    <a:p>
                      <a:pPr algn="l"/>
                      <a:r>
                        <a:rPr sz="950" b="0" i="0">
                          <a:solidFill>
                            <a:srgbClr val="1F2937"/>
                          </a:solidFill>
                          <a:latin typeface="Arial"/>
                        </a:rPr>
                        <a:t>Systematic review of AI-based arrival-time prediction models</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solidFill>
                      <a:srgbClr val="F3F4F6"/>
                    </a:solidFill>
                  </a:tcPr>
                </a:tc>
                <a:tc>
                  <a:txBody>
                    <a:bodyPr wrap="square" anchor="t" lIns="45720" tIns="27432" rIns="45720" bIns="27432"/>
                    <a:lstStyle/>
                    <a:p>
                      <a:pPr algn="l"/>
                      <a:r>
                        <a:rPr sz="950" b="0" i="0">
                          <a:solidFill>
                            <a:srgbClr val="1F2937"/>
                          </a:solidFill>
                          <a:latin typeface="Arial"/>
                        </a:rPr>
                        <a:t>Review of published studies</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solidFill>
                      <a:srgbClr val="F3F4F6"/>
                    </a:solidFill>
                  </a:tcPr>
                </a:tc>
                <a:tc>
                  <a:txBody>
                    <a:bodyPr wrap="square" anchor="t" lIns="45720" tIns="27432" rIns="45720" bIns="27432"/>
                    <a:lstStyle/>
                    <a:p>
                      <a:pPr algn="l"/>
                      <a:r>
                        <a:rPr sz="950" b="0" i="0">
                          <a:solidFill>
                            <a:srgbClr val="1F2937"/>
                          </a:solidFill>
                          <a:latin typeface="Arial"/>
                        </a:rPr>
                        <a:t>Identifies research gaps and future directions; review only</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solidFill>
                      <a:srgbClr val="F3F4F6"/>
                    </a:solidFill>
                  </a:tcPr>
                </a:tc>
                <a:tc>
                  <a:txBody>
                    <a:bodyPr wrap="square" anchor="t" lIns="45720" tIns="27432" rIns="45720" bIns="27432"/>
                    <a:lstStyle/>
                    <a:p>
                      <a:pPr algn="l"/>
                      <a:r>
                        <a:rPr sz="950" b="0" i="0">
                          <a:solidFill>
                            <a:srgbClr val="1F2937"/>
                          </a:solidFill>
                          <a:latin typeface="Arial"/>
                        </a:rPr>
                        <a:t>Where no live feed is connected, DBARS will fall back to route-following ETA and flag it as an estimate</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solidFill>
                      <a:srgbClr val="F3F4F6"/>
                    </a:solidFill>
                  </a:tcPr>
                </a:tc>
              </a:tr>
              <a:tr h="731520">
                <a:tc>
                  <a:txBody>
                    <a:bodyPr wrap="square" anchor="t" lIns="45720" tIns="27432" rIns="45720" bIns="27432"/>
                    <a:lstStyle/>
                    <a:p>
                      <a:pPr algn="ctr"/>
                      <a:r>
                        <a:rPr sz="950" b="1" i="0">
                          <a:solidFill>
                            <a:srgbClr val="1F2937"/>
                          </a:solidFill>
                          <a:latin typeface="Arial"/>
                        </a:rPr>
                        <a:t>[11]</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t" lIns="45720" tIns="27432" rIns="45720" bIns="27432"/>
                    <a:lstStyle/>
                    <a:p>
                      <a:pPr algn="l"/>
                      <a:r>
                        <a:rPr sz="950" b="1" i="0">
                          <a:solidFill>
                            <a:srgbClr val="1F2937"/>
                          </a:solidFill>
                          <a:latin typeface="Arial"/>
                        </a:rPr>
                        <a:t>Survey of hallucination in natural language generation</a:t>
                      </a:r>
                      <a:endParaRPr sz="950"/>
                    </a:p>
                    <a:p>
                      <a:pPr algn="l"/>
                      <a:r>
                        <a:rPr sz="950" b="0" i="0">
                          <a:solidFill>
                            <a:srgbClr val="1F2937"/>
                          </a:solidFill>
                          <a:latin typeface="Arial"/>
                        </a:rPr>
                        <a:t>Ji et al., ACM Computing Surveys, 2023</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t" lIns="45720" tIns="27432" rIns="45720" bIns="27432"/>
                    <a:lstStyle/>
                    <a:p>
                      <a:pPr algn="l"/>
                      <a:r>
                        <a:rPr sz="950" b="0" i="0">
                          <a:solidFill>
                            <a:srgbClr val="1F2937"/>
                          </a:solidFill>
                          <a:latin typeface="Arial"/>
                        </a:rPr>
                        <a:t>Survey of hallucination metrics and mitigation across NLG tasks</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t" lIns="45720" tIns="27432" rIns="45720" bIns="27432"/>
                    <a:lstStyle/>
                    <a:p>
                      <a:pPr algn="l"/>
                      <a:r>
                        <a:rPr sz="950" b="0" i="0">
                          <a:solidFill>
                            <a:srgbClr val="1F2937"/>
                          </a:solidFill>
                          <a:latin typeface="Arial"/>
                        </a:rPr>
                        <a:t>Survey (summarisation, dialogue, QA, and more)</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t" lIns="45720" tIns="27432" rIns="45720" bIns="27432"/>
                    <a:lstStyle/>
                    <a:p>
                      <a:pPr algn="l"/>
                      <a:r>
                        <a:rPr sz="950" b="0" i="0">
                          <a:solidFill>
                            <a:srgbClr val="1F2937"/>
                          </a:solidFill>
                          <a:latin typeface="Arial"/>
                        </a:rPr>
                        <a:t>General NLG; not specific to transport or operations assistants</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t" lIns="45720" tIns="27432" rIns="45720" bIns="27432"/>
                    <a:lstStyle/>
                    <a:p>
                      <a:pPr algn="l"/>
                      <a:r>
                        <a:rPr sz="950" b="0" i="0">
                          <a:solidFill>
                            <a:srgbClr val="1F2937"/>
                          </a:solidFill>
                          <a:latin typeface="Arial"/>
                        </a:rPr>
                        <a:t>Motivates a read-only DBARS assistant that answers from retrieved evidence with citations</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noFill/>
                  </a:tcPr>
                </a:tc>
              </a:tr>
              <a:tr h="731520">
                <a:tc>
                  <a:txBody>
                    <a:bodyPr wrap="square" anchor="t" lIns="45720" tIns="27432" rIns="45720" bIns="27432"/>
                    <a:lstStyle/>
                    <a:p>
                      <a:pPr algn="ctr"/>
                      <a:r>
                        <a:rPr sz="950" b="1" i="0">
                          <a:solidFill>
                            <a:srgbClr val="1F2937"/>
                          </a:solidFill>
                          <a:latin typeface="Arial"/>
                        </a:rPr>
                        <a:t>[12]</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solidFill>
                      <a:srgbClr val="F3F4F6"/>
                    </a:solidFill>
                  </a:tcPr>
                </a:tc>
                <a:tc>
                  <a:txBody>
                    <a:bodyPr wrap="square" anchor="t" lIns="45720" tIns="27432" rIns="45720" bIns="27432"/>
                    <a:lstStyle/>
                    <a:p>
                      <a:pPr algn="l"/>
                      <a:r>
                        <a:rPr sz="950" b="1" i="0">
                          <a:solidFill>
                            <a:srgbClr val="1F2937"/>
                          </a:solidFill>
                          <a:latin typeface="Arial"/>
                        </a:rPr>
                        <a:t>Gender, welfare, and mobility: impact of the Shakti scheme on BMTC (report)</a:t>
                      </a:r>
                      <a:endParaRPr sz="950"/>
                    </a:p>
                    <a:p>
                      <a:pPr algn="l"/>
                      <a:r>
                        <a:rPr sz="950" b="0" i="0">
                          <a:solidFill>
                            <a:srgbClr val="1F2937"/>
                          </a:solidFill>
                          <a:latin typeface="Arial"/>
                        </a:rPr>
                        <a:t>Halder &amp; Jayadev, Azim Premji University, 2025</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solidFill>
                      <a:srgbClr val="F3F4F6"/>
                    </a:solidFill>
                  </a:tcPr>
                </a:tc>
                <a:tc>
                  <a:txBody>
                    <a:bodyPr wrap="square" anchor="t" lIns="45720" tIns="27432" rIns="45720" bIns="27432"/>
                    <a:lstStyle/>
                    <a:p>
                      <a:pPr algn="l"/>
                      <a:r>
                        <a:rPr sz="950" b="0" i="0">
                          <a:solidFill>
                            <a:srgbClr val="1F2937"/>
                          </a:solidFill>
                          <a:latin typeface="Arial"/>
                        </a:rPr>
                        <a:t>Pre/post analysis of the scheme over 27 months (Jan 2023 to Mar 2025)</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solidFill>
                      <a:srgbClr val="F3F4F6"/>
                    </a:solidFill>
                  </a:tcPr>
                </a:tc>
                <a:tc>
                  <a:txBody>
                    <a:bodyPr wrap="square" anchor="t" lIns="45720" tIns="27432" rIns="45720" bIns="27432"/>
                    <a:lstStyle/>
                    <a:p>
                      <a:pPr algn="l"/>
                      <a:r>
                        <a:rPr sz="950" b="0" i="0">
                          <a:solidFill>
                            <a:srgbClr val="1F2937"/>
                          </a:solidFill>
                          <a:latin typeface="Arial"/>
                        </a:rPr>
                        <a:t>BMTC ridership: 28.9 million trips</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solidFill>
                      <a:srgbClr val="F3F4F6"/>
                    </a:solidFill>
                  </a:tcPr>
                </a:tc>
                <a:tc>
                  <a:txBody>
                    <a:bodyPr wrap="square" anchor="t" lIns="45720" tIns="27432" rIns="45720" bIns="27432"/>
                    <a:lstStyle/>
                    <a:p>
                      <a:pPr algn="l"/>
                      <a:r>
                        <a:rPr sz="950" b="0" i="0">
                          <a:solidFill>
                            <a:srgbClr val="1F2937"/>
                          </a:solidFill>
                          <a:latin typeface="Arial"/>
                        </a:rPr>
                        <a:t>BMTC only; ridership focus, no operator tooling</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solidFill>
                      <a:srgbClr val="F3F4F6"/>
                    </a:solidFill>
                  </a:tcPr>
                </a:tc>
                <a:tc>
                  <a:txBody>
                    <a:bodyPr wrap="square" anchor="t" lIns="45720" tIns="27432" rIns="45720" bIns="27432"/>
                    <a:lstStyle/>
                    <a:p>
                      <a:pPr algn="l"/>
                      <a:r>
                        <a:rPr sz="950" b="0" i="0">
                          <a:solidFill>
                            <a:srgbClr val="1F2937"/>
                          </a:solidFill>
                          <a:latin typeface="Arial"/>
                        </a:rPr>
                        <a:t>Free rides must still be counted: DBARS will store fare value and fare collected separately</a:t>
                      </a:r>
                      <a:endParaRPr sz="950"/>
                    </a:p>
                  </a:txBody>
                  <a:tcPr marL="45720" marT="27432" marR="45720" marB="27432" anchor="t">
                    <a:lnL w="9525">
                      <a:solidFill>
                        <a:srgbClr val="D1D5DB"/>
                      </a:solidFill>
                    </a:lnL>
                    <a:lnR w="9525">
                      <a:solidFill>
                        <a:srgbClr val="D1D5DB"/>
                      </a:solidFill>
                    </a:lnR>
                    <a:lnT w="9525">
                      <a:solidFill>
                        <a:srgbClr val="D1D5DB"/>
                      </a:solidFill>
                    </a:lnT>
                    <a:lnB w="9525">
                      <a:solidFill>
                        <a:srgbClr val="D1D5DB"/>
                      </a:solidFill>
                    </a:lnB>
                    <a:solidFill>
                      <a:srgbClr val="F3F4F6"/>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19456"/>
            <a:ext cx="8988552" cy="603504"/>
          </a:xfrm>
        </p:spPr>
        <p:txBody>
          <a:bodyPr anchor="ctr" wrap="square"/>
          <a:lstStyle/>
          <a:p>
            <a:pPr algn="ctr"/>
            <a:r>
              <a:rPr sz="2800" b="1" i="0">
                <a:solidFill>
                  <a:srgbClr val="FF0000"/>
                </a:solidFill>
                <a:latin typeface="Arial"/>
              </a:rPr>
              <a:t>Literature Survey: Gaps in Existing Work</a:t>
            </a:r>
          </a:p>
        </p:txBody>
      </p:sp>
      <p:sp>
        <p:nvSpPr>
          <p:cNvPr id="3" name="Rounded Rectangle 2"/>
          <p:cNvSpPr/>
          <p:nvPr/>
        </p:nvSpPr>
        <p:spPr>
          <a:xfrm>
            <a:off x="457200" y="914400"/>
            <a:ext cx="8988552" cy="969264"/>
          </a:xfrm>
          <a:prstGeom prst="roundRect">
            <a:avLst>
              <a:gd name="adj" fmla="val 6000"/>
            </a:avLst>
          </a:prstGeom>
          <a:solidFill>
            <a:srgbClr val="F3F4F6"/>
          </a:solidFill>
          <a:ln>
            <a:noFill/>
          </a:ln>
          <a:effectLst/>
        </p:spPr>
        <p:txBody>
          <a:bodyPr rtlCol="0" anchor="ctr"/>
          <a:lstStyle/>
          <a:p>
            <a:pPr algn="ctr"/>
          </a:p>
        </p:txBody>
      </p:sp>
      <p:sp>
        <p:nvSpPr>
          <p:cNvPr id="4" name="Rounded Rectangle 3"/>
          <p:cNvSpPr/>
          <p:nvPr/>
        </p:nvSpPr>
        <p:spPr>
          <a:xfrm>
            <a:off x="566928" y="1097280"/>
            <a:ext cx="640080" cy="603504"/>
          </a:xfrm>
          <a:prstGeom prst="roundRect">
            <a:avLst>
              <a:gd name="adj" fmla="val 15000"/>
            </a:avLst>
          </a:prstGeom>
          <a:solidFill>
            <a:srgbClr val="C00000"/>
          </a:solidFill>
          <a:ln>
            <a:noFill/>
          </a:ln>
          <a:effectLst/>
        </p:spPr>
        <p:txBody>
          <a:bodyPr rtlCol="0" anchor="ctr" wrap="square" lIns="0" tIns="0" rIns="0" bIns="0"/>
          <a:lstStyle/>
          <a:p>
            <a:pPr algn="ctr"/>
            <a:r>
              <a:rPr sz="1600" b="1" i="0">
                <a:solidFill>
                  <a:srgbClr val="FFFFFF"/>
                </a:solidFill>
                <a:latin typeface="Arial"/>
              </a:rPr>
              <a:t>G1</a:t>
            </a:r>
            <a:endParaRPr sz="1600"/>
          </a:p>
        </p:txBody>
      </p:sp>
      <p:sp>
        <p:nvSpPr>
          <p:cNvPr id="5" name="TextBox 4"/>
          <p:cNvSpPr txBox="1"/>
          <p:nvPr/>
        </p:nvSpPr>
        <p:spPr>
          <a:xfrm>
            <a:off x="1371600" y="960120"/>
            <a:ext cx="7955279" cy="310896"/>
          </a:xfrm>
          <a:prstGeom prst="rect">
            <a:avLst/>
          </a:prstGeom>
          <a:noFill/>
        </p:spPr>
        <p:txBody>
          <a:bodyPr wrap="square" anchor="ctr" lIns="73152" rIns="73152"/>
          <a:lstStyle/>
          <a:p>
            <a:pPr algn="l"/>
            <a:r>
              <a:rPr sz="1400" b="1" i="0">
                <a:solidFill>
                  <a:srgbClr val="C00000"/>
                </a:solidFill>
                <a:latin typeface="Arial"/>
              </a:rPr>
              <a:t>Passenger and operator sides are studied separately</a:t>
            </a:r>
            <a:endParaRPr sz="1400"/>
          </a:p>
        </p:txBody>
      </p:sp>
      <p:sp>
        <p:nvSpPr>
          <p:cNvPr id="6" name="TextBox 5"/>
          <p:cNvSpPr txBox="1"/>
          <p:nvPr/>
        </p:nvSpPr>
        <p:spPr>
          <a:xfrm>
            <a:off x="1371600" y="1280160"/>
            <a:ext cx="7955279" cy="585216"/>
          </a:xfrm>
          <a:prstGeom prst="rect">
            <a:avLst/>
          </a:prstGeom>
          <a:noFill/>
        </p:spPr>
        <p:txBody>
          <a:bodyPr wrap="square" anchor="t" lIns="73152" rIns="73152"/>
          <a:lstStyle/>
          <a:p>
            <a:pPr algn="l"/>
            <a:r>
              <a:rPr sz="1200" b="0" i="0">
                <a:solidFill>
                  <a:srgbClr val="1F2937"/>
                </a:solidFill>
                <a:latin typeface="Arial"/>
              </a:rPr>
              <a:t>Journey-planning work optimises the rider's trip [1]; scheduling work optimises buses or crews [4-7]. None of the surveyed papers derives a commuter search, a fleet size and a crew roster from one dataset.</a:t>
            </a:r>
            <a:endParaRPr sz="1200"/>
          </a:p>
        </p:txBody>
      </p:sp>
      <p:sp>
        <p:nvSpPr>
          <p:cNvPr id="7" name="Rounded Rectangle 6"/>
          <p:cNvSpPr/>
          <p:nvPr/>
        </p:nvSpPr>
        <p:spPr>
          <a:xfrm>
            <a:off x="457200" y="1975104"/>
            <a:ext cx="8988552" cy="969264"/>
          </a:xfrm>
          <a:prstGeom prst="roundRect">
            <a:avLst>
              <a:gd name="adj" fmla="val 6000"/>
            </a:avLst>
          </a:prstGeom>
          <a:solidFill>
            <a:srgbClr val="F3F4F6"/>
          </a:solidFill>
          <a:ln>
            <a:noFill/>
          </a:ln>
          <a:effectLst/>
        </p:spPr>
        <p:txBody>
          <a:bodyPr rtlCol="0" anchor="ctr"/>
          <a:lstStyle/>
          <a:p>
            <a:pPr algn="ctr"/>
          </a:p>
        </p:txBody>
      </p:sp>
      <p:sp>
        <p:nvSpPr>
          <p:cNvPr id="8" name="Rounded Rectangle 7"/>
          <p:cNvSpPr/>
          <p:nvPr/>
        </p:nvSpPr>
        <p:spPr>
          <a:xfrm>
            <a:off x="566928" y="2157984"/>
            <a:ext cx="640080" cy="603504"/>
          </a:xfrm>
          <a:prstGeom prst="roundRect">
            <a:avLst>
              <a:gd name="adj" fmla="val 15000"/>
            </a:avLst>
          </a:prstGeom>
          <a:solidFill>
            <a:srgbClr val="C00000"/>
          </a:solidFill>
          <a:ln>
            <a:noFill/>
          </a:ln>
          <a:effectLst/>
        </p:spPr>
        <p:txBody>
          <a:bodyPr rtlCol="0" anchor="ctr" wrap="square" lIns="0" tIns="0" rIns="0" bIns="0"/>
          <a:lstStyle/>
          <a:p>
            <a:pPr algn="ctr"/>
            <a:r>
              <a:rPr sz="1600" b="1" i="0">
                <a:solidFill>
                  <a:srgbClr val="FFFFFF"/>
                </a:solidFill>
                <a:latin typeface="Arial"/>
              </a:rPr>
              <a:t>G2</a:t>
            </a:r>
            <a:endParaRPr sz="1600"/>
          </a:p>
        </p:txBody>
      </p:sp>
      <p:sp>
        <p:nvSpPr>
          <p:cNvPr id="9" name="TextBox 8"/>
          <p:cNvSpPr txBox="1"/>
          <p:nvPr/>
        </p:nvSpPr>
        <p:spPr>
          <a:xfrm>
            <a:off x="1371600" y="2020824"/>
            <a:ext cx="7955279" cy="310896"/>
          </a:xfrm>
          <a:prstGeom prst="rect">
            <a:avLst/>
          </a:prstGeom>
          <a:noFill/>
        </p:spPr>
        <p:txBody>
          <a:bodyPr wrap="square" anchor="ctr" lIns="73152" rIns="73152"/>
          <a:lstStyle/>
          <a:p>
            <a:pPr algn="l"/>
            <a:r>
              <a:rPr sz="1400" b="1" i="0">
                <a:solidFill>
                  <a:srgbClr val="C00000"/>
                </a:solidFill>
                <a:latin typeface="Arial"/>
              </a:rPr>
              <a:t>Scheduling methods are validated on small instances</a:t>
            </a:r>
            <a:endParaRPr sz="1400"/>
          </a:p>
        </p:txBody>
      </p:sp>
      <p:sp>
        <p:nvSpPr>
          <p:cNvPr id="10" name="TextBox 9"/>
          <p:cNvSpPr txBox="1"/>
          <p:nvPr/>
        </p:nvSpPr>
        <p:spPr>
          <a:xfrm>
            <a:off x="1371600" y="2340864"/>
            <a:ext cx="7955279" cy="585216"/>
          </a:xfrm>
          <a:prstGeom prst="rect">
            <a:avLst/>
          </a:prstGeom>
          <a:noFill/>
        </p:spPr>
        <p:txBody>
          <a:bodyPr wrap="square" anchor="t" lIns="73152" rIns="73152"/>
          <a:lstStyle/>
          <a:p>
            <a:pPr algn="l"/>
            <a:r>
              <a:rPr sz="1200" b="0" i="0">
                <a:solidFill>
                  <a:srgbClr val="1F2937"/>
                </a:solidFill>
                <a:latin typeface="Arial"/>
              </a:rPr>
              <a:t>Reported tests: six bus lines [4], up to 30 trips [5], 42 to 595 shifts [6], 200 to 400 trips [7]. A full metropolitan timetable (6,737 route-directions, 44 depots) is not covered.</a:t>
            </a:r>
            <a:endParaRPr sz="1200"/>
          </a:p>
        </p:txBody>
      </p:sp>
      <p:sp>
        <p:nvSpPr>
          <p:cNvPr id="11" name="Rounded Rectangle 10"/>
          <p:cNvSpPr/>
          <p:nvPr/>
        </p:nvSpPr>
        <p:spPr>
          <a:xfrm>
            <a:off x="457200" y="3035808"/>
            <a:ext cx="8988552" cy="969264"/>
          </a:xfrm>
          <a:prstGeom prst="roundRect">
            <a:avLst>
              <a:gd name="adj" fmla="val 6000"/>
            </a:avLst>
          </a:prstGeom>
          <a:solidFill>
            <a:srgbClr val="F3F4F6"/>
          </a:solidFill>
          <a:ln>
            <a:noFill/>
          </a:ln>
          <a:effectLst/>
        </p:spPr>
        <p:txBody>
          <a:bodyPr rtlCol="0" anchor="ctr"/>
          <a:lstStyle/>
          <a:p>
            <a:pPr algn="ctr"/>
          </a:p>
        </p:txBody>
      </p:sp>
      <p:sp>
        <p:nvSpPr>
          <p:cNvPr id="12" name="Rounded Rectangle 11"/>
          <p:cNvSpPr/>
          <p:nvPr/>
        </p:nvSpPr>
        <p:spPr>
          <a:xfrm>
            <a:off x="566928" y="3218688"/>
            <a:ext cx="640080" cy="603504"/>
          </a:xfrm>
          <a:prstGeom prst="roundRect">
            <a:avLst>
              <a:gd name="adj" fmla="val 15000"/>
            </a:avLst>
          </a:prstGeom>
          <a:solidFill>
            <a:srgbClr val="C00000"/>
          </a:solidFill>
          <a:ln>
            <a:noFill/>
          </a:ln>
          <a:effectLst/>
        </p:spPr>
        <p:txBody>
          <a:bodyPr rtlCol="0" anchor="ctr" wrap="square" lIns="0" tIns="0" rIns="0" bIns="0"/>
          <a:lstStyle/>
          <a:p>
            <a:pPr algn="ctr"/>
            <a:r>
              <a:rPr sz="1600" b="1" i="0">
                <a:solidFill>
                  <a:srgbClr val="FFFFFF"/>
                </a:solidFill>
                <a:latin typeface="Arial"/>
              </a:rPr>
              <a:t>G3</a:t>
            </a:r>
            <a:endParaRPr sz="1600"/>
          </a:p>
        </p:txBody>
      </p:sp>
      <p:sp>
        <p:nvSpPr>
          <p:cNvPr id="13" name="TextBox 12"/>
          <p:cNvSpPr txBox="1"/>
          <p:nvPr/>
        </p:nvSpPr>
        <p:spPr>
          <a:xfrm>
            <a:off x="1371600" y="3081528"/>
            <a:ext cx="7955279" cy="310896"/>
          </a:xfrm>
          <a:prstGeom prst="rect">
            <a:avLst/>
          </a:prstGeom>
          <a:noFill/>
        </p:spPr>
        <p:txBody>
          <a:bodyPr wrap="square" anchor="ctr" lIns="73152" rIns="73152"/>
          <a:lstStyle/>
          <a:p>
            <a:pPr algn="l"/>
            <a:r>
              <a:rPr sz="1400" b="1" i="0">
                <a:solidFill>
                  <a:srgbClr val="C00000"/>
                </a:solidFill>
                <a:latin typeface="Arial"/>
              </a:rPr>
              <a:t>Open-data work stops at static schedules</a:t>
            </a:r>
            <a:endParaRPr sz="1400"/>
          </a:p>
        </p:txBody>
      </p:sp>
      <p:sp>
        <p:nvSpPr>
          <p:cNvPr id="14" name="TextBox 13"/>
          <p:cNvSpPr txBox="1"/>
          <p:nvPr/>
        </p:nvSpPr>
        <p:spPr>
          <a:xfrm>
            <a:off x="1371600" y="3401568"/>
            <a:ext cx="7955279" cy="585216"/>
          </a:xfrm>
          <a:prstGeom prst="rect">
            <a:avLst/>
          </a:prstGeom>
          <a:noFill/>
        </p:spPr>
        <p:txBody>
          <a:bodyPr wrap="square" anchor="t" lIns="73152" rIns="73152"/>
          <a:lstStyle/>
          <a:p>
            <a:pPr algn="l"/>
            <a:r>
              <a:rPr sz="1200" b="0" i="0">
                <a:solidFill>
                  <a:srgbClr val="1F2937"/>
                </a:solidFill>
                <a:latin typeface="Arial"/>
              </a:rPr>
              <a:t>GTFS studies [2, 3] analyse static feeds, and [3] notes the lack of real-time data. A feed that also carries service alerts and clearly labels estimated or simulated values is still needed.</a:t>
            </a:r>
            <a:endParaRPr sz="1200"/>
          </a:p>
        </p:txBody>
      </p:sp>
      <p:sp>
        <p:nvSpPr>
          <p:cNvPr id="15" name="Rounded Rectangle 14"/>
          <p:cNvSpPr/>
          <p:nvPr/>
        </p:nvSpPr>
        <p:spPr>
          <a:xfrm>
            <a:off x="457200" y="4096512"/>
            <a:ext cx="8988552" cy="969264"/>
          </a:xfrm>
          <a:prstGeom prst="roundRect">
            <a:avLst>
              <a:gd name="adj" fmla="val 6000"/>
            </a:avLst>
          </a:prstGeom>
          <a:solidFill>
            <a:srgbClr val="F3F4F6"/>
          </a:solidFill>
          <a:ln>
            <a:noFill/>
          </a:ln>
          <a:effectLst/>
        </p:spPr>
        <p:txBody>
          <a:bodyPr rtlCol="0" anchor="ctr"/>
          <a:lstStyle/>
          <a:p>
            <a:pPr algn="ctr"/>
          </a:p>
        </p:txBody>
      </p:sp>
      <p:sp>
        <p:nvSpPr>
          <p:cNvPr id="16" name="Rounded Rectangle 15"/>
          <p:cNvSpPr/>
          <p:nvPr/>
        </p:nvSpPr>
        <p:spPr>
          <a:xfrm>
            <a:off x="566928" y="4279392"/>
            <a:ext cx="640080" cy="603504"/>
          </a:xfrm>
          <a:prstGeom prst="roundRect">
            <a:avLst>
              <a:gd name="adj" fmla="val 15000"/>
            </a:avLst>
          </a:prstGeom>
          <a:solidFill>
            <a:srgbClr val="C00000"/>
          </a:solidFill>
          <a:ln>
            <a:noFill/>
          </a:ln>
          <a:effectLst/>
        </p:spPr>
        <p:txBody>
          <a:bodyPr rtlCol="0" anchor="ctr" wrap="square" lIns="0" tIns="0" rIns="0" bIns="0"/>
          <a:lstStyle/>
          <a:p>
            <a:pPr algn="ctr"/>
            <a:r>
              <a:rPr sz="1600" b="1" i="0">
                <a:solidFill>
                  <a:srgbClr val="FFFFFF"/>
                </a:solidFill>
                <a:latin typeface="Arial"/>
              </a:rPr>
              <a:t>G4</a:t>
            </a:r>
            <a:endParaRPr sz="1600"/>
          </a:p>
        </p:txBody>
      </p:sp>
      <p:sp>
        <p:nvSpPr>
          <p:cNvPr id="17" name="TextBox 16"/>
          <p:cNvSpPr txBox="1"/>
          <p:nvPr/>
        </p:nvSpPr>
        <p:spPr>
          <a:xfrm>
            <a:off x="1371600" y="4142232"/>
            <a:ext cx="7955279" cy="310896"/>
          </a:xfrm>
          <a:prstGeom prst="rect">
            <a:avLst/>
          </a:prstGeom>
          <a:noFill/>
        </p:spPr>
        <p:txBody>
          <a:bodyPr wrap="square" anchor="ctr" lIns="73152" rIns="73152"/>
          <a:lstStyle/>
          <a:p>
            <a:pPr algn="l"/>
            <a:r>
              <a:rPr sz="1400" b="1" i="0">
                <a:solidFill>
                  <a:srgbClr val="C00000"/>
                </a:solidFill>
                <a:latin typeface="Arial"/>
              </a:rPr>
              <a:t>Demand knowledge does not reach dispatch decisions</a:t>
            </a:r>
            <a:endParaRPr sz="1400"/>
          </a:p>
        </p:txBody>
      </p:sp>
      <p:sp>
        <p:nvSpPr>
          <p:cNvPr id="18" name="TextBox 17"/>
          <p:cNvSpPr txBox="1"/>
          <p:nvPr/>
        </p:nvSpPr>
        <p:spPr>
          <a:xfrm>
            <a:off x="1371600" y="4462272"/>
            <a:ext cx="7955279" cy="585216"/>
          </a:xfrm>
          <a:prstGeom prst="rect">
            <a:avLst/>
          </a:prstGeom>
          <a:noFill/>
        </p:spPr>
        <p:txBody>
          <a:bodyPr wrap="square" anchor="t" lIns="73152" rIns="73152"/>
          <a:lstStyle/>
          <a:p>
            <a:pPr algn="l"/>
            <a:r>
              <a:rPr sz="1200" b="0" i="0">
                <a:solidFill>
                  <a:srgbClr val="1F2937"/>
                </a:solidFill>
                <a:latin typeface="Arial"/>
              </a:rPr>
              <a:t>BMTC demand studies [8, 9] are offline statistical models. No surveyed work lets commuters express unmet demand and turns it into ranked recommendations for a depot manager.</a:t>
            </a:r>
            <a:endParaRPr sz="1200"/>
          </a:p>
        </p:txBody>
      </p:sp>
      <p:sp>
        <p:nvSpPr>
          <p:cNvPr id="19" name="Rounded Rectangle 18"/>
          <p:cNvSpPr/>
          <p:nvPr/>
        </p:nvSpPr>
        <p:spPr>
          <a:xfrm>
            <a:off x="457200" y="5175504"/>
            <a:ext cx="8988552" cy="658368"/>
          </a:xfrm>
          <a:prstGeom prst="roundRect">
            <a:avLst>
              <a:gd name="adj" fmla="val 10000"/>
            </a:avLst>
          </a:prstGeom>
          <a:solidFill>
            <a:srgbClr val="1F2937"/>
          </a:solidFill>
          <a:ln>
            <a:noFill/>
          </a:ln>
          <a:effectLst/>
        </p:spPr>
        <p:txBody>
          <a:bodyPr rtlCol="0" anchor="ctr" wrap="square" lIns="228600" rIns="228600"/>
          <a:lstStyle/>
          <a:p>
            <a:pPr algn="l"/>
            <a:r>
              <a:rPr sz="1300" b="1" i="0">
                <a:solidFill>
                  <a:srgbClr val="FFC9C9"/>
                </a:solidFill>
                <a:latin typeface="Arial"/>
              </a:rPr>
              <a:t>Bridge to our project: </a:t>
            </a:r>
            <a:r>
              <a:rPr sz="1300" b="0" i="0">
                <a:solidFill>
                  <a:srgbClr val="FFFFFF"/>
                </a:solidFill>
                <a:latin typeface="Arial"/>
              </a:rPr>
              <a:t>DBARS will answer both sides of the same question from one BMTC dataset, publish it as GTFS, and close the loop from commuter demand to depot dispatch.</a:t>
            </a:r>
            <a:endParaRPr sz="130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19456"/>
            <a:ext cx="8988552" cy="603504"/>
          </a:xfrm>
        </p:spPr>
        <p:txBody>
          <a:bodyPr anchor="ctr" wrap="square"/>
          <a:lstStyle/>
          <a:p>
            <a:pPr algn="ctr"/>
            <a:r>
              <a:rPr sz="2800" b="1" i="0">
                <a:solidFill>
                  <a:srgbClr val="FF0000"/>
                </a:solidFill>
                <a:latin typeface="Arial"/>
              </a:rPr>
              <a:t>Proposed Work / Problem Statement</a:t>
            </a:r>
          </a:p>
        </p:txBody>
      </p:sp>
      <p:sp>
        <p:nvSpPr>
          <p:cNvPr id="3" name="Rounded Rectangle 2"/>
          <p:cNvSpPr/>
          <p:nvPr/>
        </p:nvSpPr>
        <p:spPr>
          <a:xfrm>
            <a:off x="457200" y="914400"/>
            <a:ext cx="8988552" cy="2011680"/>
          </a:xfrm>
          <a:prstGeom prst="roundRect">
            <a:avLst>
              <a:gd name="adj" fmla="val 5000"/>
            </a:avLst>
          </a:prstGeom>
          <a:solidFill>
            <a:srgbClr val="E6F4EA"/>
          </a:solidFill>
          <a:ln>
            <a:noFill/>
          </a:ln>
          <a:effectLst/>
        </p:spPr>
        <p:txBody>
          <a:bodyPr rtlCol="0" anchor="ctr" wrap="square" lIns="274320" tIns="91440" rIns="274320" bIns="91440"/>
          <a:lstStyle/>
          <a:p>
            <a:pPr algn="l">
              <a:spcAft>
                <a:spcPts val="600"/>
              </a:spcAft>
            </a:pPr>
            <a:r>
              <a:rPr sz="1400" b="0" i="0">
                <a:solidFill>
                  <a:srgbClr val="1F2937"/>
                </a:solidFill>
                <a:latin typeface="Arial"/>
              </a:rPr>
              <a:t>Bengaluru's bus network, with 3,940 bus numbers serving 4,883 stops, is hard to navigate, and the software around it mostly solves one side of the problem. Commuter apps say which bus to catch, but none of the apps we reviewed links a commuter's need to the number of buses and crew a timetable requires.</a:t>
            </a:r>
            <a:endParaRPr sz="1400"/>
          </a:p>
          <a:p>
            <a:pPr algn="l"/>
            <a:r>
              <a:rPr sz="1400" b="0" i="0">
                <a:solidFill>
                  <a:srgbClr val="1F2937"/>
                </a:solidFill>
                <a:latin typeface="Arial"/>
              </a:rPr>
              <a:t>There is therefore a need for one data-driven platform that answers both sides from a single BMTC dataset: journey search with transfers, minimum fleet and crew planning, demand-to-dispatch feedback and open GTFS data, while stating clearly what is modelled and what is measured.</a:t>
            </a:r>
            <a:endParaRPr sz="1400"/>
          </a:p>
        </p:txBody>
      </p:sp>
      <p:sp>
        <p:nvSpPr>
          <p:cNvPr id="4" name="Rounded Rectangle 3"/>
          <p:cNvSpPr/>
          <p:nvPr/>
        </p:nvSpPr>
        <p:spPr>
          <a:xfrm>
            <a:off x="457200" y="3108960"/>
            <a:ext cx="2916936" cy="2011680"/>
          </a:xfrm>
          <a:prstGeom prst="roundRect">
            <a:avLst>
              <a:gd name="adj" fmla="val 6000"/>
            </a:avLst>
          </a:prstGeom>
          <a:solidFill>
            <a:srgbClr val="F3F4F6"/>
          </a:solidFill>
          <a:ln>
            <a:noFill/>
          </a:ln>
          <a:effectLst/>
        </p:spPr>
        <p:txBody>
          <a:bodyPr rtlCol="0" anchor="ctr"/>
          <a:lstStyle/>
          <a:p>
            <a:pPr algn="ctr"/>
          </a:p>
        </p:txBody>
      </p:sp>
      <p:sp>
        <p:nvSpPr>
          <p:cNvPr id="5" name="Oval 4"/>
          <p:cNvSpPr/>
          <p:nvPr/>
        </p:nvSpPr>
        <p:spPr>
          <a:xfrm>
            <a:off x="621792" y="3255264"/>
            <a:ext cx="365760" cy="365760"/>
          </a:xfrm>
          <a:prstGeom prst="ellipse">
            <a:avLst/>
          </a:prstGeom>
          <a:solidFill>
            <a:srgbClr val="C00000"/>
          </a:solidFill>
          <a:ln>
            <a:noFill/>
          </a:ln>
          <a:effectLst/>
        </p:spPr>
        <p:txBody>
          <a:bodyPr rtlCol="0" anchor="ctr" wrap="none" lIns="0" tIns="0" rIns="0" bIns="0"/>
          <a:lstStyle/>
          <a:p>
            <a:pPr algn="ctr"/>
            <a:r>
              <a:rPr sz="1300" b="1" i="0">
                <a:solidFill>
                  <a:srgbClr val="FFFFFF"/>
                </a:solidFill>
                <a:latin typeface="Arial"/>
              </a:rPr>
              <a:t>1</a:t>
            </a:r>
            <a:endParaRPr sz="1300"/>
          </a:p>
        </p:txBody>
      </p:sp>
      <p:sp>
        <p:nvSpPr>
          <p:cNvPr id="6" name="TextBox 5"/>
          <p:cNvSpPr txBox="1"/>
          <p:nvPr/>
        </p:nvSpPr>
        <p:spPr>
          <a:xfrm>
            <a:off x="1097280" y="3255264"/>
            <a:ext cx="2185415" cy="365760"/>
          </a:xfrm>
          <a:prstGeom prst="rect">
            <a:avLst/>
          </a:prstGeom>
          <a:noFill/>
        </p:spPr>
        <p:txBody>
          <a:bodyPr wrap="square" anchor="ctr" lIns="73152" rIns="73152"/>
          <a:lstStyle/>
          <a:p>
            <a:pPr algn="l"/>
            <a:r>
              <a:rPr sz="1500" b="1" i="0">
                <a:solidFill>
                  <a:srgbClr val="C00000"/>
                </a:solidFill>
                <a:latin typeface="Arial"/>
              </a:rPr>
              <a:t>Commuters</a:t>
            </a:r>
            <a:endParaRPr sz="1500"/>
          </a:p>
        </p:txBody>
      </p:sp>
      <p:sp>
        <p:nvSpPr>
          <p:cNvPr id="7" name="TextBox 6"/>
          <p:cNvSpPr txBox="1"/>
          <p:nvPr/>
        </p:nvSpPr>
        <p:spPr>
          <a:xfrm>
            <a:off x="594360" y="3749039"/>
            <a:ext cx="2642616" cy="1325880"/>
          </a:xfrm>
          <a:prstGeom prst="rect">
            <a:avLst/>
          </a:prstGeom>
          <a:noFill/>
        </p:spPr>
        <p:txBody>
          <a:bodyPr wrap="square" anchor="t" lIns="73152" rIns="73152"/>
          <a:lstStyle/>
          <a:p>
            <a:pPr algn="l"/>
            <a:r>
              <a:rPr sz="1300" b="0" i="0">
                <a:solidFill>
                  <a:srgbClr val="1F2937"/>
                </a:solidFill>
                <a:latin typeface="Arial"/>
              </a:rPr>
              <a:t>Which of 3,940 buses goes from A to B, especially when a change is needed, and where do they want more service?</a:t>
            </a:r>
            <a:endParaRPr sz="1300"/>
          </a:p>
        </p:txBody>
      </p:sp>
      <p:sp>
        <p:nvSpPr>
          <p:cNvPr id="8" name="Rounded Rectangle 7"/>
          <p:cNvSpPr/>
          <p:nvPr/>
        </p:nvSpPr>
        <p:spPr>
          <a:xfrm>
            <a:off x="3493008" y="3108960"/>
            <a:ext cx="2916936" cy="2011680"/>
          </a:xfrm>
          <a:prstGeom prst="roundRect">
            <a:avLst>
              <a:gd name="adj" fmla="val 6000"/>
            </a:avLst>
          </a:prstGeom>
          <a:solidFill>
            <a:srgbClr val="F3F4F6"/>
          </a:solidFill>
          <a:ln>
            <a:noFill/>
          </a:ln>
          <a:effectLst/>
        </p:spPr>
        <p:txBody>
          <a:bodyPr rtlCol="0" anchor="ctr"/>
          <a:lstStyle/>
          <a:p>
            <a:pPr algn="ctr"/>
          </a:p>
        </p:txBody>
      </p:sp>
      <p:sp>
        <p:nvSpPr>
          <p:cNvPr id="9" name="Oval 8"/>
          <p:cNvSpPr/>
          <p:nvPr/>
        </p:nvSpPr>
        <p:spPr>
          <a:xfrm>
            <a:off x="3657600" y="3255264"/>
            <a:ext cx="365760" cy="365760"/>
          </a:xfrm>
          <a:prstGeom prst="ellipse">
            <a:avLst/>
          </a:prstGeom>
          <a:solidFill>
            <a:srgbClr val="C00000"/>
          </a:solidFill>
          <a:ln>
            <a:noFill/>
          </a:ln>
          <a:effectLst/>
        </p:spPr>
        <p:txBody>
          <a:bodyPr rtlCol="0" anchor="ctr" wrap="none" lIns="0" tIns="0" rIns="0" bIns="0"/>
          <a:lstStyle/>
          <a:p>
            <a:pPr algn="ctr"/>
            <a:r>
              <a:rPr sz="1300" b="1" i="0">
                <a:solidFill>
                  <a:srgbClr val="FFFFFF"/>
                </a:solidFill>
                <a:latin typeface="Arial"/>
              </a:rPr>
              <a:t>2</a:t>
            </a:r>
            <a:endParaRPr sz="1300"/>
          </a:p>
        </p:txBody>
      </p:sp>
      <p:sp>
        <p:nvSpPr>
          <p:cNvPr id="10" name="TextBox 9"/>
          <p:cNvSpPr txBox="1"/>
          <p:nvPr/>
        </p:nvSpPr>
        <p:spPr>
          <a:xfrm>
            <a:off x="4133087" y="3255264"/>
            <a:ext cx="2185415" cy="365760"/>
          </a:xfrm>
          <a:prstGeom prst="rect">
            <a:avLst/>
          </a:prstGeom>
          <a:noFill/>
        </p:spPr>
        <p:txBody>
          <a:bodyPr wrap="square" anchor="ctr" lIns="73152" rIns="73152"/>
          <a:lstStyle/>
          <a:p>
            <a:pPr algn="l"/>
            <a:r>
              <a:rPr sz="1500" b="1" i="0">
                <a:solidFill>
                  <a:srgbClr val="C00000"/>
                </a:solidFill>
                <a:latin typeface="Arial"/>
              </a:rPr>
              <a:t>Operator</a:t>
            </a:r>
            <a:endParaRPr sz="1500"/>
          </a:p>
        </p:txBody>
      </p:sp>
      <p:sp>
        <p:nvSpPr>
          <p:cNvPr id="11" name="TextBox 10"/>
          <p:cNvSpPr txBox="1"/>
          <p:nvPr/>
        </p:nvSpPr>
        <p:spPr>
          <a:xfrm>
            <a:off x="3630168" y="3749039"/>
            <a:ext cx="2642616" cy="1325880"/>
          </a:xfrm>
          <a:prstGeom prst="rect">
            <a:avLst/>
          </a:prstGeom>
          <a:noFill/>
        </p:spPr>
        <p:txBody>
          <a:bodyPr wrap="square" anchor="t" lIns="73152" rIns="73152"/>
          <a:lstStyle/>
          <a:p>
            <a:pPr algn="l"/>
            <a:r>
              <a:rPr sz="1300" b="0" i="0">
                <a:solidFill>
                  <a:srgbClr val="1F2937"/>
                </a:solidFill>
                <a:latin typeface="Arial"/>
              </a:rPr>
              <a:t>How many buses, empty kilometres and crew duties does this timetable really need?</a:t>
            </a:r>
            <a:endParaRPr sz="1300"/>
          </a:p>
        </p:txBody>
      </p:sp>
      <p:sp>
        <p:nvSpPr>
          <p:cNvPr id="12" name="Rounded Rectangle 11"/>
          <p:cNvSpPr/>
          <p:nvPr/>
        </p:nvSpPr>
        <p:spPr>
          <a:xfrm>
            <a:off x="6528816" y="3108960"/>
            <a:ext cx="2916936" cy="2011680"/>
          </a:xfrm>
          <a:prstGeom prst="roundRect">
            <a:avLst>
              <a:gd name="adj" fmla="val 6000"/>
            </a:avLst>
          </a:prstGeom>
          <a:solidFill>
            <a:srgbClr val="F3F4F6"/>
          </a:solidFill>
          <a:ln>
            <a:noFill/>
          </a:ln>
          <a:effectLst/>
        </p:spPr>
        <p:txBody>
          <a:bodyPr rtlCol="0" anchor="ctr"/>
          <a:lstStyle/>
          <a:p>
            <a:pPr algn="ctr"/>
          </a:p>
        </p:txBody>
      </p:sp>
      <p:sp>
        <p:nvSpPr>
          <p:cNvPr id="13" name="Oval 12"/>
          <p:cNvSpPr/>
          <p:nvPr/>
        </p:nvSpPr>
        <p:spPr>
          <a:xfrm>
            <a:off x="6693407" y="3255264"/>
            <a:ext cx="365760" cy="365760"/>
          </a:xfrm>
          <a:prstGeom prst="ellipse">
            <a:avLst/>
          </a:prstGeom>
          <a:solidFill>
            <a:srgbClr val="C00000"/>
          </a:solidFill>
          <a:ln>
            <a:noFill/>
          </a:ln>
          <a:effectLst/>
        </p:spPr>
        <p:txBody>
          <a:bodyPr rtlCol="0" anchor="ctr" wrap="none" lIns="0" tIns="0" rIns="0" bIns="0"/>
          <a:lstStyle/>
          <a:p>
            <a:pPr algn="ctr"/>
            <a:r>
              <a:rPr sz="1300" b="1" i="0">
                <a:solidFill>
                  <a:srgbClr val="FFFFFF"/>
                </a:solidFill>
                <a:latin typeface="Arial"/>
              </a:rPr>
              <a:t>3</a:t>
            </a:r>
            <a:endParaRPr sz="1300"/>
          </a:p>
        </p:txBody>
      </p:sp>
      <p:sp>
        <p:nvSpPr>
          <p:cNvPr id="14" name="TextBox 13"/>
          <p:cNvSpPr txBox="1"/>
          <p:nvPr/>
        </p:nvSpPr>
        <p:spPr>
          <a:xfrm>
            <a:off x="7168896" y="3255264"/>
            <a:ext cx="2185415" cy="365760"/>
          </a:xfrm>
          <a:prstGeom prst="rect">
            <a:avLst/>
          </a:prstGeom>
          <a:noFill/>
        </p:spPr>
        <p:txBody>
          <a:bodyPr wrap="square" anchor="ctr" lIns="73152" rIns="73152"/>
          <a:lstStyle/>
          <a:p>
            <a:pPr algn="l"/>
            <a:r>
              <a:rPr sz="1500" b="1" i="0">
                <a:solidFill>
                  <a:srgbClr val="C00000"/>
                </a:solidFill>
                <a:latin typeface="Arial"/>
              </a:rPr>
              <a:t>Ecosystem</a:t>
            </a:r>
            <a:endParaRPr sz="1500"/>
          </a:p>
        </p:txBody>
      </p:sp>
      <p:sp>
        <p:nvSpPr>
          <p:cNvPr id="15" name="TextBox 14"/>
          <p:cNvSpPr txBox="1"/>
          <p:nvPr/>
        </p:nvSpPr>
        <p:spPr>
          <a:xfrm>
            <a:off x="6665976" y="3749039"/>
            <a:ext cx="2642616" cy="1325880"/>
          </a:xfrm>
          <a:prstGeom prst="rect">
            <a:avLst/>
          </a:prstGeom>
          <a:noFill/>
        </p:spPr>
        <p:txBody>
          <a:bodyPr wrap="square" anchor="t" lIns="73152" rIns="73152"/>
          <a:lstStyle/>
          <a:p>
            <a:pPr algn="l"/>
            <a:r>
              <a:rPr sz="1300" b="0" i="0">
                <a:solidFill>
                  <a:srgbClr val="1F2937"/>
                </a:solidFill>
                <a:latin typeface="Arial"/>
              </a:rPr>
              <a:t>The public BMTC feed listing is a static schedule [18]. Alerts and clearly labelled live-versus-estimated data are still needed.</a:t>
            </a:r>
            <a:endParaRPr sz="1300"/>
          </a:p>
        </p:txBody>
      </p:sp>
      <p:sp>
        <p:nvSpPr>
          <p:cNvPr id="16" name="Rounded Rectangle 15"/>
          <p:cNvSpPr/>
          <p:nvPr/>
        </p:nvSpPr>
        <p:spPr>
          <a:xfrm>
            <a:off x="457200" y="5303520"/>
            <a:ext cx="8988552" cy="914400"/>
          </a:xfrm>
          <a:prstGeom prst="roundRect">
            <a:avLst>
              <a:gd name="adj" fmla="val 8000"/>
            </a:avLst>
          </a:prstGeom>
          <a:solidFill>
            <a:srgbClr val="FFFFFF"/>
          </a:solidFill>
          <a:ln w="15875">
            <a:solidFill>
              <a:srgbClr val="C00000"/>
            </a:solidFill>
          </a:ln>
          <a:effectLst/>
        </p:spPr>
        <p:txBody>
          <a:bodyPr rtlCol="0" anchor="ctr" wrap="square" lIns="228600" rIns="228600"/>
          <a:lstStyle/>
          <a:p>
            <a:pPr algn="l"/>
            <a:r>
              <a:rPr sz="1300" b="1" i="0">
                <a:solidFill>
                  <a:srgbClr val="C00000"/>
                </a:solidFill>
                <a:latin typeface="Arial"/>
              </a:rPr>
              <a:t>Title expanded: </a:t>
            </a:r>
            <a:r>
              <a:rPr sz="1300" b="0" i="0">
                <a:solidFill>
                  <a:srgbClr val="1F2937"/>
                </a:solidFill>
                <a:latin typeface="Arial"/>
              </a:rPr>
              <a:t>Demand Based Bus Allocation = commuter demand becomes an operator decision. Routing System = the journey planner based on the same data.</a:t>
            </a:r>
            <a:endParaRPr sz="130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19456"/>
            <a:ext cx="8988552" cy="603504"/>
          </a:xfrm>
        </p:spPr>
        <p:txBody>
          <a:bodyPr anchor="ctr" wrap="square"/>
          <a:lstStyle/>
          <a:p>
            <a:pPr algn="ctr"/>
            <a:r>
              <a:rPr sz="2800" b="1" i="0">
                <a:solidFill>
                  <a:srgbClr val="FF0000"/>
                </a:solidFill>
                <a:latin typeface="Arial"/>
              </a:rPr>
              <a:t>Objectives</a:t>
            </a:r>
          </a:p>
        </p:txBody>
      </p:sp>
      <p:sp>
        <p:nvSpPr>
          <p:cNvPr id="3" name="Rounded Rectangle 2"/>
          <p:cNvSpPr/>
          <p:nvPr/>
        </p:nvSpPr>
        <p:spPr>
          <a:xfrm>
            <a:off x="457200" y="914400"/>
            <a:ext cx="8988552" cy="1261872"/>
          </a:xfrm>
          <a:prstGeom prst="roundRect">
            <a:avLst>
              <a:gd name="adj" fmla="val 5000"/>
            </a:avLst>
          </a:prstGeom>
          <a:solidFill>
            <a:srgbClr val="F3F4F6"/>
          </a:solidFill>
          <a:ln>
            <a:noFill/>
          </a:ln>
          <a:effectLst/>
        </p:spPr>
        <p:txBody>
          <a:bodyPr rtlCol="0" anchor="ctr"/>
          <a:lstStyle/>
          <a:p>
            <a:pPr algn="ctr"/>
          </a:p>
        </p:txBody>
      </p:sp>
      <p:sp>
        <p:nvSpPr>
          <p:cNvPr id="4" name="Oval 3"/>
          <p:cNvSpPr/>
          <p:nvPr/>
        </p:nvSpPr>
        <p:spPr>
          <a:xfrm>
            <a:off x="594360" y="1042416"/>
            <a:ext cx="457200" cy="457200"/>
          </a:xfrm>
          <a:prstGeom prst="ellipse">
            <a:avLst/>
          </a:prstGeom>
          <a:solidFill>
            <a:srgbClr val="C00000"/>
          </a:solidFill>
          <a:ln>
            <a:noFill/>
          </a:ln>
          <a:effectLst/>
        </p:spPr>
        <p:txBody>
          <a:bodyPr rtlCol="0" anchor="ctr" wrap="none" lIns="0" tIns="0" rIns="0" bIns="0"/>
          <a:lstStyle/>
          <a:p>
            <a:pPr algn="ctr"/>
            <a:r>
              <a:rPr sz="1600" b="1" i="0">
                <a:solidFill>
                  <a:srgbClr val="FFFFFF"/>
                </a:solidFill>
                <a:latin typeface="Arial"/>
              </a:rPr>
              <a:t>1</a:t>
            </a:r>
            <a:endParaRPr sz="1600"/>
          </a:p>
        </p:txBody>
      </p:sp>
      <p:sp>
        <p:nvSpPr>
          <p:cNvPr id="5" name="TextBox 4"/>
          <p:cNvSpPr txBox="1"/>
          <p:nvPr/>
        </p:nvSpPr>
        <p:spPr>
          <a:xfrm>
            <a:off x="1234440" y="987552"/>
            <a:ext cx="8092440" cy="603504"/>
          </a:xfrm>
          <a:prstGeom prst="rect">
            <a:avLst/>
          </a:prstGeom>
          <a:noFill/>
        </p:spPr>
        <p:txBody>
          <a:bodyPr wrap="square" anchor="ctr" lIns="73152" rIns="73152"/>
          <a:lstStyle/>
          <a:p>
            <a:pPr algn="l"/>
            <a:r>
              <a:rPr sz="1400" b="1" i="0">
                <a:solidFill>
                  <a:srgbClr val="C00000"/>
                </a:solidFill>
                <a:latin typeface="Arial"/>
              </a:rPr>
              <a:t>To develop </a:t>
            </a:r>
            <a:r>
              <a:rPr sz="1400" b="0" i="0">
                <a:solidFill>
                  <a:srgbClr val="1F2937"/>
                </a:solidFill>
                <a:latin typeface="Arial"/>
              </a:rPr>
              <a:t>a journey planner for direct, one-change and two-change bus journeys between any two of 4,883 stops.</a:t>
            </a:r>
            <a:endParaRPr sz="1400"/>
          </a:p>
        </p:txBody>
      </p:sp>
      <p:sp>
        <p:nvSpPr>
          <p:cNvPr id="6" name="TextBox 5"/>
          <p:cNvSpPr txBox="1"/>
          <p:nvPr/>
        </p:nvSpPr>
        <p:spPr>
          <a:xfrm>
            <a:off x="1234440" y="1591056"/>
            <a:ext cx="8092440" cy="566928"/>
          </a:xfrm>
          <a:prstGeom prst="rect">
            <a:avLst/>
          </a:prstGeom>
          <a:noFill/>
        </p:spPr>
        <p:txBody>
          <a:bodyPr wrap="square" anchor="t" lIns="73152" rIns="73152"/>
          <a:lstStyle/>
          <a:p>
            <a:pPr algn="l"/>
            <a:r>
              <a:rPr sz="1150" b="0" i="1">
                <a:solidFill>
                  <a:srgbClr val="4B5563"/>
                </a:solidFill>
                <a:latin typeface="Arial"/>
              </a:rPr>
              <a:t>Success target: best option ranked first in at least 70% of test pairs; within 2 stops of the best in at least 92%; search under 1.6 s (p90).</a:t>
            </a:r>
            <a:endParaRPr sz="1150"/>
          </a:p>
        </p:txBody>
      </p:sp>
      <p:sp>
        <p:nvSpPr>
          <p:cNvPr id="7" name="Rounded Rectangle 6"/>
          <p:cNvSpPr/>
          <p:nvPr/>
        </p:nvSpPr>
        <p:spPr>
          <a:xfrm>
            <a:off x="457200" y="2258568"/>
            <a:ext cx="8988552" cy="1261872"/>
          </a:xfrm>
          <a:prstGeom prst="roundRect">
            <a:avLst>
              <a:gd name="adj" fmla="val 5000"/>
            </a:avLst>
          </a:prstGeom>
          <a:solidFill>
            <a:srgbClr val="F3F4F6"/>
          </a:solidFill>
          <a:ln>
            <a:noFill/>
          </a:ln>
          <a:effectLst/>
        </p:spPr>
        <p:txBody>
          <a:bodyPr rtlCol="0" anchor="ctr"/>
          <a:lstStyle/>
          <a:p>
            <a:pPr algn="ctr"/>
          </a:p>
        </p:txBody>
      </p:sp>
      <p:sp>
        <p:nvSpPr>
          <p:cNvPr id="8" name="Oval 7"/>
          <p:cNvSpPr/>
          <p:nvPr/>
        </p:nvSpPr>
        <p:spPr>
          <a:xfrm>
            <a:off x="594360" y="2386584"/>
            <a:ext cx="457200" cy="457200"/>
          </a:xfrm>
          <a:prstGeom prst="ellipse">
            <a:avLst/>
          </a:prstGeom>
          <a:solidFill>
            <a:srgbClr val="C00000"/>
          </a:solidFill>
          <a:ln>
            <a:noFill/>
          </a:ln>
          <a:effectLst/>
        </p:spPr>
        <p:txBody>
          <a:bodyPr rtlCol="0" anchor="ctr" wrap="none" lIns="0" tIns="0" rIns="0" bIns="0"/>
          <a:lstStyle/>
          <a:p>
            <a:pPr algn="ctr"/>
            <a:r>
              <a:rPr sz="1600" b="1" i="0">
                <a:solidFill>
                  <a:srgbClr val="FFFFFF"/>
                </a:solidFill>
                <a:latin typeface="Arial"/>
              </a:rPr>
              <a:t>2</a:t>
            </a:r>
            <a:endParaRPr sz="1600"/>
          </a:p>
        </p:txBody>
      </p:sp>
      <p:sp>
        <p:nvSpPr>
          <p:cNvPr id="9" name="TextBox 8"/>
          <p:cNvSpPr txBox="1"/>
          <p:nvPr/>
        </p:nvSpPr>
        <p:spPr>
          <a:xfrm>
            <a:off x="1234440" y="2331720"/>
            <a:ext cx="8092440" cy="603504"/>
          </a:xfrm>
          <a:prstGeom prst="rect">
            <a:avLst/>
          </a:prstGeom>
          <a:noFill/>
        </p:spPr>
        <p:txBody>
          <a:bodyPr wrap="square" anchor="ctr" lIns="73152" rIns="73152"/>
          <a:lstStyle/>
          <a:p>
            <a:pPr algn="l"/>
            <a:r>
              <a:rPr sz="1400" b="1" i="0">
                <a:solidFill>
                  <a:srgbClr val="C00000"/>
                </a:solidFill>
                <a:latin typeface="Arial"/>
              </a:rPr>
              <a:t>To establish </a:t>
            </a:r>
            <a:r>
              <a:rPr sz="1400" b="0" i="0">
                <a:solidFill>
                  <a:srgbClr val="1F2937"/>
                </a:solidFill>
                <a:latin typeface="Arial"/>
              </a:rPr>
              <a:t>an operations planner that computes the minimum fleet, dead kilometres and crew duties a timetable needs.</a:t>
            </a:r>
            <a:endParaRPr sz="1400"/>
          </a:p>
        </p:txBody>
      </p:sp>
      <p:sp>
        <p:nvSpPr>
          <p:cNvPr id="10" name="TextBox 9"/>
          <p:cNvSpPr txBox="1"/>
          <p:nvPr/>
        </p:nvSpPr>
        <p:spPr>
          <a:xfrm>
            <a:off x="1234440" y="2935224"/>
            <a:ext cx="8092440" cy="566928"/>
          </a:xfrm>
          <a:prstGeom prst="rect">
            <a:avLst/>
          </a:prstGeom>
          <a:noFill/>
        </p:spPr>
        <p:txBody>
          <a:bodyPr wrap="square" anchor="t" lIns="73152" rIns="73152"/>
          <a:lstStyle/>
          <a:p>
            <a:pPr algn="l"/>
            <a:r>
              <a:rPr sz="1150" b="0" i="1">
                <a:solidFill>
                  <a:srgbClr val="4B5563"/>
                </a:solidFill>
                <a:latin typeface="Arial"/>
              </a:rPr>
              <a:t>Success target: fleet size reported with a provable lower bound; crew duties cut under legal limits; assumptions shown with every result.</a:t>
            </a:r>
            <a:endParaRPr sz="1150"/>
          </a:p>
        </p:txBody>
      </p:sp>
      <p:sp>
        <p:nvSpPr>
          <p:cNvPr id="11" name="Rounded Rectangle 10"/>
          <p:cNvSpPr/>
          <p:nvPr/>
        </p:nvSpPr>
        <p:spPr>
          <a:xfrm>
            <a:off x="457200" y="3602735"/>
            <a:ext cx="8988552" cy="1261872"/>
          </a:xfrm>
          <a:prstGeom prst="roundRect">
            <a:avLst>
              <a:gd name="adj" fmla="val 5000"/>
            </a:avLst>
          </a:prstGeom>
          <a:solidFill>
            <a:srgbClr val="F3F4F6"/>
          </a:solidFill>
          <a:ln>
            <a:noFill/>
          </a:ln>
          <a:effectLst/>
        </p:spPr>
        <p:txBody>
          <a:bodyPr rtlCol="0" anchor="ctr"/>
          <a:lstStyle/>
          <a:p>
            <a:pPr algn="ctr"/>
          </a:p>
        </p:txBody>
      </p:sp>
      <p:sp>
        <p:nvSpPr>
          <p:cNvPr id="12" name="Oval 11"/>
          <p:cNvSpPr/>
          <p:nvPr/>
        </p:nvSpPr>
        <p:spPr>
          <a:xfrm>
            <a:off x="594360" y="3730751"/>
            <a:ext cx="457200" cy="457200"/>
          </a:xfrm>
          <a:prstGeom prst="ellipse">
            <a:avLst/>
          </a:prstGeom>
          <a:solidFill>
            <a:srgbClr val="C00000"/>
          </a:solidFill>
          <a:ln>
            <a:noFill/>
          </a:ln>
          <a:effectLst/>
        </p:spPr>
        <p:txBody>
          <a:bodyPr rtlCol="0" anchor="ctr" wrap="none" lIns="0" tIns="0" rIns="0" bIns="0"/>
          <a:lstStyle/>
          <a:p>
            <a:pPr algn="ctr"/>
            <a:r>
              <a:rPr sz="1600" b="1" i="0">
                <a:solidFill>
                  <a:srgbClr val="FFFFFF"/>
                </a:solidFill>
                <a:latin typeface="Arial"/>
              </a:rPr>
              <a:t>3</a:t>
            </a:r>
            <a:endParaRPr sz="1600"/>
          </a:p>
        </p:txBody>
      </p:sp>
      <p:sp>
        <p:nvSpPr>
          <p:cNvPr id="13" name="TextBox 12"/>
          <p:cNvSpPr txBox="1"/>
          <p:nvPr/>
        </p:nvSpPr>
        <p:spPr>
          <a:xfrm>
            <a:off x="1234440" y="3675887"/>
            <a:ext cx="8092440" cy="603504"/>
          </a:xfrm>
          <a:prstGeom prst="rect">
            <a:avLst/>
          </a:prstGeom>
          <a:noFill/>
        </p:spPr>
        <p:txBody>
          <a:bodyPr wrap="square" anchor="ctr" lIns="73152" rIns="73152"/>
          <a:lstStyle/>
          <a:p>
            <a:pPr algn="l"/>
            <a:r>
              <a:rPr sz="1400" b="1" i="0">
                <a:solidFill>
                  <a:srgbClr val="C00000"/>
                </a:solidFill>
                <a:latin typeface="Arial"/>
              </a:rPr>
              <a:t>To analyse </a:t>
            </a:r>
            <a:r>
              <a:rPr sz="1400" b="0" i="0">
                <a:solidFill>
                  <a:srgbClr val="1F2937"/>
                </a:solidFill>
                <a:latin typeface="Arial"/>
              </a:rPr>
              <a:t>commuter demand and turn it into action: fraud-checked votes become ranked depot dispatch recommendations, with e-tickets, Shakti and cash tracked correctly.</a:t>
            </a:r>
            <a:endParaRPr sz="1400"/>
          </a:p>
        </p:txBody>
      </p:sp>
      <p:sp>
        <p:nvSpPr>
          <p:cNvPr id="14" name="TextBox 13"/>
          <p:cNvSpPr txBox="1"/>
          <p:nvPr/>
        </p:nvSpPr>
        <p:spPr>
          <a:xfrm>
            <a:off x="1234440" y="4279392"/>
            <a:ext cx="8092440" cy="566928"/>
          </a:xfrm>
          <a:prstGeom prst="rect">
            <a:avLst/>
          </a:prstGeom>
          <a:noFill/>
        </p:spPr>
        <p:txBody>
          <a:bodyPr wrap="square" anchor="t" lIns="73152" rIns="73152"/>
          <a:lstStyle/>
          <a:p>
            <a:pPr algn="l"/>
            <a:r>
              <a:rPr sz="1150" b="0" i="1">
                <a:solidFill>
                  <a:srgbClr val="4B5563"/>
                </a:solidFill>
                <a:latin typeface="Arial"/>
              </a:rPr>
              <a:t>Success target: every voted pair resolves to a real bus; free rides keep their fare value; offline sales never double-count.</a:t>
            </a:r>
            <a:endParaRPr sz="1150"/>
          </a:p>
        </p:txBody>
      </p:sp>
      <p:sp>
        <p:nvSpPr>
          <p:cNvPr id="15" name="Rounded Rectangle 14"/>
          <p:cNvSpPr/>
          <p:nvPr/>
        </p:nvSpPr>
        <p:spPr>
          <a:xfrm>
            <a:off x="457200" y="4946903"/>
            <a:ext cx="8988552" cy="1261872"/>
          </a:xfrm>
          <a:prstGeom prst="roundRect">
            <a:avLst>
              <a:gd name="adj" fmla="val 5000"/>
            </a:avLst>
          </a:prstGeom>
          <a:solidFill>
            <a:srgbClr val="F3F4F6"/>
          </a:solidFill>
          <a:ln>
            <a:noFill/>
          </a:ln>
          <a:effectLst/>
        </p:spPr>
        <p:txBody>
          <a:bodyPr rtlCol="0" anchor="ctr"/>
          <a:lstStyle/>
          <a:p>
            <a:pPr algn="ctr"/>
          </a:p>
        </p:txBody>
      </p:sp>
      <p:sp>
        <p:nvSpPr>
          <p:cNvPr id="16" name="Oval 15"/>
          <p:cNvSpPr/>
          <p:nvPr/>
        </p:nvSpPr>
        <p:spPr>
          <a:xfrm>
            <a:off x="594360" y="5074919"/>
            <a:ext cx="457200" cy="457200"/>
          </a:xfrm>
          <a:prstGeom prst="ellipse">
            <a:avLst/>
          </a:prstGeom>
          <a:solidFill>
            <a:srgbClr val="C00000"/>
          </a:solidFill>
          <a:ln>
            <a:noFill/>
          </a:ln>
          <a:effectLst/>
        </p:spPr>
        <p:txBody>
          <a:bodyPr rtlCol="0" anchor="ctr" wrap="none" lIns="0" tIns="0" rIns="0" bIns="0"/>
          <a:lstStyle/>
          <a:p>
            <a:pPr algn="ctr"/>
            <a:r>
              <a:rPr sz="1600" b="1" i="0">
                <a:solidFill>
                  <a:srgbClr val="FFFFFF"/>
                </a:solidFill>
                <a:latin typeface="Arial"/>
              </a:rPr>
              <a:t>4</a:t>
            </a:r>
            <a:endParaRPr sz="1600"/>
          </a:p>
        </p:txBody>
      </p:sp>
      <p:sp>
        <p:nvSpPr>
          <p:cNvPr id="17" name="TextBox 16"/>
          <p:cNvSpPr txBox="1"/>
          <p:nvPr/>
        </p:nvSpPr>
        <p:spPr>
          <a:xfrm>
            <a:off x="1234440" y="5020055"/>
            <a:ext cx="8092440" cy="603504"/>
          </a:xfrm>
          <a:prstGeom prst="rect">
            <a:avLst/>
          </a:prstGeom>
          <a:noFill/>
        </p:spPr>
        <p:txBody>
          <a:bodyPr wrap="square" anchor="ctr" lIns="73152" rIns="73152"/>
          <a:lstStyle/>
          <a:p>
            <a:pPr algn="l"/>
            <a:r>
              <a:rPr sz="1400" b="1" i="0">
                <a:solidFill>
                  <a:srgbClr val="C00000"/>
                </a:solidFill>
                <a:latin typeface="Arial"/>
              </a:rPr>
              <a:t>To publish </a:t>
            </a:r>
            <a:r>
              <a:rPr sz="1400" b="0" i="0">
                <a:solidFill>
                  <a:srgbClr val="1F2937"/>
                </a:solidFill>
                <a:latin typeface="Arial"/>
              </a:rPr>
              <a:t>the network as open GTFS data and evaluate the whole system with honest, reproducible metrics.</a:t>
            </a:r>
            <a:endParaRPr sz="1400"/>
          </a:p>
        </p:txBody>
      </p:sp>
      <p:sp>
        <p:nvSpPr>
          <p:cNvPr id="18" name="TextBox 17"/>
          <p:cNvSpPr txBox="1"/>
          <p:nvPr/>
        </p:nvSpPr>
        <p:spPr>
          <a:xfrm>
            <a:off x="1234440" y="5623559"/>
            <a:ext cx="8092440" cy="566928"/>
          </a:xfrm>
          <a:prstGeom prst="rect">
            <a:avLst/>
          </a:prstGeom>
          <a:noFill/>
        </p:spPr>
        <p:txBody>
          <a:bodyPr wrap="square" anchor="t" lIns="73152" rIns="73152"/>
          <a:lstStyle/>
          <a:p>
            <a:pPr algn="l"/>
            <a:r>
              <a:rPr sz="1150" b="0" i="1">
                <a:solidFill>
                  <a:srgbClr val="4B5563"/>
                </a:solidFill>
                <a:latin typeface="Arial"/>
              </a:rPr>
              <a:t>Success target: valid GTFS export with estimated times flagged; automated tests and an accuracy gate that can fail, run in CI.</a:t>
            </a:r>
            <a:endParaRPr sz="115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19456"/>
            <a:ext cx="8988552" cy="603504"/>
          </a:xfrm>
        </p:spPr>
        <p:txBody>
          <a:bodyPr anchor="ctr" wrap="square"/>
          <a:lstStyle/>
          <a:p>
            <a:pPr algn="ctr"/>
            <a:r>
              <a:rPr sz="2800" b="1" i="0">
                <a:solidFill>
                  <a:srgbClr val="FF0000"/>
                </a:solidFill>
                <a:latin typeface="Arial"/>
              </a:rPr>
              <a:t>Methods / Proposed Methodology</a:t>
            </a:r>
          </a:p>
        </p:txBody>
      </p:sp>
      <p:graphicFrame>
        <p:nvGraphicFramePr>
          <p:cNvPr id="3" name="Table 2"/>
          <p:cNvGraphicFramePr>
            <a:graphicFrameLocks noGrp="1"/>
          </p:cNvGraphicFramePr>
          <p:nvPr/>
        </p:nvGraphicFramePr>
        <p:xfrm>
          <a:off x="457200" y="914400"/>
          <a:ext cx="8988552" cy="5358384"/>
        </p:xfrm>
        <a:graphic>
          <a:graphicData uri="http://schemas.openxmlformats.org/drawingml/2006/table">
            <a:tbl>
              <a:tblPr firstRow="0" bandRow="0">
                <a:tableStyleId>{2D5ABB26-0587-4C30-8999-92F81FD0307C}</a:tableStyleId>
              </a:tblPr>
              <a:tblGrid>
                <a:gridCol w="1417320"/>
                <a:gridCol w="4663440"/>
                <a:gridCol w="2907792"/>
              </a:tblGrid>
              <a:tr h="329184">
                <a:tc>
                  <a:txBody>
                    <a:bodyPr wrap="square" anchor="ctr" lIns="73152" tIns="36576" rIns="73152" bIns="36576"/>
                    <a:lstStyle/>
                    <a:p>
                      <a:pPr algn="l"/>
                      <a:r>
                        <a:rPr sz="1200" b="1" i="0">
                          <a:solidFill>
                            <a:srgbClr val="FFFFFF"/>
                          </a:solidFill>
                          <a:latin typeface="Arial"/>
                        </a:rPr>
                        <a:t>Objective</a:t>
                      </a:r>
                      <a:endParaRPr sz="1200"/>
                    </a:p>
                  </a:txBody>
                  <a:tcPr marL="73152" marT="36576" marR="73152" marB="36576"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73152" tIns="36576" rIns="73152" bIns="36576"/>
                    <a:lstStyle/>
                    <a:p>
                      <a:pPr algn="l"/>
                      <a:r>
                        <a:rPr sz="1200" b="1" i="0">
                          <a:solidFill>
                            <a:srgbClr val="FFFFFF"/>
                          </a:solidFill>
                          <a:latin typeface="Arial"/>
                        </a:rPr>
                        <a:t>How we will achieve it (method)</a:t>
                      </a:r>
                      <a:endParaRPr sz="1200"/>
                    </a:p>
                  </a:txBody>
                  <a:tcPr marL="73152" marT="36576" marR="73152" marB="36576"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73152" tIns="36576" rIns="73152" bIns="36576"/>
                    <a:lstStyle/>
                    <a:p>
                      <a:pPr algn="l"/>
                      <a:r>
                        <a:rPr sz="1200" b="1" i="0">
                          <a:solidFill>
                            <a:srgbClr val="FFFFFF"/>
                          </a:solidFill>
                          <a:latin typeface="Arial"/>
                        </a:rPr>
                        <a:t>Why this method</a:t>
                      </a:r>
                      <a:endParaRPr sz="1200"/>
                    </a:p>
                  </a:txBody>
                  <a:tcPr marL="73152" marT="36576" marR="73152" marB="36576"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r>
              <a:tr h="1371600">
                <a:tc>
                  <a:txBody>
                    <a:bodyPr wrap="square" anchor="ctr" lIns="73152" tIns="36576" rIns="73152" bIns="36576"/>
                    <a:lstStyle/>
                    <a:p>
                      <a:pPr algn="l"/>
                      <a:r>
                        <a:rPr sz="1100" b="1" i="0">
                          <a:solidFill>
                            <a:srgbClr val="C00000"/>
                          </a:solidFill>
                          <a:latin typeface="Arial"/>
                        </a:rPr>
                        <a:t>1  Journey planner</a:t>
                      </a:r>
                      <a:endParaRPr sz="1100"/>
                    </a:p>
                  </a:txBody>
                  <a:tcPr marL="73152" marT="36576" marR="73152" marB="36576"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73152" tIns="36576" rIns="73152" bIns="36576"/>
                    <a:lstStyle/>
                    <a:p>
                      <a:pPr algn="l" marL="164592" indent="-164592">
                        <a:buClr>
                          <a:srgbClr val="C00000"/>
                        </a:buClr>
                        <a:buFont typeface="Arial"/>
                        <a:buChar char="•"/>
                      </a:pPr>
                      <a:r>
                        <a:rPr sz="1100" b="0" i="0">
                          <a:solidFill>
                            <a:srgbClr val="1F2937"/>
                          </a:solidFill>
                          <a:latin typeface="Arial"/>
                        </a:rPr>
                        <a:t>Clean and alias stop names (Majestic = Kempegowda Bus Station), then fuzzy-match</a:t>
                      </a:r>
                      <a:endParaRPr sz="1100"/>
                    </a:p>
                    <a:p>
                      <a:pPr algn="l" marL="164592" indent="-164592">
                        <a:buClr>
                          <a:srgbClr val="C00000"/>
                        </a:buClr>
                        <a:buFont typeface="Arial"/>
                        <a:buChar char="•"/>
                      </a:pPr>
                      <a:r>
                        <a:rPr sz="1100" b="0" i="0">
                          <a:solidFill>
                            <a:srgbClr val="1F2937"/>
                          </a:solidFill>
                          <a:latin typeface="Arial"/>
                        </a:rPr>
                        <a:t>Ordered stop-pair index: for every route, every pair of stops (i before j)</a:t>
                      </a:r>
                      <a:endParaRPr sz="1100"/>
                    </a:p>
                    <a:p>
                      <a:pPr algn="l" marL="164592" indent="-164592">
                        <a:buClr>
                          <a:srgbClr val="C00000"/>
                        </a:buClr>
                        <a:buFont typeface="Arial"/>
                        <a:buChar char="•"/>
                      </a:pPr>
                      <a:r>
                        <a:rPr sz="1100" b="0" i="0">
                          <a:solidFill>
                            <a:srgbClr val="1F2937"/>
                          </a:solidFill>
                          <a:latin typeface="Arial"/>
                        </a:rPr>
                        <a:t>Transfers via shared stops; reject changes over 1.2 km apart; anchored stop resolution</a:t>
                      </a:r>
                      <a:endParaRPr sz="1100"/>
                    </a:p>
                    <a:p>
                      <a:pPr algn="l" marL="164592" indent="-164592">
                        <a:buClr>
                          <a:srgbClr val="C00000"/>
                        </a:buClr>
                        <a:buFont typeface="Arial"/>
                        <a:buChar char="•"/>
                      </a:pPr>
                      <a:r>
                        <a:rPr sz="1100" b="0" i="0">
                          <a:solidFill>
                            <a:srgbClr val="1F2937"/>
                          </a:solidFill>
                          <a:latin typeface="Arial"/>
                        </a:rPr>
                        <a:t>Rank by stop span, trip frequency and a span penalty</a:t>
                      </a:r>
                      <a:endParaRPr sz="1100"/>
                    </a:p>
                  </a:txBody>
                  <a:tcPr marL="73152" marT="36576" marR="73152" marB="36576"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73152" tIns="36576" rIns="73152" bIns="36576"/>
                    <a:lstStyle/>
                    <a:p>
                      <a:pPr algn="l"/>
                      <a:r>
                        <a:rPr sz="1100" b="0" i="0">
                          <a:solidFill>
                            <a:srgbClr val="1F2937"/>
                          </a:solidFill>
                          <a:latin typeface="Arial"/>
                        </a:rPr>
                        <a:t>Direction matters, so a direct trip becomes one dictionary lookup. The dataset is a route catalogue with no labels, so a search index beats a classifier.</a:t>
                      </a:r>
                      <a:endParaRPr sz="1100"/>
                    </a:p>
                  </a:txBody>
                  <a:tcPr marL="73152" marT="36576" marR="73152" marB="36576" anchor="ctr">
                    <a:lnL w="9525">
                      <a:solidFill>
                        <a:srgbClr val="D1D5DB"/>
                      </a:solidFill>
                    </a:lnL>
                    <a:lnR w="9525">
                      <a:solidFill>
                        <a:srgbClr val="D1D5DB"/>
                      </a:solidFill>
                    </a:lnR>
                    <a:lnT w="9525">
                      <a:solidFill>
                        <a:srgbClr val="D1D5DB"/>
                      </a:solidFill>
                    </a:lnT>
                    <a:lnB w="9525">
                      <a:solidFill>
                        <a:srgbClr val="D1D5DB"/>
                      </a:solidFill>
                    </a:lnB>
                    <a:noFill/>
                  </a:tcPr>
                </a:tc>
              </a:tr>
              <a:tr h="1143000">
                <a:tc>
                  <a:txBody>
                    <a:bodyPr wrap="square" anchor="ctr" lIns="73152" tIns="36576" rIns="73152" bIns="36576"/>
                    <a:lstStyle/>
                    <a:p>
                      <a:pPr algn="l"/>
                      <a:r>
                        <a:rPr sz="1100" b="1" i="0">
                          <a:solidFill>
                            <a:srgbClr val="C00000"/>
                          </a:solidFill>
                          <a:latin typeface="Arial"/>
                        </a:rPr>
                        <a:t>2  Operations planner</a:t>
                      </a:r>
                      <a:endParaRPr sz="1100"/>
                    </a:p>
                  </a:txBody>
                  <a:tcPr marL="73152" marT="36576" marR="73152" marB="36576" anchor="ctr">
                    <a:lnL w="9525">
                      <a:solidFill>
                        <a:srgbClr val="D1D5DB"/>
                      </a:solidFill>
                    </a:lnL>
                    <a:lnR w="9525">
                      <a:solidFill>
                        <a:srgbClr val="D1D5DB"/>
                      </a:solidFill>
                    </a:lnR>
                    <a:lnT w="9525">
                      <a:solidFill>
                        <a:srgbClr val="D1D5DB"/>
                      </a:solidFill>
                    </a:lnT>
                    <a:lnB w="9525">
                      <a:solidFill>
                        <a:srgbClr val="D1D5DB"/>
                      </a:solidFill>
                    </a:lnB>
                    <a:solidFill>
                      <a:srgbClr val="F3F4F6"/>
                    </a:solidFill>
                  </a:tcPr>
                </a:tc>
                <a:tc>
                  <a:txBody>
                    <a:bodyPr wrap="square" anchor="ctr" lIns="73152" tIns="36576" rIns="73152" bIns="36576"/>
                    <a:lstStyle/>
                    <a:p>
                      <a:pPr algn="l" marL="164592" indent="-164592">
                        <a:buClr>
                          <a:srgbClr val="C00000"/>
                        </a:buClr>
                        <a:buFont typeface="Arial"/>
                        <a:buChar char="•"/>
                      </a:pPr>
                      <a:r>
                        <a:rPr sz="1100" b="0" i="0">
                          <a:solidFill>
                            <a:srgbClr val="1F2937"/>
                          </a:solidFill>
                          <a:latin typeface="Arial"/>
                        </a:rPr>
                        <a:t>Vehicle blocking: greedy chaining plus a peak-concurrency lower bound</a:t>
                      </a:r>
                      <a:endParaRPr sz="1100"/>
                    </a:p>
                    <a:p>
                      <a:pPr algn="l" marL="164592" indent="-164592">
                        <a:buClr>
                          <a:srgbClr val="C00000"/>
                        </a:buClr>
                        <a:buFont typeface="Arial"/>
                        <a:buChar char="•"/>
                      </a:pPr>
                      <a:r>
                        <a:rPr sz="1100" b="0" i="0">
                          <a:solidFill>
                            <a:srgbClr val="1F2937"/>
                          </a:solidFill>
                          <a:latin typeface="Arial"/>
                        </a:rPr>
                        <a:t>Crew: dynamic programme cuts legal pieces; bounded greedy pairing</a:t>
                      </a:r>
                      <a:endParaRPr sz="1100"/>
                    </a:p>
                    <a:p>
                      <a:pPr algn="l" marL="164592" indent="-164592">
                        <a:buClr>
                          <a:srgbClr val="C00000"/>
                        </a:buClr>
                        <a:buFont typeface="Arial"/>
                        <a:buChar char="•"/>
                      </a:pPr>
                      <a:r>
                        <a:rPr sz="1100" b="0" i="0">
                          <a:solidFill>
                            <a:srgbClr val="1F2937"/>
                          </a:solidFill>
                          <a:latin typeface="Arial"/>
                        </a:rPr>
                        <a:t>Assumptions kept in parameter objects and echoed in every response</a:t>
                      </a:r>
                      <a:endParaRPr sz="1100"/>
                    </a:p>
                  </a:txBody>
                  <a:tcPr marL="73152" marT="36576" marR="73152" marB="36576" anchor="ctr">
                    <a:lnL w="9525">
                      <a:solidFill>
                        <a:srgbClr val="D1D5DB"/>
                      </a:solidFill>
                    </a:lnL>
                    <a:lnR w="9525">
                      <a:solidFill>
                        <a:srgbClr val="D1D5DB"/>
                      </a:solidFill>
                    </a:lnR>
                    <a:lnT w="9525">
                      <a:solidFill>
                        <a:srgbClr val="D1D5DB"/>
                      </a:solidFill>
                    </a:lnT>
                    <a:lnB w="9525">
                      <a:solidFill>
                        <a:srgbClr val="D1D5DB"/>
                      </a:solidFill>
                    </a:lnB>
                    <a:solidFill>
                      <a:srgbClr val="F3F4F6"/>
                    </a:solidFill>
                  </a:tcPr>
                </a:tc>
                <a:tc>
                  <a:txBody>
                    <a:bodyPr wrap="square" anchor="ctr" lIns="73152" tIns="36576" rIns="73152" bIns="36576"/>
                    <a:lstStyle/>
                    <a:p>
                      <a:pPr algn="l"/>
                      <a:r>
                        <a:rPr sz="1100" b="0" i="0">
                          <a:solidFill>
                            <a:srgbClr val="1F2937"/>
                          </a:solidFill>
                          <a:latin typeface="Arial"/>
                        </a:rPr>
                        <a:t>A hard lower bound shows whether the fleet number is provably minimal. Blocks alone are not enough: a plan is only real if crews can staff it.</a:t>
                      </a:r>
                      <a:endParaRPr sz="1100"/>
                    </a:p>
                  </a:txBody>
                  <a:tcPr marL="73152" marT="36576" marR="73152" marB="36576" anchor="ctr">
                    <a:lnL w="9525">
                      <a:solidFill>
                        <a:srgbClr val="D1D5DB"/>
                      </a:solidFill>
                    </a:lnL>
                    <a:lnR w="9525">
                      <a:solidFill>
                        <a:srgbClr val="D1D5DB"/>
                      </a:solidFill>
                    </a:lnR>
                    <a:lnT w="9525">
                      <a:solidFill>
                        <a:srgbClr val="D1D5DB"/>
                      </a:solidFill>
                    </a:lnT>
                    <a:lnB w="9525">
                      <a:solidFill>
                        <a:srgbClr val="D1D5DB"/>
                      </a:solidFill>
                    </a:lnB>
                    <a:solidFill>
                      <a:srgbClr val="F3F4F6"/>
                    </a:solidFill>
                  </a:tcPr>
                </a:tc>
              </a:tr>
              <a:tr h="1371600">
                <a:tc>
                  <a:txBody>
                    <a:bodyPr wrap="square" anchor="ctr" lIns="73152" tIns="36576" rIns="73152" bIns="36576"/>
                    <a:lstStyle/>
                    <a:p>
                      <a:pPr algn="l"/>
                      <a:r>
                        <a:rPr sz="1100" b="1" i="0">
                          <a:solidFill>
                            <a:srgbClr val="C00000"/>
                          </a:solidFill>
                          <a:latin typeface="Arial"/>
                        </a:rPr>
                        <a:t>3  Demand, tickets, money</a:t>
                      </a:r>
                      <a:endParaRPr sz="1100"/>
                    </a:p>
                  </a:txBody>
                  <a:tcPr marL="73152" marT="36576" marR="73152" marB="36576"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73152" tIns="36576" rIns="73152" bIns="36576"/>
                    <a:lstStyle/>
                    <a:p>
                      <a:pPr algn="l" marL="164592" indent="-164592">
                        <a:buClr>
                          <a:srgbClr val="C00000"/>
                        </a:buClr>
                        <a:buFont typeface="Arial"/>
                        <a:buChar char="•"/>
                      </a:pPr>
                      <a:r>
                        <a:rPr sz="1100" b="0" i="0">
                          <a:solidFill>
                            <a:srgbClr val="1F2937"/>
                          </a:solidFill>
                          <a:latin typeface="Arial"/>
                        </a:rPr>
                        <a:t>Votes will pass 4 fraud checks, be grouped by origin-destination, resolved to real buses and ranked HIGH/MEDIUM/LOW</a:t>
                      </a:r>
                      <a:endParaRPr sz="1100"/>
                    </a:p>
                    <a:p>
                      <a:pPr algn="l" marL="164592" indent="-164592">
                        <a:buClr>
                          <a:srgbClr val="C00000"/>
                        </a:buClr>
                        <a:buFont typeface="Arial"/>
                        <a:buChar char="•"/>
                      </a:pPr>
                      <a:r>
                        <a:rPr sz="1100" b="0" i="0">
                          <a:solidFill>
                            <a:srgbClr val="1F2937"/>
                          </a:solidFill>
                          <a:latin typeface="Arial"/>
                        </a:rPr>
                        <a:t>Server-side fares from the stage table; signed QR tickets; Shakti will store value and collected fare</a:t>
                      </a:r>
                      <a:endParaRPr sz="1100"/>
                    </a:p>
                    <a:p>
                      <a:pPr algn="l" marL="164592" indent="-164592">
                        <a:buClr>
                          <a:srgbClr val="C00000"/>
                        </a:buClr>
                        <a:buFont typeface="Arial"/>
                        <a:buChar char="•"/>
                      </a:pPr>
                      <a:r>
                        <a:rPr sz="1100" b="0" i="0">
                          <a:solidFill>
                            <a:srgbClr val="1F2937"/>
                          </a:solidFill>
                          <a:latin typeface="Arial"/>
                        </a:rPr>
                        <a:t>Offline sales: client UUID plus unique index gives idempotent sync</a:t>
                      </a:r>
                      <a:endParaRPr sz="1100"/>
                    </a:p>
                  </a:txBody>
                  <a:tcPr marL="73152" marT="36576" marR="73152" marB="36576"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73152" tIns="36576" rIns="73152" bIns="36576"/>
                    <a:lstStyle/>
                    <a:p>
                      <a:pPr algn="l"/>
                      <a:r>
                        <a:rPr sz="1100" b="0" i="0">
                          <a:solidFill>
                            <a:srgbClr val="1F2937"/>
                          </a:solidFill>
                          <a:latin typeface="Arial"/>
                        </a:rPr>
                        <a:t>Closes the loop from passengers to depots. Buses lose signal, so offline must be the default path and replays must never double-count revenue.</a:t>
                      </a:r>
                      <a:endParaRPr sz="1100"/>
                    </a:p>
                  </a:txBody>
                  <a:tcPr marL="73152" marT="36576" marR="73152" marB="36576" anchor="ctr">
                    <a:lnL w="9525">
                      <a:solidFill>
                        <a:srgbClr val="D1D5DB"/>
                      </a:solidFill>
                    </a:lnL>
                    <a:lnR w="9525">
                      <a:solidFill>
                        <a:srgbClr val="D1D5DB"/>
                      </a:solidFill>
                    </a:lnR>
                    <a:lnT w="9525">
                      <a:solidFill>
                        <a:srgbClr val="D1D5DB"/>
                      </a:solidFill>
                    </a:lnT>
                    <a:lnB w="9525">
                      <a:solidFill>
                        <a:srgbClr val="D1D5DB"/>
                      </a:solidFill>
                    </a:lnB>
                    <a:noFill/>
                  </a:tcPr>
                </a:tc>
              </a:tr>
              <a:tr h="1143000">
                <a:tc>
                  <a:txBody>
                    <a:bodyPr wrap="square" anchor="ctr" lIns="73152" tIns="36576" rIns="73152" bIns="36576"/>
                    <a:lstStyle/>
                    <a:p>
                      <a:pPr algn="l"/>
                      <a:r>
                        <a:rPr sz="1100" b="1" i="0">
                          <a:solidFill>
                            <a:srgbClr val="C00000"/>
                          </a:solidFill>
                          <a:latin typeface="Arial"/>
                        </a:rPr>
                        <a:t>4  Open data and evaluation</a:t>
                      </a:r>
                      <a:endParaRPr sz="1100"/>
                    </a:p>
                  </a:txBody>
                  <a:tcPr marL="73152" marT="36576" marR="73152" marB="36576" anchor="ctr">
                    <a:lnL w="9525">
                      <a:solidFill>
                        <a:srgbClr val="D1D5DB"/>
                      </a:solidFill>
                    </a:lnL>
                    <a:lnR w="9525">
                      <a:solidFill>
                        <a:srgbClr val="D1D5DB"/>
                      </a:solidFill>
                    </a:lnR>
                    <a:lnT w="9525">
                      <a:solidFill>
                        <a:srgbClr val="D1D5DB"/>
                      </a:solidFill>
                    </a:lnT>
                    <a:lnB w="9525">
                      <a:solidFill>
                        <a:srgbClr val="D1D5DB"/>
                      </a:solidFill>
                    </a:lnB>
                    <a:solidFill>
                      <a:srgbClr val="F3F4F6"/>
                    </a:solidFill>
                  </a:tcPr>
                </a:tc>
                <a:tc>
                  <a:txBody>
                    <a:bodyPr wrap="square" anchor="ctr" lIns="73152" tIns="36576" rIns="73152" bIns="36576"/>
                    <a:lstStyle/>
                    <a:p>
                      <a:pPr algn="l" marL="164592" indent="-164592">
                        <a:buClr>
                          <a:srgbClr val="C00000"/>
                        </a:buClr>
                        <a:buFont typeface="Arial"/>
                        <a:buChar char="•"/>
                      </a:pPr>
                      <a:r>
                        <a:rPr sz="1100" b="0" i="0">
                          <a:solidFill>
                            <a:srgbClr val="1F2937"/>
                          </a:solidFill>
                          <a:latin typeface="Arial"/>
                        </a:rPr>
                        <a:t>Stream stop_times into a GTFS zip; flag interpolated times; GTFS-Realtime alerts</a:t>
                      </a:r>
                      <a:endParaRPr sz="1100"/>
                    </a:p>
                    <a:p>
                      <a:pPr algn="l" marL="164592" indent="-164592">
                        <a:buClr>
                          <a:srgbClr val="C00000"/>
                        </a:buClr>
                        <a:buFont typeface="Arial"/>
                        <a:buChar char="•"/>
                      </a:pPr>
                      <a:r>
                        <a:rPr sz="1100" b="0" i="0">
                          <a:solidFill>
                            <a:srgbClr val="1F2937"/>
                          </a:solidFill>
                          <a:latin typeface="Arial"/>
                        </a:rPr>
                        <a:t>Simulated positions will carry is_live=False; the live endpoint will refuse to publish them</a:t>
                      </a:r>
                      <a:endParaRPr sz="1100"/>
                    </a:p>
                    <a:p>
                      <a:pPr algn="l" marL="164592" indent="-164592">
                        <a:buClr>
                          <a:srgbClr val="C00000"/>
                        </a:buClr>
                        <a:buFont typeface="Arial"/>
                        <a:buChar char="•"/>
                      </a:pPr>
                      <a:r>
                        <a:rPr sz="1100" b="0" i="0">
                          <a:solidFill>
                            <a:srgbClr val="1F2937"/>
                          </a:solidFill>
                          <a:latin typeface="Arial"/>
                        </a:rPr>
                        <a:t>Benchmark 4 rankers; headline metric is rank quality, not coverage</a:t>
                      </a:r>
                      <a:endParaRPr sz="1100"/>
                    </a:p>
                  </a:txBody>
                  <a:tcPr marL="73152" marT="36576" marR="73152" marB="36576" anchor="ctr">
                    <a:lnL w="9525">
                      <a:solidFill>
                        <a:srgbClr val="D1D5DB"/>
                      </a:solidFill>
                    </a:lnL>
                    <a:lnR w="9525">
                      <a:solidFill>
                        <a:srgbClr val="D1D5DB"/>
                      </a:solidFill>
                    </a:lnR>
                    <a:lnT w="9525">
                      <a:solidFill>
                        <a:srgbClr val="D1D5DB"/>
                      </a:solidFill>
                    </a:lnT>
                    <a:lnB w="9525">
                      <a:solidFill>
                        <a:srgbClr val="D1D5DB"/>
                      </a:solidFill>
                    </a:lnB>
                    <a:solidFill>
                      <a:srgbClr val="F3F4F6"/>
                    </a:solidFill>
                  </a:tcPr>
                </a:tc>
                <a:tc>
                  <a:txBody>
                    <a:bodyPr wrap="square" anchor="ctr" lIns="73152" tIns="36576" rIns="73152" bIns="36576"/>
                    <a:lstStyle/>
                    <a:p>
                      <a:pPr algn="l"/>
                      <a:r>
                        <a:rPr sz="1100" b="0" i="0">
                          <a:solidFill>
                            <a:srgbClr val="1F2937"/>
                          </a:solidFill>
                          <a:latin typeface="Arial"/>
                        </a:rPr>
                        <a:t>Standard formats let any app reuse the timetable. Honest labelling and a metric that can fail keep results defensible.</a:t>
                      </a:r>
                      <a:endParaRPr sz="1100"/>
                    </a:p>
                  </a:txBody>
                  <a:tcPr marL="73152" marT="36576" marR="73152" marB="36576" anchor="ctr">
                    <a:lnL w="9525">
                      <a:solidFill>
                        <a:srgbClr val="D1D5DB"/>
                      </a:solidFill>
                    </a:lnL>
                    <a:lnR w="9525">
                      <a:solidFill>
                        <a:srgbClr val="D1D5DB"/>
                      </a:solidFill>
                    </a:lnR>
                    <a:lnT w="9525">
                      <a:solidFill>
                        <a:srgbClr val="D1D5DB"/>
                      </a:solidFill>
                    </a:lnT>
                    <a:lnB w="9525">
                      <a:solidFill>
                        <a:srgbClr val="D1D5DB"/>
                      </a:solidFill>
                    </a:lnB>
                    <a:solidFill>
                      <a:srgbClr val="F3F4F6"/>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19456"/>
            <a:ext cx="8988552" cy="603504"/>
          </a:xfrm>
        </p:spPr>
        <p:txBody>
          <a:bodyPr anchor="ctr" wrap="square"/>
          <a:lstStyle/>
          <a:p>
            <a:pPr algn="ctr"/>
            <a:r>
              <a:rPr sz="2800" b="1" i="0">
                <a:solidFill>
                  <a:srgbClr val="FF0000"/>
                </a:solidFill>
                <a:latin typeface="Arial"/>
              </a:rPr>
              <a:t>Proposed System Architecture</a:t>
            </a:r>
          </a:p>
        </p:txBody>
      </p:sp>
      <p:sp>
        <p:nvSpPr>
          <p:cNvPr id="3" name="Rounded Rectangle 2"/>
          <p:cNvSpPr/>
          <p:nvPr/>
        </p:nvSpPr>
        <p:spPr>
          <a:xfrm>
            <a:off x="457200" y="914400"/>
            <a:ext cx="1531620" cy="365760"/>
          </a:xfrm>
          <a:prstGeom prst="roundRect">
            <a:avLst>
              <a:gd name="adj" fmla="val 30000"/>
            </a:avLst>
          </a:prstGeom>
          <a:solidFill>
            <a:srgbClr val="1F2937"/>
          </a:solidFill>
          <a:ln>
            <a:noFill/>
          </a:ln>
          <a:effectLst/>
        </p:spPr>
        <p:txBody>
          <a:bodyPr rtlCol="0" anchor="ctr" wrap="square" lIns="18288" tIns="18288" rIns="18288" bIns="18288"/>
          <a:lstStyle/>
          <a:p>
            <a:pPr algn="ctr"/>
            <a:r>
              <a:rPr sz="1100" b="1" i="0">
                <a:solidFill>
                  <a:srgbClr val="FFFFFF"/>
                </a:solidFill>
                <a:latin typeface="Arial"/>
              </a:rPr>
              <a:t>Commuter</a:t>
            </a:r>
            <a:endParaRPr sz="1100"/>
          </a:p>
        </p:txBody>
      </p:sp>
      <p:sp>
        <p:nvSpPr>
          <p:cNvPr id="4" name="Rounded Rectangle 3"/>
          <p:cNvSpPr/>
          <p:nvPr/>
        </p:nvSpPr>
        <p:spPr>
          <a:xfrm>
            <a:off x="2080260" y="914400"/>
            <a:ext cx="1531620" cy="365760"/>
          </a:xfrm>
          <a:prstGeom prst="roundRect">
            <a:avLst>
              <a:gd name="adj" fmla="val 30000"/>
            </a:avLst>
          </a:prstGeom>
          <a:solidFill>
            <a:srgbClr val="1F2937"/>
          </a:solidFill>
          <a:ln>
            <a:noFill/>
          </a:ln>
          <a:effectLst/>
        </p:spPr>
        <p:txBody>
          <a:bodyPr rtlCol="0" anchor="ctr" wrap="square" lIns="18288" tIns="18288" rIns="18288" bIns="18288"/>
          <a:lstStyle/>
          <a:p>
            <a:pPr algn="ctr"/>
            <a:r>
              <a:rPr sz="1100" b="1" i="0">
                <a:solidFill>
                  <a:srgbClr val="FFFFFF"/>
                </a:solidFill>
                <a:latin typeface="Arial"/>
              </a:rPr>
              <a:t>Conductor</a:t>
            </a:r>
            <a:endParaRPr sz="1100"/>
          </a:p>
        </p:txBody>
      </p:sp>
      <p:sp>
        <p:nvSpPr>
          <p:cNvPr id="5" name="Rounded Rectangle 4"/>
          <p:cNvSpPr/>
          <p:nvPr/>
        </p:nvSpPr>
        <p:spPr>
          <a:xfrm>
            <a:off x="3703320" y="914400"/>
            <a:ext cx="1531620" cy="365760"/>
          </a:xfrm>
          <a:prstGeom prst="roundRect">
            <a:avLst>
              <a:gd name="adj" fmla="val 30000"/>
            </a:avLst>
          </a:prstGeom>
          <a:solidFill>
            <a:srgbClr val="1F2937"/>
          </a:solidFill>
          <a:ln>
            <a:noFill/>
          </a:ln>
          <a:effectLst/>
        </p:spPr>
        <p:txBody>
          <a:bodyPr rtlCol="0" anchor="ctr" wrap="square" lIns="18288" tIns="18288" rIns="18288" bIns="18288"/>
          <a:lstStyle/>
          <a:p>
            <a:pPr algn="ctr"/>
            <a:r>
              <a:rPr sz="1100" b="1" i="0">
                <a:solidFill>
                  <a:srgbClr val="FFFFFF"/>
                </a:solidFill>
                <a:latin typeface="Arial"/>
              </a:rPr>
              <a:t>Depot manager</a:t>
            </a:r>
            <a:endParaRPr sz="1100"/>
          </a:p>
        </p:txBody>
      </p:sp>
      <p:sp>
        <p:nvSpPr>
          <p:cNvPr id="6" name="Rounded Rectangle 5"/>
          <p:cNvSpPr/>
          <p:nvPr/>
        </p:nvSpPr>
        <p:spPr>
          <a:xfrm>
            <a:off x="5326380" y="914400"/>
            <a:ext cx="1531620" cy="365760"/>
          </a:xfrm>
          <a:prstGeom prst="roundRect">
            <a:avLst>
              <a:gd name="adj" fmla="val 30000"/>
            </a:avLst>
          </a:prstGeom>
          <a:solidFill>
            <a:srgbClr val="1F2937"/>
          </a:solidFill>
          <a:ln>
            <a:noFill/>
          </a:ln>
          <a:effectLst/>
        </p:spPr>
        <p:txBody>
          <a:bodyPr rtlCol="0" anchor="ctr" wrap="square" lIns="18288" tIns="18288" rIns="18288" bIns="18288"/>
          <a:lstStyle/>
          <a:p>
            <a:pPr algn="ctr"/>
            <a:r>
              <a:rPr sz="1100" b="1" i="0">
                <a:solidFill>
                  <a:srgbClr val="FFFFFF"/>
                </a:solidFill>
                <a:latin typeface="Arial"/>
              </a:rPr>
              <a:t>Admin</a:t>
            </a:r>
            <a:endParaRPr sz="1100"/>
          </a:p>
        </p:txBody>
      </p:sp>
      <p:sp>
        <p:nvSpPr>
          <p:cNvPr id="7" name="Down Arrow 6"/>
          <p:cNvSpPr/>
          <p:nvPr/>
        </p:nvSpPr>
        <p:spPr>
          <a:xfrm>
            <a:off x="3520440" y="1298448"/>
            <a:ext cx="274320" cy="182880"/>
          </a:xfrm>
          <a:prstGeom prst="downArrow">
            <a:avLst/>
          </a:prstGeom>
          <a:solidFill>
            <a:srgbClr val="4B5563"/>
          </a:solidFill>
          <a:ln>
            <a:noFill/>
          </a:ln>
          <a:effectLst/>
        </p:spPr>
        <p:txBody>
          <a:bodyPr rtlCol="0" anchor="ctr"/>
          <a:lstStyle/>
          <a:p>
            <a:pPr algn="ctr"/>
          </a:p>
        </p:txBody>
      </p:sp>
      <p:sp>
        <p:nvSpPr>
          <p:cNvPr id="8" name="Rounded Rectangle 7"/>
          <p:cNvSpPr/>
          <p:nvPr/>
        </p:nvSpPr>
        <p:spPr>
          <a:xfrm>
            <a:off x="457200" y="1499616"/>
            <a:ext cx="6400800" cy="713232"/>
          </a:xfrm>
          <a:prstGeom prst="roundRect">
            <a:avLst>
              <a:gd name="adj" fmla="val 7000"/>
            </a:avLst>
          </a:prstGeom>
          <a:solidFill>
            <a:srgbClr val="F3F4F6"/>
          </a:solidFill>
          <a:ln>
            <a:noFill/>
          </a:ln>
          <a:effectLst/>
        </p:spPr>
        <p:txBody>
          <a:bodyPr rtlCol="0" anchor="ctr"/>
          <a:lstStyle/>
          <a:p>
            <a:pPr algn="ctr"/>
          </a:p>
        </p:txBody>
      </p:sp>
      <p:sp>
        <p:nvSpPr>
          <p:cNvPr id="9" name="TextBox 8"/>
          <p:cNvSpPr txBox="1"/>
          <p:nvPr/>
        </p:nvSpPr>
        <p:spPr>
          <a:xfrm>
            <a:off x="566928" y="1545336"/>
            <a:ext cx="6181344" cy="274320"/>
          </a:xfrm>
          <a:prstGeom prst="rect">
            <a:avLst/>
          </a:prstGeom>
          <a:noFill/>
        </p:spPr>
        <p:txBody>
          <a:bodyPr wrap="square" anchor="t" lIns="73152" rIns="73152"/>
          <a:lstStyle/>
          <a:p>
            <a:pPr algn="l"/>
            <a:r>
              <a:rPr sz="1200" b="1" i="0">
                <a:solidFill>
                  <a:srgbClr val="C00000"/>
                </a:solidFill>
                <a:latin typeface="Arial"/>
              </a:rPr>
              <a:t>Frontend: React + TypeScript web app</a:t>
            </a:r>
            <a:endParaRPr sz="1200"/>
          </a:p>
        </p:txBody>
      </p:sp>
      <p:sp>
        <p:nvSpPr>
          <p:cNvPr id="10" name="TextBox 9"/>
          <p:cNvSpPr txBox="1"/>
          <p:nvPr/>
        </p:nvSpPr>
        <p:spPr>
          <a:xfrm>
            <a:off x="566928" y="1828800"/>
            <a:ext cx="6181344" cy="347472"/>
          </a:xfrm>
          <a:prstGeom prst="rect">
            <a:avLst/>
          </a:prstGeom>
          <a:noFill/>
        </p:spPr>
        <p:txBody>
          <a:bodyPr wrap="square" anchor="t" lIns="73152" rIns="73152"/>
          <a:lstStyle/>
          <a:p>
            <a:pPr algn="l"/>
            <a:r>
              <a:rPr sz="1100" b="0" i="0">
                <a:solidFill>
                  <a:srgbClr val="1F2937"/>
                </a:solidFill>
                <a:latin typeface="Arial"/>
              </a:rPr>
              <a:t>Maps, charts, English / Kannada / Hindi / Telugu; installable as an Android app</a:t>
            </a:r>
            <a:endParaRPr sz="1100"/>
          </a:p>
        </p:txBody>
      </p:sp>
      <p:sp>
        <p:nvSpPr>
          <p:cNvPr id="11" name="Down Arrow 10"/>
          <p:cNvSpPr/>
          <p:nvPr/>
        </p:nvSpPr>
        <p:spPr>
          <a:xfrm>
            <a:off x="3520440" y="2231136"/>
            <a:ext cx="274320" cy="182880"/>
          </a:xfrm>
          <a:prstGeom prst="downArrow">
            <a:avLst/>
          </a:prstGeom>
          <a:solidFill>
            <a:srgbClr val="4B5563"/>
          </a:solidFill>
          <a:ln>
            <a:noFill/>
          </a:ln>
          <a:effectLst/>
        </p:spPr>
        <p:txBody>
          <a:bodyPr rtlCol="0" anchor="ctr"/>
          <a:lstStyle/>
          <a:p>
            <a:pPr algn="ctr"/>
          </a:p>
        </p:txBody>
      </p:sp>
      <p:sp>
        <p:nvSpPr>
          <p:cNvPr id="12" name="Rounded Rectangle 11"/>
          <p:cNvSpPr/>
          <p:nvPr/>
        </p:nvSpPr>
        <p:spPr>
          <a:xfrm>
            <a:off x="457200" y="2432304"/>
            <a:ext cx="6400800" cy="713232"/>
          </a:xfrm>
          <a:prstGeom prst="roundRect">
            <a:avLst>
              <a:gd name="adj" fmla="val 7000"/>
            </a:avLst>
          </a:prstGeom>
          <a:solidFill>
            <a:srgbClr val="F3F4F6"/>
          </a:solidFill>
          <a:ln>
            <a:noFill/>
          </a:ln>
          <a:effectLst/>
        </p:spPr>
        <p:txBody>
          <a:bodyPr rtlCol="0" anchor="ctr"/>
          <a:lstStyle/>
          <a:p>
            <a:pPr algn="ctr"/>
          </a:p>
        </p:txBody>
      </p:sp>
      <p:sp>
        <p:nvSpPr>
          <p:cNvPr id="13" name="TextBox 12"/>
          <p:cNvSpPr txBox="1"/>
          <p:nvPr/>
        </p:nvSpPr>
        <p:spPr>
          <a:xfrm>
            <a:off x="566928" y="2478024"/>
            <a:ext cx="6181344" cy="274320"/>
          </a:xfrm>
          <a:prstGeom prst="rect">
            <a:avLst/>
          </a:prstGeom>
          <a:noFill/>
        </p:spPr>
        <p:txBody>
          <a:bodyPr wrap="square" anchor="t" lIns="73152" rIns="73152"/>
          <a:lstStyle/>
          <a:p>
            <a:pPr algn="l"/>
            <a:r>
              <a:rPr sz="1200" b="1" i="0">
                <a:solidFill>
                  <a:srgbClr val="C00000"/>
                </a:solidFill>
                <a:latin typeface="Arial"/>
              </a:rPr>
              <a:t>API layer: FastAPI (REST)</a:t>
            </a:r>
            <a:endParaRPr sz="1200"/>
          </a:p>
        </p:txBody>
      </p:sp>
      <p:sp>
        <p:nvSpPr>
          <p:cNvPr id="14" name="TextBox 13"/>
          <p:cNvSpPr txBox="1"/>
          <p:nvPr/>
        </p:nvSpPr>
        <p:spPr>
          <a:xfrm>
            <a:off x="566928" y="2761488"/>
            <a:ext cx="6181344" cy="347472"/>
          </a:xfrm>
          <a:prstGeom prst="rect">
            <a:avLst/>
          </a:prstGeom>
          <a:noFill/>
        </p:spPr>
        <p:txBody>
          <a:bodyPr wrap="square" anchor="t" lIns="73152" rIns="73152"/>
          <a:lstStyle/>
          <a:p>
            <a:pPr algn="l"/>
            <a:r>
              <a:rPr sz="1100" b="0" i="0">
                <a:solidFill>
                  <a:srgbClr val="1F2937"/>
                </a:solidFill>
                <a:latin typeface="Arial"/>
              </a:rPr>
              <a:t>HTTP only: signed tokens, role-based access, input validation, rate limiting</a:t>
            </a:r>
            <a:endParaRPr sz="1100"/>
          </a:p>
        </p:txBody>
      </p:sp>
      <p:sp>
        <p:nvSpPr>
          <p:cNvPr id="15" name="Down Arrow 14"/>
          <p:cNvSpPr/>
          <p:nvPr/>
        </p:nvSpPr>
        <p:spPr>
          <a:xfrm>
            <a:off x="3520440" y="3163824"/>
            <a:ext cx="274320" cy="182880"/>
          </a:xfrm>
          <a:prstGeom prst="downArrow">
            <a:avLst/>
          </a:prstGeom>
          <a:solidFill>
            <a:srgbClr val="4B5563"/>
          </a:solidFill>
          <a:ln>
            <a:noFill/>
          </a:ln>
          <a:effectLst/>
        </p:spPr>
        <p:txBody>
          <a:bodyPr rtlCol="0" anchor="ctr"/>
          <a:lstStyle/>
          <a:p>
            <a:pPr algn="ctr"/>
          </a:p>
        </p:txBody>
      </p:sp>
      <p:sp>
        <p:nvSpPr>
          <p:cNvPr id="16" name="Rounded Rectangle 15"/>
          <p:cNvSpPr/>
          <p:nvPr/>
        </p:nvSpPr>
        <p:spPr>
          <a:xfrm>
            <a:off x="457200" y="3364992"/>
            <a:ext cx="6400800" cy="713232"/>
          </a:xfrm>
          <a:prstGeom prst="roundRect">
            <a:avLst>
              <a:gd name="adj" fmla="val 7000"/>
            </a:avLst>
          </a:prstGeom>
          <a:solidFill>
            <a:srgbClr val="F3F4F6"/>
          </a:solidFill>
          <a:ln>
            <a:noFill/>
          </a:ln>
          <a:effectLst/>
        </p:spPr>
        <p:txBody>
          <a:bodyPr rtlCol="0" anchor="ctr"/>
          <a:lstStyle/>
          <a:p>
            <a:pPr algn="ctr"/>
          </a:p>
        </p:txBody>
      </p:sp>
      <p:sp>
        <p:nvSpPr>
          <p:cNvPr id="17" name="TextBox 16"/>
          <p:cNvSpPr txBox="1"/>
          <p:nvPr/>
        </p:nvSpPr>
        <p:spPr>
          <a:xfrm>
            <a:off x="566928" y="3410712"/>
            <a:ext cx="6181344" cy="274320"/>
          </a:xfrm>
          <a:prstGeom prst="rect">
            <a:avLst/>
          </a:prstGeom>
          <a:noFill/>
        </p:spPr>
        <p:txBody>
          <a:bodyPr wrap="square" anchor="t" lIns="73152" rIns="73152"/>
          <a:lstStyle/>
          <a:p>
            <a:pPr algn="l"/>
            <a:r>
              <a:rPr sz="1200" b="1" i="0">
                <a:solidFill>
                  <a:srgbClr val="C00000"/>
                </a:solidFill>
                <a:latin typeface="Arial"/>
              </a:rPr>
              <a:t>Service layer: business rules</a:t>
            </a:r>
            <a:endParaRPr sz="1200"/>
          </a:p>
        </p:txBody>
      </p:sp>
      <p:sp>
        <p:nvSpPr>
          <p:cNvPr id="18" name="TextBox 17"/>
          <p:cNvSpPr txBox="1"/>
          <p:nvPr/>
        </p:nvSpPr>
        <p:spPr>
          <a:xfrm>
            <a:off x="566928" y="3694176"/>
            <a:ext cx="6181344" cy="347472"/>
          </a:xfrm>
          <a:prstGeom prst="rect">
            <a:avLst/>
          </a:prstGeom>
          <a:noFill/>
        </p:spPr>
        <p:txBody>
          <a:bodyPr wrap="square" anchor="t" lIns="73152" rIns="73152"/>
          <a:lstStyle/>
          <a:p>
            <a:pPr algn="l"/>
            <a:r>
              <a:rPr sz="1100" b="0" i="0">
                <a:solidFill>
                  <a:srgbClr val="1F2937"/>
                </a:solidFill>
                <a:latin typeface="Arial"/>
              </a:rPr>
              <a:t>The only layer that touches the database: votes, tickets, waybills, passes, alerts, audit log</a:t>
            </a:r>
            <a:endParaRPr sz="1100"/>
          </a:p>
        </p:txBody>
      </p:sp>
      <p:sp>
        <p:nvSpPr>
          <p:cNvPr id="19" name="Down Arrow 18"/>
          <p:cNvSpPr/>
          <p:nvPr/>
        </p:nvSpPr>
        <p:spPr>
          <a:xfrm>
            <a:off x="2011680" y="4096512"/>
            <a:ext cx="274320" cy="182880"/>
          </a:xfrm>
          <a:prstGeom prst="downArrow">
            <a:avLst/>
          </a:prstGeom>
          <a:solidFill>
            <a:srgbClr val="4B5563"/>
          </a:solidFill>
          <a:ln>
            <a:noFill/>
          </a:ln>
          <a:effectLst/>
        </p:spPr>
        <p:txBody>
          <a:bodyPr rtlCol="0" anchor="ctr"/>
          <a:lstStyle/>
          <a:p>
            <a:pPr algn="ctr"/>
          </a:p>
        </p:txBody>
      </p:sp>
      <p:sp>
        <p:nvSpPr>
          <p:cNvPr id="20" name="Down Arrow 19"/>
          <p:cNvSpPr/>
          <p:nvPr/>
        </p:nvSpPr>
        <p:spPr>
          <a:xfrm>
            <a:off x="5120640" y="4096512"/>
            <a:ext cx="274320" cy="182880"/>
          </a:xfrm>
          <a:prstGeom prst="downArrow">
            <a:avLst/>
          </a:prstGeom>
          <a:solidFill>
            <a:srgbClr val="4B5563"/>
          </a:solidFill>
          <a:ln>
            <a:noFill/>
          </a:ln>
          <a:effectLst/>
        </p:spPr>
        <p:txBody>
          <a:bodyPr rtlCol="0" anchor="ctr"/>
          <a:lstStyle/>
          <a:p>
            <a:pPr algn="ctr"/>
          </a:p>
        </p:txBody>
      </p:sp>
      <p:sp>
        <p:nvSpPr>
          <p:cNvPr id="21" name="Rounded Rectangle 20"/>
          <p:cNvSpPr/>
          <p:nvPr/>
        </p:nvSpPr>
        <p:spPr>
          <a:xfrm>
            <a:off x="457200" y="4297680"/>
            <a:ext cx="3108960" cy="1234440"/>
          </a:xfrm>
          <a:prstGeom prst="roundRect">
            <a:avLst>
              <a:gd name="adj" fmla="val 7000"/>
            </a:avLst>
          </a:prstGeom>
          <a:solidFill>
            <a:srgbClr val="E6F4EA"/>
          </a:solidFill>
          <a:ln>
            <a:noFill/>
          </a:ln>
          <a:effectLst/>
        </p:spPr>
        <p:txBody>
          <a:bodyPr rtlCol="0" anchor="ctr"/>
          <a:lstStyle/>
          <a:p>
            <a:pPr algn="ctr"/>
          </a:p>
        </p:txBody>
      </p:sp>
      <p:sp>
        <p:nvSpPr>
          <p:cNvPr id="22" name="TextBox 21"/>
          <p:cNvSpPr txBox="1"/>
          <p:nvPr/>
        </p:nvSpPr>
        <p:spPr>
          <a:xfrm>
            <a:off x="566928" y="4343400"/>
            <a:ext cx="2889504" cy="274320"/>
          </a:xfrm>
          <a:prstGeom prst="rect">
            <a:avLst/>
          </a:prstGeom>
          <a:noFill/>
        </p:spPr>
        <p:txBody>
          <a:bodyPr wrap="square" anchor="t" lIns="73152" rIns="73152"/>
          <a:lstStyle/>
          <a:p>
            <a:pPr algn="l"/>
            <a:r>
              <a:rPr sz="1200" b="1" i="0">
                <a:solidFill>
                  <a:srgbClr val="0B8A3E"/>
                </a:solidFill>
                <a:latin typeface="Arial"/>
              </a:rPr>
              <a:t>Engine layer (files, no DB)</a:t>
            </a:r>
            <a:endParaRPr sz="1200"/>
          </a:p>
        </p:txBody>
      </p:sp>
      <p:sp>
        <p:nvSpPr>
          <p:cNvPr id="23" name="TextBox 22"/>
          <p:cNvSpPr txBox="1"/>
          <p:nvPr/>
        </p:nvSpPr>
        <p:spPr>
          <a:xfrm>
            <a:off x="566928" y="4626864"/>
            <a:ext cx="2889504" cy="868680"/>
          </a:xfrm>
          <a:prstGeom prst="rect">
            <a:avLst/>
          </a:prstGeom>
          <a:noFill/>
        </p:spPr>
        <p:txBody>
          <a:bodyPr wrap="square" anchor="t" lIns="73152" rIns="73152"/>
          <a:lstStyle/>
          <a:p>
            <a:pPr algn="l"/>
            <a:r>
              <a:rPr sz="1100" b="0" i="0">
                <a:solidFill>
                  <a:srgbClr val="1F2937"/>
                </a:solidFill>
                <a:latin typeface="Arial"/>
              </a:rPr>
              <a:t>Journey search, vehicle blocking, crew duties, GTFS builder, vehicle tracking</a:t>
            </a:r>
            <a:endParaRPr sz="1100"/>
          </a:p>
        </p:txBody>
      </p:sp>
      <p:sp>
        <p:nvSpPr>
          <p:cNvPr id="24" name="Rounded Rectangle 23"/>
          <p:cNvSpPr/>
          <p:nvPr/>
        </p:nvSpPr>
        <p:spPr>
          <a:xfrm>
            <a:off x="3749039" y="4297680"/>
            <a:ext cx="3108960" cy="1234440"/>
          </a:xfrm>
          <a:prstGeom prst="roundRect">
            <a:avLst>
              <a:gd name="adj" fmla="val 7000"/>
            </a:avLst>
          </a:prstGeom>
          <a:solidFill>
            <a:srgbClr val="F3F4F6"/>
          </a:solidFill>
          <a:ln>
            <a:noFill/>
          </a:ln>
          <a:effectLst/>
        </p:spPr>
        <p:txBody>
          <a:bodyPr rtlCol="0" anchor="ctr"/>
          <a:lstStyle/>
          <a:p>
            <a:pPr algn="ctr"/>
          </a:p>
        </p:txBody>
      </p:sp>
      <p:sp>
        <p:nvSpPr>
          <p:cNvPr id="25" name="TextBox 24"/>
          <p:cNvSpPr txBox="1"/>
          <p:nvPr/>
        </p:nvSpPr>
        <p:spPr>
          <a:xfrm>
            <a:off x="3858768" y="4343400"/>
            <a:ext cx="2889504" cy="274320"/>
          </a:xfrm>
          <a:prstGeom prst="rect">
            <a:avLst/>
          </a:prstGeom>
          <a:noFill/>
        </p:spPr>
        <p:txBody>
          <a:bodyPr wrap="square" anchor="t" lIns="73152" rIns="73152"/>
          <a:lstStyle/>
          <a:p>
            <a:pPr algn="l"/>
            <a:r>
              <a:rPr sz="1200" b="1" i="0">
                <a:solidFill>
                  <a:srgbClr val="C00000"/>
                </a:solidFill>
                <a:latin typeface="Arial"/>
              </a:rPr>
              <a:t>Data layer</a:t>
            </a:r>
            <a:endParaRPr sz="1200"/>
          </a:p>
        </p:txBody>
      </p:sp>
      <p:sp>
        <p:nvSpPr>
          <p:cNvPr id="26" name="TextBox 25"/>
          <p:cNvSpPr txBox="1"/>
          <p:nvPr/>
        </p:nvSpPr>
        <p:spPr>
          <a:xfrm>
            <a:off x="3858768" y="4626864"/>
            <a:ext cx="2889504" cy="868680"/>
          </a:xfrm>
          <a:prstGeom prst="rect">
            <a:avLst/>
          </a:prstGeom>
          <a:noFill/>
        </p:spPr>
        <p:txBody>
          <a:bodyPr wrap="square" anchor="t" lIns="73152" rIns="73152"/>
          <a:lstStyle/>
          <a:p>
            <a:pPr algn="l"/>
            <a:r>
              <a:rPr sz="1100" b="0" i="0">
                <a:solidFill>
                  <a:srgbClr val="1F2937"/>
                </a:solidFill>
                <a:latin typeface="Arial"/>
              </a:rPr>
              <a:t>MongoDB (optional). CSV files: BMTC route-directions, stop coordinates, fares, Metro network</a:t>
            </a:r>
            <a:endParaRPr sz="1100"/>
          </a:p>
        </p:txBody>
      </p:sp>
      <p:sp>
        <p:nvSpPr>
          <p:cNvPr id="27" name="Rounded Rectangle 26"/>
          <p:cNvSpPr/>
          <p:nvPr/>
        </p:nvSpPr>
        <p:spPr>
          <a:xfrm>
            <a:off x="7086600" y="914400"/>
            <a:ext cx="2359152" cy="3163824"/>
          </a:xfrm>
          <a:prstGeom prst="roundRect">
            <a:avLst>
              <a:gd name="adj" fmla="val 5000"/>
            </a:avLst>
          </a:prstGeom>
          <a:solidFill>
            <a:srgbClr val="FFF4E5"/>
          </a:solidFill>
          <a:ln>
            <a:noFill/>
          </a:ln>
          <a:effectLst/>
        </p:spPr>
        <p:txBody>
          <a:bodyPr rtlCol="0" anchor="ctr"/>
          <a:lstStyle/>
          <a:p>
            <a:pPr algn="ctr"/>
          </a:p>
        </p:txBody>
      </p:sp>
      <p:sp>
        <p:nvSpPr>
          <p:cNvPr id="28" name="TextBox 27"/>
          <p:cNvSpPr txBox="1"/>
          <p:nvPr/>
        </p:nvSpPr>
        <p:spPr>
          <a:xfrm>
            <a:off x="7196328" y="969264"/>
            <a:ext cx="2157984" cy="502920"/>
          </a:xfrm>
          <a:prstGeom prst="rect">
            <a:avLst/>
          </a:prstGeom>
          <a:noFill/>
        </p:spPr>
        <p:txBody>
          <a:bodyPr wrap="square" anchor="t" lIns="73152" rIns="73152"/>
          <a:lstStyle/>
          <a:p>
            <a:pPr algn="l"/>
            <a:r>
              <a:rPr sz="1200" b="1" i="0">
                <a:solidFill>
                  <a:srgbClr val="B45309"/>
                </a:solidFill>
                <a:latin typeface="Arial"/>
              </a:rPr>
              <a:t>AI Intelligence Layer</a:t>
            </a:r>
            <a:endParaRPr sz="1200"/>
          </a:p>
          <a:p>
            <a:pPr algn="l"/>
            <a:r>
              <a:rPr sz="1000" b="0" i="0">
                <a:solidFill>
                  <a:srgbClr val="B45309"/>
                </a:solidFill>
                <a:latin typeface="Arial"/>
              </a:rPr>
              <a:t>additive and read-only</a:t>
            </a:r>
            <a:endParaRPr sz="1000"/>
          </a:p>
        </p:txBody>
      </p:sp>
      <p:sp>
        <p:nvSpPr>
          <p:cNvPr id="29" name="TextBox 28"/>
          <p:cNvSpPr txBox="1"/>
          <p:nvPr/>
        </p:nvSpPr>
        <p:spPr>
          <a:xfrm>
            <a:off x="7196328" y="1536192"/>
            <a:ext cx="2157984" cy="2514600"/>
          </a:xfrm>
          <a:prstGeom prst="rect">
            <a:avLst/>
          </a:prstGeom>
          <a:noFill/>
        </p:spPr>
        <p:txBody>
          <a:bodyPr wrap="square" anchor="t" lIns="73152" rIns="73152"/>
          <a:lstStyle/>
          <a:p>
            <a:pPr algn="l" marL="164592" indent="-164592">
              <a:spcAft>
                <a:spcPts val="400"/>
              </a:spcAft>
              <a:buClr>
                <a:srgbClr val="C00000"/>
              </a:buClr>
              <a:buFont typeface="Arial"/>
              <a:buChar char="•"/>
            </a:pPr>
            <a:r>
              <a:rPr sz="1150" b="0" i="0">
                <a:solidFill>
                  <a:srgbClr val="1F2937"/>
                </a:solidFill>
                <a:latin typeface="Arial"/>
              </a:rPr>
              <a:t>Retrieval over project documentation and code</a:t>
            </a:r>
            <a:endParaRPr sz="1150"/>
          </a:p>
          <a:p>
            <a:pPr algn="l" marL="164592" indent="-164592">
              <a:spcAft>
                <a:spcPts val="400"/>
              </a:spcAft>
              <a:buClr>
                <a:srgbClr val="C00000"/>
              </a:buClr>
              <a:buFont typeface="Arial"/>
              <a:buChar char="•"/>
            </a:pPr>
            <a:r>
              <a:rPr sz="1150" b="0" i="0">
                <a:solidFill>
                  <a:srgbClr val="1F2937"/>
                </a:solidFill>
                <a:latin typeface="Arial"/>
              </a:rPr>
              <a:t>Read-only tools, role-gated at a single chokepoint</a:t>
            </a:r>
            <a:endParaRPr sz="1150"/>
          </a:p>
          <a:p>
            <a:pPr algn="l" marL="164592" indent="-164592">
              <a:spcAft>
                <a:spcPts val="400"/>
              </a:spcAft>
              <a:buClr>
                <a:srgbClr val="C00000"/>
              </a:buClr>
              <a:buFont typeface="Arial"/>
              <a:buChar char="•"/>
            </a:pPr>
            <a:r>
              <a:rPr sz="1150" b="0" i="0">
                <a:solidFill>
                  <a:srgbClr val="1F2937"/>
                </a:solidFill>
                <a:latin typeface="Arial"/>
              </a:rPr>
              <a:t>Agents for operations and travel questions</a:t>
            </a:r>
            <a:endParaRPr sz="1150"/>
          </a:p>
          <a:p>
            <a:pPr algn="l" marL="164592" indent="-164592">
              <a:buClr>
                <a:srgbClr val="C00000"/>
              </a:buClr>
              <a:buFont typeface="Arial"/>
              <a:buChar char="•"/>
            </a:pPr>
            <a:r>
              <a:rPr sz="1150" b="0" i="0">
                <a:solidFill>
                  <a:srgbClr val="1F2937"/>
                </a:solidFill>
                <a:latin typeface="Arial"/>
              </a:rPr>
              <a:t>Every answer cites its source, or says it does not know</a:t>
            </a:r>
            <a:endParaRPr sz="1150"/>
          </a:p>
        </p:txBody>
      </p:sp>
      <p:sp>
        <p:nvSpPr>
          <p:cNvPr id="30" name="Rounded Rectangle 29"/>
          <p:cNvSpPr/>
          <p:nvPr/>
        </p:nvSpPr>
        <p:spPr>
          <a:xfrm>
            <a:off x="7086600" y="4261104"/>
            <a:ext cx="2359152" cy="1271016"/>
          </a:xfrm>
          <a:prstGeom prst="roundRect">
            <a:avLst>
              <a:gd name="adj" fmla="val 6000"/>
            </a:avLst>
          </a:prstGeom>
          <a:solidFill>
            <a:srgbClr val="C00000"/>
          </a:solidFill>
          <a:ln>
            <a:noFill/>
          </a:ln>
          <a:effectLst/>
        </p:spPr>
        <p:txBody>
          <a:bodyPr rtlCol="0" anchor="ctr" wrap="square" lIns="109728" tIns="54864" rIns="109728" bIns="54864"/>
          <a:lstStyle/>
          <a:p>
            <a:pPr algn="l">
              <a:spcAft>
                <a:spcPts val="200"/>
              </a:spcAft>
            </a:pPr>
            <a:r>
              <a:rPr sz="1100" b="1" i="0">
                <a:solidFill>
                  <a:srgbClr val="FFC9C9"/>
                </a:solidFill>
                <a:latin typeface="Arial"/>
              </a:rPr>
              <a:t>Key design decision</a:t>
            </a:r>
            <a:endParaRPr sz="1100"/>
          </a:p>
          <a:p>
            <a:pPr algn="l"/>
            <a:r>
              <a:rPr sz="1100" b="0" i="0">
                <a:solidFill>
                  <a:srgbClr val="FFFFFF"/>
                </a:solidFill>
                <a:latin typeface="Arial"/>
              </a:rPr>
              <a:t>Engines read files, not the database, so route search, fleet, crew and GTFS survive a DB outage.</a:t>
            </a:r>
            <a:endParaRPr sz="1100"/>
          </a:p>
        </p:txBody>
      </p:sp>
      <p:sp>
        <p:nvSpPr>
          <p:cNvPr id="31" name="Rounded Rectangle 30"/>
          <p:cNvSpPr/>
          <p:nvPr/>
        </p:nvSpPr>
        <p:spPr>
          <a:xfrm>
            <a:off x="457200" y="5687568"/>
            <a:ext cx="8988552" cy="548640"/>
          </a:xfrm>
          <a:prstGeom prst="roundRect">
            <a:avLst>
              <a:gd name="adj" fmla="val 10000"/>
            </a:avLst>
          </a:prstGeom>
          <a:solidFill>
            <a:srgbClr val="FFFFFF"/>
          </a:solidFill>
          <a:ln w="9525">
            <a:solidFill>
              <a:srgbClr val="D1D5DB"/>
            </a:solidFill>
          </a:ln>
          <a:effectLst/>
        </p:spPr>
        <p:txBody>
          <a:bodyPr rtlCol="0" anchor="ctr" wrap="square" lIns="182880" tIns="27432" rIns="182880" bIns="27432"/>
          <a:lstStyle/>
          <a:p>
            <a:pPr algn="l"/>
            <a:r>
              <a:rPr sz="1050" b="1" i="0">
                <a:solidFill>
                  <a:srgbClr val="C00000"/>
                </a:solidFill>
                <a:latin typeface="Arial"/>
              </a:rPr>
              <a:t>Planned stack: </a:t>
            </a:r>
            <a:r>
              <a:rPr sz="1050" b="0" i="0">
                <a:solidFill>
                  <a:srgbClr val="1F2937"/>
                </a:solidFill>
                <a:latin typeface="Arial"/>
              </a:rPr>
              <a:t>Python 3.12, FastAPI, Pydantic 2, MongoDB (Motor) | React, TypeScript, Vite, Tailwind, Leaflet | Docker Compose, Nginx, GitHub Actions CI</a:t>
            </a:r>
            <a:endParaRPr sz="105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19456"/>
            <a:ext cx="8988552" cy="603504"/>
          </a:xfrm>
        </p:spPr>
        <p:txBody>
          <a:bodyPr anchor="ctr" wrap="square"/>
          <a:lstStyle/>
          <a:p>
            <a:pPr algn="ctr"/>
            <a:r>
              <a:rPr sz="2800" b="1" i="0">
                <a:solidFill>
                  <a:srgbClr val="FF0000"/>
                </a:solidFill>
                <a:latin typeface="Arial"/>
              </a:rPr>
              <a:t>Planned Features by User</a:t>
            </a:r>
          </a:p>
        </p:txBody>
      </p:sp>
      <p:sp>
        <p:nvSpPr>
          <p:cNvPr id="3" name="Rounded Rectangle 2"/>
          <p:cNvSpPr/>
          <p:nvPr/>
        </p:nvSpPr>
        <p:spPr>
          <a:xfrm>
            <a:off x="457200" y="914400"/>
            <a:ext cx="2171700" cy="4526280"/>
          </a:xfrm>
          <a:prstGeom prst="roundRect">
            <a:avLst>
              <a:gd name="adj" fmla="val 4000"/>
            </a:avLst>
          </a:prstGeom>
          <a:solidFill>
            <a:srgbClr val="F3F4F6"/>
          </a:solidFill>
          <a:ln>
            <a:noFill/>
          </a:ln>
          <a:effectLst/>
        </p:spPr>
        <p:txBody>
          <a:bodyPr rtlCol="0" anchor="ctr"/>
          <a:lstStyle/>
          <a:p>
            <a:pPr algn="ctr"/>
          </a:p>
        </p:txBody>
      </p:sp>
      <p:sp>
        <p:nvSpPr>
          <p:cNvPr id="4" name="Rounded Rectangle 3"/>
          <p:cNvSpPr/>
          <p:nvPr/>
        </p:nvSpPr>
        <p:spPr>
          <a:xfrm>
            <a:off x="457200" y="914400"/>
            <a:ext cx="2171700" cy="457200"/>
          </a:xfrm>
          <a:prstGeom prst="roundRect">
            <a:avLst>
              <a:gd name="adj" fmla="val 12000"/>
            </a:avLst>
          </a:prstGeom>
          <a:solidFill>
            <a:srgbClr val="C00000"/>
          </a:solidFill>
          <a:ln>
            <a:noFill/>
          </a:ln>
          <a:effectLst/>
        </p:spPr>
        <p:txBody>
          <a:bodyPr rtlCol="0" anchor="ctr" wrap="square" lIns="36576" tIns="18288" rIns="36576" bIns="18288"/>
          <a:lstStyle/>
          <a:p>
            <a:pPr algn="ctr"/>
            <a:r>
              <a:rPr sz="1300" b="1" i="0">
                <a:solidFill>
                  <a:srgbClr val="FFFFFF"/>
                </a:solidFill>
                <a:latin typeface="Arial"/>
              </a:rPr>
              <a:t>Commuter</a:t>
            </a:r>
            <a:endParaRPr sz="1300"/>
          </a:p>
        </p:txBody>
      </p:sp>
      <p:sp>
        <p:nvSpPr>
          <p:cNvPr id="5" name="TextBox 4"/>
          <p:cNvSpPr txBox="1"/>
          <p:nvPr/>
        </p:nvSpPr>
        <p:spPr>
          <a:xfrm>
            <a:off x="512064" y="1463040"/>
            <a:ext cx="2061972" cy="3931920"/>
          </a:xfrm>
          <a:prstGeom prst="rect">
            <a:avLst/>
          </a:prstGeom>
          <a:noFill/>
        </p:spPr>
        <p:txBody>
          <a:bodyPr wrap="square" anchor="t" lIns="73152" rIns="73152"/>
          <a:lstStyle/>
          <a:p>
            <a:pPr algn="l" marL="164592" indent="-164592">
              <a:spcAft>
                <a:spcPts val="1000"/>
              </a:spcAft>
              <a:buClr>
                <a:srgbClr val="C00000"/>
              </a:buClr>
              <a:buFont typeface="Arial"/>
              <a:buChar char="•"/>
            </a:pPr>
            <a:r>
              <a:rPr sz="1200" b="0" i="0">
                <a:solidFill>
                  <a:srgbClr val="1F2937"/>
                </a:solidFill>
                <a:latin typeface="Arial"/>
              </a:rPr>
              <a:t>Direct, 1-change and 2-change search across 4,883 stops</a:t>
            </a:r>
            <a:endParaRPr sz="1200"/>
          </a:p>
          <a:p>
            <a:pPr algn="l" marL="164592" indent="-164592">
              <a:spcAft>
                <a:spcPts val="1000"/>
              </a:spcAft>
              <a:buClr>
                <a:srgbClr val="C00000"/>
              </a:buClr>
              <a:buFont typeface="Arial"/>
              <a:buChar char="•"/>
            </a:pPr>
            <a:r>
              <a:rPr sz="1200" b="0" i="0">
                <a:solidFill>
                  <a:srgbClr val="1F2937"/>
                </a:solidFill>
                <a:latin typeface="Arial"/>
              </a:rPr>
              <a:t>Fuzzy stop names and aliases (Majestic = Kempegowda Bus Station)</a:t>
            </a:r>
            <a:endParaRPr sz="1200"/>
          </a:p>
          <a:p>
            <a:pPr algn="l" marL="164592" indent="-164592">
              <a:spcAft>
                <a:spcPts val="1000"/>
              </a:spcAft>
              <a:buClr>
                <a:srgbClr val="C00000"/>
              </a:buClr>
              <a:buFont typeface="Arial"/>
              <a:buChar char="•"/>
            </a:pPr>
            <a:r>
              <a:rPr sz="1200" b="0" i="0">
                <a:solidFill>
                  <a:srgbClr val="1F2937"/>
                </a:solidFill>
                <a:latin typeface="Arial"/>
              </a:rPr>
              <a:t>Fare, distance, route map and nearby Metro interchange</a:t>
            </a:r>
            <a:endParaRPr sz="1200"/>
          </a:p>
          <a:p>
            <a:pPr algn="l" marL="164592" indent="-164592">
              <a:spcAft>
                <a:spcPts val="1000"/>
              </a:spcAft>
              <a:buClr>
                <a:srgbClr val="C00000"/>
              </a:buClr>
              <a:buFont typeface="Arial"/>
              <a:buChar char="•"/>
            </a:pPr>
            <a:r>
              <a:rPr sz="1200" b="0" i="0">
                <a:solidFill>
                  <a:srgbClr val="1F2937"/>
                </a:solidFill>
                <a:latin typeface="Arial"/>
              </a:rPr>
              <a:t>Vote for routes they wish existed</a:t>
            </a:r>
            <a:endParaRPr sz="1200"/>
          </a:p>
          <a:p>
            <a:pPr algn="l" marL="164592" indent="-164592">
              <a:spcAft>
                <a:spcPts val="1000"/>
              </a:spcAft>
              <a:buClr>
                <a:srgbClr val="C00000"/>
              </a:buClr>
              <a:buFont typeface="Arial"/>
              <a:buChar char="•"/>
            </a:pPr>
            <a:r>
              <a:rPr sz="1200" b="0" i="0">
                <a:solidFill>
                  <a:srgbClr val="1F2937"/>
                </a:solidFill>
                <a:latin typeface="Arial"/>
              </a:rPr>
              <a:t>QR e-tickets incl. free Shakti tickets; 4 languages plus SMS</a:t>
            </a:r>
            <a:endParaRPr sz="1200"/>
          </a:p>
        </p:txBody>
      </p:sp>
      <p:sp>
        <p:nvSpPr>
          <p:cNvPr id="6" name="Rounded Rectangle 5"/>
          <p:cNvSpPr/>
          <p:nvPr/>
        </p:nvSpPr>
        <p:spPr>
          <a:xfrm>
            <a:off x="2729484" y="914400"/>
            <a:ext cx="2171700" cy="4526280"/>
          </a:xfrm>
          <a:prstGeom prst="roundRect">
            <a:avLst>
              <a:gd name="adj" fmla="val 4000"/>
            </a:avLst>
          </a:prstGeom>
          <a:solidFill>
            <a:srgbClr val="F3F4F6"/>
          </a:solidFill>
          <a:ln>
            <a:noFill/>
          </a:ln>
          <a:effectLst/>
        </p:spPr>
        <p:txBody>
          <a:bodyPr rtlCol="0" anchor="ctr"/>
          <a:lstStyle/>
          <a:p>
            <a:pPr algn="ctr"/>
          </a:p>
        </p:txBody>
      </p:sp>
      <p:sp>
        <p:nvSpPr>
          <p:cNvPr id="7" name="Rounded Rectangle 6"/>
          <p:cNvSpPr/>
          <p:nvPr/>
        </p:nvSpPr>
        <p:spPr>
          <a:xfrm>
            <a:off x="2729484" y="914400"/>
            <a:ext cx="2171700" cy="457200"/>
          </a:xfrm>
          <a:prstGeom prst="roundRect">
            <a:avLst>
              <a:gd name="adj" fmla="val 12000"/>
            </a:avLst>
          </a:prstGeom>
          <a:solidFill>
            <a:srgbClr val="C00000"/>
          </a:solidFill>
          <a:ln>
            <a:noFill/>
          </a:ln>
          <a:effectLst/>
        </p:spPr>
        <p:txBody>
          <a:bodyPr rtlCol="0" anchor="ctr" wrap="square" lIns="36576" tIns="18288" rIns="36576" bIns="18288"/>
          <a:lstStyle/>
          <a:p>
            <a:pPr algn="ctr"/>
            <a:r>
              <a:rPr sz="1300" b="1" i="0">
                <a:solidFill>
                  <a:srgbClr val="FFFFFF"/>
                </a:solidFill>
                <a:latin typeface="Arial"/>
              </a:rPr>
              <a:t>Conductor</a:t>
            </a:r>
            <a:endParaRPr sz="1300"/>
          </a:p>
        </p:txBody>
      </p:sp>
      <p:sp>
        <p:nvSpPr>
          <p:cNvPr id="8" name="TextBox 7"/>
          <p:cNvSpPr txBox="1"/>
          <p:nvPr/>
        </p:nvSpPr>
        <p:spPr>
          <a:xfrm>
            <a:off x="2784348" y="1463040"/>
            <a:ext cx="2061972" cy="3931920"/>
          </a:xfrm>
          <a:prstGeom prst="rect">
            <a:avLst/>
          </a:prstGeom>
          <a:noFill/>
        </p:spPr>
        <p:txBody>
          <a:bodyPr wrap="square" anchor="t" lIns="73152" rIns="73152"/>
          <a:lstStyle/>
          <a:p>
            <a:pPr algn="l" marL="164592" indent="-164592">
              <a:spcAft>
                <a:spcPts val="1000"/>
              </a:spcAft>
              <a:buClr>
                <a:srgbClr val="C00000"/>
              </a:buClr>
              <a:buFont typeface="Arial"/>
              <a:buChar char="•"/>
            </a:pPr>
            <a:r>
              <a:rPr sz="1200" b="0" i="0">
                <a:solidFill>
                  <a:srgbClr val="1F2937"/>
                </a:solidFill>
                <a:latin typeface="Arial"/>
              </a:rPr>
              <a:t>Offline-first digital waybill that works with no signal</a:t>
            </a:r>
            <a:endParaRPr sz="1200"/>
          </a:p>
          <a:p>
            <a:pPr algn="l" marL="164592" indent="-164592">
              <a:spcAft>
                <a:spcPts val="1000"/>
              </a:spcAft>
              <a:buClr>
                <a:srgbClr val="C00000"/>
              </a:buClr>
              <a:buFont typeface="Arial"/>
              <a:buChar char="•"/>
            </a:pPr>
            <a:r>
              <a:rPr sz="1200" b="0" i="0">
                <a:solidFill>
                  <a:srgbClr val="1F2937"/>
                </a:solidFill>
                <a:latin typeface="Arial"/>
              </a:rPr>
              <a:t>Idempotent sync: a replay never double-counts revenue</a:t>
            </a:r>
            <a:endParaRPr sz="1200"/>
          </a:p>
          <a:p>
            <a:pPr algn="l" marL="164592" indent="-164592">
              <a:spcAft>
                <a:spcPts val="1000"/>
              </a:spcAft>
              <a:buClr>
                <a:srgbClr val="C00000"/>
              </a:buClr>
              <a:buFont typeface="Arial"/>
              <a:buChar char="•"/>
            </a:pPr>
            <a:r>
              <a:rPr sz="1200" b="0" i="0">
                <a:solidFill>
                  <a:srgbClr val="1F2937"/>
                </a:solidFill>
                <a:latin typeface="Arial"/>
              </a:rPr>
              <a:t>Server-side stage fares; signed QR tickets to validate</a:t>
            </a:r>
            <a:endParaRPr sz="1200"/>
          </a:p>
          <a:p>
            <a:pPr algn="l" marL="164592" indent="-164592">
              <a:spcAft>
                <a:spcPts val="1000"/>
              </a:spcAft>
              <a:buClr>
                <a:srgbClr val="C00000"/>
              </a:buClr>
              <a:buFont typeface="Arial"/>
              <a:buChar char="•"/>
            </a:pPr>
            <a:r>
              <a:rPr sz="1200" b="0" i="0">
                <a:solidFill>
                  <a:srgbClr val="1F2937"/>
                </a:solidFill>
                <a:latin typeface="Arial"/>
              </a:rPr>
              <a:t>Cash reconciliation: variance reported, never auto-corrected</a:t>
            </a:r>
            <a:endParaRPr sz="1200"/>
          </a:p>
          <a:p>
            <a:pPr algn="l" marL="164592" indent="-164592">
              <a:spcAft>
                <a:spcPts val="1000"/>
              </a:spcAft>
              <a:buClr>
                <a:srgbClr val="C00000"/>
              </a:buClr>
              <a:buFont typeface="Arial"/>
              <a:buChar char="•"/>
            </a:pPr>
            <a:r>
              <a:rPr sz="1200" b="0" i="0">
                <a:solidFill>
                  <a:srgbClr val="1F2937"/>
                </a:solidFill>
                <a:latin typeface="Arial"/>
              </a:rPr>
              <a:t>Shakti trips logged as fare value vs fare collected</a:t>
            </a:r>
            <a:endParaRPr sz="1200"/>
          </a:p>
        </p:txBody>
      </p:sp>
      <p:sp>
        <p:nvSpPr>
          <p:cNvPr id="9" name="Rounded Rectangle 8"/>
          <p:cNvSpPr/>
          <p:nvPr/>
        </p:nvSpPr>
        <p:spPr>
          <a:xfrm>
            <a:off x="5001768" y="914400"/>
            <a:ext cx="2171700" cy="4526280"/>
          </a:xfrm>
          <a:prstGeom prst="roundRect">
            <a:avLst>
              <a:gd name="adj" fmla="val 4000"/>
            </a:avLst>
          </a:prstGeom>
          <a:solidFill>
            <a:srgbClr val="F3F4F6"/>
          </a:solidFill>
          <a:ln>
            <a:noFill/>
          </a:ln>
          <a:effectLst/>
        </p:spPr>
        <p:txBody>
          <a:bodyPr rtlCol="0" anchor="ctr"/>
          <a:lstStyle/>
          <a:p>
            <a:pPr algn="ctr"/>
          </a:p>
        </p:txBody>
      </p:sp>
      <p:sp>
        <p:nvSpPr>
          <p:cNvPr id="10" name="Rounded Rectangle 9"/>
          <p:cNvSpPr/>
          <p:nvPr/>
        </p:nvSpPr>
        <p:spPr>
          <a:xfrm>
            <a:off x="5001768" y="914400"/>
            <a:ext cx="2171700" cy="457200"/>
          </a:xfrm>
          <a:prstGeom prst="roundRect">
            <a:avLst>
              <a:gd name="adj" fmla="val 12000"/>
            </a:avLst>
          </a:prstGeom>
          <a:solidFill>
            <a:srgbClr val="C00000"/>
          </a:solidFill>
          <a:ln>
            <a:noFill/>
          </a:ln>
          <a:effectLst/>
        </p:spPr>
        <p:txBody>
          <a:bodyPr rtlCol="0" anchor="ctr" wrap="square" lIns="36576" tIns="18288" rIns="36576" bIns="18288"/>
          <a:lstStyle/>
          <a:p>
            <a:pPr algn="ctr"/>
            <a:r>
              <a:rPr sz="1300" b="1" i="0">
                <a:solidFill>
                  <a:srgbClr val="FFFFFF"/>
                </a:solidFill>
                <a:latin typeface="Arial"/>
              </a:rPr>
              <a:t>Depot manager and HQ</a:t>
            </a:r>
            <a:endParaRPr sz="1300"/>
          </a:p>
        </p:txBody>
      </p:sp>
      <p:sp>
        <p:nvSpPr>
          <p:cNvPr id="11" name="TextBox 10"/>
          <p:cNvSpPr txBox="1"/>
          <p:nvPr/>
        </p:nvSpPr>
        <p:spPr>
          <a:xfrm>
            <a:off x="5056631" y="1463040"/>
            <a:ext cx="2061972" cy="3931920"/>
          </a:xfrm>
          <a:prstGeom prst="rect">
            <a:avLst/>
          </a:prstGeom>
          <a:noFill/>
        </p:spPr>
        <p:txBody>
          <a:bodyPr wrap="square" anchor="t" lIns="73152" rIns="73152"/>
          <a:lstStyle/>
          <a:p>
            <a:pPr algn="l" marL="164592" indent="-164592">
              <a:spcAft>
                <a:spcPts val="1000"/>
              </a:spcAft>
              <a:buClr>
                <a:srgbClr val="C00000"/>
              </a:buClr>
              <a:buFont typeface="Arial"/>
              <a:buChar char="•"/>
            </a:pPr>
            <a:r>
              <a:rPr sz="1200" b="0" i="0">
                <a:solidFill>
                  <a:srgbClr val="1F2937"/>
                </a:solidFill>
                <a:latin typeface="Arial"/>
              </a:rPr>
              <a:t>Minimum fleet, dead kilometres and crew duties, with a proven lower bound</a:t>
            </a:r>
            <a:endParaRPr sz="1200"/>
          </a:p>
          <a:p>
            <a:pPr algn="l" marL="164592" indent="-164592">
              <a:spcAft>
                <a:spcPts val="1000"/>
              </a:spcAft>
              <a:buClr>
                <a:srgbClr val="C00000"/>
              </a:buClr>
              <a:buFont typeface="Arial"/>
              <a:buChar char="•"/>
            </a:pPr>
            <a:r>
              <a:rPr sz="1200" b="0" i="0">
                <a:solidFill>
                  <a:srgbClr val="1F2937"/>
                </a:solidFill>
                <a:latin typeface="Arial"/>
              </a:rPr>
              <a:t>What-if console: see what a timetable change costs</a:t>
            </a:r>
            <a:endParaRPr sz="1200"/>
          </a:p>
          <a:p>
            <a:pPr algn="l" marL="164592" indent="-164592">
              <a:spcAft>
                <a:spcPts val="1000"/>
              </a:spcAft>
              <a:buClr>
                <a:srgbClr val="C00000"/>
              </a:buClr>
              <a:buFont typeface="Arial"/>
              <a:buChar char="•"/>
            </a:pPr>
            <a:r>
              <a:rPr sz="1200" b="0" i="0">
                <a:solidFill>
                  <a:srgbClr val="1F2937"/>
                </a:solidFill>
                <a:latin typeface="Arial"/>
              </a:rPr>
              <a:t>Votes ranked HIGH / MEDIUM / LOW into dispatch advice</a:t>
            </a:r>
            <a:endParaRPr sz="1200"/>
          </a:p>
          <a:p>
            <a:pPr algn="l" marL="164592" indent="-164592">
              <a:spcAft>
                <a:spcPts val="1000"/>
              </a:spcAft>
              <a:buClr>
                <a:srgbClr val="C00000"/>
              </a:buClr>
              <a:buFont typeface="Arial"/>
              <a:buChar char="•"/>
            </a:pPr>
            <a:r>
              <a:rPr sz="1200" b="0" i="0">
                <a:solidFill>
                  <a:srgbClr val="1F2937"/>
                </a:solidFill>
                <a:latin typeface="Arial"/>
              </a:rPr>
              <a:t>Shakti reimbursement claim report</a:t>
            </a:r>
            <a:endParaRPr sz="1200"/>
          </a:p>
          <a:p>
            <a:pPr algn="l" marL="164592" indent="-164592">
              <a:spcAft>
                <a:spcPts val="1000"/>
              </a:spcAft>
              <a:buClr>
                <a:srgbClr val="C00000"/>
              </a:buClr>
              <a:buFont typeface="Arial"/>
              <a:buChar char="•"/>
            </a:pPr>
            <a:r>
              <a:rPr sz="1200" b="0" i="0">
                <a:solidFill>
                  <a:srgbClr val="1F2937"/>
                </a:solidFill>
                <a:latin typeface="Arial"/>
              </a:rPr>
              <a:t>Audit log of sensitive actions</a:t>
            </a:r>
            <a:endParaRPr sz="1200"/>
          </a:p>
        </p:txBody>
      </p:sp>
      <p:sp>
        <p:nvSpPr>
          <p:cNvPr id="12" name="Rounded Rectangle 11"/>
          <p:cNvSpPr/>
          <p:nvPr/>
        </p:nvSpPr>
        <p:spPr>
          <a:xfrm>
            <a:off x="7274052" y="914400"/>
            <a:ext cx="2171700" cy="4526280"/>
          </a:xfrm>
          <a:prstGeom prst="roundRect">
            <a:avLst>
              <a:gd name="adj" fmla="val 4000"/>
            </a:avLst>
          </a:prstGeom>
          <a:solidFill>
            <a:srgbClr val="F3F4F6"/>
          </a:solidFill>
          <a:ln>
            <a:noFill/>
          </a:ln>
          <a:effectLst/>
        </p:spPr>
        <p:txBody>
          <a:bodyPr rtlCol="0" anchor="ctr"/>
          <a:lstStyle/>
          <a:p>
            <a:pPr algn="ctr"/>
          </a:p>
        </p:txBody>
      </p:sp>
      <p:sp>
        <p:nvSpPr>
          <p:cNvPr id="13" name="Rounded Rectangle 12"/>
          <p:cNvSpPr/>
          <p:nvPr/>
        </p:nvSpPr>
        <p:spPr>
          <a:xfrm>
            <a:off x="7274052" y="914400"/>
            <a:ext cx="2171700" cy="457200"/>
          </a:xfrm>
          <a:prstGeom prst="roundRect">
            <a:avLst>
              <a:gd name="adj" fmla="val 12000"/>
            </a:avLst>
          </a:prstGeom>
          <a:solidFill>
            <a:srgbClr val="C00000"/>
          </a:solidFill>
          <a:ln>
            <a:noFill/>
          </a:ln>
          <a:effectLst/>
        </p:spPr>
        <p:txBody>
          <a:bodyPr rtlCol="0" anchor="ctr" wrap="square" lIns="36576" tIns="18288" rIns="36576" bIns="18288"/>
          <a:lstStyle/>
          <a:p>
            <a:pPr algn="ctr"/>
            <a:r>
              <a:rPr sz="1300" b="1" i="0">
                <a:solidFill>
                  <a:srgbClr val="FFFFFF"/>
                </a:solidFill>
                <a:latin typeface="Arial"/>
              </a:rPr>
              <a:t>Open data and Admin</a:t>
            </a:r>
            <a:endParaRPr sz="1300"/>
          </a:p>
        </p:txBody>
      </p:sp>
      <p:sp>
        <p:nvSpPr>
          <p:cNvPr id="14" name="TextBox 13"/>
          <p:cNvSpPr txBox="1"/>
          <p:nvPr/>
        </p:nvSpPr>
        <p:spPr>
          <a:xfrm>
            <a:off x="7328916" y="1463040"/>
            <a:ext cx="2061972" cy="3931920"/>
          </a:xfrm>
          <a:prstGeom prst="rect">
            <a:avLst/>
          </a:prstGeom>
          <a:noFill/>
        </p:spPr>
        <p:txBody>
          <a:bodyPr wrap="square" anchor="t" lIns="73152" rIns="73152"/>
          <a:lstStyle/>
          <a:p>
            <a:pPr algn="l" marL="164592" indent="-164592">
              <a:spcAft>
                <a:spcPts val="1000"/>
              </a:spcAft>
              <a:buClr>
                <a:srgbClr val="C00000"/>
              </a:buClr>
              <a:buFont typeface="Arial"/>
              <a:buChar char="•"/>
            </a:pPr>
            <a:r>
              <a:rPr sz="1200" b="0" i="0">
                <a:solidFill>
                  <a:srgbClr val="1F2937"/>
                </a:solidFill>
                <a:latin typeface="Arial"/>
              </a:rPr>
              <a:t>GTFS export with estimated times flagged</a:t>
            </a:r>
            <a:endParaRPr sz="1200"/>
          </a:p>
          <a:p>
            <a:pPr algn="l" marL="164592" indent="-164592">
              <a:spcAft>
                <a:spcPts val="1000"/>
              </a:spcAft>
              <a:buClr>
                <a:srgbClr val="C00000"/>
              </a:buClr>
              <a:buFont typeface="Arial"/>
              <a:buChar char="•"/>
            </a:pPr>
            <a:r>
              <a:rPr sz="1200" b="0" i="0">
                <a:solidFill>
                  <a:srgbClr val="1F2937"/>
                </a:solidFill>
                <a:latin typeface="Arial"/>
              </a:rPr>
              <a:t>GTFS-Realtime service alerts</a:t>
            </a:r>
            <a:endParaRPr sz="1200"/>
          </a:p>
          <a:p>
            <a:pPr algn="l" marL="164592" indent="-164592">
              <a:spcAft>
                <a:spcPts val="1000"/>
              </a:spcAft>
              <a:buClr>
                <a:srgbClr val="C00000"/>
              </a:buClr>
              <a:buFont typeface="Arial"/>
              <a:buChar char="•"/>
            </a:pPr>
            <a:r>
              <a:rPr sz="1200" b="0" i="0">
                <a:solidFill>
                  <a:srgbClr val="1F2937"/>
                </a:solidFill>
                <a:latin typeface="Arial"/>
              </a:rPr>
              <a:t>Vehicle tracking via feed adapters; simulated data never published as live</a:t>
            </a:r>
            <a:endParaRPr sz="1200"/>
          </a:p>
          <a:p>
            <a:pPr algn="l" marL="164592" indent="-164592">
              <a:spcAft>
                <a:spcPts val="1000"/>
              </a:spcAft>
              <a:buClr>
                <a:srgbClr val="C00000"/>
              </a:buClr>
              <a:buFont typeface="Arial"/>
              <a:buChar char="•"/>
            </a:pPr>
            <a:r>
              <a:rPr sz="1200" b="0" i="0">
                <a:solidFill>
                  <a:srgbClr val="1F2937"/>
                </a:solidFill>
                <a:latin typeface="Arial"/>
              </a:rPr>
              <a:t>Role-based access; fraud checks on votes</a:t>
            </a:r>
            <a:endParaRPr sz="1200"/>
          </a:p>
          <a:p>
            <a:pPr algn="l" marL="164592" indent="-164592">
              <a:spcAft>
                <a:spcPts val="1000"/>
              </a:spcAft>
              <a:buClr>
                <a:srgbClr val="C00000"/>
              </a:buClr>
              <a:buFont typeface="Arial"/>
              <a:buChar char="•"/>
            </a:pPr>
            <a:r>
              <a:rPr sz="1200" b="0" i="0">
                <a:solidFill>
                  <a:srgbClr val="1F2937"/>
                </a:solidFill>
                <a:latin typeface="Arial"/>
              </a:rPr>
              <a:t>Read-only, citation-based assistant</a:t>
            </a:r>
            <a:endParaRPr sz="1200"/>
          </a:p>
        </p:txBody>
      </p:sp>
      <p:sp>
        <p:nvSpPr>
          <p:cNvPr id="15" name="TextBox 14"/>
          <p:cNvSpPr txBox="1"/>
          <p:nvPr/>
        </p:nvSpPr>
        <p:spPr>
          <a:xfrm>
            <a:off x="457200" y="5532120"/>
            <a:ext cx="1828800" cy="640080"/>
          </a:xfrm>
          <a:prstGeom prst="rect">
            <a:avLst/>
          </a:prstGeom>
          <a:noFill/>
        </p:spPr>
        <p:txBody>
          <a:bodyPr wrap="square" anchor="ctr" lIns="73152" rIns="73152"/>
          <a:lstStyle/>
          <a:p>
            <a:pPr algn="l"/>
            <a:r>
              <a:rPr sz="1150" b="1" i="0">
                <a:solidFill>
                  <a:srgbClr val="C00000"/>
                </a:solidFill>
                <a:latin typeface="Arial"/>
              </a:rPr>
              <a:t>Design rules across every feature:</a:t>
            </a:r>
            <a:endParaRPr sz="1150"/>
          </a:p>
        </p:txBody>
      </p:sp>
      <p:sp>
        <p:nvSpPr>
          <p:cNvPr id="16" name="Rounded Rectangle 15"/>
          <p:cNvSpPr/>
          <p:nvPr/>
        </p:nvSpPr>
        <p:spPr>
          <a:xfrm>
            <a:off x="2377440" y="5605272"/>
            <a:ext cx="1691640" cy="502920"/>
          </a:xfrm>
          <a:prstGeom prst="roundRect">
            <a:avLst>
              <a:gd name="adj" fmla="val 40000"/>
            </a:avLst>
          </a:prstGeom>
          <a:solidFill>
            <a:srgbClr val="1F2937"/>
          </a:solidFill>
          <a:ln>
            <a:noFill/>
          </a:ln>
          <a:effectLst/>
        </p:spPr>
        <p:txBody>
          <a:bodyPr rtlCol="0" anchor="ctr" wrap="square" lIns="27432" tIns="18288" rIns="27432" bIns="18288"/>
          <a:lstStyle/>
          <a:p>
            <a:pPr algn="ctr"/>
            <a:r>
              <a:rPr sz="1150" b="1" i="0">
                <a:solidFill>
                  <a:srgbClr val="FFFFFF"/>
                </a:solidFill>
                <a:latin typeface="Arial"/>
              </a:rPr>
              <a:t>Honest data labels</a:t>
            </a:r>
            <a:endParaRPr sz="1150"/>
          </a:p>
        </p:txBody>
      </p:sp>
      <p:sp>
        <p:nvSpPr>
          <p:cNvPr id="17" name="Rounded Rectangle 16"/>
          <p:cNvSpPr/>
          <p:nvPr/>
        </p:nvSpPr>
        <p:spPr>
          <a:xfrm>
            <a:off x="4160520" y="5605272"/>
            <a:ext cx="1691640" cy="502920"/>
          </a:xfrm>
          <a:prstGeom prst="roundRect">
            <a:avLst>
              <a:gd name="adj" fmla="val 40000"/>
            </a:avLst>
          </a:prstGeom>
          <a:solidFill>
            <a:srgbClr val="1F2937"/>
          </a:solidFill>
          <a:ln>
            <a:noFill/>
          </a:ln>
          <a:effectLst/>
        </p:spPr>
        <p:txBody>
          <a:bodyPr rtlCol="0" anchor="ctr" wrap="square" lIns="27432" tIns="18288" rIns="27432" bIns="18288"/>
          <a:lstStyle/>
          <a:p>
            <a:pPr algn="ctr"/>
            <a:r>
              <a:rPr sz="1150" b="1" i="0">
                <a:solidFill>
                  <a:srgbClr val="FFFFFF"/>
                </a:solidFill>
                <a:latin typeface="Arial"/>
              </a:rPr>
              <a:t>Offline-first</a:t>
            </a:r>
            <a:endParaRPr sz="1150"/>
          </a:p>
        </p:txBody>
      </p:sp>
      <p:sp>
        <p:nvSpPr>
          <p:cNvPr id="18" name="Rounded Rectangle 17"/>
          <p:cNvSpPr/>
          <p:nvPr/>
        </p:nvSpPr>
        <p:spPr>
          <a:xfrm>
            <a:off x="5943600" y="5605272"/>
            <a:ext cx="1691640" cy="502920"/>
          </a:xfrm>
          <a:prstGeom prst="roundRect">
            <a:avLst>
              <a:gd name="adj" fmla="val 40000"/>
            </a:avLst>
          </a:prstGeom>
          <a:solidFill>
            <a:srgbClr val="1F2937"/>
          </a:solidFill>
          <a:ln>
            <a:noFill/>
          </a:ln>
          <a:effectLst/>
        </p:spPr>
        <p:txBody>
          <a:bodyPr rtlCol="0" anchor="ctr" wrap="square" lIns="27432" tIns="18288" rIns="27432" bIns="18288"/>
          <a:lstStyle/>
          <a:p>
            <a:pPr algn="ctr"/>
            <a:r>
              <a:rPr sz="1150" b="1" i="0">
                <a:solidFill>
                  <a:srgbClr val="FFFFFF"/>
                </a:solidFill>
                <a:latin typeface="Arial"/>
              </a:rPr>
              <a:t>Read-only AI</a:t>
            </a:r>
            <a:endParaRPr sz="1150"/>
          </a:p>
        </p:txBody>
      </p:sp>
      <p:sp>
        <p:nvSpPr>
          <p:cNvPr id="19" name="Rounded Rectangle 18"/>
          <p:cNvSpPr/>
          <p:nvPr/>
        </p:nvSpPr>
        <p:spPr>
          <a:xfrm>
            <a:off x="7726680" y="5605272"/>
            <a:ext cx="1691640" cy="502920"/>
          </a:xfrm>
          <a:prstGeom prst="roundRect">
            <a:avLst>
              <a:gd name="adj" fmla="val 40000"/>
            </a:avLst>
          </a:prstGeom>
          <a:solidFill>
            <a:srgbClr val="1F2937"/>
          </a:solidFill>
          <a:ln>
            <a:noFill/>
          </a:ln>
          <a:effectLst/>
        </p:spPr>
        <p:txBody>
          <a:bodyPr rtlCol="0" anchor="ctr" wrap="square" lIns="27432" tIns="18288" rIns="27432" bIns="18288"/>
          <a:lstStyle/>
          <a:p>
            <a:pPr algn="ctr"/>
            <a:r>
              <a:rPr sz="1150" b="1" i="0">
                <a:solidFill>
                  <a:srgbClr val="FFFFFF"/>
                </a:solidFill>
                <a:latin typeface="Arial"/>
              </a:rPr>
              <a:t>Open standards</a:t>
            </a:r>
            <a:endParaRPr sz="115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19456"/>
            <a:ext cx="8988552" cy="603504"/>
          </a:xfrm>
        </p:spPr>
        <p:txBody>
          <a:bodyPr anchor="ctr" wrap="square"/>
          <a:lstStyle/>
          <a:p>
            <a:pPr algn="ctr"/>
            <a:r>
              <a:rPr sz="2800" b="1" i="0">
                <a:solidFill>
                  <a:srgbClr val="FF0000"/>
                </a:solidFill>
                <a:latin typeface="Arial"/>
              </a:rPr>
              <a:t>Existing Services vs DBARS</a:t>
            </a:r>
          </a:p>
        </p:txBody>
      </p:sp>
      <p:graphicFrame>
        <p:nvGraphicFramePr>
          <p:cNvPr id="3" name="Table 2"/>
          <p:cNvGraphicFramePr>
            <a:graphicFrameLocks noGrp="1"/>
          </p:cNvGraphicFramePr>
          <p:nvPr/>
        </p:nvGraphicFramePr>
        <p:xfrm>
          <a:off x="457200" y="914400"/>
          <a:ext cx="8988552" cy="4626864"/>
        </p:xfrm>
        <a:graphic>
          <a:graphicData uri="http://schemas.openxmlformats.org/drawingml/2006/table">
            <a:tbl>
              <a:tblPr firstRow="0" bandRow="0">
                <a:tableStyleId>{2D5ABB26-0587-4C30-8999-92F81FD0307C}</a:tableStyleId>
              </a:tblPr>
              <a:tblGrid>
                <a:gridCol w="1481328"/>
                <a:gridCol w="1600200"/>
                <a:gridCol w="1463040"/>
                <a:gridCol w="1417320"/>
                <a:gridCol w="3026664"/>
              </a:tblGrid>
              <a:tr h="384048">
                <a:tc>
                  <a:txBody>
                    <a:bodyPr wrap="square" anchor="ctr" lIns="54864" tIns="27432" rIns="54864" bIns="27432"/>
                    <a:lstStyle/>
                    <a:p>
                      <a:pPr algn="l"/>
                      <a:r>
                        <a:rPr sz="1050" b="1" i="0">
                          <a:solidFill>
                            <a:srgbClr val="FFFFFF"/>
                          </a:solidFill>
                          <a:latin typeface="Arial"/>
                        </a:rPr>
                        <a:t>Capability</a:t>
                      </a:r>
                      <a:endParaRPr sz="1050"/>
                    </a:p>
                  </a:txBody>
                  <a:tcPr marL="54864" marT="27432" marR="54864" marB="27432"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54864" tIns="27432" rIns="54864" bIns="27432"/>
                    <a:lstStyle/>
                    <a:p>
                      <a:pPr algn="l"/>
                      <a:r>
                        <a:rPr sz="1050" b="1" i="0">
                          <a:solidFill>
                            <a:srgbClr val="FFFFFF"/>
                          </a:solidFill>
                          <a:latin typeface="Arial"/>
                        </a:rPr>
                        <a:t>Namma BMTC 2.0 (BMTC)</a:t>
                      </a:r>
                      <a:endParaRPr sz="1050"/>
                    </a:p>
                  </a:txBody>
                  <a:tcPr marL="54864" marT="27432" marR="54864" marB="27432"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54864" tIns="27432" rIns="54864" bIns="27432"/>
                    <a:lstStyle/>
                    <a:p>
                      <a:pPr algn="l"/>
                      <a:r>
                        <a:rPr sz="1050" b="1" i="0">
                          <a:solidFill>
                            <a:srgbClr val="FFFFFF"/>
                          </a:solidFill>
                          <a:latin typeface="Arial"/>
                        </a:rPr>
                        <a:t>Moovit / Google-type planners</a:t>
                      </a:r>
                      <a:endParaRPr sz="1050"/>
                    </a:p>
                  </a:txBody>
                  <a:tcPr marL="54864" marT="27432" marR="54864" marB="27432"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54864" tIns="27432" rIns="54864" bIns="27432"/>
                    <a:lstStyle/>
                    <a:p>
                      <a:pPr algn="l"/>
                      <a:r>
                        <a:rPr sz="1050" b="1" i="0">
                          <a:solidFill>
                            <a:srgbClr val="FFFFFF"/>
                          </a:solidFill>
                          <a:latin typeface="Arial"/>
                        </a:rPr>
                        <a:t>Chalo-type ticketing apps</a:t>
                      </a:r>
                      <a:endParaRPr sz="1050"/>
                    </a:p>
                  </a:txBody>
                  <a:tcPr marL="54864" marT="27432" marR="54864" marB="27432"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54864" tIns="27432" rIns="54864" bIns="27432"/>
                    <a:lstStyle/>
                    <a:p>
                      <a:pPr algn="l"/>
                      <a:r>
                        <a:rPr sz="1050" b="1" i="0">
                          <a:solidFill>
                            <a:srgbClr val="FFFFFF"/>
                          </a:solidFill>
                          <a:latin typeface="Arial"/>
                        </a:rPr>
                        <a:t>DBARS (proposed)</a:t>
                      </a:r>
                      <a:endParaRPr sz="1050"/>
                    </a:p>
                  </a:txBody>
                  <a:tcPr marL="54864" marT="27432" marR="54864" marB="27432"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r>
              <a:tr h="530352">
                <a:tc>
                  <a:txBody>
                    <a:bodyPr wrap="square" anchor="ctr" lIns="54864" tIns="27432" rIns="54864" bIns="27432"/>
                    <a:lstStyle/>
                    <a:p>
                      <a:pPr algn="l"/>
                      <a:r>
                        <a:rPr sz="1000" b="1" i="0">
                          <a:solidFill>
                            <a:srgbClr val="1F2937"/>
                          </a:solidFill>
                          <a:latin typeface="Arial"/>
                        </a:rPr>
                        <a:t>Bus journey planning</a:t>
                      </a:r>
                      <a:endParaRPr sz="1000"/>
                    </a:p>
                  </a:txBody>
                  <a:tcPr marL="54864" marT="27432" marR="54864" marB="27432"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54864" tIns="27432" rIns="54864" bIns="27432"/>
                    <a:lstStyle/>
                    <a:p>
                      <a:pPr algn="l"/>
                      <a:r>
                        <a:rPr sz="1000" b="0" i="0">
                          <a:solidFill>
                            <a:srgbClr val="1F2937"/>
                          </a:solidFill>
                          <a:latin typeface="Arial"/>
                        </a:rPr>
                        <a:t>Yes: bus + Metro planner</a:t>
                      </a:r>
                      <a:endParaRPr sz="1000"/>
                    </a:p>
                  </a:txBody>
                  <a:tcPr marL="54864" marT="27432" marR="54864" marB="27432"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54864" tIns="27432" rIns="54864" bIns="27432"/>
                    <a:lstStyle/>
                    <a:p>
                      <a:pPr algn="l"/>
                      <a:r>
                        <a:rPr sz="1000" b="0" i="0">
                          <a:solidFill>
                            <a:srgbClr val="1F2937"/>
                          </a:solidFill>
                          <a:latin typeface="Arial"/>
                        </a:rPr>
                        <a:t>Yes: step-by-step trips</a:t>
                      </a:r>
                      <a:endParaRPr sz="1000"/>
                    </a:p>
                  </a:txBody>
                  <a:tcPr marL="54864" marT="27432" marR="54864" marB="27432"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54864" tIns="27432" rIns="54864" bIns="27432"/>
                    <a:lstStyle/>
                    <a:p>
                      <a:pPr algn="l"/>
                      <a:r>
                        <a:rPr sz="1000" b="0" i="0">
                          <a:solidFill>
                            <a:srgbClr val="6B7280"/>
                          </a:solidFill>
                          <a:latin typeface="Arial"/>
                        </a:rPr>
                        <a:t>Not a core offering</a:t>
                      </a:r>
                      <a:endParaRPr sz="1000"/>
                    </a:p>
                  </a:txBody>
                  <a:tcPr marL="54864" marT="27432" marR="54864" marB="27432"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54864" tIns="27432" rIns="54864" bIns="27432"/>
                    <a:lstStyle/>
                    <a:p>
                      <a:pPr algn="l"/>
                      <a:r>
                        <a:rPr sz="1000" b="0" i="0">
                          <a:solidFill>
                            <a:srgbClr val="1F2937"/>
                          </a:solidFill>
                          <a:latin typeface="Arial"/>
                        </a:rPr>
                        <a:t>Yes: direct, 1- and 2-change; ranked with a metric that can fail</a:t>
                      </a:r>
                      <a:endParaRPr sz="1000"/>
                    </a:p>
                  </a:txBody>
                  <a:tcPr marL="54864" marT="27432" marR="54864" marB="27432" anchor="ctr">
                    <a:lnL w="9525">
                      <a:solidFill>
                        <a:srgbClr val="D1D5DB"/>
                      </a:solidFill>
                    </a:lnL>
                    <a:lnR w="9525">
                      <a:solidFill>
                        <a:srgbClr val="D1D5DB"/>
                      </a:solidFill>
                    </a:lnR>
                    <a:lnT w="9525">
                      <a:solidFill>
                        <a:srgbClr val="D1D5DB"/>
                      </a:solidFill>
                    </a:lnT>
                    <a:lnB w="9525">
                      <a:solidFill>
                        <a:srgbClr val="D1D5DB"/>
                      </a:solidFill>
                    </a:lnB>
                    <a:solidFill>
                      <a:srgbClr val="E6F4EA"/>
                    </a:solidFill>
                  </a:tcPr>
                </a:tc>
              </a:tr>
              <a:tr h="530352">
                <a:tc>
                  <a:txBody>
                    <a:bodyPr wrap="square" anchor="ctr" lIns="54864" tIns="27432" rIns="54864" bIns="27432"/>
                    <a:lstStyle/>
                    <a:p>
                      <a:pPr algn="l"/>
                      <a:r>
                        <a:rPr sz="1000" b="1" i="0">
                          <a:solidFill>
                            <a:srgbClr val="1F2937"/>
                          </a:solidFill>
                          <a:latin typeface="Arial"/>
                        </a:rPr>
                        <a:t>Live tracking and ETA</a:t>
                      </a:r>
                      <a:endParaRPr sz="1000"/>
                    </a:p>
                  </a:txBody>
                  <a:tcPr marL="54864" marT="27432" marR="54864" marB="27432"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54864" tIns="27432" rIns="54864" bIns="27432"/>
                    <a:lstStyle/>
                    <a:p>
                      <a:pPr algn="l"/>
                      <a:r>
                        <a:rPr sz="1000" b="0" i="0">
                          <a:solidFill>
                            <a:srgbClr val="1F2937"/>
                          </a:solidFill>
                          <a:latin typeface="Arial"/>
                        </a:rPr>
                        <a:t>Yes</a:t>
                      </a:r>
                      <a:endParaRPr sz="1000"/>
                    </a:p>
                  </a:txBody>
                  <a:tcPr marL="54864" marT="27432" marR="54864" marB="27432"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54864" tIns="27432" rIns="54864" bIns="27432"/>
                    <a:lstStyle/>
                    <a:p>
                      <a:pPr algn="l"/>
                      <a:r>
                        <a:rPr sz="1000" b="0" i="0">
                          <a:solidFill>
                            <a:srgbClr val="1F2937"/>
                          </a:solidFill>
                          <a:latin typeface="Arial"/>
                        </a:rPr>
                        <a:t>Yes: real-time arrivals</a:t>
                      </a:r>
                      <a:endParaRPr sz="1000"/>
                    </a:p>
                  </a:txBody>
                  <a:tcPr marL="54864" marT="27432" marR="54864" marB="27432"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54864" tIns="27432" rIns="54864" bIns="27432"/>
                    <a:lstStyle/>
                    <a:p>
                      <a:pPr algn="l"/>
                      <a:r>
                        <a:rPr sz="1000" b="0" i="0">
                          <a:solidFill>
                            <a:srgbClr val="1F2937"/>
                          </a:solidFill>
                          <a:latin typeface="Arial"/>
                        </a:rPr>
                        <a:t>Yes</a:t>
                      </a:r>
                      <a:endParaRPr sz="1000"/>
                    </a:p>
                  </a:txBody>
                  <a:tcPr marL="54864" marT="27432" marR="54864" marB="27432"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54864" tIns="27432" rIns="54864" bIns="27432"/>
                    <a:lstStyle/>
                    <a:p>
                      <a:pPr algn="l"/>
                      <a:r>
                        <a:rPr sz="1000" b="0" i="0">
                          <a:solidFill>
                            <a:srgbClr val="1F2937"/>
                          </a:solidFill>
                          <a:latin typeface="Arial"/>
                        </a:rPr>
                        <a:t>Yes, from any feed; simulated data always labelled, never sold as live</a:t>
                      </a:r>
                      <a:endParaRPr sz="1000"/>
                    </a:p>
                  </a:txBody>
                  <a:tcPr marL="54864" marT="27432" marR="54864" marB="27432" anchor="ctr">
                    <a:lnL w="9525">
                      <a:solidFill>
                        <a:srgbClr val="D1D5DB"/>
                      </a:solidFill>
                    </a:lnL>
                    <a:lnR w="9525">
                      <a:solidFill>
                        <a:srgbClr val="D1D5DB"/>
                      </a:solidFill>
                    </a:lnR>
                    <a:lnT w="9525">
                      <a:solidFill>
                        <a:srgbClr val="D1D5DB"/>
                      </a:solidFill>
                    </a:lnT>
                    <a:lnB w="9525">
                      <a:solidFill>
                        <a:srgbClr val="D1D5DB"/>
                      </a:solidFill>
                    </a:lnB>
                    <a:solidFill>
                      <a:srgbClr val="E6F4EA"/>
                    </a:solidFill>
                  </a:tcPr>
                </a:tc>
              </a:tr>
              <a:tr h="530352">
                <a:tc>
                  <a:txBody>
                    <a:bodyPr wrap="square" anchor="ctr" lIns="54864" tIns="27432" rIns="54864" bIns="27432"/>
                    <a:lstStyle/>
                    <a:p>
                      <a:pPr algn="l"/>
                      <a:r>
                        <a:rPr sz="1000" b="1" i="0">
                          <a:solidFill>
                            <a:srgbClr val="1F2937"/>
                          </a:solidFill>
                          <a:latin typeface="Arial"/>
                        </a:rPr>
                        <a:t>Tickets and passes</a:t>
                      </a:r>
                      <a:endParaRPr sz="1000"/>
                    </a:p>
                  </a:txBody>
                  <a:tcPr marL="54864" marT="27432" marR="54864" marB="27432"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54864" tIns="27432" rIns="54864" bIns="27432"/>
                    <a:lstStyle/>
                    <a:p>
                      <a:pPr algn="l"/>
                      <a:r>
                        <a:rPr sz="1000" b="0" i="0">
                          <a:solidFill>
                            <a:srgbClr val="1F2937"/>
                          </a:solidFill>
                          <a:latin typeface="Arial"/>
                        </a:rPr>
                        <a:t>Yes: digital, Metro QR, NCMC card</a:t>
                      </a:r>
                      <a:endParaRPr sz="1000"/>
                    </a:p>
                  </a:txBody>
                  <a:tcPr marL="54864" marT="27432" marR="54864" marB="27432"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54864" tIns="27432" rIns="54864" bIns="27432"/>
                    <a:lstStyle/>
                    <a:p>
                      <a:pPr algn="l"/>
                      <a:r>
                        <a:rPr sz="1000" b="0" i="0">
                          <a:solidFill>
                            <a:srgbClr val="6B7280"/>
                          </a:solidFill>
                          <a:latin typeface="Arial"/>
                        </a:rPr>
                        <a:t>Not described</a:t>
                      </a:r>
                      <a:endParaRPr sz="1000"/>
                    </a:p>
                  </a:txBody>
                  <a:tcPr marL="54864" marT="27432" marR="54864" marB="27432"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54864" tIns="27432" rIns="54864" bIns="27432"/>
                    <a:lstStyle/>
                    <a:p>
                      <a:pPr algn="l"/>
                      <a:r>
                        <a:rPr sz="1000" b="0" i="0">
                          <a:solidFill>
                            <a:srgbClr val="1F2937"/>
                          </a:solidFill>
                          <a:latin typeface="Arial"/>
                        </a:rPr>
                        <a:t>Yes: mobile tickets, passes, card</a:t>
                      </a:r>
                      <a:endParaRPr sz="1000"/>
                    </a:p>
                  </a:txBody>
                  <a:tcPr marL="54864" marT="27432" marR="54864" marB="27432"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54864" tIns="27432" rIns="54864" bIns="27432"/>
                    <a:lstStyle/>
                    <a:p>
                      <a:pPr algn="l"/>
                      <a:r>
                        <a:rPr sz="1000" b="0" i="0">
                          <a:solidFill>
                            <a:srgbClr val="1F2937"/>
                          </a:solidFill>
                          <a:latin typeface="Arial"/>
                        </a:rPr>
                        <a:t>Yes, plus Shakti tickets that store fare value vs fare collected</a:t>
                      </a:r>
                      <a:endParaRPr sz="1000"/>
                    </a:p>
                  </a:txBody>
                  <a:tcPr marL="54864" marT="27432" marR="54864" marB="27432" anchor="ctr">
                    <a:lnL w="9525">
                      <a:solidFill>
                        <a:srgbClr val="D1D5DB"/>
                      </a:solidFill>
                    </a:lnL>
                    <a:lnR w="9525">
                      <a:solidFill>
                        <a:srgbClr val="D1D5DB"/>
                      </a:solidFill>
                    </a:lnR>
                    <a:lnT w="9525">
                      <a:solidFill>
                        <a:srgbClr val="D1D5DB"/>
                      </a:solidFill>
                    </a:lnT>
                    <a:lnB w="9525">
                      <a:solidFill>
                        <a:srgbClr val="D1D5DB"/>
                      </a:solidFill>
                    </a:lnB>
                    <a:solidFill>
                      <a:srgbClr val="E6F4EA"/>
                    </a:solidFill>
                  </a:tcPr>
                </a:tc>
              </a:tr>
              <a:tr h="530352">
                <a:tc>
                  <a:txBody>
                    <a:bodyPr wrap="square" anchor="ctr" lIns="54864" tIns="27432" rIns="54864" bIns="27432"/>
                    <a:lstStyle/>
                    <a:p>
                      <a:pPr algn="l"/>
                      <a:r>
                        <a:rPr sz="1000" b="1" i="0">
                          <a:solidFill>
                            <a:srgbClr val="1F2937"/>
                          </a:solidFill>
                          <a:latin typeface="Arial"/>
                        </a:rPr>
                        <a:t>Commuter demand to depot decision</a:t>
                      </a:r>
                      <a:endParaRPr sz="1000"/>
                    </a:p>
                  </a:txBody>
                  <a:tcPr marL="54864" marT="27432" marR="54864" marB="27432"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54864" tIns="27432" rIns="54864" bIns="27432"/>
                    <a:lstStyle/>
                    <a:p>
                      <a:pPr algn="l"/>
                      <a:r>
                        <a:rPr sz="1000" b="0" i="0">
                          <a:solidFill>
                            <a:srgbClr val="6B7280"/>
                          </a:solidFill>
                          <a:latin typeface="Arial"/>
                        </a:rPr>
                        <a:t>Not described</a:t>
                      </a:r>
                      <a:endParaRPr sz="1000"/>
                    </a:p>
                  </a:txBody>
                  <a:tcPr marL="54864" marT="27432" marR="54864" marB="27432"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54864" tIns="27432" rIns="54864" bIns="27432"/>
                    <a:lstStyle/>
                    <a:p>
                      <a:pPr algn="l"/>
                      <a:r>
                        <a:rPr sz="1000" b="0" i="0">
                          <a:solidFill>
                            <a:srgbClr val="6B7280"/>
                          </a:solidFill>
                          <a:latin typeface="Arial"/>
                        </a:rPr>
                        <a:t>Not described</a:t>
                      </a:r>
                      <a:endParaRPr sz="1000"/>
                    </a:p>
                  </a:txBody>
                  <a:tcPr marL="54864" marT="27432" marR="54864" marB="27432"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54864" tIns="27432" rIns="54864" bIns="27432"/>
                    <a:lstStyle/>
                    <a:p>
                      <a:pPr algn="l"/>
                      <a:r>
                        <a:rPr sz="1000" b="0" i="0">
                          <a:solidFill>
                            <a:srgbClr val="6B7280"/>
                          </a:solidFill>
                          <a:latin typeface="Arial"/>
                        </a:rPr>
                        <a:t>Not described</a:t>
                      </a:r>
                      <a:endParaRPr sz="1000"/>
                    </a:p>
                  </a:txBody>
                  <a:tcPr marL="54864" marT="27432" marR="54864" marB="27432"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54864" tIns="27432" rIns="54864" bIns="27432"/>
                    <a:lstStyle/>
                    <a:p>
                      <a:pPr algn="l"/>
                      <a:r>
                        <a:rPr sz="1000" b="0" i="0">
                          <a:solidFill>
                            <a:srgbClr val="1F2937"/>
                          </a:solidFill>
                          <a:latin typeface="Arial"/>
                        </a:rPr>
                        <a:t>Fraud-checked votes become ranked dispatch recommendations</a:t>
                      </a:r>
                      <a:endParaRPr sz="1000"/>
                    </a:p>
                  </a:txBody>
                  <a:tcPr marL="54864" marT="27432" marR="54864" marB="27432" anchor="ctr">
                    <a:lnL w="9525">
                      <a:solidFill>
                        <a:srgbClr val="D1D5DB"/>
                      </a:solidFill>
                    </a:lnL>
                    <a:lnR w="9525">
                      <a:solidFill>
                        <a:srgbClr val="D1D5DB"/>
                      </a:solidFill>
                    </a:lnR>
                    <a:lnT w="9525">
                      <a:solidFill>
                        <a:srgbClr val="D1D5DB"/>
                      </a:solidFill>
                    </a:lnT>
                    <a:lnB w="9525">
                      <a:solidFill>
                        <a:srgbClr val="D1D5DB"/>
                      </a:solidFill>
                    </a:lnB>
                    <a:solidFill>
                      <a:srgbClr val="E6F4EA"/>
                    </a:solidFill>
                  </a:tcPr>
                </a:tc>
              </a:tr>
              <a:tr h="530352">
                <a:tc>
                  <a:txBody>
                    <a:bodyPr wrap="square" anchor="ctr" lIns="54864" tIns="27432" rIns="54864" bIns="27432"/>
                    <a:lstStyle/>
                    <a:p>
                      <a:pPr algn="l"/>
                      <a:r>
                        <a:rPr sz="1000" b="1" i="0">
                          <a:solidFill>
                            <a:srgbClr val="1F2937"/>
                          </a:solidFill>
                          <a:latin typeface="Arial"/>
                        </a:rPr>
                        <a:t>Fleet and crew planning</a:t>
                      </a:r>
                      <a:endParaRPr sz="1000"/>
                    </a:p>
                  </a:txBody>
                  <a:tcPr marL="54864" marT="27432" marR="54864" marB="27432"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54864" tIns="27432" rIns="54864" bIns="27432"/>
                    <a:lstStyle/>
                    <a:p>
                      <a:pPr algn="l"/>
                      <a:r>
                        <a:rPr sz="1000" b="0" i="0">
                          <a:solidFill>
                            <a:srgbClr val="6B7280"/>
                          </a:solidFill>
                          <a:latin typeface="Arial"/>
                        </a:rPr>
                        <a:t>Not described</a:t>
                      </a:r>
                      <a:endParaRPr sz="1000"/>
                    </a:p>
                  </a:txBody>
                  <a:tcPr marL="54864" marT="27432" marR="54864" marB="27432"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54864" tIns="27432" rIns="54864" bIns="27432"/>
                    <a:lstStyle/>
                    <a:p>
                      <a:pPr algn="l"/>
                      <a:r>
                        <a:rPr sz="1000" b="0" i="0">
                          <a:solidFill>
                            <a:srgbClr val="6B7280"/>
                          </a:solidFill>
                          <a:latin typeface="Arial"/>
                        </a:rPr>
                        <a:t>Not described</a:t>
                      </a:r>
                      <a:endParaRPr sz="1000"/>
                    </a:p>
                  </a:txBody>
                  <a:tcPr marL="54864" marT="27432" marR="54864" marB="27432"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54864" tIns="27432" rIns="54864" bIns="27432"/>
                    <a:lstStyle/>
                    <a:p>
                      <a:pPr algn="l"/>
                      <a:r>
                        <a:rPr sz="1000" b="0" i="0">
                          <a:solidFill>
                            <a:srgbClr val="6B7280"/>
                          </a:solidFill>
                          <a:latin typeface="Arial"/>
                        </a:rPr>
                        <a:t>Not described</a:t>
                      </a:r>
                      <a:endParaRPr sz="1000"/>
                    </a:p>
                  </a:txBody>
                  <a:tcPr marL="54864" marT="27432" marR="54864" marB="27432"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54864" tIns="27432" rIns="54864" bIns="27432"/>
                    <a:lstStyle/>
                    <a:p>
                      <a:pPr algn="l"/>
                      <a:r>
                        <a:rPr sz="1000" b="0" i="0">
                          <a:solidFill>
                            <a:srgbClr val="1F2937"/>
                          </a:solidFill>
                          <a:latin typeface="Arial"/>
                        </a:rPr>
                        <a:t>Minimum buses, dead km and crew duties, with what-if scenarios</a:t>
                      </a:r>
                      <a:endParaRPr sz="1000"/>
                    </a:p>
                  </a:txBody>
                  <a:tcPr marL="54864" marT="27432" marR="54864" marB="27432" anchor="ctr">
                    <a:lnL w="9525">
                      <a:solidFill>
                        <a:srgbClr val="D1D5DB"/>
                      </a:solidFill>
                    </a:lnL>
                    <a:lnR w="9525">
                      <a:solidFill>
                        <a:srgbClr val="D1D5DB"/>
                      </a:solidFill>
                    </a:lnR>
                    <a:lnT w="9525">
                      <a:solidFill>
                        <a:srgbClr val="D1D5DB"/>
                      </a:solidFill>
                    </a:lnT>
                    <a:lnB w="9525">
                      <a:solidFill>
                        <a:srgbClr val="D1D5DB"/>
                      </a:solidFill>
                    </a:lnB>
                    <a:solidFill>
                      <a:srgbClr val="E6F4EA"/>
                    </a:solidFill>
                  </a:tcPr>
                </a:tc>
              </a:tr>
              <a:tr h="530352">
                <a:tc>
                  <a:txBody>
                    <a:bodyPr wrap="square" anchor="ctr" lIns="54864" tIns="27432" rIns="54864" bIns="27432"/>
                    <a:lstStyle/>
                    <a:p>
                      <a:pPr algn="l"/>
                      <a:r>
                        <a:rPr sz="1000" b="1" i="0">
                          <a:solidFill>
                            <a:srgbClr val="1F2937"/>
                          </a:solidFill>
                          <a:latin typeface="Arial"/>
                        </a:rPr>
                        <a:t>Conductor waybill and cash check</a:t>
                      </a:r>
                      <a:endParaRPr sz="1000"/>
                    </a:p>
                  </a:txBody>
                  <a:tcPr marL="54864" marT="27432" marR="54864" marB="27432"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54864" tIns="27432" rIns="54864" bIns="27432"/>
                    <a:lstStyle/>
                    <a:p>
                      <a:pPr algn="l"/>
                      <a:r>
                        <a:rPr sz="1000" b="0" i="0">
                          <a:solidFill>
                            <a:srgbClr val="6B7280"/>
                          </a:solidFill>
                          <a:latin typeface="Arial"/>
                        </a:rPr>
                        <a:t>Not described</a:t>
                      </a:r>
                      <a:endParaRPr sz="1000"/>
                    </a:p>
                  </a:txBody>
                  <a:tcPr marL="54864" marT="27432" marR="54864" marB="27432"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54864" tIns="27432" rIns="54864" bIns="27432"/>
                    <a:lstStyle/>
                    <a:p>
                      <a:pPr algn="l"/>
                      <a:r>
                        <a:rPr sz="1000" b="0" i="0">
                          <a:solidFill>
                            <a:srgbClr val="6B7280"/>
                          </a:solidFill>
                          <a:latin typeface="Arial"/>
                        </a:rPr>
                        <a:t>Not described</a:t>
                      </a:r>
                      <a:endParaRPr sz="1000"/>
                    </a:p>
                  </a:txBody>
                  <a:tcPr marL="54864" marT="27432" marR="54864" marB="27432"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54864" tIns="27432" rIns="54864" bIns="27432"/>
                    <a:lstStyle/>
                    <a:p>
                      <a:pPr algn="l"/>
                      <a:r>
                        <a:rPr sz="1000" b="0" i="0">
                          <a:solidFill>
                            <a:srgbClr val="6B7280"/>
                          </a:solidFill>
                          <a:latin typeface="Arial"/>
                        </a:rPr>
                        <a:t>Not described</a:t>
                      </a:r>
                      <a:endParaRPr sz="1000"/>
                    </a:p>
                  </a:txBody>
                  <a:tcPr marL="54864" marT="27432" marR="54864" marB="27432"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54864" tIns="27432" rIns="54864" bIns="27432"/>
                    <a:lstStyle/>
                    <a:p>
                      <a:pPr algn="l"/>
                      <a:r>
                        <a:rPr sz="1000" b="0" i="0">
                          <a:solidFill>
                            <a:srgbClr val="1F2937"/>
                          </a:solidFill>
                          <a:latin typeface="Arial"/>
                        </a:rPr>
                        <a:t>Offline-first waybills; cash variance reported, never auto-corrected</a:t>
                      </a:r>
                      <a:endParaRPr sz="1000"/>
                    </a:p>
                  </a:txBody>
                  <a:tcPr marL="54864" marT="27432" marR="54864" marB="27432" anchor="ctr">
                    <a:lnL w="9525">
                      <a:solidFill>
                        <a:srgbClr val="D1D5DB"/>
                      </a:solidFill>
                    </a:lnL>
                    <a:lnR w="9525">
                      <a:solidFill>
                        <a:srgbClr val="D1D5DB"/>
                      </a:solidFill>
                    </a:lnR>
                    <a:lnT w="9525">
                      <a:solidFill>
                        <a:srgbClr val="D1D5DB"/>
                      </a:solidFill>
                    </a:lnT>
                    <a:lnB w="9525">
                      <a:solidFill>
                        <a:srgbClr val="D1D5DB"/>
                      </a:solidFill>
                    </a:lnB>
                    <a:solidFill>
                      <a:srgbClr val="E6F4EA"/>
                    </a:solidFill>
                  </a:tcPr>
                </a:tc>
              </a:tr>
              <a:tr h="530352">
                <a:tc>
                  <a:txBody>
                    <a:bodyPr wrap="square" anchor="ctr" lIns="54864" tIns="27432" rIns="54864" bIns="27432"/>
                    <a:lstStyle/>
                    <a:p>
                      <a:pPr algn="l"/>
                      <a:r>
                        <a:rPr sz="1000" b="1" i="0">
                          <a:solidFill>
                            <a:srgbClr val="1F2937"/>
                          </a:solidFill>
                          <a:latin typeface="Arial"/>
                        </a:rPr>
                        <a:t>Open data</a:t>
                      </a:r>
                      <a:endParaRPr sz="1000"/>
                    </a:p>
                  </a:txBody>
                  <a:tcPr marL="54864" marT="27432" marR="54864" marB="27432"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54864" tIns="27432" rIns="54864" bIns="27432"/>
                    <a:lstStyle/>
                    <a:p>
                      <a:pPr algn="l"/>
                      <a:r>
                        <a:rPr sz="1000" b="0" i="0">
                          <a:solidFill>
                            <a:srgbClr val="6B7280"/>
                          </a:solidFill>
                          <a:latin typeface="Arial"/>
                        </a:rPr>
                        <a:t>Not described (a static BMTC schedule feed is listed publicly)</a:t>
                      </a:r>
                      <a:endParaRPr sz="1000"/>
                    </a:p>
                  </a:txBody>
                  <a:tcPr marL="54864" marT="27432" marR="54864" marB="27432"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54864" tIns="27432" rIns="54864" bIns="27432"/>
                    <a:lstStyle/>
                    <a:p>
                      <a:pPr algn="l"/>
                      <a:r>
                        <a:rPr sz="1000" b="0" i="0">
                          <a:solidFill>
                            <a:srgbClr val="6B7280"/>
                          </a:solidFill>
                          <a:latin typeface="Arial"/>
                        </a:rPr>
                        <a:t>Not described</a:t>
                      </a:r>
                      <a:endParaRPr sz="1000"/>
                    </a:p>
                  </a:txBody>
                  <a:tcPr marL="54864" marT="27432" marR="54864" marB="27432"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54864" tIns="27432" rIns="54864" bIns="27432"/>
                    <a:lstStyle/>
                    <a:p>
                      <a:pPr algn="l"/>
                      <a:r>
                        <a:rPr sz="1000" b="0" i="0">
                          <a:solidFill>
                            <a:srgbClr val="6B7280"/>
                          </a:solidFill>
                          <a:latin typeface="Arial"/>
                        </a:rPr>
                        <a:t>Not described</a:t>
                      </a:r>
                      <a:endParaRPr sz="1000"/>
                    </a:p>
                  </a:txBody>
                  <a:tcPr marL="54864" marT="27432" marR="54864" marB="27432"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54864" tIns="27432" rIns="54864" bIns="27432"/>
                    <a:lstStyle/>
                    <a:p>
                      <a:pPr algn="l"/>
                      <a:r>
                        <a:rPr sz="1000" b="0" i="0">
                          <a:solidFill>
                            <a:srgbClr val="1F2937"/>
                          </a:solidFill>
                          <a:latin typeface="Arial"/>
                        </a:rPr>
                        <a:t>Enriched GTFS plus GTFS-Realtime alerts, extending the static feed</a:t>
                      </a:r>
                      <a:endParaRPr sz="1000"/>
                    </a:p>
                  </a:txBody>
                  <a:tcPr marL="54864" marT="27432" marR="54864" marB="27432" anchor="ctr">
                    <a:lnL w="9525">
                      <a:solidFill>
                        <a:srgbClr val="D1D5DB"/>
                      </a:solidFill>
                    </a:lnL>
                    <a:lnR w="9525">
                      <a:solidFill>
                        <a:srgbClr val="D1D5DB"/>
                      </a:solidFill>
                    </a:lnR>
                    <a:lnT w="9525">
                      <a:solidFill>
                        <a:srgbClr val="D1D5DB"/>
                      </a:solidFill>
                    </a:lnT>
                    <a:lnB w="9525">
                      <a:solidFill>
                        <a:srgbClr val="D1D5DB"/>
                      </a:solidFill>
                    </a:lnB>
                    <a:solidFill>
                      <a:srgbClr val="E6F4EA"/>
                    </a:solidFill>
                  </a:tcPr>
                </a:tc>
              </a:tr>
              <a:tr h="530352">
                <a:tc>
                  <a:txBody>
                    <a:bodyPr wrap="square" anchor="ctr" lIns="54864" tIns="27432" rIns="54864" bIns="27432"/>
                    <a:lstStyle/>
                    <a:p>
                      <a:pPr algn="l"/>
                      <a:r>
                        <a:rPr sz="1000" b="1" i="0">
                          <a:solidFill>
                            <a:srgbClr val="1F2937"/>
                          </a:solidFill>
                          <a:latin typeface="Arial"/>
                        </a:rPr>
                        <a:t>Languages and access</a:t>
                      </a:r>
                      <a:endParaRPr sz="1000"/>
                    </a:p>
                  </a:txBody>
                  <a:tcPr marL="54864" marT="27432" marR="54864" marB="27432"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54864" tIns="27432" rIns="54864" bIns="27432"/>
                    <a:lstStyle/>
                    <a:p>
                      <a:pPr algn="l"/>
                      <a:r>
                        <a:rPr sz="1000" b="0" i="0">
                          <a:solidFill>
                            <a:srgbClr val="1F2937"/>
                          </a:solidFill>
                          <a:latin typeface="Arial"/>
                        </a:rPr>
                        <a:t>Kannada, English</a:t>
                      </a:r>
                      <a:endParaRPr sz="1000"/>
                    </a:p>
                  </a:txBody>
                  <a:tcPr marL="54864" marT="27432" marR="54864" marB="27432"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54864" tIns="27432" rIns="54864" bIns="27432"/>
                    <a:lstStyle/>
                    <a:p>
                      <a:pPr algn="l"/>
                      <a:r>
                        <a:rPr sz="1000" b="0" i="0">
                          <a:solidFill>
                            <a:srgbClr val="6B7280"/>
                          </a:solidFill>
                          <a:latin typeface="Arial"/>
                        </a:rPr>
                        <a:t>Not described</a:t>
                      </a:r>
                      <a:endParaRPr sz="1000"/>
                    </a:p>
                  </a:txBody>
                  <a:tcPr marL="54864" marT="27432" marR="54864" marB="27432"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54864" tIns="27432" rIns="54864" bIns="27432"/>
                    <a:lstStyle/>
                    <a:p>
                      <a:pPr algn="l"/>
                      <a:r>
                        <a:rPr sz="1000" b="0" i="0">
                          <a:solidFill>
                            <a:srgbClr val="6B7280"/>
                          </a:solidFill>
                          <a:latin typeface="Arial"/>
                        </a:rPr>
                        <a:t>Not described</a:t>
                      </a:r>
                      <a:endParaRPr sz="1000"/>
                    </a:p>
                  </a:txBody>
                  <a:tcPr marL="54864" marT="27432" marR="54864" marB="27432"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54864" tIns="27432" rIns="54864" bIns="27432"/>
                    <a:lstStyle/>
                    <a:p>
                      <a:pPr algn="l"/>
                      <a:r>
                        <a:rPr sz="1000" b="0" i="0">
                          <a:solidFill>
                            <a:srgbClr val="1F2937"/>
                          </a:solidFill>
                          <a:latin typeface="Arial"/>
                        </a:rPr>
                        <a:t>English, Kannada, Hindi, Telugu, plus SMS for feature phones</a:t>
                      </a:r>
                      <a:endParaRPr sz="1000"/>
                    </a:p>
                  </a:txBody>
                  <a:tcPr marL="54864" marT="27432" marR="54864" marB="27432" anchor="ctr">
                    <a:lnL w="9525">
                      <a:solidFill>
                        <a:srgbClr val="D1D5DB"/>
                      </a:solidFill>
                    </a:lnL>
                    <a:lnR w="9525">
                      <a:solidFill>
                        <a:srgbClr val="D1D5DB"/>
                      </a:solidFill>
                    </a:lnR>
                    <a:lnT w="9525">
                      <a:solidFill>
                        <a:srgbClr val="D1D5DB"/>
                      </a:solidFill>
                    </a:lnT>
                    <a:lnB w="9525">
                      <a:solidFill>
                        <a:srgbClr val="D1D5DB"/>
                      </a:solidFill>
                    </a:lnB>
                    <a:solidFill>
                      <a:srgbClr val="E6F4EA"/>
                    </a:solidFill>
                  </a:tcPr>
                </a:tc>
              </a:tr>
            </a:tbl>
          </a:graphicData>
        </a:graphic>
      </p:graphicFrame>
      <p:sp>
        <p:nvSpPr>
          <p:cNvPr id="4" name="TextBox 3"/>
          <p:cNvSpPr txBox="1"/>
          <p:nvPr/>
        </p:nvSpPr>
        <p:spPr>
          <a:xfrm>
            <a:off x="457200" y="5669280"/>
            <a:ext cx="8988552" cy="594360"/>
          </a:xfrm>
          <a:prstGeom prst="rect">
            <a:avLst/>
          </a:prstGeom>
          <a:noFill/>
        </p:spPr>
        <p:txBody>
          <a:bodyPr wrap="square" anchor="t" lIns="73152" rIns="73152"/>
          <a:lstStyle/>
          <a:p>
            <a:pPr algn="l"/>
            <a:r>
              <a:rPr sz="1000" b="0" i="1">
                <a:solidFill>
                  <a:srgbClr val="4B5563"/>
                </a:solidFill>
                <a:latin typeface="Arial"/>
              </a:rPr>
              <a:t>Based on public feature descriptions reviewed in September 2026 [14-18]. "Not described" means the capability is not listed there; it is not proof that it is absent. Namma BMTC 2.0 launched in September 2026, so its feature set may grow.</a:t>
            </a:r>
            <a:endParaRPr sz="100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19456"/>
            <a:ext cx="8988552" cy="603504"/>
          </a:xfrm>
        </p:spPr>
        <p:txBody>
          <a:bodyPr anchor="ctr" wrap="square"/>
          <a:lstStyle/>
          <a:p>
            <a:pPr algn="ctr"/>
            <a:r>
              <a:rPr sz="2800" b="1" i="0">
                <a:solidFill>
                  <a:srgbClr val="FF0000"/>
                </a:solidFill>
                <a:latin typeface="Arial"/>
              </a:rPr>
              <a:t>Why DBARS Is Unique</a:t>
            </a:r>
          </a:p>
        </p:txBody>
      </p:sp>
      <p:sp>
        <p:nvSpPr>
          <p:cNvPr id="3" name="Rounded Rectangle 2"/>
          <p:cNvSpPr/>
          <p:nvPr/>
        </p:nvSpPr>
        <p:spPr>
          <a:xfrm>
            <a:off x="457200" y="914400"/>
            <a:ext cx="8988552" cy="731520"/>
          </a:xfrm>
          <a:prstGeom prst="roundRect">
            <a:avLst>
              <a:gd name="adj" fmla="val 8000"/>
            </a:avLst>
          </a:prstGeom>
          <a:solidFill>
            <a:srgbClr val="1F2937"/>
          </a:solidFill>
          <a:ln>
            <a:noFill/>
          </a:ln>
          <a:effectLst/>
        </p:spPr>
        <p:txBody>
          <a:bodyPr rtlCol="0" anchor="ctr" wrap="square" lIns="274320" rIns="274320"/>
          <a:lstStyle/>
          <a:p>
            <a:pPr algn="ctr"/>
            <a:r>
              <a:rPr sz="1300" b="1" i="0">
                <a:solidFill>
                  <a:srgbClr val="FFFFFF"/>
                </a:solidFill>
                <a:latin typeface="Arial"/>
              </a:rPr>
              <a:t>Existing apps answer the rider's question: which bus do I take? DBARS also answers the operator's: how many buses do we run, and where do riders want more?</a:t>
            </a:r>
            <a:endParaRPr sz="1300"/>
          </a:p>
        </p:txBody>
      </p:sp>
      <p:sp>
        <p:nvSpPr>
          <p:cNvPr id="4" name="Rounded Rectangle 3"/>
          <p:cNvSpPr/>
          <p:nvPr/>
        </p:nvSpPr>
        <p:spPr>
          <a:xfrm>
            <a:off x="457200" y="1755648"/>
            <a:ext cx="8988552" cy="658368"/>
          </a:xfrm>
          <a:prstGeom prst="roundRect">
            <a:avLst>
              <a:gd name="adj" fmla="val 8000"/>
            </a:avLst>
          </a:prstGeom>
          <a:solidFill>
            <a:srgbClr val="F3F4F6"/>
          </a:solidFill>
          <a:ln>
            <a:noFill/>
          </a:ln>
          <a:effectLst/>
        </p:spPr>
        <p:txBody>
          <a:bodyPr rtlCol="0" anchor="ctr"/>
          <a:lstStyle/>
          <a:p>
            <a:pPr algn="ctr"/>
          </a:p>
        </p:txBody>
      </p:sp>
      <p:sp>
        <p:nvSpPr>
          <p:cNvPr id="5" name="Oval 4"/>
          <p:cNvSpPr/>
          <p:nvPr/>
        </p:nvSpPr>
        <p:spPr>
          <a:xfrm>
            <a:off x="594360" y="1901952"/>
            <a:ext cx="402336" cy="402336"/>
          </a:xfrm>
          <a:prstGeom prst="ellipse">
            <a:avLst/>
          </a:prstGeom>
          <a:solidFill>
            <a:srgbClr val="C00000"/>
          </a:solidFill>
          <a:ln>
            <a:noFill/>
          </a:ln>
          <a:effectLst/>
        </p:spPr>
        <p:txBody>
          <a:bodyPr rtlCol="0" anchor="ctr" wrap="none" lIns="0" tIns="0" rIns="0" bIns="0"/>
          <a:lstStyle/>
          <a:p>
            <a:pPr algn="ctr"/>
            <a:r>
              <a:rPr sz="1400" b="1" i="0">
                <a:solidFill>
                  <a:srgbClr val="FFFFFF"/>
                </a:solidFill>
                <a:latin typeface="Arial"/>
              </a:rPr>
              <a:t>1</a:t>
            </a:r>
            <a:endParaRPr sz="1400"/>
          </a:p>
        </p:txBody>
      </p:sp>
      <p:sp>
        <p:nvSpPr>
          <p:cNvPr id="6" name="TextBox 5"/>
          <p:cNvSpPr txBox="1"/>
          <p:nvPr/>
        </p:nvSpPr>
        <p:spPr>
          <a:xfrm>
            <a:off x="1143000" y="1773936"/>
            <a:ext cx="2743200" cy="621792"/>
          </a:xfrm>
          <a:prstGeom prst="rect">
            <a:avLst/>
          </a:prstGeom>
          <a:noFill/>
        </p:spPr>
        <p:txBody>
          <a:bodyPr wrap="square" anchor="ctr" lIns="73152" rIns="73152"/>
          <a:lstStyle/>
          <a:p>
            <a:pPr algn="l"/>
            <a:r>
              <a:rPr sz="1250" b="1" i="0">
                <a:solidFill>
                  <a:srgbClr val="C00000"/>
                </a:solidFill>
                <a:latin typeface="Arial"/>
              </a:rPr>
              <a:t>A closed loop from demand to dispatch</a:t>
            </a:r>
            <a:endParaRPr sz="1250"/>
          </a:p>
        </p:txBody>
      </p:sp>
      <p:sp>
        <p:nvSpPr>
          <p:cNvPr id="7" name="TextBox 6"/>
          <p:cNvSpPr txBox="1"/>
          <p:nvPr/>
        </p:nvSpPr>
        <p:spPr>
          <a:xfrm>
            <a:off x="3931920" y="1773936"/>
            <a:ext cx="5440680" cy="621792"/>
          </a:xfrm>
          <a:prstGeom prst="rect">
            <a:avLst/>
          </a:prstGeom>
          <a:noFill/>
        </p:spPr>
        <p:txBody>
          <a:bodyPr wrap="square" anchor="ctr" lIns="73152" rIns="73152"/>
          <a:lstStyle/>
          <a:p>
            <a:pPr algn="l"/>
            <a:r>
              <a:rPr sz="1150" b="0" i="0">
                <a:solidFill>
                  <a:srgbClr val="1F2937"/>
                </a:solidFill>
                <a:latin typeface="Arial"/>
              </a:rPr>
              <a:t>Commuter votes, checked for fraud, become ranked recommendations a depot manager can act on.</a:t>
            </a:r>
            <a:endParaRPr sz="1150"/>
          </a:p>
        </p:txBody>
      </p:sp>
      <p:sp>
        <p:nvSpPr>
          <p:cNvPr id="8" name="Rounded Rectangle 7"/>
          <p:cNvSpPr/>
          <p:nvPr/>
        </p:nvSpPr>
        <p:spPr>
          <a:xfrm>
            <a:off x="457200" y="2478024"/>
            <a:ext cx="8988552" cy="658368"/>
          </a:xfrm>
          <a:prstGeom prst="roundRect">
            <a:avLst>
              <a:gd name="adj" fmla="val 8000"/>
            </a:avLst>
          </a:prstGeom>
          <a:solidFill>
            <a:srgbClr val="F3F4F6"/>
          </a:solidFill>
          <a:ln>
            <a:noFill/>
          </a:ln>
          <a:effectLst/>
        </p:spPr>
        <p:txBody>
          <a:bodyPr rtlCol="0" anchor="ctr"/>
          <a:lstStyle/>
          <a:p>
            <a:pPr algn="ctr"/>
          </a:p>
        </p:txBody>
      </p:sp>
      <p:sp>
        <p:nvSpPr>
          <p:cNvPr id="9" name="Oval 8"/>
          <p:cNvSpPr/>
          <p:nvPr/>
        </p:nvSpPr>
        <p:spPr>
          <a:xfrm>
            <a:off x="594360" y="2624328"/>
            <a:ext cx="402336" cy="402336"/>
          </a:xfrm>
          <a:prstGeom prst="ellipse">
            <a:avLst/>
          </a:prstGeom>
          <a:solidFill>
            <a:srgbClr val="C00000"/>
          </a:solidFill>
          <a:ln>
            <a:noFill/>
          </a:ln>
          <a:effectLst/>
        </p:spPr>
        <p:txBody>
          <a:bodyPr rtlCol="0" anchor="ctr" wrap="none" lIns="0" tIns="0" rIns="0" bIns="0"/>
          <a:lstStyle/>
          <a:p>
            <a:pPr algn="ctr"/>
            <a:r>
              <a:rPr sz="1400" b="1" i="0">
                <a:solidFill>
                  <a:srgbClr val="FFFFFF"/>
                </a:solidFill>
                <a:latin typeface="Arial"/>
              </a:rPr>
              <a:t>2</a:t>
            </a:r>
            <a:endParaRPr sz="1400"/>
          </a:p>
        </p:txBody>
      </p:sp>
      <p:sp>
        <p:nvSpPr>
          <p:cNvPr id="10" name="TextBox 9"/>
          <p:cNvSpPr txBox="1"/>
          <p:nvPr/>
        </p:nvSpPr>
        <p:spPr>
          <a:xfrm>
            <a:off x="1143000" y="2496312"/>
            <a:ext cx="2743200" cy="621792"/>
          </a:xfrm>
          <a:prstGeom prst="rect">
            <a:avLst/>
          </a:prstGeom>
          <a:noFill/>
        </p:spPr>
        <p:txBody>
          <a:bodyPr wrap="square" anchor="ctr" lIns="73152" rIns="73152"/>
          <a:lstStyle/>
          <a:p>
            <a:pPr algn="l"/>
            <a:r>
              <a:rPr sz="1250" b="1" i="0">
                <a:solidFill>
                  <a:srgbClr val="C00000"/>
                </a:solidFill>
                <a:latin typeface="Arial"/>
              </a:rPr>
              <a:t>One dataset, both sides</a:t>
            </a:r>
            <a:endParaRPr sz="1250"/>
          </a:p>
        </p:txBody>
      </p:sp>
      <p:sp>
        <p:nvSpPr>
          <p:cNvPr id="11" name="TextBox 10"/>
          <p:cNvSpPr txBox="1"/>
          <p:nvPr/>
        </p:nvSpPr>
        <p:spPr>
          <a:xfrm>
            <a:off x="3931920" y="2496312"/>
            <a:ext cx="5440680" cy="621792"/>
          </a:xfrm>
          <a:prstGeom prst="rect">
            <a:avLst/>
          </a:prstGeom>
          <a:noFill/>
        </p:spPr>
        <p:txBody>
          <a:bodyPr wrap="square" anchor="ctr" lIns="73152" rIns="73152"/>
          <a:lstStyle/>
          <a:p>
            <a:pPr algn="l"/>
            <a:r>
              <a:rPr sz="1150" b="0" i="0">
                <a:solidFill>
                  <a:srgbClr val="1F2937"/>
                </a:solidFill>
                <a:latin typeface="Arial"/>
              </a:rPr>
              <a:t>The same timetable drives the rider's journey search and the operator's fleet and crew plan, so they never disagree.</a:t>
            </a:r>
            <a:endParaRPr sz="1150"/>
          </a:p>
        </p:txBody>
      </p:sp>
      <p:sp>
        <p:nvSpPr>
          <p:cNvPr id="12" name="Rounded Rectangle 11"/>
          <p:cNvSpPr/>
          <p:nvPr/>
        </p:nvSpPr>
        <p:spPr>
          <a:xfrm>
            <a:off x="457200" y="3200400"/>
            <a:ext cx="8988552" cy="658368"/>
          </a:xfrm>
          <a:prstGeom prst="roundRect">
            <a:avLst>
              <a:gd name="adj" fmla="val 8000"/>
            </a:avLst>
          </a:prstGeom>
          <a:solidFill>
            <a:srgbClr val="F3F4F6"/>
          </a:solidFill>
          <a:ln>
            <a:noFill/>
          </a:ln>
          <a:effectLst/>
        </p:spPr>
        <p:txBody>
          <a:bodyPr rtlCol="0" anchor="ctr"/>
          <a:lstStyle/>
          <a:p>
            <a:pPr algn="ctr"/>
          </a:p>
        </p:txBody>
      </p:sp>
      <p:sp>
        <p:nvSpPr>
          <p:cNvPr id="13" name="Oval 12"/>
          <p:cNvSpPr/>
          <p:nvPr/>
        </p:nvSpPr>
        <p:spPr>
          <a:xfrm>
            <a:off x="594360" y="3346704"/>
            <a:ext cx="402336" cy="402336"/>
          </a:xfrm>
          <a:prstGeom prst="ellipse">
            <a:avLst/>
          </a:prstGeom>
          <a:solidFill>
            <a:srgbClr val="C00000"/>
          </a:solidFill>
          <a:ln>
            <a:noFill/>
          </a:ln>
          <a:effectLst/>
        </p:spPr>
        <p:txBody>
          <a:bodyPr rtlCol="0" anchor="ctr" wrap="none" lIns="0" tIns="0" rIns="0" bIns="0"/>
          <a:lstStyle/>
          <a:p>
            <a:pPr algn="ctr"/>
            <a:r>
              <a:rPr sz="1400" b="1" i="0">
                <a:solidFill>
                  <a:srgbClr val="FFFFFF"/>
                </a:solidFill>
                <a:latin typeface="Arial"/>
              </a:rPr>
              <a:t>3</a:t>
            </a:r>
            <a:endParaRPr sz="1400"/>
          </a:p>
        </p:txBody>
      </p:sp>
      <p:sp>
        <p:nvSpPr>
          <p:cNvPr id="14" name="TextBox 13"/>
          <p:cNvSpPr txBox="1"/>
          <p:nvPr/>
        </p:nvSpPr>
        <p:spPr>
          <a:xfrm>
            <a:off x="1143000" y="3218688"/>
            <a:ext cx="2743200" cy="621792"/>
          </a:xfrm>
          <a:prstGeom prst="rect">
            <a:avLst/>
          </a:prstGeom>
          <a:noFill/>
        </p:spPr>
        <p:txBody>
          <a:bodyPr wrap="square" anchor="ctr" lIns="73152" rIns="73152"/>
          <a:lstStyle/>
          <a:p>
            <a:pPr algn="l"/>
            <a:r>
              <a:rPr sz="1250" b="1" i="0">
                <a:solidFill>
                  <a:srgbClr val="C00000"/>
                </a:solidFill>
                <a:latin typeface="Arial"/>
              </a:rPr>
              <a:t>A trustworthy money path</a:t>
            </a:r>
            <a:endParaRPr sz="1250"/>
          </a:p>
        </p:txBody>
      </p:sp>
      <p:sp>
        <p:nvSpPr>
          <p:cNvPr id="15" name="TextBox 14"/>
          <p:cNvSpPr txBox="1"/>
          <p:nvPr/>
        </p:nvSpPr>
        <p:spPr>
          <a:xfrm>
            <a:off x="3931920" y="3218688"/>
            <a:ext cx="5440680" cy="621792"/>
          </a:xfrm>
          <a:prstGeom prst="rect">
            <a:avLst/>
          </a:prstGeom>
          <a:noFill/>
        </p:spPr>
        <p:txBody>
          <a:bodyPr wrap="square" anchor="ctr" lIns="73152" rIns="73152"/>
          <a:lstStyle/>
          <a:p>
            <a:pPr algn="l"/>
            <a:r>
              <a:rPr sz="1150" b="0" i="0">
                <a:solidFill>
                  <a:srgbClr val="1F2937"/>
                </a:solidFill>
                <a:latin typeface="Arial"/>
              </a:rPr>
              <a:t>Shakti free rides keep their fare value for reimbursement; offline sales sync without double-counting; cash variance is reported.</a:t>
            </a:r>
            <a:endParaRPr sz="1150"/>
          </a:p>
        </p:txBody>
      </p:sp>
      <p:sp>
        <p:nvSpPr>
          <p:cNvPr id="16" name="Rounded Rectangle 15"/>
          <p:cNvSpPr/>
          <p:nvPr/>
        </p:nvSpPr>
        <p:spPr>
          <a:xfrm>
            <a:off x="457200" y="3922776"/>
            <a:ext cx="8988552" cy="658368"/>
          </a:xfrm>
          <a:prstGeom prst="roundRect">
            <a:avLst>
              <a:gd name="adj" fmla="val 8000"/>
            </a:avLst>
          </a:prstGeom>
          <a:solidFill>
            <a:srgbClr val="F3F4F6"/>
          </a:solidFill>
          <a:ln>
            <a:noFill/>
          </a:ln>
          <a:effectLst/>
        </p:spPr>
        <p:txBody>
          <a:bodyPr rtlCol="0" anchor="ctr"/>
          <a:lstStyle/>
          <a:p>
            <a:pPr algn="ctr"/>
          </a:p>
        </p:txBody>
      </p:sp>
      <p:sp>
        <p:nvSpPr>
          <p:cNvPr id="17" name="Oval 16"/>
          <p:cNvSpPr/>
          <p:nvPr/>
        </p:nvSpPr>
        <p:spPr>
          <a:xfrm>
            <a:off x="594360" y="4069080"/>
            <a:ext cx="402336" cy="402336"/>
          </a:xfrm>
          <a:prstGeom prst="ellipse">
            <a:avLst/>
          </a:prstGeom>
          <a:solidFill>
            <a:srgbClr val="C00000"/>
          </a:solidFill>
          <a:ln>
            <a:noFill/>
          </a:ln>
          <a:effectLst/>
        </p:spPr>
        <p:txBody>
          <a:bodyPr rtlCol="0" anchor="ctr" wrap="none" lIns="0" tIns="0" rIns="0" bIns="0"/>
          <a:lstStyle/>
          <a:p>
            <a:pPr algn="ctr"/>
            <a:r>
              <a:rPr sz="1400" b="1" i="0">
                <a:solidFill>
                  <a:srgbClr val="FFFFFF"/>
                </a:solidFill>
                <a:latin typeface="Arial"/>
              </a:rPr>
              <a:t>4</a:t>
            </a:r>
            <a:endParaRPr sz="1400"/>
          </a:p>
        </p:txBody>
      </p:sp>
      <p:sp>
        <p:nvSpPr>
          <p:cNvPr id="18" name="TextBox 17"/>
          <p:cNvSpPr txBox="1"/>
          <p:nvPr/>
        </p:nvSpPr>
        <p:spPr>
          <a:xfrm>
            <a:off x="1143000" y="3941063"/>
            <a:ext cx="2743200" cy="621792"/>
          </a:xfrm>
          <a:prstGeom prst="rect">
            <a:avLst/>
          </a:prstGeom>
          <a:noFill/>
        </p:spPr>
        <p:txBody>
          <a:bodyPr wrap="square" anchor="ctr" lIns="73152" rIns="73152"/>
          <a:lstStyle/>
          <a:p>
            <a:pPr algn="l"/>
            <a:r>
              <a:rPr sz="1250" b="1" i="0">
                <a:solidFill>
                  <a:srgbClr val="C00000"/>
                </a:solidFill>
                <a:latin typeface="Arial"/>
              </a:rPr>
              <a:t>Honest data labels</a:t>
            </a:r>
            <a:endParaRPr sz="1250"/>
          </a:p>
        </p:txBody>
      </p:sp>
      <p:sp>
        <p:nvSpPr>
          <p:cNvPr id="19" name="TextBox 18"/>
          <p:cNvSpPr txBox="1"/>
          <p:nvPr/>
        </p:nvSpPr>
        <p:spPr>
          <a:xfrm>
            <a:off x="3931920" y="3941063"/>
            <a:ext cx="5440680" cy="621792"/>
          </a:xfrm>
          <a:prstGeom prst="rect">
            <a:avLst/>
          </a:prstGeom>
          <a:noFill/>
        </p:spPr>
        <p:txBody>
          <a:bodyPr wrap="square" anchor="ctr" lIns="73152" rIns="73152"/>
          <a:lstStyle/>
          <a:p>
            <a:pPr algn="l"/>
            <a:r>
              <a:rPr sz="1150" b="0" i="0">
                <a:solidFill>
                  <a:srgbClr val="1F2937"/>
                </a:solidFill>
                <a:latin typeface="Arial"/>
              </a:rPr>
              <a:t>Simulated, estimated and live values are marked as such, and the accuracy metric is one that can fail.</a:t>
            </a:r>
            <a:endParaRPr sz="1150"/>
          </a:p>
        </p:txBody>
      </p:sp>
      <p:sp>
        <p:nvSpPr>
          <p:cNvPr id="20" name="Rounded Rectangle 19"/>
          <p:cNvSpPr/>
          <p:nvPr/>
        </p:nvSpPr>
        <p:spPr>
          <a:xfrm>
            <a:off x="457200" y="4645152"/>
            <a:ext cx="8988552" cy="658368"/>
          </a:xfrm>
          <a:prstGeom prst="roundRect">
            <a:avLst>
              <a:gd name="adj" fmla="val 8000"/>
            </a:avLst>
          </a:prstGeom>
          <a:solidFill>
            <a:srgbClr val="F3F4F6"/>
          </a:solidFill>
          <a:ln>
            <a:noFill/>
          </a:ln>
          <a:effectLst/>
        </p:spPr>
        <p:txBody>
          <a:bodyPr rtlCol="0" anchor="ctr"/>
          <a:lstStyle/>
          <a:p>
            <a:pPr algn="ctr"/>
          </a:p>
        </p:txBody>
      </p:sp>
      <p:sp>
        <p:nvSpPr>
          <p:cNvPr id="21" name="Oval 20"/>
          <p:cNvSpPr/>
          <p:nvPr/>
        </p:nvSpPr>
        <p:spPr>
          <a:xfrm>
            <a:off x="594360" y="4791456"/>
            <a:ext cx="402336" cy="402336"/>
          </a:xfrm>
          <a:prstGeom prst="ellipse">
            <a:avLst/>
          </a:prstGeom>
          <a:solidFill>
            <a:srgbClr val="C00000"/>
          </a:solidFill>
          <a:ln>
            <a:noFill/>
          </a:ln>
          <a:effectLst/>
        </p:spPr>
        <p:txBody>
          <a:bodyPr rtlCol="0" anchor="ctr" wrap="none" lIns="0" tIns="0" rIns="0" bIns="0"/>
          <a:lstStyle/>
          <a:p>
            <a:pPr algn="ctr"/>
            <a:r>
              <a:rPr sz="1400" b="1" i="0">
                <a:solidFill>
                  <a:srgbClr val="FFFFFF"/>
                </a:solidFill>
                <a:latin typeface="Arial"/>
              </a:rPr>
              <a:t>5</a:t>
            </a:r>
            <a:endParaRPr sz="1400"/>
          </a:p>
        </p:txBody>
      </p:sp>
      <p:sp>
        <p:nvSpPr>
          <p:cNvPr id="22" name="TextBox 21"/>
          <p:cNvSpPr txBox="1"/>
          <p:nvPr/>
        </p:nvSpPr>
        <p:spPr>
          <a:xfrm>
            <a:off x="1143000" y="4663440"/>
            <a:ext cx="2743200" cy="621792"/>
          </a:xfrm>
          <a:prstGeom prst="rect">
            <a:avLst/>
          </a:prstGeom>
          <a:noFill/>
        </p:spPr>
        <p:txBody>
          <a:bodyPr wrap="square" anchor="ctr" lIns="73152" rIns="73152"/>
          <a:lstStyle/>
          <a:p>
            <a:pPr algn="l"/>
            <a:r>
              <a:rPr sz="1250" b="1" i="0">
                <a:solidFill>
                  <a:srgbClr val="C00000"/>
                </a:solidFill>
                <a:latin typeface="Arial"/>
              </a:rPr>
              <a:t>Open and inclusive by design</a:t>
            </a:r>
            <a:endParaRPr sz="1250"/>
          </a:p>
        </p:txBody>
      </p:sp>
      <p:sp>
        <p:nvSpPr>
          <p:cNvPr id="23" name="TextBox 22"/>
          <p:cNvSpPr txBox="1"/>
          <p:nvPr/>
        </p:nvSpPr>
        <p:spPr>
          <a:xfrm>
            <a:off x="3931920" y="4663440"/>
            <a:ext cx="5440680" cy="621792"/>
          </a:xfrm>
          <a:prstGeom prst="rect">
            <a:avLst/>
          </a:prstGeom>
          <a:noFill/>
        </p:spPr>
        <p:txBody>
          <a:bodyPr wrap="square" anchor="ctr" lIns="73152" rIns="73152"/>
          <a:lstStyle/>
          <a:p>
            <a:pPr algn="l"/>
            <a:r>
              <a:rPr sz="1150" b="0" i="0">
                <a:solidFill>
                  <a:srgbClr val="1F2937"/>
                </a:solidFill>
                <a:latin typeface="Arial"/>
              </a:rPr>
              <a:t>GTFS plus real-time alerts for any app; four languages and SMS; core features keep running if the database is down.</a:t>
            </a:r>
            <a:endParaRPr sz="1150"/>
          </a:p>
        </p:txBody>
      </p:sp>
      <p:sp>
        <p:nvSpPr>
          <p:cNvPr id="24" name="Rounded Rectangle 23"/>
          <p:cNvSpPr/>
          <p:nvPr/>
        </p:nvSpPr>
        <p:spPr>
          <a:xfrm>
            <a:off x="457200" y="5394960"/>
            <a:ext cx="8988552" cy="713232"/>
          </a:xfrm>
          <a:prstGeom prst="roundRect">
            <a:avLst>
              <a:gd name="adj" fmla="val 8000"/>
            </a:avLst>
          </a:prstGeom>
          <a:solidFill>
            <a:srgbClr val="E6F4EA"/>
          </a:solidFill>
          <a:ln>
            <a:noFill/>
          </a:ln>
          <a:effectLst/>
        </p:spPr>
        <p:txBody>
          <a:bodyPr rtlCol="0" anchor="ctr" wrap="square" lIns="228600" rIns="228600"/>
          <a:lstStyle/>
          <a:p>
            <a:pPr algn="l"/>
            <a:r>
              <a:rPr sz="1250" b="1" i="0">
                <a:solidFill>
                  <a:srgbClr val="0B8A3E"/>
                </a:solidFill>
                <a:latin typeface="Arial"/>
              </a:rPr>
              <a:t>Positioning: </a:t>
            </a:r>
            <a:r>
              <a:rPr sz="1250" b="0" i="0">
                <a:solidFill>
                  <a:srgbClr val="1F2937"/>
                </a:solidFill>
                <a:latin typeface="Arial"/>
              </a:rPr>
              <a:t>DBARS does not compete with Namma BMTC 2.0. It is the planning and open-data layer behind the services a bus operator runs, and it can complement the rider apps.</a:t>
            </a:r>
            <a:endParaRPr sz="125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19456"/>
            <a:ext cx="8988552" cy="603504"/>
          </a:xfrm>
        </p:spPr>
        <p:txBody>
          <a:bodyPr anchor="ctr" wrap="square"/>
          <a:lstStyle/>
          <a:p>
            <a:pPr algn="ctr"/>
            <a:r>
              <a:rPr sz="2400" b="1" i="0">
                <a:solidFill>
                  <a:srgbClr val="FF0000"/>
                </a:solidFill>
                <a:latin typeface="Arial"/>
              </a:rPr>
              <a:t>Sustainable Development Goals Aligned to the Project</a:t>
            </a:r>
          </a:p>
        </p:txBody>
      </p:sp>
      <p:sp>
        <p:nvSpPr>
          <p:cNvPr id="3" name="Rounded Rectangle 2"/>
          <p:cNvSpPr/>
          <p:nvPr/>
        </p:nvSpPr>
        <p:spPr>
          <a:xfrm>
            <a:off x="457200" y="914400"/>
            <a:ext cx="8988552" cy="1161288"/>
          </a:xfrm>
          <a:prstGeom prst="roundRect">
            <a:avLst>
              <a:gd name="adj" fmla="val 5000"/>
            </a:avLst>
          </a:prstGeom>
          <a:solidFill>
            <a:srgbClr val="F3F4F6"/>
          </a:solidFill>
          <a:ln>
            <a:noFill/>
          </a:ln>
          <a:effectLst/>
        </p:spPr>
        <p:txBody>
          <a:bodyPr rtlCol="0" anchor="ctr"/>
          <a:lstStyle/>
          <a:p>
            <a:pPr algn="ctr"/>
          </a:p>
        </p:txBody>
      </p:sp>
      <p:sp>
        <p:nvSpPr>
          <p:cNvPr id="4" name="Rounded Rectangle 3"/>
          <p:cNvSpPr/>
          <p:nvPr/>
        </p:nvSpPr>
        <p:spPr>
          <a:xfrm>
            <a:off x="566928" y="1024128"/>
            <a:ext cx="1600200" cy="941832"/>
          </a:xfrm>
          <a:prstGeom prst="roundRect">
            <a:avLst>
              <a:gd name="adj" fmla="val 6000"/>
            </a:avLst>
          </a:prstGeom>
          <a:solidFill>
            <a:srgbClr val="FD9D24"/>
          </a:solidFill>
          <a:ln>
            <a:noFill/>
          </a:ln>
          <a:effectLst/>
        </p:spPr>
        <p:txBody>
          <a:bodyPr rtlCol="0" anchor="ctr" wrap="square" lIns="73152" tIns="36576" rIns="73152" bIns="36576"/>
          <a:lstStyle/>
          <a:p>
            <a:pPr algn="ctr"/>
            <a:r>
              <a:rPr sz="2000" b="1" i="0">
                <a:solidFill>
                  <a:srgbClr val="1F2937"/>
                </a:solidFill>
                <a:latin typeface="Arial"/>
              </a:rPr>
              <a:t>SDG 11</a:t>
            </a:r>
            <a:endParaRPr sz="2000"/>
          </a:p>
          <a:p>
            <a:pPr algn="ctr"/>
            <a:r>
              <a:rPr sz="900" b="1" i="0">
                <a:solidFill>
                  <a:srgbClr val="1F2937"/>
                </a:solidFill>
                <a:latin typeface="Arial"/>
              </a:rPr>
              <a:t>Sustainable Cities and Communities</a:t>
            </a:r>
            <a:endParaRPr sz="900"/>
          </a:p>
        </p:txBody>
      </p:sp>
      <p:sp>
        <p:nvSpPr>
          <p:cNvPr id="5" name="TextBox 4"/>
          <p:cNvSpPr txBox="1"/>
          <p:nvPr/>
        </p:nvSpPr>
        <p:spPr>
          <a:xfrm>
            <a:off x="2286000" y="969264"/>
            <a:ext cx="7040880" cy="457200"/>
          </a:xfrm>
          <a:prstGeom prst="rect">
            <a:avLst/>
          </a:prstGeom>
          <a:noFill/>
        </p:spPr>
        <p:txBody>
          <a:bodyPr wrap="square" anchor="ctr" lIns="73152" rIns="73152"/>
          <a:lstStyle/>
          <a:p>
            <a:pPr algn="l"/>
            <a:r>
              <a:rPr sz="1100" b="1" i="0">
                <a:solidFill>
                  <a:srgbClr val="C00000"/>
                </a:solidFill>
                <a:latin typeface="Arial"/>
              </a:rPr>
              <a:t>Target 11.2: safe, affordable, accessible and sustainable transport systems for all, notably by expanding public transport.</a:t>
            </a:r>
            <a:endParaRPr sz="1100"/>
          </a:p>
        </p:txBody>
      </p:sp>
      <p:sp>
        <p:nvSpPr>
          <p:cNvPr id="6" name="TextBox 5"/>
          <p:cNvSpPr txBox="1"/>
          <p:nvPr/>
        </p:nvSpPr>
        <p:spPr>
          <a:xfrm>
            <a:off x="2286000" y="1444752"/>
            <a:ext cx="7040880" cy="621792"/>
          </a:xfrm>
          <a:prstGeom prst="rect">
            <a:avLst/>
          </a:prstGeom>
          <a:noFill/>
        </p:spPr>
        <p:txBody>
          <a:bodyPr wrap="square" anchor="t" lIns="73152" rIns="73152"/>
          <a:lstStyle/>
          <a:p>
            <a:pPr algn="l"/>
            <a:r>
              <a:rPr sz="1200" b="0" i="0">
                <a:solidFill>
                  <a:srgbClr val="1F2937"/>
                </a:solidFill>
                <a:latin typeface="Arial"/>
              </a:rPr>
              <a:t>DBARS will make the bus network easier to use: journey search with transfers, four interface languages, an SMS channel for feature phones and Metro interchange information.</a:t>
            </a:r>
            <a:endParaRPr sz="1200"/>
          </a:p>
        </p:txBody>
      </p:sp>
      <p:sp>
        <p:nvSpPr>
          <p:cNvPr id="7" name="Rounded Rectangle 6"/>
          <p:cNvSpPr/>
          <p:nvPr/>
        </p:nvSpPr>
        <p:spPr>
          <a:xfrm>
            <a:off x="457200" y="2167128"/>
            <a:ext cx="8988552" cy="1161288"/>
          </a:xfrm>
          <a:prstGeom prst="roundRect">
            <a:avLst>
              <a:gd name="adj" fmla="val 5000"/>
            </a:avLst>
          </a:prstGeom>
          <a:solidFill>
            <a:srgbClr val="F3F4F6"/>
          </a:solidFill>
          <a:ln>
            <a:noFill/>
          </a:ln>
          <a:effectLst/>
        </p:spPr>
        <p:txBody>
          <a:bodyPr rtlCol="0" anchor="ctr"/>
          <a:lstStyle/>
          <a:p>
            <a:pPr algn="ctr"/>
          </a:p>
        </p:txBody>
      </p:sp>
      <p:sp>
        <p:nvSpPr>
          <p:cNvPr id="8" name="Rounded Rectangle 7"/>
          <p:cNvSpPr/>
          <p:nvPr/>
        </p:nvSpPr>
        <p:spPr>
          <a:xfrm>
            <a:off x="566928" y="2276856"/>
            <a:ext cx="1600200" cy="941832"/>
          </a:xfrm>
          <a:prstGeom prst="roundRect">
            <a:avLst>
              <a:gd name="adj" fmla="val 6000"/>
            </a:avLst>
          </a:prstGeom>
          <a:solidFill>
            <a:srgbClr val="F36D25"/>
          </a:solidFill>
          <a:ln>
            <a:noFill/>
          </a:ln>
          <a:effectLst/>
        </p:spPr>
        <p:txBody>
          <a:bodyPr rtlCol="0" anchor="ctr" wrap="square" lIns="73152" tIns="36576" rIns="73152" bIns="36576"/>
          <a:lstStyle/>
          <a:p>
            <a:pPr algn="ctr"/>
            <a:r>
              <a:rPr sz="2000" b="1" i="0">
                <a:solidFill>
                  <a:srgbClr val="FFFFFF"/>
                </a:solidFill>
                <a:latin typeface="Arial"/>
              </a:rPr>
              <a:t>SDG 9</a:t>
            </a:r>
            <a:endParaRPr sz="2000"/>
          </a:p>
          <a:p>
            <a:pPr algn="ctr"/>
            <a:r>
              <a:rPr sz="900" b="1" i="0">
                <a:solidFill>
                  <a:srgbClr val="FFFFFF"/>
                </a:solidFill>
                <a:latin typeface="Arial"/>
              </a:rPr>
              <a:t>Industry, Innovation and Infrastructure</a:t>
            </a:r>
            <a:endParaRPr sz="900"/>
          </a:p>
        </p:txBody>
      </p:sp>
      <p:sp>
        <p:nvSpPr>
          <p:cNvPr id="9" name="TextBox 8"/>
          <p:cNvSpPr txBox="1"/>
          <p:nvPr/>
        </p:nvSpPr>
        <p:spPr>
          <a:xfrm>
            <a:off x="2286000" y="2221992"/>
            <a:ext cx="7040880" cy="457200"/>
          </a:xfrm>
          <a:prstGeom prst="rect">
            <a:avLst/>
          </a:prstGeom>
          <a:noFill/>
        </p:spPr>
        <p:txBody>
          <a:bodyPr wrap="square" anchor="ctr" lIns="73152" rIns="73152"/>
          <a:lstStyle/>
          <a:p>
            <a:pPr algn="l"/>
            <a:r>
              <a:rPr sz="1100" b="1" i="0">
                <a:solidFill>
                  <a:srgbClr val="C00000"/>
                </a:solidFill>
                <a:latin typeface="Arial"/>
              </a:rPr>
              <a:t>Target 9.1: quality, reliable, sustainable and resilient infrastructure with affordable and equitable access.</a:t>
            </a:r>
            <a:endParaRPr sz="1100"/>
          </a:p>
        </p:txBody>
      </p:sp>
      <p:sp>
        <p:nvSpPr>
          <p:cNvPr id="10" name="TextBox 9"/>
          <p:cNvSpPr txBox="1"/>
          <p:nvPr/>
        </p:nvSpPr>
        <p:spPr>
          <a:xfrm>
            <a:off x="2286000" y="2697480"/>
            <a:ext cx="7040880" cy="621792"/>
          </a:xfrm>
          <a:prstGeom prst="rect">
            <a:avLst/>
          </a:prstGeom>
          <a:noFill/>
        </p:spPr>
        <p:txBody>
          <a:bodyPr wrap="square" anchor="t" lIns="73152" rIns="73152"/>
          <a:lstStyle/>
          <a:p>
            <a:pPr algn="l"/>
            <a:r>
              <a:rPr sz="1200" b="0" i="0">
                <a:solidFill>
                  <a:srgbClr val="1F2937"/>
                </a:solidFill>
                <a:latin typeface="Arial"/>
              </a:rPr>
              <a:t>Fleet and crew planning will give the operator data-driven tools for reliable service, and core features are designed to keep working during a database outage.</a:t>
            </a:r>
            <a:endParaRPr sz="1200"/>
          </a:p>
        </p:txBody>
      </p:sp>
      <p:sp>
        <p:nvSpPr>
          <p:cNvPr id="11" name="Rounded Rectangle 10"/>
          <p:cNvSpPr/>
          <p:nvPr/>
        </p:nvSpPr>
        <p:spPr>
          <a:xfrm>
            <a:off x="457200" y="3419856"/>
            <a:ext cx="8988552" cy="1161288"/>
          </a:xfrm>
          <a:prstGeom prst="roundRect">
            <a:avLst>
              <a:gd name="adj" fmla="val 5000"/>
            </a:avLst>
          </a:prstGeom>
          <a:solidFill>
            <a:srgbClr val="F3F4F6"/>
          </a:solidFill>
          <a:ln>
            <a:noFill/>
          </a:ln>
          <a:effectLst/>
        </p:spPr>
        <p:txBody>
          <a:bodyPr rtlCol="0" anchor="ctr"/>
          <a:lstStyle/>
          <a:p>
            <a:pPr algn="ctr"/>
          </a:p>
        </p:txBody>
      </p:sp>
      <p:sp>
        <p:nvSpPr>
          <p:cNvPr id="12" name="Rounded Rectangle 11"/>
          <p:cNvSpPr/>
          <p:nvPr/>
        </p:nvSpPr>
        <p:spPr>
          <a:xfrm>
            <a:off x="566928" y="3529584"/>
            <a:ext cx="1600200" cy="941832"/>
          </a:xfrm>
          <a:prstGeom prst="roundRect">
            <a:avLst>
              <a:gd name="adj" fmla="val 6000"/>
            </a:avLst>
          </a:prstGeom>
          <a:solidFill>
            <a:srgbClr val="FF3A21"/>
          </a:solidFill>
          <a:ln>
            <a:noFill/>
          </a:ln>
          <a:effectLst/>
        </p:spPr>
        <p:txBody>
          <a:bodyPr rtlCol="0" anchor="ctr" wrap="square" lIns="73152" tIns="36576" rIns="73152" bIns="36576"/>
          <a:lstStyle/>
          <a:p>
            <a:pPr algn="ctr"/>
            <a:r>
              <a:rPr sz="2000" b="1" i="0">
                <a:solidFill>
                  <a:srgbClr val="FFFFFF"/>
                </a:solidFill>
                <a:latin typeface="Arial"/>
              </a:rPr>
              <a:t>SDG 5</a:t>
            </a:r>
            <a:endParaRPr sz="2000"/>
          </a:p>
          <a:p>
            <a:pPr algn="ctr"/>
            <a:r>
              <a:rPr sz="900" b="1" i="0">
                <a:solidFill>
                  <a:srgbClr val="FFFFFF"/>
                </a:solidFill>
                <a:latin typeface="Arial"/>
              </a:rPr>
              <a:t>Gender Equality</a:t>
            </a:r>
            <a:endParaRPr sz="900"/>
          </a:p>
        </p:txBody>
      </p:sp>
      <p:sp>
        <p:nvSpPr>
          <p:cNvPr id="13" name="TextBox 12"/>
          <p:cNvSpPr txBox="1"/>
          <p:nvPr/>
        </p:nvSpPr>
        <p:spPr>
          <a:xfrm>
            <a:off x="2286000" y="3474720"/>
            <a:ext cx="7040880" cy="457200"/>
          </a:xfrm>
          <a:prstGeom prst="rect">
            <a:avLst/>
          </a:prstGeom>
          <a:noFill/>
        </p:spPr>
        <p:txBody>
          <a:bodyPr wrap="square" anchor="ctr" lIns="73152" rIns="73152"/>
          <a:lstStyle/>
          <a:p>
            <a:pPr algn="l"/>
            <a:r>
              <a:rPr sz="1100" b="1" i="0">
                <a:solidFill>
                  <a:srgbClr val="C00000"/>
                </a:solidFill>
                <a:latin typeface="Arial"/>
              </a:rPr>
              <a:t>Target 5.b: enhance the use of enabling technology to promote the empowerment of women.</a:t>
            </a:r>
            <a:endParaRPr sz="1100"/>
          </a:p>
        </p:txBody>
      </p:sp>
      <p:sp>
        <p:nvSpPr>
          <p:cNvPr id="14" name="TextBox 13"/>
          <p:cNvSpPr txBox="1"/>
          <p:nvPr/>
        </p:nvSpPr>
        <p:spPr>
          <a:xfrm>
            <a:off x="2286000" y="3950208"/>
            <a:ext cx="7040880" cy="621792"/>
          </a:xfrm>
          <a:prstGeom prst="rect">
            <a:avLst/>
          </a:prstGeom>
          <a:noFill/>
        </p:spPr>
        <p:txBody>
          <a:bodyPr wrap="square" anchor="t" lIns="73152" rIns="73152"/>
          <a:lstStyle/>
          <a:p>
            <a:pPr algn="l"/>
            <a:r>
              <a:rPr sz="1200" b="0" i="0">
                <a:solidFill>
                  <a:srgbClr val="1F2937"/>
                </a:solidFill>
                <a:latin typeface="Arial"/>
              </a:rPr>
              <a:t>Shakti-aware digital ticketing will issue free tickets with the same QR code and record the full fare value, so women's free travel is supported and counted.</a:t>
            </a:r>
            <a:endParaRPr sz="1200"/>
          </a:p>
        </p:txBody>
      </p:sp>
      <p:sp>
        <p:nvSpPr>
          <p:cNvPr id="15" name="Rounded Rectangle 14"/>
          <p:cNvSpPr/>
          <p:nvPr/>
        </p:nvSpPr>
        <p:spPr>
          <a:xfrm>
            <a:off x="457200" y="4672584"/>
            <a:ext cx="8988552" cy="1161288"/>
          </a:xfrm>
          <a:prstGeom prst="roundRect">
            <a:avLst>
              <a:gd name="adj" fmla="val 5000"/>
            </a:avLst>
          </a:prstGeom>
          <a:solidFill>
            <a:srgbClr val="F3F4F6"/>
          </a:solidFill>
          <a:ln>
            <a:noFill/>
          </a:ln>
          <a:effectLst/>
        </p:spPr>
        <p:txBody>
          <a:bodyPr rtlCol="0" anchor="ctr"/>
          <a:lstStyle/>
          <a:p>
            <a:pPr algn="ctr"/>
          </a:p>
        </p:txBody>
      </p:sp>
      <p:sp>
        <p:nvSpPr>
          <p:cNvPr id="16" name="Rounded Rectangle 15"/>
          <p:cNvSpPr/>
          <p:nvPr/>
        </p:nvSpPr>
        <p:spPr>
          <a:xfrm>
            <a:off x="566928" y="4782312"/>
            <a:ext cx="1600200" cy="941832"/>
          </a:xfrm>
          <a:prstGeom prst="roundRect">
            <a:avLst>
              <a:gd name="adj" fmla="val 6000"/>
            </a:avLst>
          </a:prstGeom>
          <a:solidFill>
            <a:srgbClr val="00689D"/>
          </a:solidFill>
          <a:ln>
            <a:noFill/>
          </a:ln>
          <a:effectLst/>
        </p:spPr>
        <p:txBody>
          <a:bodyPr rtlCol="0" anchor="ctr" wrap="square" lIns="73152" tIns="36576" rIns="73152" bIns="36576"/>
          <a:lstStyle/>
          <a:p>
            <a:pPr algn="ctr"/>
            <a:r>
              <a:rPr sz="2000" b="1" i="0">
                <a:solidFill>
                  <a:srgbClr val="FFFFFF"/>
                </a:solidFill>
                <a:latin typeface="Arial"/>
              </a:rPr>
              <a:t>SDG 16</a:t>
            </a:r>
            <a:endParaRPr sz="2000"/>
          </a:p>
          <a:p>
            <a:pPr algn="ctr"/>
            <a:r>
              <a:rPr sz="900" b="1" i="0">
                <a:solidFill>
                  <a:srgbClr val="FFFFFF"/>
                </a:solidFill>
                <a:latin typeface="Arial"/>
              </a:rPr>
              <a:t>Peace, Justice and Strong Institutions</a:t>
            </a:r>
            <a:endParaRPr sz="900"/>
          </a:p>
        </p:txBody>
      </p:sp>
      <p:sp>
        <p:nvSpPr>
          <p:cNvPr id="17" name="TextBox 16"/>
          <p:cNvSpPr txBox="1"/>
          <p:nvPr/>
        </p:nvSpPr>
        <p:spPr>
          <a:xfrm>
            <a:off x="2286000" y="4727448"/>
            <a:ext cx="7040880" cy="457200"/>
          </a:xfrm>
          <a:prstGeom prst="rect">
            <a:avLst/>
          </a:prstGeom>
          <a:noFill/>
        </p:spPr>
        <p:txBody>
          <a:bodyPr wrap="square" anchor="ctr" lIns="73152" rIns="73152"/>
          <a:lstStyle/>
          <a:p>
            <a:pPr algn="l"/>
            <a:r>
              <a:rPr sz="1100" b="1" i="0">
                <a:solidFill>
                  <a:srgbClr val="C00000"/>
                </a:solidFill>
                <a:latin typeface="Arial"/>
              </a:rPr>
              <a:t>Target 16.6: effective, accountable and transparent institutions.</a:t>
            </a:r>
            <a:endParaRPr sz="1100"/>
          </a:p>
        </p:txBody>
      </p:sp>
      <p:sp>
        <p:nvSpPr>
          <p:cNvPr id="18" name="TextBox 17"/>
          <p:cNvSpPr txBox="1"/>
          <p:nvPr/>
        </p:nvSpPr>
        <p:spPr>
          <a:xfrm>
            <a:off x="2286000" y="5202936"/>
            <a:ext cx="7040880" cy="621792"/>
          </a:xfrm>
          <a:prstGeom prst="rect">
            <a:avLst/>
          </a:prstGeom>
          <a:noFill/>
        </p:spPr>
        <p:txBody>
          <a:bodyPr wrap="square" anchor="t" lIns="73152" rIns="73152"/>
          <a:lstStyle/>
          <a:p>
            <a:pPr algn="l"/>
            <a:r>
              <a:rPr sz="1200" b="0" i="0">
                <a:solidFill>
                  <a:srgbClr val="1F2937"/>
                </a:solidFill>
                <a:latin typeface="Arial"/>
              </a:rPr>
              <a:t>An audit log, cash reconciliation that reports variance instead of hiding it, and a rule that simulated data is never shown as live, will support transparency.</a:t>
            </a:r>
            <a:endParaRPr sz="1200"/>
          </a:p>
        </p:txBody>
      </p:sp>
      <p:sp>
        <p:nvSpPr>
          <p:cNvPr id="19" name="TextBox 18"/>
          <p:cNvSpPr txBox="1"/>
          <p:nvPr/>
        </p:nvSpPr>
        <p:spPr>
          <a:xfrm>
            <a:off x="457200" y="5961888"/>
            <a:ext cx="8988552" cy="274320"/>
          </a:xfrm>
          <a:prstGeom prst="rect">
            <a:avLst/>
          </a:prstGeom>
          <a:noFill/>
        </p:spPr>
        <p:txBody>
          <a:bodyPr wrap="square" anchor="t" lIns="73152" rIns="73152"/>
          <a:lstStyle/>
          <a:p>
            <a:pPr algn="l"/>
            <a:r>
              <a:rPr sz="950" b="0" i="1">
                <a:solidFill>
                  <a:srgbClr val="4B5563"/>
                </a:solidFill>
                <a:latin typeface="Arial"/>
              </a:rPr>
              <a:t>Goals and targets: https://sdgs.un.org/goals [13] (wording checked against the UN site)</a:t>
            </a:r>
            <a:endParaRPr sz="95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19456"/>
            <a:ext cx="8988552" cy="603504"/>
          </a:xfrm>
        </p:spPr>
        <p:txBody>
          <a:bodyPr anchor="ctr" wrap="square"/>
          <a:lstStyle/>
          <a:p>
            <a:pPr algn="ctr"/>
            <a:r>
              <a:rPr sz="2800" b="1" i="0">
                <a:solidFill>
                  <a:srgbClr val="FF0000"/>
                </a:solidFill>
                <a:latin typeface="Arial"/>
              </a:rPr>
              <a:t>Expected Outcomes</a:t>
            </a:r>
          </a:p>
        </p:txBody>
      </p:sp>
      <p:sp>
        <p:nvSpPr>
          <p:cNvPr id="3" name="Rounded Rectangle 2"/>
          <p:cNvSpPr/>
          <p:nvPr/>
        </p:nvSpPr>
        <p:spPr>
          <a:xfrm>
            <a:off x="457200" y="914400"/>
            <a:ext cx="4434840" cy="2606040"/>
          </a:xfrm>
          <a:prstGeom prst="roundRect">
            <a:avLst>
              <a:gd name="adj" fmla="val 5000"/>
            </a:avLst>
          </a:prstGeom>
          <a:solidFill>
            <a:srgbClr val="F3F4F6"/>
          </a:solidFill>
          <a:ln>
            <a:noFill/>
          </a:ln>
          <a:effectLst/>
        </p:spPr>
        <p:txBody>
          <a:bodyPr rtlCol="0" anchor="ctr"/>
          <a:lstStyle/>
          <a:p>
            <a:pPr algn="ctr"/>
          </a:p>
        </p:txBody>
      </p:sp>
      <p:sp>
        <p:nvSpPr>
          <p:cNvPr id="4" name="Oval 3"/>
          <p:cNvSpPr/>
          <p:nvPr/>
        </p:nvSpPr>
        <p:spPr>
          <a:xfrm>
            <a:off x="594360" y="1033271"/>
            <a:ext cx="365760" cy="365760"/>
          </a:xfrm>
          <a:prstGeom prst="ellipse">
            <a:avLst/>
          </a:prstGeom>
          <a:solidFill>
            <a:srgbClr val="C00000"/>
          </a:solidFill>
          <a:ln>
            <a:noFill/>
          </a:ln>
          <a:effectLst/>
        </p:spPr>
        <p:txBody>
          <a:bodyPr rtlCol="0" anchor="ctr" wrap="none" lIns="0" tIns="0" rIns="0" bIns="0"/>
          <a:lstStyle/>
          <a:p>
            <a:pPr algn="ctr"/>
            <a:r>
              <a:rPr sz="1300" b="1" i="0">
                <a:solidFill>
                  <a:srgbClr val="FFFFFF"/>
                </a:solidFill>
                <a:latin typeface="Arial"/>
              </a:rPr>
              <a:t>A</a:t>
            </a:r>
            <a:endParaRPr sz="1300"/>
          </a:p>
        </p:txBody>
      </p:sp>
      <p:sp>
        <p:nvSpPr>
          <p:cNvPr id="5" name="TextBox 4"/>
          <p:cNvSpPr txBox="1"/>
          <p:nvPr/>
        </p:nvSpPr>
        <p:spPr>
          <a:xfrm>
            <a:off x="1051560" y="987552"/>
            <a:ext cx="3703320" cy="292608"/>
          </a:xfrm>
          <a:prstGeom prst="rect">
            <a:avLst/>
          </a:prstGeom>
          <a:noFill/>
        </p:spPr>
        <p:txBody>
          <a:bodyPr wrap="square" anchor="ctr" lIns="73152" rIns="73152"/>
          <a:lstStyle/>
          <a:p>
            <a:pPr algn="l"/>
            <a:r>
              <a:rPr sz="1500" b="1" i="0">
                <a:solidFill>
                  <a:srgbClr val="C00000"/>
                </a:solidFill>
                <a:latin typeface="Arial"/>
              </a:rPr>
              <a:t>Functional outcome</a:t>
            </a:r>
            <a:endParaRPr sz="1500"/>
          </a:p>
        </p:txBody>
      </p:sp>
      <p:sp>
        <p:nvSpPr>
          <p:cNvPr id="6" name="TextBox 5"/>
          <p:cNvSpPr txBox="1"/>
          <p:nvPr/>
        </p:nvSpPr>
        <p:spPr>
          <a:xfrm>
            <a:off x="1051560" y="1261872"/>
            <a:ext cx="3703320" cy="228600"/>
          </a:xfrm>
          <a:prstGeom prst="rect">
            <a:avLst/>
          </a:prstGeom>
          <a:noFill/>
        </p:spPr>
        <p:txBody>
          <a:bodyPr wrap="square" anchor="t" lIns="73152" rIns="73152"/>
          <a:lstStyle/>
          <a:p>
            <a:pPr algn="l"/>
            <a:r>
              <a:rPr sz="1050" b="0" i="1">
                <a:solidFill>
                  <a:srgbClr val="4B5563"/>
                </a:solidFill>
                <a:latin typeface="Arial"/>
              </a:rPr>
              <a:t>What the system will do</a:t>
            </a:r>
            <a:endParaRPr sz="1050"/>
          </a:p>
        </p:txBody>
      </p:sp>
      <p:sp>
        <p:nvSpPr>
          <p:cNvPr id="7" name="TextBox 6"/>
          <p:cNvSpPr txBox="1"/>
          <p:nvPr/>
        </p:nvSpPr>
        <p:spPr>
          <a:xfrm>
            <a:off x="566928" y="1572768"/>
            <a:ext cx="4215383" cy="1892808"/>
          </a:xfrm>
          <a:prstGeom prst="rect">
            <a:avLst/>
          </a:prstGeom>
          <a:noFill/>
        </p:spPr>
        <p:txBody>
          <a:bodyPr wrap="square" anchor="t" lIns="73152" rIns="73152"/>
          <a:lstStyle/>
          <a:p>
            <a:pPr algn="l" marL="164592" indent="-164592">
              <a:spcAft>
                <a:spcPts val="500"/>
              </a:spcAft>
              <a:buClr>
                <a:srgbClr val="C00000"/>
              </a:buClr>
              <a:buFont typeface="Arial"/>
              <a:buChar char="•"/>
            </a:pPr>
            <a:r>
              <a:rPr sz="1200" b="0" i="0">
                <a:solidFill>
                  <a:srgbClr val="1F2937"/>
                </a:solidFill>
                <a:latin typeface="Arial"/>
              </a:rPr>
              <a:t>Direct, one-change and two-change journeys with distance, fare, map and Metro link</a:t>
            </a:r>
            <a:endParaRPr sz="1200"/>
          </a:p>
          <a:p>
            <a:pPr algn="l" marL="164592" indent="-164592">
              <a:spcAft>
                <a:spcPts val="500"/>
              </a:spcAft>
              <a:buClr>
                <a:srgbClr val="C00000"/>
              </a:buClr>
              <a:buFont typeface="Arial"/>
              <a:buChar char="•"/>
            </a:pPr>
            <a:r>
              <a:rPr sz="1200" b="0" i="0">
                <a:solidFill>
                  <a:srgbClr val="1F2937"/>
                </a:solidFill>
                <a:latin typeface="Arial"/>
              </a:rPr>
              <a:t>Fleet, dead-kilometre and crew plans with what-if scenarios</a:t>
            </a:r>
            <a:endParaRPr sz="1200"/>
          </a:p>
          <a:p>
            <a:pPr algn="l" marL="164592" indent="-164592">
              <a:spcAft>
                <a:spcPts val="500"/>
              </a:spcAft>
              <a:buClr>
                <a:srgbClr val="C00000"/>
              </a:buClr>
              <a:buFont typeface="Arial"/>
              <a:buChar char="•"/>
            </a:pPr>
            <a:r>
              <a:rPr sz="1200" b="0" i="0">
                <a:solidFill>
                  <a:srgbClr val="1F2937"/>
                </a:solidFill>
                <a:latin typeface="Arial"/>
              </a:rPr>
              <a:t>Votes to dispatch recommendations; QR e-tickets; offline conductor waybills; Shakti claim report</a:t>
            </a:r>
            <a:endParaRPr sz="1200"/>
          </a:p>
          <a:p>
            <a:pPr algn="l" marL="164592" indent="-164592">
              <a:spcAft>
                <a:spcPts val="500"/>
              </a:spcAft>
              <a:buClr>
                <a:srgbClr val="C00000"/>
              </a:buClr>
              <a:buFont typeface="Arial"/>
              <a:buChar char="•"/>
            </a:pPr>
            <a:r>
              <a:rPr sz="1200" b="0" i="0">
                <a:solidFill>
                  <a:srgbClr val="1F2937"/>
                </a:solidFill>
                <a:latin typeface="Arial"/>
              </a:rPr>
              <a:t>GTFS static feed and GTFS-Realtime service alerts</a:t>
            </a:r>
            <a:endParaRPr sz="1200"/>
          </a:p>
        </p:txBody>
      </p:sp>
      <p:sp>
        <p:nvSpPr>
          <p:cNvPr id="8" name="Rounded Rectangle 7"/>
          <p:cNvSpPr/>
          <p:nvPr/>
        </p:nvSpPr>
        <p:spPr>
          <a:xfrm>
            <a:off x="5010912" y="914400"/>
            <a:ext cx="4434840" cy="2606040"/>
          </a:xfrm>
          <a:prstGeom prst="roundRect">
            <a:avLst>
              <a:gd name="adj" fmla="val 5000"/>
            </a:avLst>
          </a:prstGeom>
          <a:solidFill>
            <a:srgbClr val="F3F4F6"/>
          </a:solidFill>
          <a:ln>
            <a:noFill/>
          </a:ln>
          <a:effectLst/>
        </p:spPr>
        <p:txBody>
          <a:bodyPr rtlCol="0" anchor="ctr"/>
          <a:lstStyle/>
          <a:p>
            <a:pPr algn="ctr"/>
          </a:p>
        </p:txBody>
      </p:sp>
      <p:sp>
        <p:nvSpPr>
          <p:cNvPr id="9" name="Oval 8"/>
          <p:cNvSpPr/>
          <p:nvPr/>
        </p:nvSpPr>
        <p:spPr>
          <a:xfrm>
            <a:off x="5148072" y="1033271"/>
            <a:ext cx="365760" cy="365760"/>
          </a:xfrm>
          <a:prstGeom prst="ellipse">
            <a:avLst/>
          </a:prstGeom>
          <a:solidFill>
            <a:srgbClr val="C00000"/>
          </a:solidFill>
          <a:ln>
            <a:noFill/>
          </a:ln>
          <a:effectLst/>
        </p:spPr>
        <p:txBody>
          <a:bodyPr rtlCol="0" anchor="ctr" wrap="none" lIns="0" tIns="0" rIns="0" bIns="0"/>
          <a:lstStyle/>
          <a:p>
            <a:pPr algn="ctr"/>
            <a:r>
              <a:rPr sz="1300" b="1" i="0">
                <a:solidFill>
                  <a:srgbClr val="FFFFFF"/>
                </a:solidFill>
                <a:latin typeface="Arial"/>
              </a:rPr>
              <a:t>B</a:t>
            </a:r>
            <a:endParaRPr sz="1300"/>
          </a:p>
        </p:txBody>
      </p:sp>
      <p:sp>
        <p:nvSpPr>
          <p:cNvPr id="10" name="TextBox 9"/>
          <p:cNvSpPr txBox="1"/>
          <p:nvPr/>
        </p:nvSpPr>
        <p:spPr>
          <a:xfrm>
            <a:off x="5605272" y="987552"/>
            <a:ext cx="3703320" cy="292608"/>
          </a:xfrm>
          <a:prstGeom prst="rect">
            <a:avLst/>
          </a:prstGeom>
          <a:noFill/>
        </p:spPr>
        <p:txBody>
          <a:bodyPr wrap="square" anchor="ctr" lIns="73152" rIns="73152"/>
          <a:lstStyle/>
          <a:p>
            <a:pPr algn="l"/>
            <a:r>
              <a:rPr sz="1500" b="1" i="0">
                <a:solidFill>
                  <a:srgbClr val="C00000"/>
                </a:solidFill>
                <a:latin typeface="Arial"/>
              </a:rPr>
              <a:t>Performance outcome</a:t>
            </a:r>
            <a:endParaRPr sz="1500"/>
          </a:p>
        </p:txBody>
      </p:sp>
      <p:sp>
        <p:nvSpPr>
          <p:cNvPr id="11" name="TextBox 10"/>
          <p:cNvSpPr txBox="1"/>
          <p:nvPr/>
        </p:nvSpPr>
        <p:spPr>
          <a:xfrm>
            <a:off x="5605272" y="1261872"/>
            <a:ext cx="3703320" cy="228600"/>
          </a:xfrm>
          <a:prstGeom prst="rect">
            <a:avLst/>
          </a:prstGeom>
          <a:noFill/>
        </p:spPr>
        <p:txBody>
          <a:bodyPr wrap="square" anchor="t" lIns="73152" rIns="73152"/>
          <a:lstStyle/>
          <a:p>
            <a:pPr algn="l"/>
            <a:r>
              <a:rPr sz="1050" b="0" i="1">
                <a:solidFill>
                  <a:srgbClr val="4B5563"/>
                </a:solidFill>
                <a:latin typeface="Arial"/>
              </a:rPr>
              <a:t>Acceptance targets we commit to</a:t>
            </a:r>
            <a:endParaRPr sz="1050"/>
          </a:p>
        </p:txBody>
      </p:sp>
      <p:sp>
        <p:nvSpPr>
          <p:cNvPr id="12" name="TextBox 11"/>
          <p:cNvSpPr txBox="1"/>
          <p:nvPr/>
        </p:nvSpPr>
        <p:spPr>
          <a:xfrm>
            <a:off x="5120640" y="1572768"/>
            <a:ext cx="4215383" cy="1892808"/>
          </a:xfrm>
          <a:prstGeom prst="rect">
            <a:avLst/>
          </a:prstGeom>
          <a:noFill/>
        </p:spPr>
        <p:txBody>
          <a:bodyPr wrap="square" anchor="t" lIns="73152" rIns="73152"/>
          <a:lstStyle/>
          <a:p>
            <a:pPr algn="l" marL="164592" indent="-164592">
              <a:spcAft>
                <a:spcPts val="500"/>
              </a:spcAft>
              <a:buClr>
                <a:srgbClr val="C00000"/>
              </a:buClr>
              <a:buFont typeface="Arial"/>
              <a:buChar char="•"/>
            </a:pPr>
            <a:r>
              <a:rPr sz="1200" b="0" i="0">
                <a:solidFill>
                  <a:srgbClr val="1F2937"/>
                </a:solidFill>
                <a:latin typeface="Arial"/>
              </a:rPr>
              <a:t>Best-option rate at least 0.70; within 2 stops of best at least 0.92</a:t>
            </a:r>
            <a:endParaRPr sz="1200"/>
          </a:p>
          <a:p>
            <a:pPr algn="l" marL="164592" indent="-164592">
              <a:spcAft>
                <a:spcPts val="500"/>
              </a:spcAft>
              <a:buClr>
                <a:srgbClr val="C00000"/>
              </a:buClr>
              <a:buFont typeface="Arial"/>
              <a:buChar char="•"/>
            </a:pPr>
            <a:r>
              <a:rPr sz="1200" b="0" i="0">
                <a:solidFill>
                  <a:srgbClr val="1F2937"/>
                </a:solidFill>
                <a:latin typeface="Arial"/>
              </a:rPr>
              <a:t>Mean percentile rank at most 0.10 (lower is better)</a:t>
            </a:r>
            <a:endParaRPr sz="1200"/>
          </a:p>
          <a:p>
            <a:pPr algn="l" marL="164592" indent="-164592">
              <a:spcAft>
                <a:spcPts val="500"/>
              </a:spcAft>
              <a:buClr>
                <a:srgbClr val="C00000"/>
              </a:buClr>
              <a:buFont typeface="Arial"/>
              <a:buChar char="•"/>
            </a:pPr>
            <a:r>
              <a:rPr sz="1200" b="0" i="0">
                <a:solidFill>
                  <a:srgbClr val="1F2937"/>
                </a:solidFill>
                <a:latin typeface="Arial"/>
              </a:rPr>
              <a:t>Coverage at least 0.95; p90 search latency at most 1.6 s</a:t>
            </a:r>
            <a:endParaRPr sz="1200"/>
          </a:p>
          <a:p>
            <a:pPr algn="l" marL="164592" indent="-164592">
              <a:spcAft>
                <a:spcPts val="500"/>
              </a:spcAft>
              <a:buClr>
                <a:srgbClr val="C00000"/>
              </a:buClr>
              <a:buFont typeface="Arial"/>
              <a:buChar char="•"/>
            </a:pPr>
            <a:r>
              <a:rPr sz="1200" b="0" i="0">
                <a:solidFill>
                  <a:srgbClr val="1F2937"/>
                </a:solidFill>
                <a:latin typeface="Arial"/>
              </a:rPr>
              <a:t>Crew-to-bus ratio inside the 2.0 to 2.5 range of real undertakings</a:t>
            </a:r>
            <a:endParaRPr sz="1200"/>
          </a:p>
        </p:txBody>
      </p:sp>
      <p:sp>
        <p:nvSpPr>
          <p:cNvPr id="13" name="Rounded Rectangle 12"/>
          <p:cNvSpPr/>
          <p:nvPr/>
        </p:nvSpPr>
        <p:spPr>
          <a:xfrm>
            <a:off x="457200" y="3639312"/>
            <a:ext cx="4434840" cy="2606040"/>
          </a:xfrm>
          <a:prstGeom prst="roundRect">
            <a:avLst>
              <a:gd name="adj" fmla="val 5000"/>
            </a:avLst>
          </a:prstGeom>
          <a:solidFill>
            <a:srgbClr val="F3F4F6"/>
          </a:solidFill>
          <a:ln>
            <a:noFill/>
          </a:ln>
          <a:effectLst/>
        </p:spPr>
        <p:txBody>
          <a:bodyPr rtlCol="0" anchor="ctr"/>
          <a:lstStyle/>
          <a:p>
            <a:pPr algn="ctr"/>
          </a:p>
        </p:txBody>
      </p:sp>
      <p:sp>
        <p:nvSpPr>
          <p:cNvPr id="14" name="Oval 13"/>
          <p:cNvSpPr/>
          <p:nvPr/>
        </p:nvSpPr>
        <p:spPr>
          <a:xfrm>
            <a:off x="594360" y="3758184"/>
            <a:ext cx="365760" cy="365760"/>
          </a:xfrm>
          <a:prstGeom prst="ellipse">
            <a:avLst/>
          </a:prstGeom>
          <a:solidFill>
            <a:srgbClr val="C00000"/>
          </a:solidFill>
          <a:ln>
            <a:noFill/>
          </a:ln>
          <a:effectLst/>
        </p:spPr>
        <p:txBody>
          <a:bodyPr rtlCol="0" anchor="ctr" wrap="none" lIns="0" tIns="0" rIns="0" bIns="0"/>
          <a:lstStyle/>
          <a:p>
            <a:pPr algn="ctr"/>
            <a:r>
              <a:rPr sz="1300" b="1" i="0">
                <a:solidFill>
                  <a:srgbClr val="FFFFFF"/>
                </a:solidFill>
                <a:latin typeface="Arial"/>
              </a:rPr>
              <a:t>C</a:t>
            </a:r>
            <a:endParaRPr sz="1300"/>
          </a:p>
        </p:txBody>
      </p:sp>
      <p:sp>
        <p:nvSpPr>
          <p:cNvPr id="15" name="TextBox 14"/>
          <p:cNvSpPr txBox="1"/>
          <p:nvPr/>
        </p:nvSpPr>
        <p:spPr>
          <a:xfrm>
            <a:off x="1051560" y="3712463"/>
            <a:ext cx="3703320" cy="292608"/>
          </a:xfrm>
          <a:prstGeom prst="rect">
            <a:avLst/>
          </a:prstGeom>
          <a:noFill/>
        </p:spPr>
        <p:txBody>
          <a:bodyPr wrap="square" anchor="ctr" lIns="73152" rIns="73152"/>
          <a:lstStyle/>
          <a:p>
            <a:pPr algn="l"/>
            <a:r>
              <a:rPr sz="1500" b="1" i="0">
                <a:solidFill>
                  <a:srgbClr val="C00000"/>
                </a:solidFill>
                <a:latin typeface="Arial"/>
              </a:rPr>
              <a:t>Practical impact</a:t>
            </a:r>
            <a:endParaRPr sz="1500"/>
          </a:p>
        </p:txBody>
      </p:sp>
      <p:sp>
        <p:nvSpPr>
          <p:cNvPr id="16" name="TextBox 15"/>
          <p:cNvSpPr txBox="1"/>
          <p:nvPr/>
        </p:nvSpPr>
        <p:spPr>
          <a:xfrm>
            <a:off x="1051560" y="3986784"/>
            <a:ext cx="3703320" cy="228600"/>
          </a:xfrm>
          <a:prstGeom prst="rect">
            <a:avLst/>
          </a:prstGeom>
          <a:noFill/>
        </p:spPr>
        <p:txBody>
          <a:bodyPr wrap="square" anchor="t" lIns="73152" rIns="73152"/>
          <a:lstStyle/>
          <a:p>
            <a:pPr algn="l"/>
            <a:r>
              <a:rPr sz="1050" b="0" i="1">
                <a:solidFill>
                  <a:srgbClr val="4B5563"/>
                </a:solidFill>
                <a:latin typeface="Arial"/>
              </a:rPr>
              <a:t>Who benefits</a:t>
            </a:r>
            <a:endParaRPr sz="1050"/>
          </a:p>
        </p:txBody>
      </p:sp>
      <p:sp>
        <p:nvSpPr>
          <p:cNvPr id="17" name="TextBox 16"/>
          <p:cNvSpPr txBox="1"/>
          <p:nvPr/>
        </p:nvSpPr>
        <p:spPr>
          <a:xfrm>
            <a:off x="566928" y="4297680"/>
            <a:ext cx="4215383" cy="1892808"/>
          </a:xfrm>
          <a:prstGeom prst="rect">
            <a:avLst/>
          </a:prstGeom>
          <a:noFill/>
        </p:spPr>
        <p:txBody>
          <a:bodyPr wrap="square" anchor="t" lIns="73152" rIns="73152"/>
          <a:lstStyle/>
          <a:p>
            <a:pPr algn="l" marL="164592" indent="-164592">
              <a:spcAft>
                <a:spcPts val="500"/>
              </a:spcAft>
              <a:buClr>
                <a:srgbClr val="C00000"/>
              </a:buClr>
              <a:buFont typeface="Arial"/>
              <a:buChar char="•"/>
            </a:pPr>
            <a:r>
              <a:rPr sz="1200" b="0" i="0">
                <a:solidFill>
                  <a:srgbClr val="1F2937"/>
                </a:solidFill>
                <a:latin typeface="Arial"/>
              </a:rPr>
              <a:t>Commuters: find buses across 4,883 stops in four languages</a:t>
            </a:r>
            <a:endParaRPr sz="1200"/>
          </a:p>
          <a:p>
            <a:pPr algn="l" marL="164592" indent="-164592">
              <a:spcAft>
                <a:spcPts val="500"/>
              </a:spcAft>
              <a:buClr>
                <a:srgbClr val="C00000"/>
              </a:buClr>
              <a:buFont typeface="Arial"/>
              <a:buChar char="•"/>
            </a:pPr>
            <a:r>
              <a:rPr sz="1200" b="0" i="0">
                <a:solidFill>
                  <a:srgbClr val="1F2937"/>
                </a:solidFill>
                <a:latin typeface="Arial"/>
              </a:rPr>
              <a:t>Depot managers: see what a timetable change costs in buses and crew</a:t>
            </a:r>
            <a:endParaRPr sz="1200"/>
          </a:p>
          <a:p>
            <a:pPr algn="l" marL="164592" indent="-164592">
              <a:spcAft>
                <a:spcPts val="500"/>
              </a:spcAft>
              <a:buClr>
                <a:srgbClr val="C00000"/>
              </a:buClr>
              <a:buFont typeface="Arial"/>
              <a:buChar char="•"/>
            </a:pPr>
            <a:r>
              <a:rPr sz="1200" b="0" i="0">
                <a:solidFill>
                  <a:srgbClr val="1F2937"/>
                </a:solidFill>
                <a:latin typeface="Arial"/>
              </a:rPr>
              <a:t>BMTC finance: Shakti reimbursement and cash variance visible per waybill</a:t>
            </a:r>
            <a:endParaRPr sz="1200"/>
          </a:p>
          <a:p>
            <a:pPr algn="l" marL="164592" indent="-164592">
              <a:spcAft>
                <a:spcPts val="500"/>
              </a:spcAft>
              <a:buClr>
                <a:srgbClr val="C00000"/>
              </a:buClr>
              <a:buFont typeface="Arial"/>
              <a:buChar char="•"/>
            </a:pPr>
            <a:r>
              <a:rPr sz="1200" b="0" i="0">
                <a:solidFill>
                  <a:srgbClr val="1F2937"/>
                </a:solidFill>
                <a:latin typeface="Arial"/>
              </a:rPr>
              <a:t>Other apps: reuse the timetable through GTFS</a:t>
            </a:r>
            <a:endParaRPr sz="1200"/>
          </a:p>
        </p:txBody>
      </p:sp>
      <p:sp>
        <p:nvSpPr>
          <p:cNvPr id="18" name="Rounded Rectangle 17"/>
          <p:cNvSpPr/>
          <p:nvPr/>
        </p:nvSpPr>
        <p:spPr>
          <a:xfrm>
            <a:off x="5010912" y="3639312"/>
            <a:ext cx="4434840" cy="2606040"/>
          </a:xfrm>
          <a:prstGeom prst="roundRect">
            <a:avLst>
              <a:gd name="adj" fmla="val 5000"/>
            </a:avLst>
          </a:prstGeom>
          <a:solidFill>
            <a:srgbClr val="F3F4F6"/>
          </a:solidFill>
          <a:ln>
            <a:noFill/>
          </a:ln>
          <a:effectLst/>
        </p:spPr>
        <p:txBody>
          <a:bodyPr rtlCol="0" anchor="ctr"/>
          <a:lstStyle/>
          <a:p>
            <a:pPr algn="ctr"/>
          </a:p>
        </p:txBody>
      </p:sp>
      <p:sp>
        <p:nvSpPr>
          <p:cNvPr id="19" name="Oval 18"/>
          <p:cNvSpPr/>
          <p:nvPr/>
        </p:nvSpPr>
        <p:spPr>
          <a:xfrm>
            <a:off x="5148072" y="3758184"/>
            <a:ext cx="365760" cy="365760"/>
          </a:xfrm>
          <a:prstGeom prst="ellipse">
            <a:avLst/>
          </a:prstGeom>
          <a:solidFill>
            <a:srgbClr val="C00000"/>
          </a:solidFill>
          <a:ln>
            <a:noFill/>
          </a:ln>
          <a:effectLst/>
        </p:spPr>
        <p:txBody>
          <a:bodyPr rtlCol="0" anchor="ctr" wrap="none" lIns="0" tIns="0" rIns="0" bIns="0"/>
          <a:lstStyle/>
          <a:p>
            <a:pPr algn="ctr"/>
            <a:r>
              <a:rPr sz="1300" b="1" i="0">
                <a:solidFill>
                  <a:srgbClr val="FFFFFF"/>
                </a:solidFill>
                <a:latin typeface="Arial"/>
              </a:rPr>
              <a:t>D</a:t>
            </a:r>
            <a:endParaRPr sz="1300"/>
          </a:p>
        </p:txBody>
      </p:sp>
      <p:sp>
        <p:nvSpPr>
          <p:cNvPr id="20" name="TextBox 19"/>
          <p:cNvSpPr txBox="1"/>
          <p:nvPr/>
        </p:nvSpPr>
        <p:spPr>
          <a:xfrm>
            <a:off x="5605272" y="3712463"/>
            <a:ext cx="3703320" cy="292608"/>
          </a:xfrm>
          <a:prstGeom prst="rect">
            <a:avLst/>
          </a:prstGeom>
          <a:noFill/>
        </p:spPr>
        <p:txBody>
          <a:bodyPr wrap="square" anchor="ctr" lIns="73152" rIns="73152"/>
          <a:lstStyle/>
          <a:p>
            <a:pPr algn="l"/>
            <a:r>
              <a:rPr sz="1500" b="1" i="0">
                <a:solidFill>
                  <a:srgbClr val="C00000"/>
                </a:solidFill>
                <a:latin typeface="Arial"/>
              </a:rPr>
              <a:t>Extension and research</a:t>
            </a:r>
            <a:endParaRPr sz="1500"/>
          </a:p>
        </p:txBody>
      </p:sp>
      <p:sp>
        <p:nvSpPr>
          <p:cNvPr id="21" name="TextBox 20"/>
          <p:cNvSpPr txBox="1"/>
          <p:nvPr/>
        </p:nvSpPr>
        <p:spPr>
          <a:xfrm>
            <a:off x="5605272" y="3986784"/>
            <a:ext cx="3703320" cy="228600"/>
          </a:xfrm>
          <a:prstGeom prst="rect">
            <a:avLst/>
          </a:prstGeom>
          <a:noFill/>
        </p:spPr>
        <p:txBody>
          <a:bodyPr wrap="square" anchor="t" lIns="73152" rIns="73152"/>
          <a:lstStyle/>
          <a:p>
            <a:pPr algn="l"/>
            <a:r>
              <a:rPr sz="1050" b="0" i="1">
                <a:solidFill>
                  <a:srgbClr val="4B5563"/>
                </a:solidFill>
                <a:latin typeface="Arial"/>
              </a:rPr>
              <a:t>Where it can grow</a:t>
            </a:r>
            <a:endParaRPr sz="1050"/>
          </a:p>
        </p:txBody>
      </p:sp>
      <p:sp>
        <p:nvSpPr>
          <p:cNvPr id="22" name="TextBox 21"/>
          <p:cNvSpPr txBox="1"/>
          <p:nvPr/>
        </p:nvSpPr>
        <p:spPr>
          <a:xfrm>
            <a:off x="5120640" y="4297680"/>
            <a:ext cx="4215383" cy="1892808"/>
          </a:xfrm>
          <a:prstGeom prst="rect">
            <a:avLst/>
          </a:prstGeom>
          <a:noFill/>
        </p:spPr>
        <p:txBody>
          <a:bodyPr wrap="square" anchor="t" lIns="73152" rIns="73152"/>
          <a:lstStyle/>
          <a:p>
            <a:pPr algn="l" marL="164592" indent="-164592">
              <a:spcAft>
                <a:spcPts val="500"/>
              </a:spcAft>
              <a:buClr>
                <a:srgbClr val="C00000"/>
              </a:buClr>
              <a:buFont typeface="Arial"/>
              <a:buChar char="•"/>
            </a:pPr>
            <a:r>
              <a:rPr sz="1200" b="0" i="0">
                <a:solidFill>
                  <a:srgbClr val="1F2937"/>
                </a:solidFill>
                <a:latin typeface="Arial"/>
              </a:rPr>
              <a:t>Plug in a real vehicle feed through adapters (GTFS-RT, HTTP JSON, push)</a:t>
            </a:r>
            <a:endParaRPr sz="1200"/>
          </a:p>
          <a:p>
            <a:pPr algn="l" marL="164592" indent="-164592">
              <a:spcAft>
                <a:spcPts val="500"/>
              </a:spcAft>
              <a:buClr>
                <a:srgbClr val="C00000"/>
              </a:buClr>
              <a:buFont typeface="Arial"/>
              <a:buChar char="•"/>
            </a:pPr>
            <a:r>
              <a:rPr sz="1200" b="0" i="0">
                <a:solidFill>
                  <a:srgbClr val="1F2937"/>
                </a:solidFill>
                <a:latin typeface="Arial"/>
              </a:rPr>
              <a:t>Relevance-set versus rank-quality benchmark method for route recommenders</a:t>
            </a:r>
            <a:endParaRPr sz="1200"/>
          </a:p>
          <a:p>
            <a:pPr algn="l" marL="164592" indent="-164592">
              <a:spcAft>
                <a:spcPts val="500"/>
              </a:spcAft>
              <a:buClr>
                <a:srgbClr val="C00000"/>
              </a:buClr>
              <a:buFont typeface="Arial"/>
              <a:buChar char="•"/>
            </a:pPr>
            <a:r>
              <a:rPr sz="1200" b="0" i="0">
                <a:solidFill>
                  <a:srgbClr val="1F2937"/>
                </a:solidFill>
                <a:latin typeface="Arial"/>
              </a:rPr>
              <a:t>Payment gateway and identity check for Shakti; shared state (Redis) for scale</a:t>
            </a:r>
            <a:endParaRPr sz="120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19456"/>
            <a:ext cx="8988552" cy="603504"/>
          </a:xfrm>
        </p:spPr>
        <p:txBody>
          <a:bodyPr anchor="ctr" wrap="square"/>
          <a:lstStyle/>
          <a:p>
            <a:pPr algn="ctr"/>
            <a:r>
              <a:rPr sz="2800" b="1" i="0">
                <a:solidFill>
                  <a:srgbClr val="FF0000"/>
                </a:solidFill>
                <a:latin typeface="Arial"/>
              </a:rPr>
              <a:t>Value for BMTC and Pilot Plan</a:t>
            </a:r>
          </a:p>
        </p:txBody>
      </p:sp>
      <p:sp>
        <p:nvSpPr>
          <p:cNvPr id="3" name="Rounded Rectangle 2"/>
          <p:cNvSpPr/>
          <p:nvPr/>
        </p:nvSpPr>
        <p:spPr>
          <a:xfrm>
            <a:off x="457200" y="914400"/>
            <a:ext cx="8988552" cy="777240"/>
          </a:xfrm>
          <a:prstGeom prst="roundRect">
            <a:avLst>
              <a:gd name="adj" fmla="val 8000"/>
            </a:avLst>
          </a:prstGeom>
          <a:solidFill>
            <a:srgbClr val="1F2937"/>
          </a:solidFill>
          <a:ln>
            <a:noFill/>
          </a:ln>
          <a:effectLst/>
        </p:spPr>
        <p:txBody>
          <a:bodyPr rtlCol="0" anchor="ctr" wrap="square" lIns="274320" rIns="274320"/>
          <a:lstStyle/>
          <a:p>
            <a:pPr algn="ctr"/>
            <a:r>
              <a:rPr sz="1300" b="1" i="0">
                <a:solidFill>
                  <a:srgbClr val="FFFFFF"/>
                </a:solidFill>
                <a:latin typeface="Arial"/>
              </a:rPr>
              <a:t>Namma BMTC 2.0, Moovit and Google Maps help riders reach the right bus. DBARS is designed to help BMTC decide how many buses and crew to run, and where to add service.</a:t>
            </a:r>
            <a:endParaRPr sz="1300"/>
          </a:p>
        </p:txBody>
      </p:sp>
      <p:sp>
        <p:nvSpPr>
          <p:cNvPr id="4" name="Rounded Rectangle 3"/>
          <p:cNvSpPr/>
          <p:nvPr/>
        </p:nvSpPr>
        <p:spPr>
          <a:xfrm>
            <a:off x="457200" y="1828800"/>
            <a:ext cx="2916936" cy="2377440"/>
          </a:xfrm>
          <a:prstGeom prst="roundRect">
            <a:avLst>
              <a:gd name="adj" fmla="val 5000"/>
            </a:avLst>
          </a:prstGeom>
          <a:solidFill>
            <a:srgbClr val="F3F4F6"/>
          </a:solidFill>
          <a:ln>
            <a:noFill/>
          </a:ln>
          <a:effectLst/>
        </p:spPr>
        <p:txBody>
          <a:bodyPr rtlCol="0" anchor="ctr"/>
          <a:lstStyle/>
          <a:p>
            <a:pPr algn="ctr"/>
          </a:p>
        </p:txBody>
      </p:sp>
      <p:sp>
        <p:nvSpPr>
          <p:cNvPr id="5" name="TextBox 4"/>
          <p:cNvSpPr txBox="1"/>
          <p:nvPr/>
        </p:nvSpPr>
        <p:spPr>
          <a:xfrm>
            <a:off x="566928" y="1883664"/>
            <a:ext cx="2697480" cy="329184"/>
          </a:xfrm>
          <a:prstGeom prst="rect">
            <a:avLst/>
          </a:prstGeom>
          <a:noFill/>
        </p:spPr>
        <p:txBody>
          <a:bodyPr wrap="square" anchor="ctr" lIns="73152" rIns="73152"/>
          <a:lstStyle/>
          <a:p>
            <a:pPr algn="l"/>
            <a:r>
              <a:rPr sz="1450" b="1" i="0">
                <a:solidFill>
                  <a:srgbClr val="C00000"/>
                </a:solidFill>
                <a:latin typeface="Arial"/>
              </a:rPr>
              <a:t>Commuters</a:t>
            </a:r>
            <a:endParaRPr sz="1450"/>
          </a:p>
        </p:txBody>
      </p:sp>
      <p:sp>
        <p:nvSpPr>
          <p:cNvPr id="6" name="TextBox 5"/>
          <p:cNvSpPr txBox="1"/>
          <p:nvPr/>
        </p:nvSpPr>
        <p:spPr>
          <a:xfrm>
            <a:off x="548640" y="2249424"/>
            <a:ext cx="2734056" cy="1920240"/>
          </a:xfrm>
          <a:prstGeom prst="rect">
            <a:avLst/>
          </a:prstGeom>
          <a:noFill/>
        </p:spPr>
        <p:txBody>
          <a:bodyPr wrap="square" anchor="t" lIns="73152" rIns="73152"/>
          <a:lstStyle/>
          <a:p>
            <a:pPr algn="l" marL="164592" indent="-164592">
              <a:spcAft>
                <a:spcPts val="500"/>
              </a:spcAft>
              <a:buClr>
                <a:srgbClr val="C00000"/>
              </a:buClr>
              <a:buFont typeface="Arial"/>
              <a:buChar char="•"/>
            </a:pPr>
            <a:r>
              <a:rPr sz="1150" b="0" i="0">
                <a:solidFill>
                  <a:srgbClr val="1F2937"/>
                </a:solidFill>
                <a:latin typeface="Arial"/>
              </a:rPr>
              <a:t>Direct, 1-change and 2-change journeys with fare, distance, map and nearby Metro</a:t>
            </a:r>
            <a:endParaRPr sz="1150"/>
          </a:p>
          <a:p>
            <a:pPr algn="l" marL="164592" indent="-164592">
              <a:spcAft>
                <a:spcPts val="500"/>
              </a:spcAft>
              <a:buClr>
                <a:srgbClr val="C00000"/>
              </a:buClr>
              <a:buFont typeface="Arial"/>
              <a:buChar char="•"/>
            </a:pPr>
            <a:r>
              <a:rPr sz="1150" b="0" i="0">
                <a:solidFill>
                  <a:srgbClr val="1F2937"/>
                </a:solidFill>
                <a:latin typeface="Arial"/>
              </a:rPr>
              <a:t>English, Kannada, Hindi, Telugu, plus SMS for feature phones</a:t>
            </a:r>
            <a:endParaRPr sz="1150"/>
          </a:p>
          <a:p>
            <a:pPr algn="l" marL="164592" indent="-164592">
              <a:spcAft>
                <a:spcPts val="500"/>
              </a:spcAft>
              <a:buClr>
                <a:srgbClr val="C00000"/>
              </a:buClr>
              <a:buFont typeface="Arial"/>
              <a:buChar char="•"/>
            </a:pPr>
            <a:r>
              <a:rPr sz="1150" b="0" i="0">
                <a:solidFill>
                  <a:srgbClr val="1F2937"/>
                </a:solidFill>
                <a:latin typeface="Arial"/>
              </a:rPr>
              <a:t>Vote for routes they wish existed; QR e-tickets; Shakti tickets use the same QR</a:t>
            </a:r>
            <a:endParaRPr sz="1150"/>
          </a:p>
        </p:txBody>
      </p:sp>
      <p:sp>
        <p:nvSpPr>
          <p:cNvPr id="7" name="Rounded Rectangle 6"/>
          <p:cNvSpPr/>
          <p:nvPr/>
        </p:nvSpPr>
        <p:spPr>
          <a:xfrm>
            <a:off x="3493008" y="1828800"/>
            <a:ext cx="2916936" cy="2377440"/>
          </a:xfrm>
          <a:prstGeom prst="roundRect">
            <a:avLst>
              <a:gd name="adj" fmla="val 5000"/>
            </a:avLst>
          </a:prstGeom>
          <a:solidFill>
            <a:srgbClr val="F3F4F6"/>
          </a:solidFill>
          <a:ln>
            <a:noFill/>
          </a:ln>
          <a:effectLst/>
        </p:spPr>
        <p:txBody>
          <a:bodyPr rtlCol="0" anchor="ctr"/>
          <a:lstStyle/>
          <a:p>
            <a:pPr algn="ctr"/>
          </a:p>
        </p:txBody>
      </p:sp>
      <p:sp>
        <p:nvSpPr>
          <p:cNvPr id="8" name="TextBox 7"/>
          <p:cNvSpPr txBox="1"/>
          <p:nvPr/>
        </p:nvSpPr>
        <p:spPr>
          <a:xfrm>
            <a:off x="3602736" y="1883664"/>
            <a:ext cx="2697480" cy="329184"/>
          </a:xfrm>
          <a:prstGeom prst="rect">
            <a:avLst/>
          </a:prstGeom>
          <a:noFill/>
        </p:spPr>
        <p:txBody>
          <a:bodyPr wrap="square" anchor="ctr" lIns="73152" rIns="73152"/>
          <a:lstStyle/>
          <a:p>
            <a:pPr algn="l"/>
            <a:r>
              <a:rPr sz="1450" b="1" i="0">
                <a:solidFill>
                  <a:srgbClr val="C00000"/>
                </a:solidFill>
                <a:latin typeface="Arial"/>
              </a:rPr>
              <a:t>Depot managers and HQ</a:t>
            </a:r>
            <a:endParaRPr sz="1450"/>
          </a:p>
        </p:txBody>
      </p:sp>
      <p:sp>
        <p:nvSpPr>
          <p:cNvPr id="9" name="TextBox 8"/>
          <p:cNvSpPr txBox="1"/>
          <p:nvPr/>
        </p:nvSpPr>
        <p:spPr>
          <a:xfrm>
            <a:off x="3584448" y="2249424"/>
            <a:ext cx="2734056" cy="1920240"/>
          </a:xfrm>
          <a:prstGeom prst="rect">
            <a:avLst/>
          </a:prstGeom>
          <a:noFill/>
        </p:spPr>
        <p:txBody>
          <a:bodyPr wrap="square" anchor="t" lIns="73152" rIns="73152"/>
          <a:lstStyle/>
          <a:p>
            <a:pPr algn="l" marL="164592" indent="-164592">
              <a:spcAft>
                <a:spcPts val="500"/>
              </a:spcAft>
              <a:buClr>
                <a:srgbClr val="C00000"/>
              </a:buClr>
              <a:buFont typeface="Arial"/>
              <a:buChar char="•"/>
            </a:pPr>
            <a:r>
              <a:rPr sz="1150" b="0" i="0">
                <a:solidFill>
                  <a:srgbClr val="1F2937"/>
                </a:solidFill>
                <a:latin typeface="Arial"/>
              </a:rPr>
              <a:t>Minimum buses, dead kilometres and crew duties; what-if console for timetable changes</a:t>
            </a:r>
            <a:endParaRPr sz="1150"/>
          </a:p>
          <a:p>
            <a:pPr algn="l" marL="164592" indent="-164592">
              <a:spcAft>
                <a:spcPts val="500"/>
              </a:spcAft>
              <a:buClr>
                <a:srgbClr val="C00000"/>
              </a:buClr>
              <a:buFont typeface="Arial"/>
              <a:buChar char="•"/>
            </a:pPr>
            <a:r>
              <a:rPr sz="1150" b="0" i="0">
                <a:solidFill>
                  <a:srgbClr val="1F2937"/>
                </a:solidFill>
                <a:latin typeface="Arial"/>
              </a:rPr>
              <a:t>Votes ranked into HIGH / MEDIUM / LOW dispatch recommendations</a:t>
            </a:r>
            <a:endParaRPr sz="1150"/>
          </a:p>
          <a:p>
            <a:pPr algn="l" marL="164592" indent="-164592">
              <a:spcAft>
                <a:spcPts val="500"/>
              </a:spcAft>
              <a:buClr>
                <a:srgbClr val="C00000"/>
              </a:buClr>
              <a:buFont typeface="Arial"/>
              <a:buChar char="•"/>
            </a:pPr>
            <a:r>
              <a:rPr sz="1150" b="0" i="0">
                <a:solidFill>
                  <a:srgbClr val="1F2937"/>
                </a:solidFill>
                <a:latin typeface="Arial"/>
              </a:rPr>
              <a:t>Waybills, cash variance reported (never auto-corrected), Shakti claim, audit log</a:t>
            </a:r>
            <a:endParaRPr sz="1150"/>
          </a:p>
        </p:txBody>
      </p:sp>
      <p:sp>
        <p:nvSpPr>
          <p:cNvPr id="10" name="Rounded Rectangle 9"/>
          <p:cNvSpPr/>
          <p:nvPr/>
        </p:nvSpPr>
        <p:spPr>
          <a:xfrm>
            <a:off x="6528816" y="1828800"/>
            <a:ext cx="2916936" cy="2377440"/>
          </a:xfrm>
          <a:prstGeom prst="roundRect">
            <a:avLst>
              <a:gd name="adj" fmla="val 5000"/>
            </a:avLst>
          </a:prstGeom>
          <a:solidFill>
            <a:srgbClr val="F3F4F6"/>
          </a:solidFill>
          <a:ln>
            <a:noFill/>
          </a:ln>
          <a:effectLst/>
        </p:spPr>
        <p:txBody>
          <a:bodyPr rtlCol="0" anchor="ctr"/>
          <a:lstStyle/>
          <a:p>
            <a:pPr algn="ctr"/>
          </a:p>
        </p:txBody>
      </p:sp>
      <p:sp>
        <p:nvSpPr>
          <p:cNvPr id="11" name="TextBox 10"/>
          <p:cNvSpPr txBox="1"/>
          <p:nvPr/>
        </p:nvSpPr>
        <p:spPr>
          <a:xfrm>
            <a:off x="6638544" y="1883664"/>
            <a:ext cx="2697480" cy="329184"/>
          </a:xfrm>
          <a:prstGeom prst="rect">
            <a:avLst/>
          </a:prstGeom>
          <a:noFill/>
        </p:spPr>
        <p:txBody>
          <a:bodyPr wrap="square" anchor="ctr" lIns="73152" rIns="73152"/>
          <a:lstStyle/>
          <a:p>
            <a:pPr algn="l"/>
            <a:r>
              <a:rPr sz="1450" b="1" i="0">
                <a:solidFill>
                  <a:srgbClr val="C00000"/>
                </a:solidFill>
                <a:latin typeface="Arial"/>
              </a:rPr>
              <a:t>Ecosystem</a:t>
            </a:r>
            <a:endParaRPr sz="1450"/>
          </a:p>
        </p:txBody>
      </p:sp>
      <p:sp>
        <p:nvSpPr>
          <p:cNvPr id="12" name="TextBox 11"/>
          <p:cNvSpPr txBox="1"/>
          <p:nvPr/>
        </p:nvSpPr>
        <p:spPr>
          <a:xfrm>
            <a:off x="6620255" y="2249424"/>
            <a:ext cx="2734056" cy="1920240"/>
          </a:xfrm>
          <a:prstGeom prst="rect">
            <a:avLst/>
          </a:prstGeom>
          <a:noFill/>
        </p:spPr>
        <p:txBody>
          <a:bodyPr wrap="square" anchor="t" lIns="73152" rIns="73152"/>
          <a:lstStyle/>
          <a:p>
            <a:pPr algn="l" marL="164592" indent="-164592">
              <a:spcAft>
                <a:spcPts val="500"/>
              </a:spcAft>
              <a:buClr>
                <a:srgbClr val="C00000"/>
              </a:buClr>
              <a:buFont typeface="Arial"/>
              <a:buChar char="•"/>
            </a:pPr>
            <a:r>
              <a:rPr sz="1150" b="0" i="0">
                <a:solidFill>
                  <a:srgbClr val="1F2937"/>
                </a:solidFill>
                <a:latin typeface="Arial"/>
              </a:rPr>
              <a:t>Enriched GTFS feed with alerts, extending the static BMTC schedule feed</a:t>
            </a:r>
            <a:endParaRPr sz="1150"/>
          </a:p>
          <a:p>
            <a:pPr algn="l" marL="164592" indent="-164592">
              <a:spcAft>
                <a:spcPts val="500"/>
              </a:spcAft>
              <a:buClr>
                <a:srgbClr val="C00000"/>
              </a:buClr>
              <a:buFont typeface="Arial"/>
              <a:buChar char="•"/>
            </a:pPr>
            <a:r>
              <a:rPr sz="1150" b="0" i="0">
                <a:solidFill>
                  <a:srgbClr val="1F2937"/>
                </a:solidFill>
                <a:latin typeface="Arial"/>
              </a:rPr>
              <a:t>GTFS-Realtime service alerts from real depot alerts</a:t>
            </a:r>
            <a:endParaRPr sz="1150"/>
          </a:p>
          <a:p>
            <a:pPr algn="l" marL="164592" indent="-164592">
              <a:spcAft>
                <a:spcPts val="500"/>
              </a:spcAft>
              <a:buClr>
                <a:srgbClr val="C00000"/>
              </a:buClr>
              <a:buFont typeface="Arial"/>
              <a:buChar char="•"/>
            </a:pPr>
            <a:r>
              <a:rPr sz="1150" b="0" i="0">
                <a:solidFill>
                  <a:srgbClr val="1F2937"/>
                </a:solidFill>
                <a:latin typeface="Arial"/>
              </a:rPr>
              <a:t>Live positions published only from a live feed; simulated data is never labelled real</a:t>
            </a:r>
            <a:endParaRPr sz="1150"/>
          </a:p>
        </p:txBody>
      </p:sp>
      <p:sp>
        <p:nvSpPr>
          <p:cNvPr id="13" name="TextBox 12"/>
          <p:cNvSpPr txBox="1"/>
          <p:nvPr/>
        </p:nvSpPr>
        <p:spPr>
          <a:xfrm>
            <a:off x="457200" y="4315968"/>
            <a:ext cx="8988552" cy="274320"/>
          </a:xfrm>
          <a:prstGeom prst="rect">
            <a:avLst/>
          </a:prstGeom>
          <a:noFill/>
        </p:spPr>
        <p:txBody>
          <a:bodyPr wrap="square" anchor="t" lIns="73152" rIns="73152"/>
          <a:lstStyle/>
          <a:p>
            <a:pPr algn="l"/>
            <a:r>
              <a:rPr sz="1300" b="1" i="0">
                <a:solidFill>
                  <a:srgbClr val="C00000"/>
                </a:solidFill>
                <a:latin typeface="Arial"/>
              </a:rPr>
              <a:t>Proposed pilot with BMTC</a:t>
            </a:r>
            <a:endParaRPr sz="1300"/>
          </a:p>
        </p:txBody>
      </p:sp>
      <p:sp>
        <p:nvSpPr>
          <p:cNvPr id="14" name="Pentagon 13"/>
          <p:cNvSpPr/>
          <p:nvPr/>
        </p:nvSpPr>
        <p:spPr>
          <a:xfrm>
            <a:off x="457200" y="4645152"/>
            <a:ext cx="2916936" cy="1572768"/>
          </a:xfrm>
          <a:prstGeom prst="homePlate">
            <a:avLst/>
          </a:prstGeom>
          <a:solidFill>
            <a:srgbClr val="FFFFFF"/>
          </a:solidFill>
          <a:ln w="15875">
            <a:solidFill>
              <a:srgbClr val="C00000"/>
            </a:solidFill>
          </a:ln>
          <a:effectLst/>
        </p:spPr>
        <p:txBody>
          <a:bodyPr rtlCol="0" anchor="ctr"/>
          <a:lstStyle/>
          <a:p>
            <a:pPr algn="ctr"/>
          </a:p>
        </p:txBody>
      </p:sp>
      <p:sp>
        <p:nvSpPr>
          <p:cNvPr id="15" name="TextBox 14"/>
          <p:cNvSpPr txBox="1"/>
          <p:nvPr/>
        </p:nvSpPr>
        <p:spPr>
          <a:xfrm>
            <a:off x="566928" y="4681728"/>
            <a:ext cx="2368296" cy="329184"/>
          </a:xfrm>
          <a:prstGeom prst="rect">
            <a:avLst/>
          </a:prstGeom>
          <a:noFill/>
        </p:spPr>
        <p:txBody>
          <a:bodyPr wrap="square" anchor="ctr" lIns="73152" rIns="73152"/>
          <a:lstStyle/>
          <a:p>
            <a:pPr algn="l"/>
            <a:r>
              <a:rPr sz="1250" b="1" i="0">
                <a:solidFill>
                  <a:srgbClr val="C00000"/>
                </a:solidFill>
                <a:latin typeface="Arial"/>
              </a:rPr>
              <a:t>1  </a:t>
            </a:r>
            <a:r>
              <a:rPr sz="1250" b="1" i="0">
                <a:solidFill>
                  <a:srgbClr val="1F2937"/>
                </a:solidFill>
                <a:latin typeface="Arial"/>
              </a:rPr>
              <a:t>Validate the plan</a:t>
            </a:r>
            <a:endParaRPr sz="1250"/>
          </a:p>
        </p:txBody>
      </p:sp>
      <p:sp>
        <p:nvSpPr>
          <p:cNvPr id="16" name="TextBox 15"/>
          <p:cNvSpPr txBox="1"/>
          <p:nvPr/>
        </p:nvSpPr>
        <p:spPr>
          <a:xfrm>
            <a:off x="566928" y="5010912"/>
            <a:ext cx="2350008" cy="1188720"/>
          </a:xfrm>
          <a:prstGeom prst="rect">
            <a:avLst/>
          </a:prstGeom>
          <a:noFill/>
        </p:spPr>
        <p:txBody>
          <a:bodyPr wrap="square" anchor="t" lIns="73152" rIns="73152"/>
          <a:lstStyle/>
          <a:p>
            <a:pPr algn="l"/>
            <a:r>
              <a:rPr sz="1150" b="0" i="0">
                <a:solidFill>
                  <a:srgbClr val="1F2937"/>
                </a:solidFill>
                <a:latin typeface="Arial"/>
              </a:rPr>
              <a:t>Load one depot's timetable and compare the modelled blocks and crew duties with the actual rosters.</a:t>
            </a:r>
            <a:endParaRPr sz="1150"/>
          </a:p>
        </p:txBody>
      </p:sp>
      <p:sp>
        <p:nvSpPr>
          <p:cNvPr id="17" name="Pentagon 16"/>
          <p:cNvSpPr/>
          <p:nvPr/>
        </p:nvSpPr>
        <p:spPr>
          <a:xfrm>
            <a:off x="3493008" y="4645152"/>
            <a:ext cx="2916936" cy="1572768"/>
          </a:xfrm>
          <a:prstGeom prst="homePlate">
            <a:avLst/>
          </a:prstGeom>
          <a:solidFill>
            <a:srgbClr val="FFFFFF"/>
          </a:solidFill>
          <a:ln w="15875">
            <a:solidFill>
              <a:srgbClr val="C00000"/>
            </a:solidFill>
          </a:ln>
          <a:effectLst/>
        </p:spPr>
        <p:txBody>
          <a:bodyPr rtlCol="0" anchor="ctr"/>
          <a:lstStyle/>
          <a:p>
            <a:pPr algn="ctr"/>
          </a:p>
        </p:txBody>
      </p:sp>
      <p:sp>
        <p:nvSpPr>
          <p:cNvPr id="18" name="TextBox 17"/>
          <p:cNvSpPr txBox="1"/>
          <p:nvPr/>
        </p:nvSpPr>
        <p:spPr>
          <a:xfrm>
            <a:off x="3602736" y="4681728"/>
            <a:ext cx="2368296" cy="329184"/>
          </a:xfrm>
          <a:prstGeom prst="rect">
            <a:avLst/>
          </a:prstGeom>
          <a:noFill/>
        </p:spPr>
        <p:txBody>
          <a:bodyPr wrap="square" anchor="ctr" lIns="73152" rIns="73152"/>
          <a:lstStyle/>
          <a:p>
            <a:pPr algn="l"/>
            <a:r>
              <a:rPr sz="1250" b="1" i="0">
                <a:solidFill>
                  <a:srgbClr val="C00000"/>
                </a:solidFill>
                <a:latin typeface="Arial"/>
              </a:rPr>
              <a:t>2  </a:t>
            </a:r>
            <a:r>
              <a:rPr sz="1250" b="1" i="0">
                <a:solidFill>
                  <a:srgbClr val="1F2937"/>
                </a:solidFill>
                <a:latin typeface="Arial"/>
              </a:rPr>
              <a:t>Go live</a:t>
            </a:r>
            <a:endParaRPr sz="1250"/>
          </a:p>
        </p:txBody>
      </p:sp>
      <p:sp>
        <p:nvSpPr>
          <p:cNvPr id="19" name="TextBox 18"/>
          <p:cNvSpPr txBox="1"/>
          <p:nvPr/>
        </p:nvSpPr>
        <p:spPr>
          <a:xfrm>
            <a:off x="3602736" y="5010912"/>
            <a:ext cx="2350008" cy="1188720"/>
          </a:xfrm>
          <a:prstGeom prst="rect">
            <a:avLst/>
          </a:prstGeom>
          <a:noFill/>
        </p:spPr>
        <p:txBody>
          <a:bodyPr wrap="square" anchor="t" lIns="73152" rIns="73152"/>
          <a:lstStyle/>
          <a:p>
            <a:pPr algn="l"/>
            <a:r>
              <a:rPr sz="1150" b="0" i="0">
                <a:solidFill>
                  <a:srgbClr val="1F2937"/>
                </a:solidFill>
                <a:latin typeface="Arial"/>
              </a:rPr>
              <a:t>Connect BMTC's vehicle feed through the adapter interface (GTFS-RT, HTTP JSON or push); no rewrite needed.</a:t>
            </a:r>
            <a:endParaRPr sz="1150"/>
          </a:p>
        </p:txBody>
      </p:sp>
      <p:sp>
        <p:nvSpPr>
          <p:cNvPr id="20" name="Pentagon 19"/>
          <p:cNvSpPr/>
          <p:nvPr/>
        </p:nvSpPr>
        <p:spPr>
          <a:xfrm>
            <a:off x="6528816" y="4645152"/>
            <a:ext cx="2916936" cy="1572768"/>
          </a:xfrm>
          <a:prstGeom prst="homePlate">
            <a:avLst/>
          </a:prstGeom>
          <a:solidFill>
            <a:srgbClr val="FFFFFF"/>
          </a:solidFill>
          <a:ln w="15875">
            <a:solidFill>
              <a:srgbClr val="C00000"/>
            </a:solidFill>
          </a:ln>
          <a:effectLst/>
        </p:spPr>
        <p:txBody>
          <a:bodyPr rtlCol="0" anchor="ctr"/>
          <a:lstStyle/>
          <a:p>
            <a:pPr algn="ctr"/>
          </a:p>
        </p:txBody>
      </p:sp>
      <p:sp>
        <p:nvSpPr>
          <p:cNvPr id="21" name="TextBox 20"/>
          <p:cNvSpPr txBox="1"/>
          <p:nvPr/>
        </p:nvSpPr>
        <p:spPr>
          <a:xfrm>
            <a:off x="6638544" y="4681728"/>
            <a:ext cx="2368296" cy="329184"/>
          </a:xfrm>
          <a:prstGeom prst="rect">
            <a:avLst/>
          </a:prstGeom>
          <a:noFill/>
        </p:spPr>
        <p:txBody>
          <a:bodyPr wrap="square" anchor="ctr" lIns="73152" rIns="73152"/>
          <a:lstStyle/>
          <a:p>
            <a:pPr algn="l"/>
            <a:r>
              <a:rPr sz="1250" b="1" i="0">
                <a:solidFill>
                  <a:srgbClr val="C00000"/>
                </a:solidFill>
                <a:latin typeface="Arial"/>
              </a:rPr>
              <a:t>3  </a:t>
            </a:r>
            <a:r>
              <a:rPr sz="1250" b="1" i="0">
                <a:solidFill>
                  <a:srgbClr val="1F2937"/>
                </a:solidFill>
                <a:latin typeface="Arial"/>
              </a:rPr>
              <a:t>Pilot the money path</a:t>
            </a:r>
            <a:endParaRPr sz="1250"/>
          </a:p>
        </p:txBody>
      </p:sp>
      <p:sp>
        <p:nvSpPr>
          <p:cNvPr id="22" name="TextBox 21"/>
          <p:cNvSpPr txBox="1"/>
          <p:nvPr/>
        </p:nvSpPr>
        <p:spPr>
          <a:xfrm>
            <a:off x="6638544" y="5010912"/>
            <a:ext cx="2350008" cy="1188720"/>
          </a:xfrm>
          <a:prstGeom prst="rect">
            <a:avLst/>
          </a:prstGeom>
          <a:noFill/>
        </p:spPr>
        <p:txBody>
          <a:bodyPr wrap="square" anchor="t" lIns="73152" rIns="73152"/>
          <a:lstStyle/>
          <a:p>
            <a:pPr algn="l"/>
            <a:r>
              <a:rPr sz="1150" b="0" i="0">
                <a:solidFill>
                  <a:srgbClr val="1F2937"/>
                </a:solidFill>
                <a:latin typeface="Arial"/>
              </a:rPr>
              <a:t>Run conductor waybills, offline sync and Shakti claim reports on a few routes.</a:t>
            </a:r>
            <a:endParaRPr sz="115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19456"/>
            <a:ext cx="8988552" cy="603504"/>
          </a:xfrm>
        </p:spPr>
        <p:txBody>
          <a:bodyPr anchor="ctr" wrap="square"/>
          <a:lstStyle/>
          <a:p>
            <a:pPr algn="ctr"/>
            <a:r>
              <a:rPr sz="2800" b="1" i="0">
                <a:solidFill>
                  <a:srgbClr val="FF0000"/>
                </a:solidFill>
                <a:latin typeface="Arial"/>
              </a:rPr>
              <a:t>Gantt Chart</a:t>
            </a:r>
          </a:p>
        </p:txBody>
      </p:sp>
      <p:graphicFrame>
        <p:nvGraphicFramePr>
          <p:cNvPr id="3" name="Table 2"/>
          <p:cNvGraphicFramePr>
            <a:graphicFrameLocks noGrp="1"/>
          </p:cNvGraphicFramePr>
          <p:nvPr/>
        </p:nvGraphicFramePr>
        <p:xfrm>
          <a:off x="457200" y="914400"/>
          <a:ext cx="9006840" cy="4517136"/>
        </p:xfrm>
        <a:graphic>
          <a:graphicData uri="http://schemas.openxmlformats.org/drawingml/2006/table">
            <a:tbl>
              <a:tblPr firstRow="0" bandRow="0">
                <a:tableStyleId>{2D5ABB26-0587-4C30-8999-92F81FD0307C}</a:tableStyleId>
              </a:tblPr>
              <a:tblGrid>
                <a:gridCol w="2971800"/>
                <a:gridCol w="377190"/>
                <a:gridCol w="377190"/>
                <a:gridCol w="377190"/>
                <a:gridCol w="377190"/>
                <a:gridCol w="377190"/>
                <a:gridCol w="377190"/>
                <a:gridCol w="377190"/>
                <a:gridCol w="377190"/>
                <a:gridCol w="377190"/>
                <a:gridCol w="377190"/>
                <a:gridCol w="377190"/>
                <a:gridCol w="377190"/>
                <a:gridCol w="377190"/>
                <a:gridCol w="377190"/>
                <a:gridCol w="377190"/>
                <a:gridCol w="377190"/>
              </a:tblGrid>
              <a:tr h="292608">
                <a:tc gridSpan="17">
                  <a:txBody>
                    <a:bodyPr wrap="square" anchor="ctr" lIns="45720" tIns="18288" rIns="27432" bIns="18288"/>
                    <a:lstStyle/>
                    <a:p>
                      <a:pPr algn="l"/>
                      <a:r>
                        <a:rPr sz="1000" b="1" i="0">
                          <a:solidFill>
                            <a:srgbClr val="FFFFFF"/>
                          </a:solidFill>
                          <a:latin typeface="Arial"/>
                        </a:rPr>
                        <a:t>Project Work (UG) 16 weeks</a:t>
                      </a:r>
                      <a:endParaRPr sz="100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hMerge="1">
                  <a:txBody>
                    <a:bodyPr wrap="square" anchor="ctr" lIns="45720" tIns="18288" rIns="27432" bIns="18288"/>
                    <a:lstStyle/>
                    <a:p>
                      <a:pPr algn="ctr"/>
                      <a:r>
                        <a:rPr sz="1000" b="1" i="0">
                          <a:solidFill>
                            <a:srgbClr val="FFFFFF"/>
                          </a:solidFill>
                          <a:latin typeface="Arial"/>
                        </a:rPr>
                        <a:t/>
                      </a:r>
                      <a:endParaRPr sz="100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hMerge="1">
                  <a:txBody>
                    <a:bodyPr wrap="square" anchor="ctr" lIns="45720" tIns="18288" rIns="27432" bIns="18288"/>
                    <a:lstStyle/>
                    <a:p>
                      <a:pPr algn="ctr"/>
                      <a:r>
                        <a:rPr sz="1000" b="1" i="0">
                          <a:solidFill>
                            <a:srgbClr val="FFFFFF"/>
                          </a:solidFill>
                          <a:latin typeface="Arial"/>
                        </a:rPr>
                        <a:t/>
                      </a:r>
                      <a:endParaRPr sz="100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hMerge="1">
                  <a:txBody>
                    <a:bodyPr wrap="square" anchor="ctr" lIns="45720" tIns="18288" rIns="27432" bIns="18288"/>
                    <a:lstStyle/>
                    <a:p>
                      <a:pPr algn="ctr"/>
                      <a:r>
                        <a:rPr sz="1000" b="1" i="0">
                          <a:solidFill>
                            <a:srgbClr val="FFFFFF"/>
                          </a:solidFill>
                          <a:latin typeface="Arial"/>
                        </a:rPr>
                        <a:t/>
                      </a:r>
                      <a:endParaRPr sz="100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hMerge="1">
                  <a:txBody>
                    <a:bodyPr wrap="square" anchor="ctr" lIns="45720" tIns="18288" rIns="27432" bIns="18288"/>
                    <a:lstStyle/>
                    <a:p>
                      <a:pPr algn="ctr"/>
                      <a:r>
                        <a:rPr sz="1000" b="1" i="0">
                          <a:solidFill>
                            <a:srgbClr val="FFFFFF"/>
                          </a:solidFill>
                          <a:latin typeface="Arial"/>
                        </a:rPr>
                        <a:t/>
                      </a:r>
                      <a:endParaRPr sz="100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hMerge="1">
                  <a:txBody>
                    <a:bodyPr wrap="square" anchor="ctr" lIns="45720" tIns="18288" rIns="27432" bIns="18288"/>
                    <a:lstStyle/>
                    <a:p>
                      <a:pPr algn="ctr"/>
                      <a:r>
                        <a:rPr sz="1000" b="1" i="0">
                          <a:solidFill>
                            <a:srgbClr val="FFFFFF"/>
                          </a:solidFill>
                          <a:latin typeface="Arial"/>
                        </a:rPr>
                        <a:t/>
                      </a:r>
                      <a:endParaRPr sz="100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hMerge="1">
                  <a:txBody>
                    <a:bodyPr wrap="square" anchor="ctr" lIns="45720" tIns="18288" rIns="27432" bIns="18288"/>
                    <a:lstStyle/>
                    <a:p>
                      <a:pPr algn="ctr"/>
                      <a:r>
                        <a:rPr sz="1000" b="1" i="0">
                          <a:solidFill>
                            <a:srgbClr val="FFFFFF"/>
                          </a:solidFill>
                          <a:latin typeface="Arial"/>
                        </a:rPr>
                        <a:t/>
                      </a:r>
                      <a:endParaRPr sz="100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hMerge="1">
                  <a:txBody>
                    <a:bodyPr wrap="square" anchor="ctr" lIns="45720" tIns="18288" rIns="27432" bIns="18288"/>
                    <a:lstStyle/>
                    <a:p>
                      <a:pPr algn="ctr"/>
                      <a:r>
                        <a:rPr sz="1000" b="1" i="0">
                          <a:solidFill>
                            <a:srgbClr val="FFFFFF"/>
                          </a:solidFill>
                          <a:latin typeface="Arial"/>
                        </a:rPr>
                        <a:t/>
                      </a:r>
                      <a:endParaRPr sz="100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hMerge="1">
                  <a:txBody>
                    <a:bodyPr wrap="square" anchor="ctr" lIns="45720" tIns="18288" rIns="27432" bIns="18288"/>
                    <a:lstStyle/>
                    <a:p>
                      <a:pPr algn="ctr"/>
                      <a:r>
                        <a:rPr sz="1000" b="1" i="0">
                          <a:solidFill>
                            <a:srgbClr val="FFFFFF"/>
                          </a:solidFill>
                          <a:latin typeface="Arial"/>
                        </a:rPr>
                        <a:t/>
                      </a:r>
                      <a:endParaRPr sz="100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hMerge="1">
                  <a:txBody>
                    <a:bodyPr wrap="square" anchor="ctr" lIns="45720" tIns="18288" rIns="27432" bIns="18288"/>
                    <a:lstStyle/>
                    <a:p>
                      <a:pPr algn="ctr"/>
                      <a:r>
                        <a:rPr sz="1000" b="1" i="0">
                          <a:solidFill>
                            <a:srgbClr val="FFFFFF"/>
                          </a:solidFill>
                          <a:latin typeface="Arial"/>
                        </a:rPr>
                        <a:t/>
                      </a:r>
                      <a:endParaRPr sz="100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hMerge="1">
                  <a:txBody>
                    <a:bodyPr wrap="square" anchor="ctr" lIns="45720" tIns="18288" rIns="27432" bIns="18288"/>
                    <a:lstStyle/>
                    <a:p>
                      <a:pPr algn="ctr"/>
                      <a:r>
                        <a:rPr sz="1000" b="1" i="0">
                          <a:solidFill>
                            <a:srgbClr val="FFFFFF"/>
                          </a:solidFill>
                          <a:latin typeface="Arial"/>
                        </a:rPr>
                        <a:t/>
                      </a:r>
                      <a:endParaRPr sz="100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hMerge="1">
                  <a:txBody>
                    <a:bodyPr wrap="square" anchor="ctr" lIns="45720" tIns="18288" rIns="27432" bIns="18288"/>
                    <a:lstStyle/>
                    <a:p>
                      <a:pPr algn="ctr"/>
                      <a:r>
                        <a:rPr sz="1000" b="1" i="0">
                          <a:solidFill>
                            <a:srgbClr val="FFFFFF"/>
                          </a:solidFill>
                          <a:latin typeface="Arial"/>
                        </a:rPr>
                        <a:t/>
                      </a:r>
                      <a:endParaRPr sz="100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hMerge="1">
                  <a:txBody>
                    <a:bodyPr wrap="square" anchor="ctr" lIns="45720" tIns="18288" rIns="27432" bIns="18288"/>
                    <a:lstStyle/>
                    <a:p>
                      <a:pPr algn="ctr"/>
                      <a:r>
                        <a:rPr sz="1000" b="1" i="0">
                          <a:solidFill>
                            <a:srgbClr val="FFFFFF"/>
                          </a:solidFill>
                          <a:latin typeface="Arial"/>
                        </a:rPr>
                        <a:t/>
                      </a:r>
                      <a:endParaRPr sz="100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hMerge="1">
                  <a:txBody>
                    <a:bodyPr wrap="square" anchor="ctr" lIns="45720" tIns="18288" rIns="27432" bIns="18288"/>
                    <a:lstStyle/>
                    <a:p>
                      <a:pPr algn="ctr"/>
                      <a:r>
                        <a:rPr sz="1000" b="1" i="0">
                          <a:solidFill>
                            <a:srgbClr val="FFFFFF"/>
                          </a:solidFill>
                          <a:latin typeface="Arial"/>
                        </a:rPr>
                        <a:t/>
                      </a:r>
                      <a:endParaRPr sz="100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hMerge="1">
                  <a:txBody>
                    <a:bodyPr wrap="square" anchor="ctr" lIns="45720" tIns="18288" rIns="27432" bIns="18288"/>
                    <a:lstStyle/>
                    <a:p>
                      <a:pPr algn="ctr"/>
                      <a:r>
                        <a:rPr sz="1000" b="1" i="0">
                          <a:solidFill>
                            <a:srgbClr val="FFFFFF"/>
                          </a:solidFill>
                          <a:latin typeface="Arial"/>
                        </a:rPr>
                        <a:t/>
                      </a:r>
                      <a:endParaRPr sz="100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hMerge="1">
                  <a:txBody>
                    <a:bodyPr wrap="square" anchor="ctr" lIns="45720" tIns="18288" rIns="27432" bIns="18288"/>
                    <a:lstStyle/>
                    <a:p>
                      <a:pPr algn="ctr"/>
                      <a:r>
                        <a:rPr sz="1000" b="1" i="0">
                          <a:solidFill>
                            <a:srgbClr val="FFFFFF"/>
                          </a:solidFill>
                          <a:latin typeface="Arial"/>
                        </a:rPr>
                        <a:t/>
                      </a:r>
                      <a:endParaRPr sz="100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hMerge="1">
                  <a:txBody>
                    <a:bodyPr wrap="square" anchor="ctr" lIns="45720" tIns="18288" rIns="27432" bIns="18288"/>
                    <a:lstStyle/>
                    <a:p>
                      <a:pPr algn="ctr"/>
                      <a:r>
                        <a:rPr sz="1000" b="1" i="0">
                          <a:solidFill>
                            <a:srgbClr val="FFFFFF"/>
                          </a:solidFill>
                          <a:latin typeface="Arial"/>
                        </a:rPr>
                        <a:t/>
                      </a:r>
                      <a:endParaRPr sz="100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r>
              <a:tr h="274320">
                <a:tc>
                  <a:txBody>
                    <a:bodyPr wrap="square" anchor="ctr" lIns="45720" tIns="18288" rIns="27432" bIns="18288"/>
                    <a:lstStyle/>
                    <a:p>
                      <a:pPr algn="l"/>
                      <a:r>
                        <a:rPr sz="1000" b="1" i="0">
                          <a:solidFill>
                            <a:srgbClr val="FFFFFF"/>
                          </a:solidFill>
                          <a:latin typeface="Arial"/>
                        </a:rPr>
                        <a:t>Week</a:t>
                      </a:r>
                      <a:endParaRPr sz="100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1000" b="1" i="0">
                          <a:solidFill>
                            <a:srgbClr val="FFFFFF"/>
                          </a:solidFill>
                          <a:latin typeface="Arial"/>
                        </a:rPr>
                        <a:t>1</a:t>
                      </a:r>
                      <a:endParaRPr sz="100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1000" b="1" i="0">
                          <a:solidFill>
                            <a:srgbClr val="FFFFFF"/>
                          </a:solidFill>
                          <a:latin typeface="Arial"/>
                        </a:rPr>
                        <a:t>2</a:t>
                      </a:r>
                      <a:endParaRPr sz="100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1000" b="1" i="0">
                          <a:solidFill>
                            <a:srgbClr val="FFFFFF"/>
                          </a:solidFill>
                          <a:latin typeface="Arial"/>
                        </a:rPr>
                        <a:t>3</a:t>
                      </a:r>
                      <a:endParaRPr sz="100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1000" b="1" i="0">
                          <a:solidFill>
                            <a:srgbClr val="FFFFFF"/>
                          </a:solidFill>
                          <a:latin typeface="Arial"/>
                        </a:rPr>
                        <a:t>4</a:t>
                      </a:r>
                      <a:endParaRPr sz="100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1000" b="1" i="0">
                          <a:solidFill>
                            <a:srgbClr val="FFFFFF"/>
                          </a:solidFill>
                          <a:latin typeface="Arial"/>
                        </a:rPr>
                        <a:t>5</a:t>
                      </a:r>
                      <a:endParaRPr sz="100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1000" b="1" i="0">
                          <a:solidFill>
                            <a:srgbClr val="FFFFFF"/>
                          </a:solidFill>
                          <a:latin typeface="Arial"/>
                        </a:rPr>
                        <a:t>6</a:t>
                      </a:r>
                      <a:endParaRPr sz="100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1000" b="1" i="0">
                          <a:solidFill>
                            <a:srgbClr val="FFFFFF"/>
                          </a:solidFill>
                          <a:latin typeface="Arial"/>
                        </a:rPr>
                        <a:t>7</a:t>
                      </a:r>
                      <a:endParaRPr sz="100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1000" b="1" i="0">
                          <a:solidFill>
                            <a:srgbClr val="FFFFFF"/>
                          </a:solidFill>
                          <a:latin typeface="Arial"/>
                        </a:rPr>
                        <a:t>8</a:t>
                      </a:r>
                      <a:endParaRPr sz="100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1000" b="1" i="0">
                          <a:solidFill>
                            <a:srgbClr val="FFFFFF"/>
                          </a:solidFill>
                          <a:latin typeface="Arial"/>
                        </a:rPr>
                        <a:t>9</a:t>
                      </a:r>
                      <a:endParaRPr sz="100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1000" b="1" i="0">
                          <a:solidFill>
                            <a:srgbClr val="FFFFFF"/>
                          </a:solidFill>
                          <a:latin typeface="Arial"/>
                        </a:rPr>
                        <a:t>10</a:t>
                      </a:r>
                      <a:endParaRPr sz="100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1000" b="1" i="0">
                          <a:solidFill>
                            <a:srgbClr val="FFFFFF"/>
                          </a:solidFill>
                          <a:latin typeface="Arial"/>
                        </a:rPr>
                        <a:t>11</a:t>
                      </a:r>
                      <a:endParaRPr sz="100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1000" b="1" i="0">
                          <a:solidFill>
                            <a:srgbClr val="FFFFFF"/>
                          </a:solidFill>
                          <a:latin typeface="Arial"/>
                        </a:rPr>
                        <a:t>12</a:t>
                      </a:r>
                      <a:endParaRPr sz="100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1000" b="1" i="0">
                          <a:solidFill>
                            <a:srgbClr val="FFFFFF"/>
                          </a:solidFill>
                          <a:latin typeface="Arial"/>
                        </a:rPr>
                        <a:t>13</a:t>
                      </a:r>
                      <a:endParaRPr sz="100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1000" b="1" i="0">
                          <a:solidFill>
                            <a:srgbClr val="FFFFFF"/>
                          </a:solidFill>
                          <a:latin typeface="Arial"/>
                        </a:rPr>
                        <a:t>14</a:t>
                      </a:r>
                      <a:endParaRPr sz="100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1000" b="1" i="0">
                          <a:solidFill>
                            <a:srgbClr val="FFFFFF"/>
                          </a:solidFill>
                          <a:latin typeface="Arial"/>
                        </a:rPr>
                        <a:t>15</a:t>
                      </a:r>
                      <a:endParaRPr sz="100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1000" b="1" i="0">
                          <a:solidFill>
                            <a:srgbClr val="FFFFFF"/>
                          </a:solidFill>
                          <a:latin typeface="Arial"/>
                        </a:rPr>
                        <a:t>16</a:t>
                      </a:r>
                      <a:endParaRPr sz="100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r>
              <a:tr h="329184">
                <a:tc>
                  <a:txBody>
                    <a:bodyPr wrap="square" anchor="ctr" lIns="45720" tIns="18288" rIns="27432" bIns="18288"/>
                    <a:lstStyle/>
                    <a:p>
                      <a:pPr algn="l"/>
                      <a:r>
                        <a:rPr sz="950" b="1" i="0">
                          <a:solidFill>
                            <a:srgbClr val="C00000"/>
                          </a:solidFill>
                          <a:latin typeface="Arial"/>
                        </a:rPr>
                        <a:t>1.1  </a:t>
                      </a:r>
                      <a:r>
                        <a:rPr sz="950" b="0" i="0">
                          <a:solidFill>
                            <a:srgbClr val="1F2937"/>
                          </a:solidFill>
                          <a:latin typeface="Arial"/>
                        </a:rPr>
                        <a:t>Requirements, data collection, literature survey</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r>
              <a:tr h="329184">
                <a:tc>
                  <a:txBody>
                    <a:bodyPr wrap="square" anchor="ctr" lIns="45720" tIns="18288" rIns="27432" bIns="18288"/>
                    <a:lstStyle/>
                    <a:p>
                      <a:pPr algn="l"/>
                      <a:r>
                        <a:rPr sz="950" b="1" i="0">
                          <a:solidFill>
                            <a:srgbClr val="C00000"/>
                          </a:solidFill>
                          <a:latin typeface="Arial"/>
                        </a:rPr>
                        <a:t>2.1  </a:t>
                      </a:r>
                      <a:r>
                        <a:rPr sz="950" b="0" i="0">
                          <a:solidFill>
                            <a:srgbClr val="1F2937"/>
                          </a:solidFill>
                          <a:latin typeface="Arial"/>
                        </a:rPr>
                        <a:t>Stop resolution and ordered stop-pair index</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r>
              <a:tr h="329184">
                <a:tc>
                  <a:txBody>
                    <a:bodyPr wrap="square" anchor="ctr" lIns="45720" tIns="18288" rIns="27432" bIns="18288"/>
                    <a:lstStyle/>
                    <a:p>
                      <a:pPr algn="l"/>
                      <a:r>
                        <a:rPr sz="950" b="1" i="0">
                          <a:solidFill>
                            <a:srgbClr val="C00000"/>
                          </a:solidFill>
                          <a:latin typeface="Arial"/>
                        </a:rPr>
                        <a:t>2.2  </a:t>
                      </a:r>
                      <a:r>
                        <a:rPr sz="950" b="0" i="0">
                          <a:solidFill>
                            <a:srgbClr val="1F2937"/>
                          </a:solidFill>
                          <a:latin typeface="Arial"/>
                        </a:rPr>
                        <a:t>Transfer search, ranking, geometry, Metro, fares</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r>
              <a:tr h="329184">
                <a:tc>
                  <a:txBody>
                    <a:bodyPr wrap="square" anchor="ctr" lIns="45720" tIns="18288" rIns="27432" bIns="18288"/>
                    <a:lstStyle/>
                    <a:p>
                      <a:pPr algn="l"/>
                      <a:r>
                        <a:rPr sz="950" b="1" i="0">
                          <a:solidFill>
                            <a:srgbClr val="C00000"/>
                          </a:solidFill>
                          <a:latin typeface="Arial"/>
                        </a:rPr>
                        <a:t>3.1  </a:t>
                      </a:r>
                      <a:r>
                        <a:rPr sz="950" b="0" i="0">
                          <a:solidFill>
                            <a:srgbClr val="1F2937"/>
                          </a:solidFill>
                          <a:latin typeface="Arial"/>
                        </a:rPr>
                        <a:t>Vehicle blocking with lower bound</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r>
              <a:tr h="329184">
                <a:tc>
                  <a:txBody>
                    <a:bodyPr wrap="square" anchor="ctr" lIns="45720" tIns="18288" rIns="27432" bIns="18288"/>
                    <a:lstStyle/>
                    <a:p>
                      <a:pPr algn="l"/>
                      <a:r>
                        <a:rPr sz="950" b="1" i="0">
                          <a:solidFill>
                            <a:srgbClr val="C00000"/>
                          </a:solidFill>
                          <a:latin typeface="Arial"/>
                        </a:rPr>
                        <a:t>3.2  </a:t>
                      </a:r>
                      <a:r>
                        <a:rPr sz="950" b="0" i="0">
                          <a:solidFill>
                            <a:srgbClr val="1F2937"/>
                          </a:solidFill>
                          <a:latin typeface="Arial"/>
                        </a:rPr>
                        <a:t>Crew duties: DP cutting and pairing</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r>
              <a:tr h="329184">
                <a:tc>
                  <a:txBody>
                    <a:bodyPr wrap="square" anchor="ctr" lIns="45720" tIns="18288" rIns="27432" bIns="18288"/>
                    <a:lstStyle/>
                    <a:p>
                      <a:pPr algn="l"/>
                      <a:r>
                        <a:rPr sz="950" b="1" i="0">
                          <a:solidFill>
                            <a:srgbClr val="C00000"/>
                          </a:solidFill>
                          <a:latin typeface="Arial"/>
                        </a:rPr>
                        <a:t>4.1  </a:t>
                      </a:r>
                      <a:r>
                        <a:rPr sz="950" b="0" i="0">
                          <a:solidFill>
                            <a:srgbClr val="1F2937"/>
                          </a:solidFill>
                          <a:latin typeface="Arial"/>
                        </a:rPr>
                        <a:t>API, auth, roles and MongoDB services</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r>
              <a:tr h="329184">
                <a:tc>
                  <a:txBody>
                    <a:bodyPr wrap="square" anchor="ctr" lIns="45720" tIns="18288" rIns="27432" bIns="18288"/>
                    <a:lstStyle/>
                    <a:p>
                      <a:pPr algn="l"/>
                      <a:r>
                        <a:rPr sz="950" b="1" i="0">
                          <a:solidFill>
                            <a:srgbClr val="C00000"/>
                          </a:solidFill>
                          <a:latin typeface="Arial"/>
                        </a:rPr>
                        <a:t>4.2  </a:t>
                      </a:r>
                      <a:r>
                        <a:rPr sz="950" b="0" i="0">
                          <a:solidFill>
                            <a:srgbClr val="1F2937"/>
                          </a:solidFill>
                          <a:latin typeface="Arial"/>
                        </a:rPr>
                        <a:t>Demand voting, e-tickets, Shakti, waybills</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r>
              <a:tr h="329184">
                <a:tc>
                  <a:txBody>
                    <a:bodyPr wrap="square" anchor="ctr" lIns="45720" tIns="18288" rIns="27432" bIns="18288"/>
                    <a:lstStyle/>
                    <a:p>
                      <a:pPr algn="l"/>
                      <a:r>
                        <a:rPr sz="950" b="1" i="0">
                          <a:solidFill>
                            <a:srgbClr val="C00000"/>
                          </a:solidFill>
                          <a:latin typeface="Arial"/>
                        </a:rPr>
                        <a:t>5.1  </a:t>
                      </a:r>
                      <a:r>
                        <a:rPr sz="950" b="0" i="0">
                          <a:solidFill>
                            <a:srgbClr val="1F2937"/>
                          </a:solidFill>
                          <a:latin typeface="Arial"/>
                        </a:rPr>
                        <a:t>GTFS static, alerts, vehicle-feed adapters</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r>
              <a:tr h="329184">
                <a:tc>
                  <a:txBody>
                    <a:bodyPr wrap="square" anchor="ctr" lIns="45720" tIns="18288" rIns="27432" bIns="18288"/>
                    <a:lstStyle/>
                    <a:p>
                      <a:pPr algn="l"/>
                      <a:r>
                        <a:rPr sz="950" b="1" i="0">
                          <a:solidFill>
                            <a:srgbClr val="C00000"/>
                          </a:solidFill>
                          <a:latin typeface="Arial"/>
                        </a:rPr>
                        <a:t>5.2  </a:t>
                      </a:r>
                      <a:r>
                        <a:rPr sz="950" b="0" i="0">
                          <a:solidFill>
                            <a:srgbClr val="1F2937"/>
                          </a:solidFill>
                          <a:latin typeface="Arial"/>
                        </a:rPr>
                        <a:t>React UI, languages and Android shell</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r>
              <a:tr h="329184">
                <a:tc>
                  <a:txBody>
                    <a:bodyPr wrap="square" anchor="ctr" lIns="45720" tIns="18288" rIns="27432" bIns="18288"/>
                    <a:lstStyle/>
                    <a:p>
                      <a:pPr algn="l"/>
                      <a:r>
                        <a:rPr sz="950" b="1" i="0">
                          <a:solidFill>
                            <a:srgbClr val="C00000"/>
                          </a:solidFill>
                          <a:latin typeface="Arial"/>
                        </a:rPr>
                        <a:t>6.1  </a:t>
                      </a:r>
                      <a:r>
                        <a:rPr sz="950" b="0" i="0">
                          <a:solidFill>
                            <a:srgbClr val="1F2937"/>
                          </a:solidFill>
                          <a:latin typeface="Arial"/>
                        </a:rPr>
                        <a:t>Evaluation and rank-quality tuning</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r>
              <a:tr h="329184">
                <a:tc>
                  <a:txBody>
                    <a:bodyPr wrap="square" anchor="ctr" lIns="45720" tIns="18288" rIns="27432" bIns="18288"/>
                    <a:lstStyle/>
                    <a:p>
                      <a:pPr algn="l"/>
                      <a:r>
                        <a:rPr sz="950" b="1" i="0">
                          <a:solidFill>
                            <a:srgbClr val="C00000"/>
                          </a:solidFill>
                          <a:latin typeface="Arial"/>
                        </a:rPr>
                        <a:t>6.2  </a:t>
                      </a:r>
                      <a:r>
                        <a:rPr sz="950" b="0" i="0">
                          <a:solidFill>
                            <a:srgbClr val="1F2937"/>
                          </a:solidFill>
                          <a:latin typeface="Arial"/>
                        </a:rPr>
                        <a:t>Read-only AI assistant (retrieval)</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r>
              <a:tr h="329184">
                <a:tc>
                  <a:txBody>
                    <a:bodyPr wrap="square" anchor="ctr" lIns="45720" tIns="18288" rIns="27432" bIns="18288"/>
                    <a:lstStyle/>
                    <a:p>
                      <a:pPr algn="l"/>
                      <a:r>
                        <a:rPr sz="950" b="1" i="0">
                          <a:solidFill>
                            <a:srgbClr val="C00000"/>
                          </a:solidFill>
                          <a:latin typeface="Arial"/>
                        </a:rPr>
                        <a:t>6.3  </a:t>
                      </a:r>
                      <a:r>
                        <a:rPr sz="950" b="0" i="0">
                          <a:solidFill>
                            <a:srgbClr val="1F2937"/>
                          </a:solidFill>
                          <a:latin typeface="Arial"/>
                        </a:rPr>
                        <a:t>Testing, CI, deployment and report</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45720" tIns="18288" rIns="27432" bIns="18288"/>
                    <a:lstStyle/>
                    <a:p>
                      <a:pPr algn="ctr"/>
                      <a:r>
                        <a:rPr sz="950" b="0" i="0">
                          <a:solidFill>
                            <a:srgbClr val="1F2937"/>
                          </a:solidFill>
                          <a:latin typeface="Arial"/>
                        </a:rPr>
                        <a:t/>
                      </a:r>
                      <a:endParaRPr sz="950"/>
                    </a:p>
                  </a:txBody>
                  <a:tcPr marL="45720" marT="18288" marR="27432" marB="18288"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r>
            </a:tbl>
          </a:graphicData>
        </a:graphic>
      </p:graphicFrame>
      <p:sp>
        <p:nvSpPr>
          <p:cNvPr id="4" name="TextBox 3"/>
          <p:cNvSpPr txBox="1"/>
          <p:nvPr/>
        </p:nvSpPr>
        <p:spPr>
          <a:xfrm>
            <a:off x="457200" y="5577840"/>
            <a:ext cx="8988552" cy="658368"/>
          </a:xfrm>
          <a:prstGeom prst="rect">
            <a:avLst/>
          </a:prstGeom>
          <a:noFill/>
        </p:spPr>
        <p:txBody>
          <a:bodyPr wrap="square" anchor="t" lIns="73152" rIns="73152"/>
          <a:lstStyle/>
          <a:p>
            <a:pPr algn="l">
              <a:spcAft>
                <a:spcPts val="300"/>
              </a:spcAft>
            </a:pPr>
            <a:r>
              <a:rPr sz="1100" b="1" i="0">
                <a:solidFill>
                  <a:srgbClr val="C00000"/>
                </a:solidFill>
                <a:latin typeface="Arial"/>
              </a:rPr>
              <a:t>Phases: </a:t>
            </a:r>
            <a:r>
              <a:rPr sz="1100" b="0" i="0">
                <a:solidFill>
                  <a:srgbClr val="1F2937"/>
                </a:solidFill>
                <a:latin typeface="Arial"/>
              </a:rPr>
              <a:t>1 Data and survey | 2 Journey engine | 3 Operations engines | 4 Platform services | 5 Open data and interface | 6 Evaluation, assistant and release</a:t>
            </a:r>
            <a:endParaRPr sz="1100"/>
          </a:p>
          <a:p>
            <a:pPr algn="l"/>
            <a:r>
              <a:rPr sz="1100" b="1" i="0">
                <a:solidFill>
                  <a:srgbClr val="C00000"/>
                </a:solidFill>
                <a:latin typeface="Arial"/>
              </a:rPr>
              <a:t>Suggested review points: </a:t>
            </a:r>
            <a:r>
              <a:rPr sz="1100" b="0" i="0">
                <a:solidFill>
                  <a:srgbClr val="1F2937"/>
                </a:solidFill>
                <a:latin typeface="Arial"/>
              </a:rPr>
              <a:t>week 4 problem and literature | week 8 journey-engine demo | week 12 platform demo | week 16 final evaluation</a:t>
            </a:r>
            <a:endParaRPr sz="110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19456"/>
            <a:ext cx="8988552" cy="603504"/>
          </a:xfrm>
        </p:spPr>
        <p:txBody>
          <a:bodyPr anchor="ctr" wrap="square"/>
          <a:lstStyle/>
          <a:p>
            <a:pPr algn="ctr"/>
            <a:r>
              <a:rPr sz="2800" b="1" i="0">
                <a:solidFill>
                  <a:srgbClr val="FF0000"/>
                </a:solidFill>
                <a:latin typeface="Arial"/>
              </a:rPr>
              <a:t>Risks and Mitigation</a:t>
            </a:r>
          </a:p>
        </p:txBody>
      </p:sp>
      <p:graphicFrame>
        <p:nvGraphicFramePr>
          <p:cNvPr id="3" name="Table 2"/>
          <p:cNvGraphicFramePr>
            <a:graphicFrameLocks noGrp="1"/>
          </p:cNvGraphicFramePr>
          <p:nvPr/>
        </p:nvGraphicFramePr>
        <p:xfrm>
          <a:off x="457200" y="914400"/>
          <a:ext cx="8988552" cy="4864608"/>
        </p:xfrm>
        <a:graphic>
          <a:graphicData uri="http://schemas.openxmlformats.org/drawingml/2006/table">
            <a:tbl>
              <a:tblPr firstRow="0" bandRow="0">
                <a:tableStyleId>{2D5ABB26-0587-4C30-8999-92F81FD0307C}</a:tableStyleId>
              </a:tblPr>
              <a:tblGrid>
                <a:gridCol w="2286000"/>
                <a:gridCol w="2011680"/>
                <a:gridCol w="4690872"/>
              </a:tblGrid>
              <a:tr h="365760">
                <a:tc>
                  <a:txBody>
                    <a:bodyPr wrap="square" anchor="ctr" lIns="73152" tIns="36576" rIns="73152" bIns="36576"/>
                    <a:lstStyle/>
                    <a:p>
                      <a:pPr algn="l"/>
                      <a:r>
                        <a:rPr sz="1200" b="1" i="0">
                          <a:solidFill>
                            <a:srgbClr val="FFFFFF"/>
                          </a:solidFill>
                          <a:latin typeface="Arial"/>
                        </a:rPr>
                        <a:t>Risk</a:t>
                      </a:r>
                      <a:endParaRPr sz="1200"/>
                    </a:p>
                  </a:txBody>
                  <a:tcPr marL="73152" marT="36576" marR="73152" marB="36576"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73152" tIns="36576" rIns="73152" bIns="36576"/>
                    <a:lstStyle/>
                    <a:p>
                      <a:pPr algn="l"/>
                      <a:r>
                        <a:rPr sz="1200" b="1" i="0">
                          <a:solidFill>
                            <a:srgbClr val="FFFFFF"/>
                          </a:solidFill>
                          <a:latin typeface="Arial"/>
                        </a:rPr>
                        <a:t>Why it matters</a:t>
                      </a:r>
                      <a:endParaRPr sz="1200"/>
                    </a:p>
                  </a:txBody>
                  <a:tcPr marL="73152" marT="36576" marR="73152" marB="36576"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c>
                  <a:txBody>
                    <a:bodyPr wrap="square" anchor="ctr" lIns="73152" tIns="36576" rIns="73152" bIns="36576"/>
                    <a:lstStyle/>
                    <a:p>
                      <a:pPr algn="l"/>
                      <a:r>
                        <a:rPr sz="1200" b="1" i="0">
                          <a:solidFill>
                            <a:srgbClr val="FFFFFF"/>
                          </a:solidFill>
                          <a:latin typeface="Arial"/>
                        </a:rPr>
                        <a:t>Planned mitigation</a:t>
                      </a:r>
                      <a:endParaRPr sz="1200"/>
                    </a:p>
                  </a:txBody>
                  <a:tcPr marL="73152" marT="36576" marR="73152" marB="36576" anchor="ctr">
                    <a:lnL w="9525">
                      <a:solidFill>
                        <a:srgbClr val="D1D5DB"/>
                      </a:solidFill>
                    </a:lnL>
                    <a:lnR w="9525">
                      <a:solidFill>
                        <a:srgbClr val="D1D5DB"/>
                      </a:solidFill>
                    </a:lnR>
                    <a:lnT w="9525">
                      <a:solidFill>
                        <a:srgbClr val="D1D5DB"/>
                      </a:solidFill>
                    </a:lnT>
                    <a:lnB w="9525">
                      <a:solidFill>
                        <a:srgbClr val="D1D5DB"/>
                      </a:solidFill>
                    </a:lnB>
                    <a:solidFill>
                      <a:srgbClr val="C00000"/>
                    </a:solidFill>
                  </a:tcPr>
                </a:tc>
              </a:tr>
              <a:tr h="749808">
                <a:tc>
                  <a:txBody>
                    <a:bodyPr wrap="square" anchor="ctr" lIns="73152" tIns="36576" rIns="73152" bIns="36576"/>
                    <a:lstStyle/>
                    <a:p>
                      <a:pPr algn="l"/>
                      <a:r>
                        <a:rPr sz="1100" b="1" i="0">
                          <a:solidFill>
                            <a:srgbClr val="C00000"/>
                          </a:solidFill>
                          <a:latin typeface="Arial"/>
                        </a:rPr>
                        <a:t>No live BMTC vehicle feed</a:t>
                      </a:r>
                      <a:endParaRPr sz="1100"/>
                    </a:p>
                  </a:txBody>
                  <a:tcPr marL="73152" marT="36576" marR="73152" marB="36576"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73152" tIns="36576" rIns="73152" bIns="36576"/>
                    <a:lstStyle/>
                    <a:p>
                      <a:pPr algn="l"/>
                      <a:r>
                        <a:rPr sz="1100" b="0" i="0">
                          <a:solidFill>
                            <a:srgbClr val="1F2937"/>
                          </a:solidFill>
                          <a:latin typeface="Arial"/>
                        </a:rPr>
                        <a:t>Tracking could stay estimate-only</a:t>
                      </a:r>
                      <a:endParaRPr sz="1100"/>
                    </a:p>
                  </a:txBody>
                  <a:tcPr marL="73152" marT="36576" marR="73152" marB="36576"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73152" tIns="36576" rIns="73152" bIns="36576"/>
                    <a:lstStyle/>
                    <a:p>
                      <a:pPr algn="l"/>
                      <a:r>
                        <a:rPr sz="1100" b="0" i="0">
                          <a:solidFill>
                            <a:srgbClr val="1F2937"/>
                          </a:solidFill>
                          <a:latin typeface="Arial"/>
                        </a:rPr>
                        <a:t>Adapter interface (GTFS-RT, HTTP JSON, push); route-following ETA labelled as an estimate; simulated data never published as live</a:t>
                      </a:r>
                      <a:endParaRPr sz="1100"/>
                    </a:p>
                  </a:txBody>
                  <a:tcPr marL="73152" marT="36576" marR="73152" marB="36576" anchor="ctr">
                    <a:lnL w="9525">
                      <a:solidFill>
                        <a:srgbClr val="D1D5DB"/>
                      </a:solidFill>
                    </a:lnL>
                    <a:lnR w="9525">
                      <a:solidFill>
                        <a:srgbClr val="D1D5DB"/>
                      </a:solidFill>
                    </a:lnR>
                    <a:lnT w="9525">
                      <a:solidFill>
                        <a:srgbClr val="D1D5DB"/>
                      </a:solidFill>
                    </a:lnT>
                    <a:lnB w="9525">
                      <a:solidFill>
                        <a:srgbClr val="D1D5DB"/>
                      </a:solidFill>
                    </a:lnB>
                    <a:noFill/>
                  </a:tcPr>
                </a:tc>
              </a:tr>
              <a:tr h="749808">
                <a:tc>
                  <a:txBody>
                    <a:bodyPr wrap="square" anchor="ctr" lIns="73152" tIns="36576" rIns="73152" bIns="36576"/>
                    <a:lstStyle/>
                    <a:p>
                      <a:pPr algn="l"/>
                      <a:r>
                        <a:rPr sz="1100" b="1" i="0">
                          <a:solidFill>
                            <a:srgbClr val="C00000"/>
                          </a:solidFill>
                          <a:latin typeface="Arial"/>
                        </a:rPr>
                        <a:t>Modelled fleet and crew differ from real rosters</a:t>
                      </a:r>
                      <a:endParaRPr sz="1100"/>
                    </a:p>
                  </a:txBody>
                  <a:tcPr marL="73152" marT="36576" marR="73152" marB="36576" anchor="ctr">
                    <a:lnL w="9525">
                      <a:solidFill>
                        <a:srgbClr val="D1D5DB"/>
                      </a:solidFill>
                    </a:lnL>
                    <a:lnR w="9525">
                      <a:solidFill>
                        <a:srgbClr val="D1D5DB"/>
                      </a:solidFill>
                    </a:lnR>
                    <a:lnT w="9525">
                      <a:solidFill>
                        <a:srgbClr val="D1D5DB"/>
                      </a:solidFill>
                    </a:lnT>
                    <a:lnB w="9525">
                      <a:solidFill>
                        <a:srgbClr val="D1D5DB"/>
                      </a:solidFill>
                    </a:lnB>
                    <a:solidFill>
                      <a:srgbClr val="F3F4F6"/>
                    </a:solidFill>
                  </a:tcPr>
                </a:tc>
                <a:tc>
                  <a:txBody>
                    <a:bodyPr wrap="square" anchor="ctr" lIns="73152" tIns="36576" rIns="73152" bIns="36576"/>
                    <a:lstStyle/>
                    <a:p>
                      <a:pPr algn="l"/>
                      <a:r>
                        <a:rPr sz="1100" b="0" i="0">
                          <a:solidFill>
                            <a:srgbClr val="1F2937"/>
                          </a:solidFill>
                          <a:latin typeface="Arial"/>
                        </a:rPr>
                        <a:t>Operator trust in the numbers</a:t>
                      </a:r>
                      <a:endParaRPr sz="1100"/>
                    </a:p>
                  </a:txBody>
                  <a:tcPr marL="73152" marT="36576" marR="73152" marB="36576" anchor="ctr">
                    <a:lnL w="9525">
                      <a:solidFill>
                        <a:srgbClr val="D1D5DB"/>
                      </a:solidFill>
                    </a:lnL>
                    <a:lnR w="9525">
                      <a:solidFill>
                        <a:srgbClr val="D1D5DB"/>
                      </a:solidFill>
                    </a:lnR>
                    <a:lnT w="9525">
                      <a:solidFill>
                        <a:srgbClr val="D1D5DB"/>
                      </a:solidFill>
                    </a:lnT>
                    <a:lnB w="9525">
                      <a:solidFill>
                        <a:srgbClr val="D1D5DB"/>
                      </a:solidFill>
                    </a:lnB>
                    <a:solidFill>
                      <a:srgbClr val="F3F4F6"/>
                    </a:solidFill>
                  </a:tcPr>
                </a:tc>
                <a:tc>
                  <a:txBody>
                    <a:bodyPr wrap="square" anchor="ctr" lIns="73152" tIns="36576" rIns="73152" bIns="36576"/>
                    <a:lstStyle/>
                    <a:p>
                      <a:pPr algn="l"/>
                      <a:r>
                        <a:rPr sz="1100" b="0" i="0">
                          <a:solidFill>
                            <a:srgbClr val="1F2937"/>
                          </a:solidFill>
                          <a:latin typeface="Arial"/>
                        </a:rPr>
                        <a:t>Assumptions (speed, layover, crew rules) held in parameter objects and shown with every result; validate against one depot in the pilot</a:t>
                      </a:r>
                      <a:endParaRPr sz="1100"/>
                    </a:p>
                  </a:txBody>
                  <a:tcPr marL="73152" marT="36576" marR="73152" marB="36576" anchor="ctr">
                    <a:lnL w="9525">
                      <a:solidFill>
                        <a:srgbClr val="D1D5DB"/>
                      </a:solidFill>
                    </a:lnL>
                    <a:lnR w="9525">
                      <a:solidFill>
                        <a:srgbClr val="D1D5DB"/>
                      </a:solidFill>
                    </a:lnR>
                    <a:lnT w="9525">
                      <a:solidFill>
                        <a:srgbClr val="D1D5DB"/>
                      </a:solidFill>
                    </a:lnT>
                    <a:lnB w="9525">
                      <a:solidFill>
                        <a:srgbClr val="D1D5DB"/>
                      </a:solidFill>
                    </a:lnB>
                    <a:solidFill>
                      <a:srgbClr val="F3F4F6"/>
                    </a:solidFill>
                  </a:tcPr>
                </a:tc>
              </a:tr>
              <a:tr h="749808">
                <a:tc>
                  <a:txBody>
                    <a:bodyPr wrap="square" anchor="ctr" lIns="73152" tIns="36576" rIns="73152" bIns="36576"/>
                    <a:lstStyle/>
                    <a:p>
                      <a:pPr algn="l"/>
                      <a:r>
                        <a:rPr sz="1100" b="1" i="0">
                          <a:solidFill>
                            <a:srgbClr val="C00000"/>
                          </a:solidFill>
                          <a:latin typeface="Arial"/>
                        </a:rPr>
                        <a:t>Ambiguous or duplicate stop names</a:t>
                      </a:r>
                      <a:endParaRPr sz="1100"/>
                    </a:p>
                  </a:txBody>
                  <a:tcPr marL="73152" marT="36576" marR="73152" marB="36576"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73152" tIns="36576" rIns="73152" bIns="36576"/>
                    <a:lstStyle/>
                    <a:p>
                      <a:pPr algn="l"/>
                      <a:r>
                        <a:rPr sz="1100" b="0" i="0">
                          <a:solidFill>
                            <a:srgbClr val="1F2937"/>
                          </a:solidFill>
                          <a:latin typeface="Arial"/>
                        </a:rPr>
                        <a:t>Wrong routes or absurd journeys</a:t>
                      </a:r>
                      <a:endParaRPr sz="1100"/>
                    </a:p>
                  </a:txBody>
                  <a:tcPr marL="73152" marT="36576" marR="73152" marB="36576"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73152" tIns="36576" rIns="73152" bIns="36576"/>
                    <a:lstStyle/>
                    <a:p>
                      <a:pPr algn="l"/>
                      <a:r>
                        <a:rPr sz="1100" b="0" i="0">
                          <a:solidFill>
                            <a:srgbClr val="1F2937"/>
                          </a:solidFill>
                          <a:latin typeface="Arial"/>
                        </a:rPr>
                        <a:t>Alias table, anchored stop resolution, and rejection of interchanges over 1.2 km apart</a:t>
                      </a:r>
                      <a:endParaRPr sz="1100"/>
                    </a:p>
                  </a:txBody>
                  <a:tcPr marL="73152" marT="36576" marR="73152" marB="36576" anchor="ctr">
                    <a:lnL w="9525">
                      <a:solidFill>
                        <a:srgbClr val="D1D5DB"/>
                      </a:solidFill>
                    </a:lnL>
                    <a:lnR w="9525">
                      <a:solidFill>
                        <a:srgbClr val="D1D5DB"/>
                      </a:solidFill>
                    </a:lnR>
                    <a:lnT w="9525">
                      <a:solidFill>
                        <a:srgbClr val="D1D5DB"/>
                      </a:solidFill>
                    </a:lnT>
                    <a:lnB w="9525">
                      <a:solidFill>
                        <a:srgbClr val="D1D5DB"/>
                      </a:solidFill>
                    </a:lnB>
                    <a:noFill/>
                  </a:tcPr>
                </a:tc>
              </a:tr>
              <a:tr h="749808">
                <a:tc>
                  <a:txBody>
                    <a:bodyPr wrap="square" anchor="ctr" lIns="73152" tIns="36576" rIns="73152" bIns="36576"/>
                    <a:lstStyle/>
                    <a:p>
                      <a:pPr algn="l"/>
                      <a:r>
                        <a:rPr sz="1100" b="1" i="0">
                          <a:solidFill>
                            <a:srgbClr val="C00000"/>
                          </a:solidFill>
                          <a:latin typeface="Arial"/>
                        </a:rPr>
                        <a:t>Fake or biased demand votes</a:t>
                      </a:r>
                      <a:endParaRPr sz="1100"/>
                    </a:p>
                  </a:txBody>
                  <a:tcPr marL="73152" marT="36576" marR="73152" marB="36576" anchor="ctr">
                    <a:lnL w="9525">
                      <a:solidFill>
                        <a:srgbClr val="D1D5DB"/>
                      </a:solidFill>
                    </a:lnL>
                    <a:lnR w="9525">
                      <a:solidFill>
                        <a:srgbClr val="D1D5DB"/>
                      </a:solidFill>
                    </a:lnR>
                    <a:lnT w="9525">
                      <a:solidFill>
                        <a:srgbClr val="D1D5DB"/>
                      </a:solidFill>
                    </a:lnT>
                    <a:lnB w="9525">
                      <a:solidFill>
                        <a:srgbClr val="D1D5DB"/>
                      </a:solidFill>
                    </a:lnB>
                    <a:solidFill>
                      <a:srgbClr val="F3F4F6"/>
                    </a:solidFill>
                  </a:tcPr>
                </a:tc>
                <a:tc>
                  <a:txBody>
                    <a:bodyPr wrap="square" anchor="ctr" lIns="73152" tIns="36576" rIns="73152" bIns="36576"/>
                    <a:lstStyle/>
                    <a:p>
                      <a:pPr algn="l"/>
                      <a:r>
                        <a:rPr sz="1100" b="0" i="0">
                          <a:solidFill>
                            <a:srgbClr val="1F2937"/>
                          </a:solidFill>
                          <a:latin typeface="Arial"/>
                        </a:rPr>
                        <a:t>Bad dispatch advice</a:t>
                      </a:r>
                      <a:endParaRPr sz="1100"/>
                    </a:p>
                  </a:txBody>
                  <a:tcPr marL="73152" marT="36576" marR="73152" marB="36576" anchor="ctr">
                    <a:lnL w="9525">
                      <a:solidFill>
                        <a:srgbClr val="D1D5DB"/>
                      </a:solidFill>
                    </a:lnL>
                    <a:lnR w="9525">
                      <a:solidFill>
                        <a:srgbClr val="D1D5DB"/>
                      </a:solidFill>
                    </a:lnR>
                    <a:lnT w="9525">
                      <a:solidFill>
                        <a:srgbClr val="D1D5DB"/>
                      </a:solidFill>
                    </a:lnT>
                    <a:lnB w="9525">
                      <a:solidFill>
                        <a:srgbClr val="D1D5DB"/>
                      </a:solidFill>
                    </a:lnB>
                    <a:solidFill>
                      <a:srgbClr val="F3F4F6"/>
                    </a:solidFill>
                  </a:tcPr>
                </a:tc>
                <a:tc>
                  <a:txBody>
                    <a:bodyPr wrap="square" anchor="ctr" lIns="73152" tIns="36576" rIns="73152" bIns="36576"/>
                    <a:lstStyle/>
                    <a:p>
                      <a:pPr algn="l"/>
                      <a:r>
                        <a:rPr sz="1100" b="0" i="0">
                          <a:solidFill>
                            <a:srgbClr val="1F2937"/>
                          </a:solidFill>
                          <a:latin typeface="Arial"/>
                        </a:rPr>
                        <a:t>Four fraud heuristics, grouping by origin-destination pair; recommendations advise, a depot manager decides</a:t>
                      </a:r>
                      <a:endParaRPr sz="1100"/>
                    </a:p>
                  </a:txBody>
                  <a:tcPr marL="73152" marT="36576" marR="73152" marB="36576" anchor="ctr">
                    <a:lnL w="9525">
                      <a:solidFill>
                        <a:srgbClr val="D1D5DB"/>
                      </a:solidFill>
                    </a:lnL>
                    <a:lnR w="9525">
                      <a:solidFill>
                        <a:srgbClr val="D1D5DB"/>
                      </a:solidFill>
                    </a:lnR>
                    <a:lnT w="9525">
                      <a:solidFill>
                        <a:srgbClr val="D1D5DB"/>
                      </a:solidFill>
                    </a:lnT>
                    <a:lnB w="9525">
                      <a:solidFill>
                        <a:srgbClr val="D1D5DB"/>
                      </a:solidFill>
                    </a:lnB>
                    <a:solidFill>
                      <a:srgbClr val="F3F4F6"/>
                    </a:solidFill>
                  </a:tcPr>
                </a:tc>
              </a:tr>
              <a:tr h="749808">
                <a:tc>
                  <a:txBody>
                    <a:bodyPr wrap="square" anchor="ctr" lIns="73152" tIns="36576" rIns="73152" bIns="36576"/>
                    <a:lstStyle/>
                    <a:p>
                      <a:pPr algn="l"/>
                      <a:r>
                        <a:rPr sz="1100" b="1" i="0">
                          <a:solidFill>
                            <a:srgbClr val="C00000"/>
                          </a:solidFill>
                          <a:latin typeface="Arial"/>
                        </a:rPr>
                        <a:t>Offline sync duplicates or cash disputes</a:t>
                      </a:r>
                      <a:endParaRPr sz="1100"/>
                    </a:p>
                  </a:txBody>
                  <a:tcPr marL="73152" marT="36576" marR="73152" marB="36576"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73152" tIns="36576" rIns="73152" bIns="36576"/>
                    <a:lstStyle/>
                    <a:p>
                      <a:pPr algn="l"/>
                      <a:r>
                        <a:rPr sz="1100" b="0" i="0">
                          <a:solidFill>
                            <a:srgbClr val="1F2937"/>
                          </a:solidFill>
                          <a:latin typeface="Arial"/>
                        </a:rPr>
                        <a:t>Revenue trust</a:t>
                      </a:r>
                      <a:endParaRPr sz="1100"/>
                    </a:p>
                  </a:txBody>
                  <a:tcPr marL="73152" marT="36576" marR="73152" marB="36576" anchor="ctr">
                    <a:lnL w="9525">
                      <a:solidFill>
                        <a:srgbClr val="D1D5DB"/>
                      </a:solidFill>
                    </a:lnL>
                    <a:lnR w="9525">
                      <a:solidFill>
                        <a:srgbClr val="D1D5DB"/>
                      </a:solidFill>
                    </a:lnR>
                    <a:lnT w="9525">
                      <a:solidFill>
                        <a:srgbClr val="D1D5DB"/>
                      </a:solidFill>
                    </a:lnT>
                    <a:lnB w="9525">
                      <a:solidFill>
                        <a:srgbClr val="D1D5DB"/>
                      </a:solidFill>
                    </a:lnB>
                    <a:noFill/>
                  </a:tcPr>
                </a:tc>
                <a:tc>
                  <a:txBody>
                    <a:bodyPr wrap="square" anchor="ctr" lIns="73152" tIns="36576" rIns="73152" bIns="36576"/>
                    <a:lstStyle/>
                    <a:p>
                      <a:pPr algn="l"/>
                      <a:r>
                        <a:rPr sz="1100" b="0" i="0">
                          <a:solidFill>
                            <a:srgbClr val="1F2937"/>
                          </a:solidFill>
                          <a:latin typeface="Arial"/>
                        </a:rPr>
                        <a:t>Client UUID plus unique index for idempotent sync; cash variance reported, never auto-corrected</a:t>
                      </a:r>
                      <a:endParaRPr sz="1100"/>
                    </a:p>
                  </a:txBody>
                  <a:tcPr marL="73152" marT="36576" marR="73152" marB="36576" anchor="ctr">
                    <a:lnL w="9525">
                      <a:solidFill>
                        <a:srgbClr val="D1D5DB"/>
                      </a:solidFill>
                    </a:lnL>
                    <a:lnR w="9525">
                      <a:solidFill>
                        <a:srgbClr val="D1D5DB"/>
                      </a:solidFill>
                    </a:lnR>
                    <a:lnT w="9525">
                      <a:solidFill>
                        <a:srgbClr val="D1D5DB"/>
                      </a:solidFill>
                    </a:lnT>
                    <a:lnB w="9525">
                      <a:solidFill>
                        <a:srgbClr val="D1D5DB"/>
                      </a:solidFill>
                    </a:lnB>
                    <a:noFill/>
                  </a:tcPr>
                </a:tc>
              </a:tr>
              <a:tr h="749808">
                <a:tc>
                  <a:txBody>
                    <a:bodyPr wrap="square" anchor="ctr" lIns="73152" tIns="36576" rIns="73152" bIns="36576"/>
                    <a:lstStyle/>
                    <a:p>
                      <a:pPr algn="l"/>
                      <a:r>
                        <a:rPr sz="1100" b="1" i="0">
                          <a:solidFill>
                            <a:srgbClr val="C00000"/>
                          </a:solidFill>
                          <a:latin typeface="Arial"/>
                        </a:rPr>
                        <a:t>Scope too large for 16 weeks</a:t>
                      </a:r>
                      <a:endParaRPr sz="1100"/>
                    </a:p>
                  </a:txBody>
                  <a:tcPr marL="73152" marT="36576" marR="73152" marB="36576" anchor="ctr">
                    <a:lnL w="9525">
                      <a:solidFill>
                        <a:srgbClr val="D1D5DB"/>
                      </a:solidFill>
                    </a:lnL>
                    <a:lnR w="9525">
                      <a:solidFill>
                        <a:srgbClr val="D1D5DB"/>
                      </a:solidFill>
                    </a:lnR>
                    <a:lnT w="9525">
                      <a:solidFill>
                        <a:srgbClr val="D1D5DB"/>
                      </a:solidFill>
                    </a:lnT>
                    <a:lnB w="9525">
                      <a:solidFill>
                        <a:srgbClr val="D1D5DB"/>
                      </a:solidFill>
                    </a:lnB>
                    <a:solidFill>
                      <a:srgbClr val="F3F4F6"/>
                    </a:solidFill>
                  </a:tcPr>
                </a:tc>
                <a:tc>
                  <a:txBody>
                    <a:bodyPr wrap="square" anchor="ctr" lIns="73152" tIns="36576" rIns="73152" bIns="36576"/>
                    <a:lstStyle/>
                    <a:p>
                      <a:pPr algn="l"/>
                      <a:r>
                        <a:rPr sz="1100" b="0" i="0">
                          <a:solidFill>
                            <a:srgbClr val="1F2937"/>
                          </a:solidFill>
                          <a:latin typeface="Arial"/>
                        </a:rPr>
                        <a:t>Delay or unfinished features</a:t>
                      </a:r>
                      <a:endParaRPr sz="1100"/>
                    </a:p>
                  </a:txBody>
                  <a:tcPr marL="73152" marT="36576" marR="73152" marB="36576" anchor="ctr">
                    <a:lnL w="9525">
                      <a:solidFill>
                        <a:srgbClr val="D1D5DB"/>
                      </a:solidFill>
                    </a:lnL>
                    <a:lnR w="9525">
                      <a:solidFill>
                        <a:srgbClr val="D1D5DB"/>
                      </a:solidFill>
                    </a:lnR>
                    <a:lnT w="9525">
                      <a:solidFill>
                        <a:srgbClr val="D1D5DB"/>
                      </a:solidFill>
                    </a:lnT>
                    <a:lnB w="9525">
                      <a:solidFill>
                        <a:srgbClr val="D1D5DB"/>
                      </a:solidFill>
                    </a:lnB>
                    <a:solidFill>
                      <a:srgbClr val="F3F4F6"/>
                    </a:solidFill>
                  </a:tcPr>
                </a:tc>
                <a:tc>
                  <a:txBody>
                    <a:bodyPr wrap="square" anchor="ctr" lIns="73152" tIns="36576" rIns="73152" bIns="36576"/>
                    <a:lstStyle/>
                    <a:p>
                      <a:pPr algn="l"/>
                      <a:r>
                        <a:rPr sz="1100" b="0" i="0">
                          <a:solidFill>
                            <a:srgbClr val="1F2937"/>
                          </a:solidFill>
                          <a:latin typeface="Arial"/>
                        </a:rPr>
                        <a:t>Phased plan with reviews at weeks 4, 8, 12 and 16; core first (journey and fleet), extras last</a:t>
                      </a:r>
                      <a:endParaRPr sz="1100"/>
                    </a:p>
                  </a:txBody>
                  <a:tcPr marL="73152" marT="36576" marR="73152" marB="36576" anchor="ctr">
                    <a:lnL w="9525">
                      <a:solidFill>
                        <a:srgbClr val="D1D5DB"/>
                      </a:solidFill>
                    </a:lnL>
                    <a:lnR w="9525">
                      <a:solidFill>
                        <a:srgbClr val="D1D5DB"/>
                      </a:solidFill>
                    </a:lnR>
                    <a:lnT w="9525">
                      <a:solidFill>
                        <a:srgbClr val="D1D5DB"/>
                      </a:solidFill>
                    </a:lnT>
                    <a:lnB w="9525">
                      <a:solidFill>
                        <a:srgbClr val="D1D5DB"/>
                      </a:solidFill>
                    </a:lnB>
                    <a:solidFill>
                      <a:srgbClr val="F3F4F6"/>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19456"/>
            <a:ext cx="8988552" cy="603504"/>
          </a:xfrm>
        </p:spPr>
        <p:txBody>
          <a:bodyPr anchor="ctr" wrap="square"/>
          <a:lstStyle/>
          <a:p>
            <a:pPr algn="ctr"/>
            <a:r>
              <a:rPr sz="3200" b="1" i="0">
                <a:solidFill>
                  <a:srgbClr val="FF0000"/>
                </a:solidFill>
                <a:latin typeface="Arial"/>
              </a:rPr>
              <a:t>Conclusion</a:t>
            </a:r>
          </a:p>
        </p:txBody>
      </p:sp>
      <p:sp>
        <p:nvSpPr>
          <p:cNvPr id="3" name="Rounded Rectangle 2"/>
          <p:cNvSpPr/>
          <p:nvPr/>
        </p:nvSpPr>
        <p:spPr>
          <a:xfrm>
            <a:off x="457200" y="914400"/>
            <a:ext cx="8988552" cy="1033271"/>
          </a:xfrm>
          <a:prstGeom prst="roundRect">
            <a:avLst>
              <a:gd name="adj" fmla="val 6000"/>
            </a:avLst>
          </a:prstGeom>
          <a:solidFill>
            <a:srgbClr val="F3F4F6"/>
          </a:solidFill>
          <a:ln>
            <a:noFill/>
          </a:ln>
          <a:effectLst/>
        </p:spPr>
        <p:txBody>
          <a:bodyPr rtlCol="0" anchor="ctr"/>
          <a:lstStyle/>
          <a:p>
            <a:pPr algn="ctr"/>
          </a:p>
        </p:txBody>
      </p:sp>
      <p:sp>
        <p:nvSpPr>
          <p:cNvPr id="4" name="Rounded Rectangle 3"/>
          <p:cNvSpPr/>
          <p:nvPr/>
        </p:nvSpPr>
        <p:spPr>
          <a:xfrm>
            <a:off x="566928" y="1033271"/>
            <a:ext cx="1874519" cy="795527"/>
          </a:xfrm>
          <a:prstGeom prst="roundRect">
            <a:avLst>
              <a:gd name="adj" fmla="val 8000"/>
            </a:avLst>
          </a:prstGeom>
          <a:solidFill>
            <a:srgbClr val="C00000"/>
          </a:solidFill>
          <a:ln>
            <a:noFill/>
          </a:ln>
          <a:effectLst/>
        </p:spPr>
        <p:txBody>
          <a:bodyPr rtlCol="0" anchor="ctr" wrap="square" lIns="54864" tIns="27432" rIns="54864" bIns="27432"/>
          <a:lstStyle/>
          <a:p>
            <a:pPr algn="ctr"/>
            <a:r>
              <a:rPr sz="1250" b="1" i="0">
                <a:solidFill>
                  <a:srgbClr val="FFFFFF"/>
                </a:solidFill>
                <a:latin typeface="Arial"/>
              </a:rPr>
              <a:t>Problem addressed</a:t>
            </a:r>
            <a:endParaRPr sz="1250"/>
          </a:p>
        </p:txBody>
      </p:sp>
      <p:sp>
        <p:nvSpPr>
          <p:cNvPr id="5" name="TextBox 4"/>
          <p:cNvSpPr txBox="1"/>
          <p:nvPr/>
        </p:nvSpPr>
        <p:spPr>
          <a:xfrm>
            <a:off x="2606040" y="914400"/>
            <a:ext cx="6720840" cy="1033271"/>
          </a:xfrm>
          <a:prstGeom prst="rect">
            <a:avLst/>
          </a:prstGeom>
          <a:noFill/>
        </p:spPr>
        <p:txBody>
          <a:bodyPr wrap="square" anchor="ctr" lIns="73152" rIns="73152"/>
          <a:lstStyle/>
          <a:p>
            <a:pPr algn="l"/>
            <a:r>
              <a:rPr sz="1250" b="0" i="0">
                <a:solidFill>
                  <a:srgbClr val="1F2937"/>
                </a:solidFill>
                <a:latin typeface="Arial"/>
              </a:rPr>
              <a:t>Commuters cannot easily find which of 3,940 buses to take, and none of the public apps we reviewed links a commuter's need to the fleet and crew a timetable requires.</a:t>
            </a:r>
            <a:endParaRPr sz="1250"/>
          </a:p>
        </p:txBody>
      </p:sp>
      <p:sp>
        <p:nvSpPr>
          <p:cNvPr id="6" name="Rounded Rectangle 5"/>
          <p:cNvSpPr/>
          <p:nvPr/>
        </p:nvSpPr>
        <p:spPr>
          <a:xfrm>
            <a:off x="457200" y="2029967"/>
            <a:ext cx="8988552" cy="1033271"/>
          </a:xfrm>
          <a:prstGeom prst="roundRect">
            <a:avLst>
              <a:gd name="adj" fmla="val 6000"/>
            </a:avLst>
          </a:prstGeom>
          <a:solidFill>
            <a:srgbClr val="F3F4F6"/>
          </a:solidFill>
          <a:ln>
            <a:noFill/>
          </a:ln>
          <a:effectLst/>
        </p:spPr>
        <p:txBody>
          <a:bodyPr rtlCol="0" anchor="ctr"/>
          <a:lstStyle/>
          <a:p>
            <a:pPr algn="ctr"/>
          </a:p>
        </p:txBody>
      </p:sp>
      <p:sp>
        <p:nvSpPr>
          <p:cNvPr id="7" name="Rounded Rectangle 6"/>
          <p:cNvSpPr/>
          <p:nvPr/>
        </p:nvSpPr>
        <p:spPr>
          <a:xfrm>
            <a:off x="566928" y="2148839"/>
            <a:ext cx="1874519" cy="795527"/>
          </a:xfrm>
          <a:prstGeom prst="roundRect">
            <a:avLst>
              <a:gd name="adj" fmla="val 8000"/>
            </a:avLst>
          </a:prstGeom>
          <a:solidFill>
            <a:srgbClr val="C00000"/>
          </a:solidFill>
          <a:ln>
            <a:noFill/>
          </a:ln>
          <a:effectLst/>
        </p:spPr>
        <p:txBody>
          <a:bodyPr rtlCol="0" anchor="ctr" wrap="square" lIns="54864" tIns="27432" rIns="54864" bIns="27432"/>
          <a:lstStyle/>
          <a:p>
            <a:pPr algn="ctr"/>
            <a:r>
              <a:rPr sz="1250" b="1" i="0">
                <a:solidFill>
                  <a:srgbClr val="FFFFFF"/>
                </a:solidFill>
                <a:latin typeface="Arial"/>
              </a:rPr>
              <a:t>Why it is relevant</a:t>
            </a:r>
            <a:endParaRPr sz="1250"/>
          </a:p>
        </p:txBody>
      </p:sp>
      <p:sp>
        <p:nvSpPr>
          <p:cNvPr id="8" name="TextBox 7"/>
          <p:cNvSpPr txBox="1"/>
          <p:nvPr/>
        </p:nvSpPr>
        <p:spPr>
          <a:xfrm>
            <a:off x="2606040" y="2029967"/>
            <a:ext cx="6720840" cy="1033271"/>
          </a:xfrm>
          <a:prstGeom prst="rect">
            <a:avLst/>
          </a:prstGeom>
          <a:noFill/>
        </p:spPr>
        <p:txBody>
          <a:bodyPr wrap="square" anchor="ctr" lIns="73152" rIns="73152"/>
          <a:lstStyle/>
          <a:p>
            <a:pPr algn="l"/>
            <a:r>
              <a:rPr sz="1250" b="0" i="0">
                <a:solidFill>
                  <a:srgbClr val="1F2937"/>
                </a:solidFill>
                <a:latin typeface="Arial"/>
              </a:rPr>
              <a:t>Ridership has changed after Shakti, BMTC runs 7,000+ buses, and tickets and tracking are going digital, so demand-aware planning and exact reimbursement tracking are needed now.</a:t>
            </a:r>
            <a:endParaRPr sz="1250"/>
          </a:p>
        </p:txBody>
      </p:sp>
      <p:sp>
        <p:nvSpPr>
          <p:cNvPr id="9" name="Rounded Rectangle 8"/>
          <p:cNvSpPr/>
          <p:nvPr/>
        </p:nvSpPr>
        <p:spPr>
          <a:xfrm>
            <a:off x="457200" y="3145535"/>
            <a:ext cx="8988552" cy="1033271"/>
          </a:xfrm>
          <a:prstGeom prst="roundRect">
            <a:avLst>
              <a:gd name="adj" fmla="val 6000"/>
            </a:avLst>
          </a:prstGeom>
          <a:solidFill>
            <a:srgbClr val="F3F4F6"/>
          </a:solidFill>
          <a:ln>
            <a:noFill/>
          </a:ln>
          <a:effectLst/>
        </p:spPr>
        <p:txBody>
          <a:bodyPr rtlCol="0" anchor="ctr"/>
          <a:lstStyle/>
          <a:p>
            <a:pPr algn="ctr"/>
          </a:p>
        </p:txBody>
      </p:sp>
      <p:sp>
        <p:nvSpPr>
          <p:cNvPr id="10" name="Rounded Rectangle 9"/>
          <p:cNvSpPr/>
          <p:nvPr/>
        </p:nvSpPr>
        <p:spPr>
          <a:xfrm>
            <a:off x="566928" y="3264407"/>
            <a:ext cx="1874519" cy="795527"/>
          </a:xfrm>
          <a:prstGeom prst="roundRect">
            <a:avLst>
              <a:gd name="adj" fmla="val 8000"/>
            </a:avLst>
          </a:prstGeom>
          <a:solidFill>
            <a:srgbClr val="C00000"/>
          </a:solidFill>
          <a:ln>
            <a:noFill/>
          </a:ln>
          <a:effectLst/>
        </p:spPr>
        <p:txBody>
          <a:bodyPr rtlCol="0" anchor="ctr" wrap="square" lIns="54864" tIns="27432" rIns="54864" bIns="27432"/>
          <a:lstStyle/>
          <a:p>
            <a:pPr algn="ctr"/>
            <a:r>
              <a:rPr sz="1250" b="1" i="0">
                <a:solidFill>
                  <a:srgbClr val="FFFFFF"/>
                </a:solidFill>
                <a:latin typeface="Arial"/>
              </a:rPr>
              <a:t>Expected outcome</a:t>
            </a:r>
            <a:endParaRPr sz="1250"/>
          </a:p>
        </p:txBody>
      </p:sp>
      <p:sp>
        <p:nvSpPr>
          <p:cNvPr id="11" name="TextBox 10"/>
          <p:cNvSpPr txBox="1"/>
          <p:nvPr/>
        </p:nvSpPr>
        <p:spPr>
          <a:xfrm>
            <a:off x="2606040" y="3145535"/>
            <a:ext cx="6720840" cy="1033271"/>
          </a:xfrm>
          <a:prstGeom prst="rect">
            <a:avLst/>
          </a:prstGeom>
          <a:noFill/>
        </p:spPr>
        <p:txBody>
          <a:bodyPr wrap="square" anchor="ctr" lIns="73152" rIns="73152"/>
          <a:lstStyle/>
          <a:p>
            <a:pPr algn="l"/>
            <a:r>
              <a:rPr sz="1250" b="0" i="0">
                <a:solidFill>
                  <a:srgbClr val="1F2937"/>
                </a:solidFill>
                <a:latin typeface="Arial"/>
              </a:rPr>
              <a:t>One platform: journey planner, fleet and crew planner, demand-to-dispatch loop and GTFS open data, judged against acceptance targets that can fail.</a:t>
            </a:r>
            <a:endParaRPr sz="1250"/>
          </a:p>
        </p:txBody>
      </p:sp>
      <p:sp>
        <p:nvSpPr>
          <p:cNvPr id="12" name="Rounded Rectangle 11"/>
          <p:cNvSpPr/>
          <p:nvPr/>
        </p:nvSpPr>
        <p:spPr>
          <a:xfrm>
            <a:off x="457200" y="4261103"/>
            <a:ext cx="8988552" cy="1033271"/>
          </a:xfrm>
          <a:prstGeom prst="roundRect">
            <a:avLst>
              <a:gd name="adj" fmla="val 6000"/>
            </a:avLst>
          </a:prstGeom>
          <a:solidFill>
            <a:srgbClr val="F3F4F6"/>
          </a:solidFill>
          <a:ln>
            <a:noFill/>
          </a:ln>
          <a:effectLst/>
        </p:spPr>
        <p:txBody>
          <a:bodyPr rtlCol="0" anchor="ctr"/>
          <a:lstStyle/>
          <a:p>
            <a:pPr algn="ctr"/>
          </a:p>
        </p:txBody>
      </p:sp>
      <p:sp>
        <p:nvSpPr>
          <p:cNvPr id="13" name="Rounded Rectangle 12"/>
          <p:cNvSpPr/>
          <p:nvPr/>
        </p:nvSpPr>
        <p:spPr>
          <a:xfrm>
            <a:off x="566928" y="4379975"/>
            <a:ext cx="1874519" cy="795527"/>
          </a:xfrm>
          <a:prstGeom prst="roundRect">
            <a:avLst>
              <a:gd name="adj" fmla="val 8000"/>
            </a:avLst>
          </a:prstGeom>
          <a:solidFill>
            <a:srgbClr val="C00000"/>
          </a:solidFill>
          <a:ln>
            <a:noFill/>
          </a:ln>
          <a:effectLst/>
        </p:spPr>
        <p:txBody>
          <a:bodyPr rtlCol="0" anchor="ctr" wrap="square" lIns="54864" tIns="27432" rIns="54864" bIns="27432"/>
          <a:lstStyle/>
          <a:p>
            <a:pPr algn="ctr"/>
            <a:r>
              <a:rPr sz="1250" b="1" i="0">
                <a:solidFill>
                  <a:srgbClr val="FFFFFF"/>
                </a:solidFill>
                <a:latin typeface="Arial"/>
              </a:rPr>
              <a:t>Why it is feasible</a:t>
            </a:r>
            <a:endParaRPr sz="1250"/>
          </a:p>
        </p:txBody>
      </p:sp>
      <p:sp>
        <p:nvSpPr>
          <p:cNvPr id="14" name="TextBox 13"/>
          <p:cNvSpPr txBox="1"/>
          <p:nvPr/>
        </p:nvSpPr>
        <p:spPr>
          <a:xfrm>
            <a:off x="2606040" y="4261103"/>
            <a:ext cx="6720840" cy="1033271"/>
          </a:xfrm>
          <a:prstGeom prst="rect">
            <a:avLst/>
          </a:prstGeom>
          <a:noFill/>
        </p:spPr>
        <p:txBody>
          <a:bodyPr wrap="square" anchor="ctr" lIns="73152" rIns="73152"/>
          <a:lstStyle/>
          <a:p>
            <a:pPr algn="l"/>
            <a:r>
              <a:rPr sz="1250" b="0" i="0">
                <a:solidFill>
                  <a:srgbClr val="1F2937"/>
                </a:solidFill>
                <a:latin typeface="Arial"/>
              </a:rPr>
              <a:t>The inputs are in hand (BMTC's published timetable, stop coordinates, fare table and Metro network), the methods are established [1-7], the stack is standard and open-source, and a 16-week phased plan puts the core first.</a:t>
            </a:r>
            <a:endParaRPr sz="1250"/>
          </a:p>
        </p:txBody>
      </p:sp>
      <p:sp>
        <p:nvSpPr>
          <p:cNvPr id="15" name="Rounded Rectangle 14"/>
          <p:cNvSpPr/>
          <p:nvPr/>
        </p:nvSpPr>
        <p:spPr>
          <a:xfrm>
            <a:off x="457200" y="5394959"/>
            <a:ext cx="8988552" cy="868680"/>
          </a:xfrm>
          <a:prstGeom prst="roundRect">
            <a:avLst>
              <a:gd name="adj" fmla="val 8000"/>
            </a:avLst>
          </a:prstGeom>
          <a:solidFill>
            <a:srgbClr val="E6F4EA"/>
          </a:solidFill>
          <a:ln>
            <a:noFill/>
          </a:ln>
          <a:effectLst/>
        </p:spPr>
        <p:txBody>
          <a:bodyPr rtlCol="0" anchor="ctr" wrap="square" lIns="274320" rIns="274320"/>
          <a:lstStyle/>
          <a:p>
            <a:pPr algn="ctr"/>
            <a:r>
              <a:rPr sz="1250" b="1" i="0">
                <a:solidFill>
                  <a:srgbClr val="0B8A3E"/>
                </a:solidFill>
                <a:latin typeface="Arial"/>
              </a:rPr>
              <a:t>DBARS answers both sides of the same question, which bus to take and how many buses to run, and will say plainly what is measured and what is modelled.</a:t>
            </a:r>
            <a:endParaRPr sz="125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19456"/>
            <a:ext cx="8988552" cy="603504"/>
          </a:xfrm>
        </p:spPr>
        <p:txBody>
          <a:bodyPr anchor="ctr" wrap="square"/>
          <a:lstStyle/>
          <a:p>
            <a:pPr algn="ctr"/>
            <a:r>
              <a:rPr sz="3000" b="1" i="0">
                <a:solidFill>
                  <a:srgbClr val="FF0000"/>
                </a:solidFill>
                <a:latin typeface="Arial"/>
              </a:rPr>
              <a:t>References (APA format)</a:t>
            </a:r>
          </a:p>
        </p:txBody>
      </p:sp>
      <p:sp>
        <p:nvSpPr>
          <p:cNvPr id="3" name="TextBox 2"/>
          <p:cNvSpPr txBox="1"/>
          <p:nvPr/>
        </p:nvSpPr>
        <p:spPr>
          <a:xfrm>
            <a:off x="457200" y="868680"/>
            <a:ext cx="8988552" cy="5440680"/>
          </a:xfrm>
          <a:prstGeom prst="rect">
            <a:avLst/>
          </a:prstGeom>
          <a:noFill/>
        </p:spPr>
        <p:txBody>
          <a:bodyPr wrap="square" anchor="t" lIns="73152" rIns="73152"/>
          <a:lstStyle/>
          <a:p>
            <a:pPr algn="l">
              <a:spcAft>
                <a:spcPts val="400"/>
              </a:spcAft>
            </a:pPr>
            <a:r>
              <a:rPr sz="950" b="0" i="0">
                <a:solidFill>
                  <a:srgbClr val="1F2937"/>
                </a:solidFill>
                <a:latin typeface="Arial"/>
              </a:rPr>
              <a:t>[1] Baum, M., Buchhold, V., Sauer, J., Wagner, D., &amp; Zündorf, T. (2023). ULTRA: Unlimited transfers for efficient multimodal journey planning. Transportation Science, 57(6), 1536-1559. https://doi.org/10.1287/trsc.2022.0198</a:t>
            </a:r>
            <a:endParaRPr sz="950"/>
          </a:p>
          <a:p>
            <a:pPr algn="l">
              <a:spcAft>
                <a:spcPts val="400"/>
              </a:spcAft>
            </a:pPr>
            <a:r>
              <a:rPr sz="950" b="0" i="0">
                <a:solidFill>
                  <a:srgbClr val="1F2937"/>
                </a:solidFill>
                <a:latin typeface="Arial"/>
              </a:rPr>
              <a:t>[2] Liu, D., Guo, J., Gu, Y., King, M., Han, L. D., &amp; Brakewood, C. (2025). Analyzing transit systems using General Transit Feed Specification (GTFS) by generating spatiotemporal transit networks. Information, 16(1), 24.</a:t>
            </a:r>
            <a:endParaRPr sz="950"/>
          </a:p>
          <a:p>
            <a:pPr algn="l">
              <a:spcAft>
                <a:spcPts val="400"/>
              </a:spcAft>
            </a:pPr>
            <a:r>
              <a:rPr sz="950" b="0" i="0">
                <a:solidFill>
                  <a:srgbClr val="1F2937"/>
                </a:solidFill>
                <a:latin typeface="Arial"/>
              </a:rPr>
              <a:t>[3] Prommaharaj, P., Phithakkitnukoon, S., Demissie, M. G., Kattan, L., &amp; Ratti, C. (2020). Visualizing public transit system operation with GTFS data: A case study of Calgary, Canada. Heliyon, 6(4), e03729.</a:t>
            </a:r>
            <a:endParaRPr sz="950"/>
          </a:p>
          <a:p>
            <a:pPr algn="l">
              <a:spcAft>
                <a:spcPts val="400"/>
              </a:spcAft>
            </a:pPr>
            <a:r>
              <a:rPr sz="950" b="0" i="0">
                <a:solidFill>
                  <a:srgbClr val="1F2937"/>
                </a:solidFill>
                <a:latin typeface="Arial"/>
              </a:rPr>
              <a:t>[4] Shang, H., Liu, Y., Wu, W., &amp; Zhao, F. (2023). Multi-depot vehicle scheduling with multiple vehicle types on overlapped bus routes. Expert Systems with Applications, 228, 120352.</a:t>
            </a:r>
            <a:endParaRPr sz="950"/>
          </a:p>
          <a:p>
            <a:pPr algn="l">
              <a:spcAft>
                <a:spcPts val="400"/>
              </a:spcAft>
            </a:pPr>
            <a:r>
              <a:rPr sz="950" b="0" i="0">
                <a:solidFill>
                  <a:srgbClr val="1F2937"/>
                </a:solidFill>
                <a:latin typeface="Arial"/>
              </a:rPr>
              <a:t>[5] Gkiotsalitis, K., Iliopoulou, C., &amp; Kepaptsoglou, K. (2023). An exact approach for the multi-depot electric bus scheduling problem with time windows. European Journal of Operational Research, 306(1), 189-206.</a:t>
            </a:r>
            <a:endParaRPr sz="950"/>
          </a:p>
          <a:p>
            <a:pPr algn="l">
              <a:spcAft>
                <a:spcPts val="400"/>
              </a:spcAft>
            </a:pPr>
            <a:r>
              <a:rPr sz="950" b="0" i="0">
                <a:solidFill>
                  <a:srgbClr val="1F2937"/>
                </a:solidFill>
                <a:latin typeface="Arial"/>
              </a:rPr>
              <a:t>[6] Pardo-Peña, D., Álvarez-Martínez, D., &amp; Escobar, J. W. (2024). A GRASP algorithm for the bus crew scheduling problem. International Journal of Industrial Engineering Computations, 15, 443-456.</a:t>
            </a:r>
            <a:endParaRPr sz="950"/>
          </a:p>
          <a:p>
            <a:pPr algn="l">
              <a:spcAft>
                <a:spcPts val="400"/>
              </a:spcAft>
            </a:pPr>
            <a:r>
              <a:rPr sz="950" b="0" i="0">
                <a:solidFill>
                  <a:srgbClr val="1F2937"/>
                </a:solidFill>
                <a:latin typeface="Arial"/>
              </a:rPr>
              <a:t>[7] Árgilán, V. S., &amp; Békési, J. (2025). Optimizing bus driver scheduling: A set covering approach for reducing transportation costs. Applied System Innovation, 8(5), 122.</a:t>
            </a:r>
            <a:endParaRPr sz="950"/>
          </a:p>
          <a:p>
            <a:pPr algn="l">
              <a:spcAft>
                <a:spcPts val="400"/>
              </a:spcAft>
            </a:pPr>
            <a:r>
              <a:rPr sz="950" b="0" i="0">
                <a:solidFill>
                  <a:srgbClr val="1F2937"/>
                </a:solidFill>
                <a:latin typeface="Arial"/>
              </a:rPr>
              <a:t>[8] Deepa, L., Pinjari, A. R., Nirmale, S. K., Srinivasan, K. K., &amp; Rambha, T. (2022). A direct demand model for bus transit ridership in Bengaluru, India. Transportation Research Part A: Policy and Practice, 163, 126-147.</a:t>
            </a:r>
            <a:endParaRPr sz="950"/>
          </a:p>
          <a:p>
            <a:pPr algn="l">
              <a:spcAft>
                <a:spcPts val="400"/>
              </a:spcAft>
            </a:pPr>
            <a:r>
              <a:rPr sz="950" b="0" i="0">
                <a:solidFill>
                  <a:srgbClr val="1F2937"/>
                </a:solidFill>
                <a:latin typeface="Arial"/>
              </a:rPr>
              <a:t>[9] Deepa, L., Pinjari, A. R., Nirmale, S. K., Biswas, M., &amp; Srinivasan, K. K. (2023). The adverse impact of headway variability on bus transit ridership: Evidence from Bengaluru, India. Transport Policy, 141, 343-356.</a:t>
            </a:r>
            <a:endParaRPr sz="950"/>
          </a:p>
          <a:p>
            <a:pPr algn="l">
              <a:spcAft>
                <a:spcPts val="400"/>
              </a:spcAft>
            </a:pPr>
            <a:r>
              <a:rPr sz="950" b="0" i="0">
                <a:solidFill>
                  <a:srgbClr val="1F2937"/>
                </a:solidFill>
                <a:latin typeface="Arial"/>
              </a:rPr>
              <a:t>[10] Singh, N., &amp; Kumar, K. (2022). A review of bus arrival time prediction using artificial intelligence. WIREs Data Mining and Knowledge Discovery, 12(4), e1457.</a:t>
            </a:r>
            <a:endParaRPr sz="950"/>
          </a:p>
          <a:p>
            <a:pPr algn="l">
              <a:spcAft>
                <a:spcPts val="400"/>
              </a:spcAft>
            </a:pPr>
            <a:r>
              <a:rPr sz="950" b="0" i="0">
                <a:solidFill>
                  <a:srgbClr val="1F2937"/>
                </a:solidFill>
                <a:latin typeface="Arial"/>
              </a:rPr>
              <a:t>[11] Ji, Z., Lee, N., Frieske, R., Yu, T., Su, D., Xu, Y., Ishii, E., Bang, Y. J., Madotto, A., &amp; Fung, P. (2023). Survey of hallucination in natural language generation. ACM Computing Surveys, 55(12), 1-38.</a:t>
            </a:r>
            <a:endParaRPr sz="950"/>
          </a:p>
          <a:p>
            <a:pPr algn="l">
              <a:spcAft>
                <a:spcPts val="400"/>
              </a:spcAft>
            </a:pPr>
            <a:r>
              <a:rPr sz="950" b="0" i="0">
                <a:solidFill>
                  <a:srgbClr val="1F2937"/>
                </a:solidFill>
                <a:latin typeface="Arial"/>
              </a:rPr>
              <a:t>[12] Halder, T., &amp; Jayadev, A. (2025). Gender, welfare, and mobility: Impact of Shakti scheme on BMTC transport transformation [Report]. Azim Premji University.</a:t>
            </a:r>
            <a:endParaRPr sz="950"/>
          </a:p>
          <a:p>
            <a:pPr algn="l">
              <a:spcAft>
                <a:spcPts val="400"/>
              </a:spcAft>
            </a:pPr>
            <a:r>
              <a:rPr sz="950" b="0" i="0">
                <a:solidFill>
                  <a:srgbClr val="1F2937"/>
                </a:solidFill>
                <a:latin typeface="Arial"/>
              </a:rPr>
              <a:t>[13] United Nations. (n.d.). The 17 Sustainable Development Goals. https://sdgs.un.org/goals</a:t>
            </a:r>
            <a:endParaRPr sz="950"/>
          </a:p>
          <a:p>
            <a:pPr algn="l">
              <a:spcAft>
                <a:spcPts val="400"/>
              </a:spcAft>
            </a:pPr>
            <a:r>
              <a:rPr sz="950" b="0" i="0">
                <a:solidFill>
                  <a:srgbClr val="1F2937"/>
                </a:solidFill>
                <a:latin typeface="Arial"/>
              </a:rPr>
              <a:t>[14] Namma BMTC 2.0 [Mobile app]. (2026). Google Play. https://play.google.com/store/apps/details?id=com.bmtc.bmtcavls.two</a:t>
            </a:r>
            <a:endParaRPr sz="950"/>
          </a:p>
          <a:p>
            <a:pPr algn="l">
              <a:spcAft>
                <a:spcPts val="400"/>
              </a:spcAft>
            </a:pPr>
            <a:r>
              <a:rPr sz="950" b="0" i="0">
                <a:solidFill>
                  <a:srgbClr val="1F2937"/>
                </a:solidFill>
                <a:latin typeface="Arial"/>
              </a:rPr>
              <a:t>[15] Asianet Newsable. (2026). Bengaluru: BMTC launches Namma BMTC 2.0 app, one NCMC card for bus and Metro. https://newsable.asianetnews.com/karnataka-news/bengaluru-bmtc-launches-namma-bmtc-2-0-app-one-ncmc-card-for-bus-and-metro-articleshow-3gc1xnb</a:t>
            </a:r>
            <a:endParaRPr sz="950"/>
          </a:p>
          <a:p>
            <a:pPr algn="l">
              <a:spcAft>
                <a:spcPts val="400"/>
              </a:spcAft>
            </a:pPr>
            <a:r>
              <a:rPr sz="950" b="0" i="0">
                <a:solidFill>
                  <a:srgbClr val="1F2937"/>
                </a:solidFill>
                <a:latin typeface="Arial"/>
              </a:rPr>
              <a:t>[16] Moovit. (n.d.). BMTC, Bengaluru: Bus schedules, routes &amp; updates. https://moovitapp.com/index/en/public_transit-lines-Bengaluru-3620-3781867</a:t>
            </a:r>
            <a:endParaRPr sz="950"/>
          </a:p>
          <a:p>
            <a:pPr algn="l">
              <a:spcAft>
                <a:spcPts val="400"/>
              </a:spcAft>
            </a:pPr>
            <a:r>
              <a:rPr sz="950" b="0" i="0">
                <a:solidFill>
                  <a:srgbClr val="1F2937"/>
                </a:solidFill>
                <a:latin typeface="Arial"/>
              </a:rPr>
              <a:t>[17] Chalo. (n.d.). Cities and products. https://chalo.com/cities</a:t>
            </a:r>
            <a:endParaRPr sz="950"/>
          </a:p>
          <a:p>
            <a:pPr algn="l">
              <a:spcAft>
                <a:spcPts val="400"/>
              </a:spcAft>
            </a:pPr>
            <a:r>
              <a:rPr sz="950" b="0" i="0">
                <a:solidFill>
                  <a:srgbClr val="1F2937"/>
                </a:solidFill>
                <a:latin typeface="Arial"/>
              </a:rPr>
              <a:t>[18] Mobility Database. (n.d.). Bangalore Metropolitan Transport Corporation (BMTC) GTFS Schedule feed (mdb-2595). https://mobilitydatabase.org/feeds/gtfs/mdb-2595</a:t>
            </a:r>
            <a:endParaRPr sz="950"/>
          </a:p>
          <a:p>
            <a:pPr algn="l">
              <a:spcAft>
                <a:spcPts val="400"/>
              </a:spcAft>
            </a:pPr>
            <a:r>
              <a:rPr sz="950" b="0" i="0">
                <a:solidFill>
                  <a:srgbClr val="1F2937"/>
                </a:solidFill>
                <a:latin typeface="Arial"/>
              </a:rPr>
              <a:t>[19] Sustainable Bus. (2025, September 8). One in five buses in Bangalore, India, now electric as BMTC fleet surpasses 7,000 units. https://www.sustainable-bus.com/news/bangalore-buses-one-fifth-fleet-7000/</a:t>
            </a:r>
            <a:endParaRPr sz="950"/>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