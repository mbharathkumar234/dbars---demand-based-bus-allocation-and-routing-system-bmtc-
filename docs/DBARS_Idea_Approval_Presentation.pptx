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1.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tableStyles1.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1.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69" r:id="rId20"/>
  </p:sldIdLst>
  <p:sldSz cy="6858000" cx="9906000"/>
  <p:notesSz cx="6761150" cy="9942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120">
          <p15:clr>
            <a:srgbClr val="A4A3A4"/>
          </p15:clr>
        </p15:guide>
      </p15:sldGuideLst>
    </p:ext>
    <p:ext uri="{2D200454-40CA-4A62-9FC3-DE9A4176ACB9}">
      <p15:notesGuideLst>
        <p15:guide id="1" orient="horz" pos="3132">
          <p15:clr>
            <a:srgbClr val="A4A3A4"/>
          </p15:clr>
        </p15:guide>
        <p15:guide id="2" pos="2130">
          <p15:clr>
            <a:srgbClr val="A4A3A4"/>
          </p15:clr>
        </p15:guide>
      </p15:notes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9B3D1C26-BEBA-40EB-B880-04AE644533D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tcBdr/>
        <a:fill>
          <a:solidFill>
            <a:srgbClr val="CFD7E7"/>
          </a:solidFill>
        </a:fill>
      </a:tcStyle>
    </a:band1H>
    <a:band2H>
      <a:tcTxStyle b="off" i="off"/>
      <a:tcStyle>
        <a:tcBdr/>
      </a:tcStyle>
    </a:band2H>
    <a:band1V>
      <a:tcTxStyle b="off" i="off"/>
      <a:tcStyle>
        <a:tcBdr/>
        <a:fill>
          <a:solidFill>
            <a:srgbClr val="CFD7E7"/>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tcStyle>
        <a:tcBdr/>
      </a:tcStyle>
    </a:neCell>
    <a:nwCell>
      <a:tcTxStyle b="off" i="off"/>
      <a:tcStyle>
        <a:tcBdr/>
      </a:tcStyle>
    </a:nwCell>
  </a:tblStyle>
  <a:tblStyle styleId="{9F6D2E3C-A018-442B-BF50-C8C78C53ADB0}"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120"/>
      </p:guideLst>
    </p:cSldViewPr>
  </p:slideViewPr>
  <p:notesViewPr>
    <p:cSldViewPr snapToGrid="0">
      <p:cViewPr varScale="1">
        <p:scale>
          <a:sx n="100" d="100"/>
          <a:sy n="100" d="100"/>
        </p:scale>
        <p:origin x="0" y="0"/>
      </p:cViewPr>
      <p:guideLst>
        <p:guide pos="3132" orient="horz"/>
        <p:guide pos="213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tableStyles" Target="tableStyles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7126"/>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7126"/>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7126"/>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712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5:notes"/>
          <p:cNvSpPr txBox="1">
            <a:spLocks noGrp="1"/>
          </p:cNvSpPr>
          <p:nvPr>
            <p:ph type="body" idx="1"/>
          </p:nvPr>
        </p:nvSpPr>
        <p:spPr>
          <a:xfrm>
            <a:off x="676117" y="4722694"/>
            <a:ext cx="5408930" cy="4474131"/>
          </a:xfrm>
          <a:prstGeom prst="rect">
            <a:avLst/>
          </a:prstGeom>
          <a:noFill/>
          <a:ln>
            <a:noFill/>
          </a:ln>
        </p:spPr>
        <p:txBody>
          <a:bodyPr spcFirstLastPara="1" wrap="square" lIns="91425" tIns="45700" rIns="91425" bIns="45700" anchor="t" anchorCtr="0">
            <a:noAutofit/>
          </a:bodyPr>
          <a:lstStyle/>
          <a:p>
            <a:r>
              <a:t>CLOSE (15 seconds). Thank the panel and invite questions. Likely questions and honest answers:</a:t>
            </a:r>
          </a:p>
          <a:p>
            <a:r>
              <a:t>1) Where is the AI? The routing engine has none: classical retrieval and graph search. The planned assistant is read-only and cites sources.</a:t>
            </a:r>
          </a:p>
          <a:p>
            <a:r>
              <a:t>2) What is new versus Namma BMTC 2.0, Moovit or Google Maps? They serve riders; DBARS adds the operator side (demand to dispatch, fleet and crew, waybills, reimbursement) and open data, and complements them.</a:t>
            </a:r>
          </a:p>
          <a:p>
            <a:r>
              <a:t>3) How will accuracy be judged? Acceptance targets on slide 15, with a metric that can fail.</a:t>
            </a:r>
          </a:p>
          <a:p>
            <a:r>
              <a:t>4) Will BMTC give data? The pilot asks for one depot's rosters and a vehicle feed; without them the plan still runs on the published timetable.</a:t>
            </a:r>
          </a:p>
          <a:p>
            <a:r>
              <a:t>5) How much have you done already? Answer truthfully. This deck is deliberately about the idea and the plan; do not claim that nothing exists if you have working code, and do not present it as a finished result either.</a:t>
            </a:r>
          </a:p>
        </p:txBody>
      </p:sp>
      <p:sp>
        <p:nvSpPr>
          <p:cNvPr id="162" name="Google Shape;162;p15:notes"/>
          <p:cNvSpPr>
            <a:spLocks noGrp="1" noRot="1" noChangeAspect="1"/>
          </p:cNvSpPr>
          <p:nvPr>
            <p:ph type="sldImg" idx="2"/>
          </p:nvPr>
        </p:nvSpPr>
        <p:spPr>
          <a:xfrm>
            <a:off x="688975" y="746125"/>
            <a:ext cx="5383213"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OPENING (30 seconds). Good morning. We are proposing DBARS, the Demand Based Bus Allocation and Routing System, for BMTC. The idea in one line: one published timetable, three products. A journey planner for commuters, a fleet and crew planner for depot managers, and an open data feed for the wider ecosystem. We will show why the idea is worth a final-year project, how we will do it in 16 weeks, and what makes it different from the apps that already exist.</a:t>
            </a:r>
          </a:p>
          <a:p/>
          <a:p>
            <a:r>
              <a:t>Before presenting: fill in student names, registration numbers, batch number and guide details (highlighted in yellow), then remove the highlight.</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ROADMAP (20 seconds). We follow the standard pre-project format: introduction, literature survey and gaps, problem statement, objectives, methodology. We then add four slides that matter for approval: the planned features, a fair comparison with existing services, why DBARS is unique, and the value for BMTC. The plan closes with the Gantt chart, the risks and how we will manage them, and the conclusion.</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INTRODUCTION (1 minute). Domain: urban public transport, BMTC in Bengaluru, a fleet of over 7,000 buses (Sustainable Bus, September 2025). Why it matters: buses are the mass-mobility service. General issue: commuter apps such as Namma BMTC 2.0, Moovit and Google-type planners already cover trip planning, tracking and tickets, so we are NOT proposing to rebuild them. The unaddressed side is the operator's: fleet, crew and demand. Why now: Shakti (June 2023) changed ridership; an Azim Premji University report analysed 28.9 million trips over 27 months.</a:t>
            </a:r>
          </a:p>
          <a:p/>
          <a:p>
            <a:r>
              <a:t>The dataset numbers (6,737 route-directions, 3,940 bus numbers, 4,883 stops) describe the BMTC timetable we will work from; '44 depots' is the depot list we plan against. They are inputs, not results.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LITERATURE SURVEY, part 1 (1 minute). Twelve sources, eleven peer-reviewed journal articles and one university report, all 2020 to 2025. Say: 'We surveyed three themes: journey planning and GTFS, vehicle and crew scheduling, and Bengaluru-specific demand and policy.'</a:t>
            </a:r>
          </a:p>
          <a:p/>
          <a:p>
            <a:r>
              <a:t>Key contrast: [1] ULTRA optimises the passenger side only. [4], [5] and [6] optimise the operator side, but on small instances (six lines, up to 30 trips, up to 595 shifts) and separately from any commuter tool. DBARS proposes to compute both from one dataset.</a:t>
            </a:r>
          </a:p>
          <a:p/>
          <a:p>
            <a:r>
              <a:t>If asked why not exact methods: [5] reports exact MILP results on instances of up to 30 trips, while a city timetable has thousands of trips, so we plan greedy chaining plus a hard lower bound (peak concurrent trips) to show how close to minimal the result is.</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LITERATURE SURVEY, part 2 (1 minute). Papers [8] and [9] are Bengaluru-specific and use BMTC data: ridership responds to frequency (with diminishing returns) and irregular headways reduce boardings. [12] documents the Shakti surge. [10] and [11] explain two planned design choices: honest ETA when live data is missing, and an assistant that only answers from retrieved evidence.</a:t>
            </a:r>
          </a:p>
          <a:p/>
          <a:p>
            <a:r>
              <a:t>Note for panel: [12] is an institutional report, not a journal article; the other eleven are peer-reviewed journal papers published between 2020 and 2025.</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RESEARCH GAPS (1 minute). A research gap is what existing work has not addressed, and it is the bridge to our project. G1: the two sides are studied separately. G2: scheduling papers use small instances; we aim at the whole network. G3: GTFS studies stop at static schedules; we plan a feed with alerts and honest labels for estimated values. G4: demand studies are offline; nobody feeds commuter demand into depot decisions.</a:t>
            </a:r>
          </a:p>
          <a:p/>
          <a:p>
            <a:r>
              <a:t>Caution: these are gaps in the twelve papers we surveyed, not a claim about all literature. If challenged, say 'in the surveyed work'. Also be aware that a static BMTC GTFS schedule feed is already listed on the Mobility Database [18]; we do not claim otherwise, we plan to extend it.</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PROBLEM STATEMENT (45 seconds). Read the statement, then point to the three tiles: the commuter's question, the operator's question and the ecosystem's question. Then explain the title: 'Demand Based Bus Allocation' is the planned voting loop from commuters to depot recommendations, and 'Routing System' is the journey planner.</a:t>
            </a:r>
          </a:p>
          <a:p/>
          <a:p>
            <a:r>
              <a:t>For the ecosystem tile: a static BMTC GTFS schedule feed is listed on the Mobility Database (feed mdb-2595). Say 'static schedule', and that we add alerts and honest labelling. Do not say that no feed exists.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OBJECTIVES (1 minute). Four objectives, each starting with an infinitive verb and each with a target the panel can check at the end of the project.</a:t>
            </a:r>
          </a:p>
          <a:p/>
          <a:p>
            <a:r>
              <a:t>1) Develop: the journey planner. We will build a test set of stop pairs and measure how often the best bus is ranked first and how fast results come back.</a:t>
            </a:r>
          </a:p>
          <a:p>
            <a:r>
              <a:t>2) Establish: the operations planner. A lower bound lets us say how close to minimal the fleet number is.</a:t>
            </a:r>
          </a:p>
          <a:p>
            <a:r>
              <a:t>3) Analyse: the demand loop plus money handling, including the full fare value of free Shakti rides.</a:t>
            </a:r>
          </a:p>
          <a:p>
            <a:r>
              <a:t>4) Publish and evaluate: open timetable data and an honest evaluation, where the headline metric is one that can fail.</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METHODOLOGY (2 minutes). Read as objective, how, why.</a:t>
            </a:r>
          </a:p>
          <a:p/>
          <a:p>
            <a:r>
              <a:t>1) Journey search: routes are indexed in stop order, so the system can quickly tell which buses go from A to B in the right direction. Transfers are limited to short walks because Bengaluru reuses stop names in different areas.</a:t>
            </a:r>
          </a:p>
          <a:p>
            <a:r>
              <a:t>2) Operations: trips are chained into bus schedules; the number of trips running at the same moment gives a hard floor on the fleet, so we can show how close to minimal our number is. Crew duties are then cut from those schedules under legal limits.</a:t>
            </a:r>
          </a:p>
          <a:p>
            <a:r>
              <a:t>3) Demand and money: votes are checked for abuse before they reach a depot manager; free Shakti rides keep their full fare value for reimbursement; offline sales sync without double-counting.</a:t>
            </a:r>
          </a:p>
          <a:p>
            <a:r>
              <a:t>4) Open data: GTFS is the global standard for timetables; estimated times and positions are always labelled.</a:t>
            </a:r>
          </a:p>
          <a:p/>
          <a:p>
            <a:r>
              <a:t>Why not machine learning? The routing is classical search and ranking, compared against simple baselines. Say this clearly: a professor will ask 'where is the AI?'</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PROPOSED ARCHITECTURE (1 minute 30 seconds). Four roles use one app. Requests pass through an application layer that handles logins and security, then a business-rules layer for votes, tickets, waybills and alerts. Underneath are the core engines (journey search, fleet and crew planning, open-data export, tracking) and the data.</a:t>
            </a:r>
          </a:p>
          <a:p/>
          <a:p>
            <a:r>
              <a:t>Key design decision: the core engines work straight from the timetable data, so even if the part of the system that stores tickets and accounts is down, people can still find their bus. This is a deliberate resilience choice for a public service.</a:t>
            </a:r>
          </a:p>
          <a:p/>
          <a:p>
            <a:r>
              <a:t>The assistant is additive and read-only: it answers from approved sources, cites them, and cannot change operational data. Do not call the project 'AI-powered'; the routing is classical search.</a:t>
            </a:r>
          </a:p>
          <a:p/>
          <a:p>
            <a:r>
              <a:t>If asked about technology: we will use standard open-source web technologies and fix the exact choices after the requirements phase (weeks 1 to 3).</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PLANNED FEATURES (1 minute 30 seconds). Walk the four columns left to right; every item is a feature we plan to build.</a:t>
            </a:r>
          </a:p>
          <a:p/>
          <a:p>
            <a:r>
              <a:t>Commuter: journey search with transfers, fares, maps and Metro links, four languages and SMS for feature phones, votes for routes, QR tickets. Conductor: works without signal, never counts revenue twice, shows any cash shortfall instead of hiding it, and records free Shakti trips at full fare value. Depot manager and HQ: the operator-side tools that consumer apps do not describe: minimum fleet, crew duties, what-if scenarios, ranked demand, reimbursement reports, audit log. Open data and admin: open timetable data and alerts; vehicle positions only ever called live when they are.</a:t>
            </a:r>
          </a:p>
          <a:p/>
          <a:p>
            <a:r>
              <a:t>Four design rules cut across everything: label data honestly, work offline, keep AI read-only, use open standards.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EXISTING SERVICES VS DBARS (1 minute 30 seconds). Be generous to the competition; the panel will trust us more.</a:t>
            </a:r>
          </a:p>
          <a:p/>
          <a:p>
            <a:r>
              <a:t>What exists: Namma BMTC 2.0 (launched September 2026) offers digital bus and Metro tickets, an NCMC card, passes, live tracking with ETA, a bus-plus-Metro journey planner and Kannada and English [14, 15]. Moovit lists BMTC schedules, routes, real-time arrivals and trip planning [16]. Chalo offers live tracking, mobile tickets and passes, but its cities page does not list Bengaluru [17]. A static BMTC GTFS schedule feed is listed on the Mobility Database [18].</a:t>
            </a:r>
          </a:p>
          <a:p/>
          <a:p>
            <a:r>
              <a:t>So journey planning, tracking and ticketing are NOT our differentiators; we say we will match them. The rows that matter are 4 to 6: demand to dispatch, fleet and crew planning, and the conductor and cash path. These are operator back-office functions that the consumer apps' public descriptions do not mention.</a:t>
            </a:r>
          </a:p>
          <a:p/>
          <a:p>
            <a:r>
              <a:t>Caution: the wording is 'not described', never 'does not have'. If a panel member says Namma BMTC 2.0 already does something on the slide, agree and move to the rows they do not cover. Note: sources conflict on who developed Namma BMTC 2.0, so do not attribute it to a company.</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WHY UNIQUE (1 minute 30 seconds). This is the slide that answers 'why continue with this idea?'</a:t>
            </a:r>
          </a:p>
          <a:p/>
          <a:p>
            <a:r>
              <a:t>Five reasons, in order of strength. 1) The closed loop from demand to dispatch: none of the public descriptions of the existing apps mention it, and it is the reason for the project's name. 2) One dataset for both sides. 3) The money path: Shakti reimbursement needs the full fare value of free rides; offline conductor sales must never be counted twice; cash variance must be visible, not hidden. 4) Honest labels: we never present simulated positions as live. 5) Open and inclusive.</a:t>
            </a:r>
          </a:p>
          <a:p/>
          <a:p>
            <a:r>
              <a:t>Positioning matters when pitching to BMTC: we complement Namma BMTC 2.0 rather than replace it. For the academic panel, the uniqueness is also the research contribution: operator-side scheduling and rider-side search from one dataset, which the surveyed literature treats separately (gap G1).</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SDGs (45 seconds). Primary goal is SDG 11, target 11.2 on affordable, accessible and sustainable transport. Supporting goals: SDG 9 (reliable, resilient infrastructure), SDG 5 (target 5.b, enabling technology for women's empowerment, via Shakti-aware ticketing) and SDG 16 (target 16.6, accountable and transparent institutions, via the audit log and honest data labelling).</a:t>
            </a:r>
          </a:p>
          <a:p/>
          <a:p>
            <a:r>
              <a:t>Be modest on SDG 5: the project will support the free-travel entitlement digitally; it does not verify eligibility (self-declared in the current plan; identity verification is a later extension).</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EXPECTED OUTCOMES (1 minute). Four categories as the template requires: functional, performance, practical impact and extension.</a:t>
            </a:r>
          </a:p>
          <a:p/>
          <a:p>
            <a:r>
              <a:t>Performance targets: we will define a test set of origin-destination pairs and check how often the best valid bus is ranked first, how quickly results come back, and how often the system returns at least one valid route. We will not headline the 'always returns something' number, because it is easy to satisfy; the ranking target is the one that can genuinely fail.</a:t>
            </a:r>
          </a:p>
          <a:p/>
          <a:p>
            <a:r>
              <a:t>The crew-to-bus ratio will be compared with typical figures for real bus operators as a sanity check on the crew plan.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VALUE FOR BMTC (1 minute 30 seconds). This is the pitch slide. Open with the contrast: consumer apps answer the rider's question; nobody, in the public descriptions we reviewed, answers the operator's question from the same data.</a:t>
            </a:r>
          </a:p>
          <a:p/>
          <a:p>
            <a:r>
              <a:t>Three audiences: commuters, depot managers and HQ, and the ecosystem. Stress the trust features: cash variance is reported and never silently corrected; simulated vehicle positions are never published as real.</a:t>
            </a:r>
          </a:p>
          <a:p/>
          <a:p>
            <a:r>
              <a:t>The pilot is a PROPOSAL. Ask BMTC for three things: one depot's actual rosters for comparison, access to a vehicle-location feed, and a few routes for a conductor pilot.</a:t>
            </a:r>
          </a:p>
          <a:p/>
          <a:p>
            <a:r>
              <a:t>Do not quote rupee savings: we have no measured savings figure, and inventing one would not survive a question.</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GANTT CHART (30 seconds). Sixteen weeks in six phases: data and survey; journey planner; operations planner (fleet and crew); platform services (logins, votes, tickets, waybills); open data and interface; evaluation, assistant and release.</a:t>
            </a:r>
          </a:p>
          <a:p/>
          <a:p>
            <a:r>
              <a:t>Review points at weeks 4, 8, 12 and 16 let the guide and panel check progress. The order puts the core (journey search and fleet planning) first and the extras (assistant, extra languages) last; if time runs short, the extras slip and the core does not.</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RISKS AND MITIGATION (1 minute). Naming risks up front shows the panel we have thought about delivery.</a:t>
            </a:r>
          </a:p>
          <a:p/>
          <a:p>
            <a:r>
              <a:t>Biggest risk: no live vehicle feed. The project does not depend on one: the design lets BMTC's feed plug in later, and until then positions are labelled as estimates. Second: fleet and crew numbers are modelled under stated assumptions, so the pilot compares them with real rosters. The rest are engineering risks with concrete mitigations. The scope risk is handled by the phased plan: core first, extras last.</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CONCLUSION (45 seconds). Answer the template's four questions: what problem, why relevant, what outcome, why feasible. Feasibility rests on four things: the data inputs are available, the methods are established in the literature, the technology choices are standard, and the plan is phased with the core first.</a:t>
            </a:r>
          </a:p>
          <a:p/>
          <a:p>
            <a:r>
              <a:t>Close on the ask: 'We request approval to proceed with DBARS as our final-year project.' Then the one-line idea: both sides of the same question, from one dataset.</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REFERENCES. Twelve literature sources plus web sources. [1]-[11] are peer-reviewed journal articles (2020 to 2025) and [12] is a university report. [13]-[19] are web sources used for the SDG wording and for the comparison with existing services, accessed September 2026: app-store and news descriptions, Moovit's BMTC page, Chalo's cities page, the Mobility Database listing of a static BMTC GTFS feed, and the fleet-size report.</a:t>
            </a:r>
          </a:p>
          <a:p/>
          <a:p>
            <a:r>
              <a:t>The project data itself (BMTC published timetable, stop coordinates, fare table, Namma Metro network) is the project's input data and is not a literature reference.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17"/>
          <p:cNvSpPr txBox="1">
            <a:spLocks noGrp="1"/>
          </p:cNvSpPr>
          <p:nvPr>
            <p:ph type="ctrTitle"/>
          </p:nvPr>
        </p:nvSpPr>
        <p:spPr>
          <a:xfrm>
            <a:off x="742950" y="2130426"/>
            <a:ext cx="8420100" cy="1470025"/>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7"/>
          <p:cNvSpPr txBox="1">
            <a:spLocks noGrp="1"/>
          </p:cNvSpPr>
          <p:nvPr>
            <p:ph type="subTitle" idx="1"/>
          </p:nvPr>
        </p:nvSpPr>
        <p:spPr>
          <a:xfrm>
            <a:off x="1485900" y="3886200"/>
            <a:ext cx="6934200" cy="1752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R="0" lvl="1"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9" name="Google Shape;19;p17"/>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7"/>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17"/>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18"/>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 name="Google Shape;24;p18"/>
          <p:cNvSpPr txBox="1">
            <a:spLocks noGrp="1"/>
          </p:cNvSpPr>
          <p:nvPr>
            <p:ph type="body" idx="1"/>
          </p:nvPr>
        </p:nvSpPr>
        <p:spPr>
          <a:xfrm>
            <a:off x="495300" y="1600201"/>
            <a:ext cx="8915400" cy="452596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5" name="Google Shape;25;p18"/>
          <p:cNvSpPr txBox="1">
            <a:spLocks noGrp="1"/>
          </p:cNvSpPr>
          <p:nvPr>
            <p:ph type="dt" idx="10"/>
          </p:nvPr>
        </p:nvSpPr>
        <p:spPr>
          <a:xfrm>
            <a:off x="519336" y="6308727"/>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18"/>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18"/>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28" name="Google Shape;28;p18"/>
          <p:cNvSpPr/>
          <p:nvPr/>
        </p:nvSpPr>
        <p:spPr>
          <a:xfrm>
            <a:off x="200472" y="6721476"/>
            <a:ext cx="294828" cy="91900"/>
          </a:xfrm>
          <a:prstGeom prst="rect">
            <a:avLst/>
          </a:prstGeom>
          <a:solidFill>
            <a:srgbClr val="FF0000"/>
          </a:solid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29" name="Google Shape;29;p18"/>
          <p:cNvPicPr preferRelativeResize="0"/>
          <p:nvPr/>
        </p:nvPicPr>
        <p:blipFill rotWithShape="1">
          <a:blip r:embed="rId2">
            <a:alphaModFix/>
          </a:blip>
          <a:srcRect/>
          <a:stretch/>
        </p:blipFill>
        <p:spPr>
          <a:xfrm>
            <a:off x="272480" y="6705906"/>
            <a:ext cx="2416616" cy="15209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9"/>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19"/>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19"/>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19"/>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20"/>
          <p:cNvSpPr txBox="1">
            <a:spLocks noGrp="1"/>
          </p:cNvSpPr>
          <p:nvPr>
            <p:ph type="title"/>
          </p:nvPr>
        </p:nvSpPr>
        <p:spPr>
          <a:xfrm>
            <a:off x="782506" y="4406901"/>
            <a:ext cx="84201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7" name="Google Shape;37;p20"/>
          <p:cNvSpPr txBox="1">
            <a:spLocks noGrp="1"/>
          </p:cNvSpPr>
          <p:nvPr>
            <p:ph type="body" idx="1"/>
          </p:nvPr>
        </p:nvSpPr>
        <p:spPr>
          <a:xfrm>
            <a:off x="782506" y="2906713"/>
            <a:ext cx="8420100" cy="1500187"/>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8" name="Google Shape;38;p20"/>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0"/>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20"/>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1"/>
        <p:cNvGrpSpPr/>
        <p:nvPr/>
      </p:nvGrpSpPr>
      <p:grpSpPr>
        <a:xfrm>
          <a:off x="0" y="0"/>
          <a:ext cx="0" cy="0"/>
          <a:chOff x="0" y="0"/>
          <a:chExt cx="0" cy="0"/>
        </a:xfrm>
      </p:grpSpPr>
      <p:sp>
        <p:nvSpPr>
          <p:cNvPr id="42" name="Google Shape;42;p21"/>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 name="Google Shape;43;p21"/>
          <p:cNvSpPr txBox="1">
            <a:spLocks noGrp="1"/>
          </p:cNvSpPr>
          <p:nvPr>
            <p:ph type="body" idx="1"/>
          </p:nvPr>
        </p:nvSpPr>
        <p:spPr>
          <a:xfrm>
            <a:off x="495300" y="1600201"/>
            <a:ext cx="437515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21"/>
          <p:cNvSpPr txBox="1">
            <a:spLocks noGrp="1"/>
          </p:cNvSpPr>
          <p:nvPr>
            <p:ph type="body" idx="2"/>
          </p:nvPr>
        </p:nvSpPr>
        <p:spPr>
          <a:xfrm>
            <a:off x="5035550" y="1600201"/>
            <a:ext cx="4375150" cy="452596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21"/>
          <p:cNvSpPr txBox="1">
            <a:spLocks noGrp="1"/>
          </p:cNvSpPr>
          <p:nvPr>
            <p:ph type="dt" idx="10"/>
          </p:nvPr>
        </p:nvSpPr>
        <p:spPr>
          <a:xfrm>
            <a:off x="1280592" y="6356351"/>
            <a:ext cx="26575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21"/>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1"/>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8"/>
        <p:cNvGrpSpPr/>
        <p:nvPr/>
      </p:nvGrpSpPr>
      <p:grpSpPr>
        <a:xfrm>
          <a:off x="0" y="0"/>
          <a:ext cx="0" cy="0"/>
          <a:chOff x="0" y="0"/>
          <a:chExt cx="0" cy="0"/>
        </a:xfrm>
      </p:grpSpPr>
      <p:sp>
        <p:nvSpPr>
          <p:cNvPr id="49" name="Google Shape;49;p22"/>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22"/>
          <p:cNvSpPr txBox="1">
            <a:spLocks noGrp="1"/>
          </p:cNvSpPr>
          <p:nvPr>
            <p:ph type="body" idx="1"/>
          </p:nvPr>
        </p:nvSpPr>
        <p:spPr>
          <a:xfrm>
            <a:off x="495300" y="1535113"/>
            <a:ext cx="4376870"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22"/>
          <p:cNvSpPr txBox="1">
            <a:spLocks noGrp="1"/>
          </p:cNvSpPr>
          <p:nvPr>
            <p:ph type="body" idx="2"/>
          </p:nvPr>
        </p:nvSpPr>
        <p:spPr>
          <a:xfrm>
            <a:off x="495300" y="2174875"/>
            <a:ext cx="4376870"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2" name="Google Shape;52;p22"/>
          <p:cNvSpPr txBox="1">
            <a:spLocks noGrp="1"/>
          </p:cNvSpPr>
          <p:nvPr>
            <p:ph type="body" idx="3"/>
          </p:nvPr>
        </p:nvSpPr>
        <p:spPr>
          <a:xfrm>
            <a:off x="5032111" y="1535113"/>
            <a:ext cx="4378590"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3" name="Google Shape;53;p22"/>
          <p:cNvSpPr txBox="1">
            <a:spLocks noGrp="1"/>
          </p:cNvSpPr>
          <p:nvPr>
            <p:ph type="body" idx="4"/>
          </p:nvPr>
        </p:nvSpPr>
        <p:spPr>
          <a:xfrm>
            <a:off x="5032111" y="2174875"/>
            <a:ext cx="4378590" cy="395128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4" name="Google Shape;54;p22"/>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2"/>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22"/>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7"/>
        <p:cNvGrpSpPr/>
        <p:nvPr/>
      </p:nvGrpSpPr>
      <p:grpSpPr>
        <a:xfrm>
          <a:off x="0" y="0"/>
          <a:ext cx="0" cy="0"/>
          <a:chOff x="0" y="0"/>
          <a:chExt cx="0" cy="0"/>
        </a:xfrm>
      </p:grpSpPr>
      <p:sp>
        <p:nvSpPr>
          <p:cNvPr id="58" name="Google Shape;58;p23"/>
          <p:cNvSpPr/>
          <p:nvPr/>
        </p:nvSpPr>
        <p:spPr>
          <a:xfrm>
            <a:off x="0" y="0"/>
            <a:ext cx="9906000" cy="152400"/>
          </a:xfrm>
          <a:prstGeom prst="rect">
            <a:avLst/>
          </a:prstGeom>
          <a:solidFill>
            <a:srgbClr val="0099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 name="Google Shape;59;p23"/>
          <p:cNvSpPr/>
          <p:nvPr/>
        </p:nvSpPr>
        <p:spPr>
          <a:xfrm>
            <a:off x="0" y="6705600"/>
            <a:ext cx="9906000" cy="152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 name="Google Shape;60;p23"/>
          <p:cNvSpPr txBox="1"/>
          <p:nvPr/>
        </p:nvSpPr>
        <p:spPr>
          <a:xfrm>
            <a:off x="0" y="6654842"/>
            <a:ext cx="2747868"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lt1"/>
                </a:solidFill>
                <a:latin typeface="Calibri"/>
                <a:ea typeface="Calibri"/>
                <a:cs typeface="Calibri"/>
                <a:sym typeface="Calibri"/>
              </a:rPr>
              <a:t>©M. S. Ramaiah University of Applied Sciences</a:t>
            </a:r>
            <a:endParaRPr sz="1050" b="0" i="0" u="none" strike="noStrike" cap="none">
              <a:solidFill>
                <a:schemeClr val="lt1"/>
              </a:solidFill>
              <a:latin typeface="Calibri"/>
              <a:ea typeface="Calibri"/>
              <a:cs typeface="Calibri"/>
              <a:sym typeface="Calibri"/>
            </a:endParaRPr>
          </a:p>
        </p:txBody>
      </p:sp>
      <p:sp>
        <p:nvSpPr>
          <p:cNvPr id="61" name="Google Shape;61;p23"/>
          <p:cNvSpPr/>
          <p:nvPr/>
        </p:nvSpPr>
        <p:spPr>
          <a:xfrm>
            <a:off x="9525000" y="6324600"/>
            <a:ext cx="381000" cy="533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 name="Google Shape;62;p23"/>
          <p:cNvSpPr/>
          <p:nvPr/>
        </p:nvSpPr>
        <p:spPr>
          <a:xfrm>
            <a:off x="9505750" y="6324600"/>
            <a:ext cx="4571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lt1"/>
                </a:solidFill>
                <a:latin typeface="Calibri"/>
                <a:ea typeface="Calibri"/>
                <a:cs typeface="Calibri"/>
                <a:sym typeface="Calibri"/>
              </a:rPr>
              <a:pPr marL="0" marR="0" lvl="0" indent="0" algn="l" rtl="0">
                <a:lnSpc>
                  <a:spcPct val="100000"/>
                </a:lnSpc>
                <a:spcBef>
                  <a:spcPts val="0"/>
                </a:spcBef>
                <a:spcAft>
                  <a:spcPts val="0"/>
                </a:spcAft>
                <a:buClr>
                  <a:srgbClr val="000000"/>
                </a:buClr>
                <a:buSzPts val="1800"/>
                <a:buFont typeface="Arial"/>
                <a:buNone/>
              </a:pPr>
              <a:t>‹#›</a:t>
            </a:fld>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Google Shape;64;p24"/>
          <p:cNvSpPr txBox="1">
            <a:spLocks noGrp="1"/>
          </p:cNvSpPr>
          <p:nvPr>
            <p:ph type="title"/>
          </p:nvPr>
        </p:nvSpPr>
        <p:spPr>
          <a:xfrm>
            <a:off x="495300" y="273050"/>
            <a:ext cx="3259006"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4"/>
          <p:cNvSpPr txBox="1">
            <a:spLocks noGrp="1"/>
          </p:cNvSpPr>
          <p:nvPr>
            <p:ph type="body" idx="1"/>
          </p:nvPr>
        </p:nvSpPr>
        <p:spPr>
          <a:xfrm>
            <a:off x="3872971" y="273051"/>
            <a:ext cx="5537729" cy="5853113"/>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4"/>
          <p:cNvSpPr txBox="1">
            <a:spLocks noGrp="1"/>
          </p:cNvSpPr>
          <p:nvPr>
            <p:ph type="body" idx="2"/>
          </p:nvPr>
        </p:nvSpPr>
        <p:spPr>
          <a:xfrm>
            <a:off x="495300" y="1435101"/>
            <a:ext cx="3259006"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7" name="Google Shape;67;p24"/>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4"/>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24"/>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Google Shape;71;p25"/>
          <p:cNvSpPr txBox="1">
            <a:spLocks noGrp="1"/>
          </p:cNvSpPr>
          <p:nvPr>
            <p:ph type="title"/>
          </p:nvPr>
        </p:nvSpPr>
        <p:spPr>
          <a:xfrm>
            <a:off x="1941645" y="4800600"/>
            <a:ext cx="59436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2" name="Google Shape;72;p25"/>
          <p:cNvSpPr>
            <a:spLocks noGrp="1"/>
          </p:cNvSpPr>
          <p:nvPr>
            <p:ph type="pic" idx="2"/>
          </p:nvPr>
        </p:nvSpPr>
        <p:spPr>
          <a:xfrm>
            <a:off x="1941645" y="612775"/>
            <a:ext cx="5943600" cy="4114800"/>
          </a:xfrm>
          <a:prstGeom prst="rect">
            <a:avLst/>
          </a:prstGeom>
          <a:noFill/>
          <a:ln>
            <a:noFill/>
          </a:ln>
        </p:spPr>
      </p:sp>
      <p:sp>
        <p:nvSpPr>
          <p:cNvPr id="73" name="Google Shape;73;p25"/>
          <p:cNvSpPr txBox="1">
            <a:spLocks noGrp="1"/>
          </p:cNvSpPr>
          <p:nvPr>
            <p:ph type="body" idx="1"/>
          </p:nvPr>
        </p:nvSpPr>
        <p:spPr>
          <a:xfrm>
            <a:off x="1941645" y="5367338"/>
            <a:ext cx="59436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4" name="Google Shape;74;p25"/>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25"/>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25"/>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26"/>
          <p:cNvSpPr txBox="1">
            <a:spLocks noGrp="1"/>
          </p:cNvSpPr>
          <p:nvPr>
            <p:ph type="title"/>
          </p:nvPr>
        </p:nvSpPr>
        <p:spPr>
          <a:xfrm>
            <a:off x="495300" y="274638"/>
            <a:ext cx="89154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9" name="Google Shape;79;p26"/>
          <p:cNvSpPr txBox="1">
            <a:spLocks noGrp="1"/>
          </p:cNvSpPr>
          <p:nvPr>
            <p:ph type="body" idx="1"/>
          </p:nvPr>
        </p:nvSpPr>
        <p:spPr>
          <a:xfrm rot="5400000">
            <a:off x="2690018" y="-594518"/>
            <a:ext cx="4525963" cy="89154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0" name="Google Shape;80;p26"/>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26"/>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26"/>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3"/>
        <p:cNvGrpSpPr/>
        <p:nvPr/>
      </p:nvGrpSpPr>
      <p:grpSpPr>
        <a:xfrm>
          <a:off x="0" y="0"/>
          <a:ext cx="0" cy="0"/>
          <a:chOff x="0" y="0"/>
          <a:chExt cx="0" cy="0"/>
        </a:xfrm>
      </p:grpSpPr>
      <p:sp>
        <p:nvSpPr>
          <p:cNvPr id="84" name="Google Shape;84;p27"/>
          <p:cNvSpPr txBox="1">
            <a:spLocks noGrp="1"/>
          </p:cNvSpPr>
          <p:nvPr>
            <p:ph type="title"/>
          </p:nvPr>
        </p:nvSpPr>
        <p:spPr>
          <a:xfrm rot="5400000">
            <a:off x="5370512" y="2085976"/>
            <a:ext cx="5851525" cy="222885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5" name="Google Shape;85;p27"/>
          <p:cNvSpPr txBox="1">
            <a:spLocks noGrp="1"/>
          </p:cNvSpPr>
          <p:nvPr>
            <p:ph type="body" idx="1"/>
          </p:nvPr>
        </p:nvSpPr>
        <p:spPr>
          <a:xfrm rot="5400000">
            <a:off x="830262" y="-60323"/>
            <a:ext cx="5851525" cy="652145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6" name="Google Shape;86;p27"/>
          <p:cNvSpPr txBox="1">
            <a:spLocks noGrp="1"/>
          </p:cNvSpPr>
          <p:nvPr>
            <p:ph type="dt" idx="10"/>
          </p:nvPr>
        </p:nvSpPr>
        <p:spPr>
          <a:xfrm>
            <a:off x="495300" y="6356351"/>
            <a:ext cx="23114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7" name="Google Shape;87;p27"/>
          <p:cNvSpPr txBox="1">
            <a:spLocks noGrp="1"/>
          </p:cNvSpPr>
          <p:nvPr>
            <p:ph type="ftr" idx="11"/>
          </p:nvPr>
        </p:nvSpPr>
        <p:spPr>
          <a:xfrm>
            <a:off x="3384550" y="6356351"/>
            <a:ext cx="31369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27"/>
          <p:cNvSpPr txBox="1">
            <a:spLocks noGrp="1"/>
          </p:cNvSpPr>
          <p:nvPr>
            <p:ph type="sldNum" idx="12"/>
          </p:nvPr>
        </p:nvSpPr>
        <p:spPr>
          <a:xfrm>
            <a:off x="7099300" y="6356351"/>
            <a:ext cx="2311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p:nvPr/>
        </p:nvSpPr>
        <p:spPr>
          <a:xfrm>
            <a:off x="0" y="0"/>
            <a:ext cx="9906000" cy="152400"/>
          </a:xfrm>
          <a:prstGeom prst="rect">
            <a:avLst/>
          </a:prstGeom>
          <a:solidFill>
            <a:srgbClr val="0099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11;p16"/>
          <p:cNvSpPr/>
          <p:nvPr/>
        </p:nvSpPr>
        <p:spPr>
          <a:xfrm>
            <a:off x="0" y="6705600"/>
            <a:ext cx="9906000" cy="152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 name="Google Shape;12;p16"/>
          <p:cNvSpPr txBox="1"/>
          <p:nvPr/>
        </p:nvSpPr>
        <p:spPr>
          <a:xfrm>
            <a:off x="6633" y="6654842"/>
            <a:ext cx="2747868" cy="253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chemeClr val="lt1"/>
                </a:solidFill>
                <a:latin typeface="Calibri"/>
                <a:ea typeface="Calibri"/>
                <a:cs typeface="Calibri"/>
                <a:sym typeface="Calibri"/>
              </a:rPr>
              <a:t>©M. S. Ramaiah University of Applied Sciences</a:t>
            </a:r>
            <a:endParaRPr sz="1050" b="0" i="0" u="none" strike="noStrike" cap="none">
              <a:solidFill>
                <a:schemeClr val="lt1"/>
              </a:solidFill>
              <a:latin typeface="Calibri"/>
              <a:ea typeface="Calibri"/>
              <a:cs typeface="Calibri"/>
              <a:sym typeface="Calibri"/>
            </a:endParaRPr>
          </a:p>
        </p:txBody>
      </p:sp>
      <p:sp>
        <p:nvSpPr>
          <p:cNvPr id="13" name="Google Shape;13;p16"/>
          <p:cNvSpPr/>
          <p:nvPr/>
        </p:nvSpPr>
        <p:spPr>
          <a:xfrm>
            <a:off x="9525000" y="6324600"/>
            <a:ext cx="381000" cy="5334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6"/>
          <p:cNvSpPr/>
          <p:nvPr/>
        </p:nvSpPr>
        <p:spPr>
          <a:xfrm>
            <a:off x="9505750" y="6324600"/>
            <a:ext cx="4571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lt1"/>
                </a:solidFill>
                <a:latin typeface="Calibri"/>
                <a:ea typeface="Calibri"/>
                <a:cs typeface="Calibri"/>
                <a:sym typeface="Calibri"/>
              </a:rPr>
              <a:pPr marL="0" marR="0" lvl="0" indent="0" algn="l" rtl="0">
                <a:lnSpc>
                  <a:spcPct val="100000"/>
                </a:lnSpc>
                <a:spcBef>
                  <a:spcPts val="0"/>
                </a:spcBef>
                <a:spcAft>
                  <a:spcPts val="0"/>
                </a:spcAft>
                <a:buClr>
                  <a:srgbClr val="000000"/>
                </a:buClr>
                <a:buSzPts val="1800"/>
                <a:buFont typeface="Arial"/>
                <a:buNone/>
              </a:pPr>
              <a:t>‹#›</a:t>
            </a:fld>
            <a:endParaRPr sz="1800" b="0" i="0" u="none" strike="noStrike" cap="none">
              <a:solidFill>
                <a:schemeClr val="lt1"/>
              </a:solidFill>
              <a:latin typeface="Calibri"/>
              <a:ea typeface="Calibri"/>
              <a:cs typeface="Calibri"/>
              <a:sym typeface="Calibri"/>
            </a:endParaRPr>
          </a:p>
        </p:txBody>
      </p:sp>
      <p:pic>
        <p:nvPicPr>
          <p:cNvPr id="15" name="Google Shape;15;p16" descr="C:\Users\Paramesh\Desktop\Logo\Logo.png"/>
          <p:cNvPicPr preferRelativeResize="0"/>
          <p:nvPr/>
        </p:nvPicPr>
        <p:blipFill rotWithShape="1">
          <a:blip r:embed="rId13">
            <a:alphaModFix/>
          </a:blip>
          <a:srcRect/>
          <a:stretch/>
        </p:blipFill>
        <p:spPr>
          <a:xfrm>
            <a:off x="128464" y="6337321"/>
            <a:ext cx="262890" cy="3429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noGrp="1"/>
          </p:cNvSpPr>
          <p:nvPr>
            <p:ph type="subTitle" idx="1"/>
          </p:nvPr>
        </p:nvSpPr>
        <p:spPr>
          <a:xfrm>
            <a:off x="409816" y="4491395"/>
            <a:ext cx="4509589" cy="198930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chemeClr val="tx1"/>
                </a:solidFill>
                <a:effectLst/>
                <a:uLnTx/>
                <a:uFillTx/>
                <a:latin typeface="Bookman Old Style" pitchFamily="18" charset="0"/>
                <a:ea typeface="+mn-ea"/>
                <a:cs typeface="+mn-cs"/>
              </a:rPr>
              <a:t>Team Details</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schemeClr val="tx1"/>
                </a:solidFill>
                <a:effectLst/>
                <a:highlight>
                  <a:srgbClr val="FFFF00"/>
                </a:highlight>
                <a:uLnTx/>
                <a:uFillTx/>
                <a:latin typeface="Book Antiqua" pitchFamily="18" charset="0"/>
                <a:ea typeface="+mn-ea"/>
                <a:cs typeface="+mn-cs"/>
              </a:rPr>
              <a:t>Student Name1: Reg. No.</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schemeClr val="tx1"/>
                </a:solidFill>
                <a:effectLst/>
                <a:highlight>
                  <a:srgbClr val="FFFF00"/>
                </a:highlight>
                <a:uLnTx/>
                <a:uFillTx/>
                <a:latin typeface="Book Antiqua" pitchFamily="18" charset="0"/>
                <a:ea typeface="+mn-ea"/>
                <a:cs typeface="+mn-cs"/>
              </a:rPr>
              <a:t>Student Name2: Reg. No.</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r>
              <a:rPr kumimoji="0" lang="en-US" sz="1800" b="1" i="0" u="none" strike="noStrike" kern="1200" cap="none" spc="0" normalizeH="0" baseline="0" noProof="0" dirty="0">
                <a:ln>
                  <a:noFill/>
                </a:ln>
                <a:solidFill>
                  <a:schemeClr val="tx1"/>
                </a:solidFill>
                <a:effectLst/>
                <a:highlight>
                  <a:srgbClr val="FFFF00"/>
                </a:highlight>
                <a:uLnTx/>
                <a:uFillTx/>
                <a:latin typeface="Book Antiqua" pitchFamily="18" charset="0"/>
                <a:ea typeface="+mn-ea"/>
                <a:cs typeface="+mn-cs"/>
              </a:rPr>
              <a:t>Student Name3: Reg. No.</a:t>
            </a:r>
          </a:p>
          <a:p>
            <a:pPr lvl="0" algn="l">
              <a:spcBef>
                <a:spcPts val="600"/>
              </a:spcBef>
              <a:buClrTx/>
              <a:buSzTx/>
              <a:defRPr/>
            </a:pPr>
            <a:r>
              <a:rPr lang="en-US" sz="1800" b="1" dirty="0">
                <a:solidFill>
                  <a:schemeClr val="tx1"/>
                </a:solidFill>
                <a:highlight>
                  <a:srgbClr val="FFFF00"/>
                </a:highlight>
                <a:latin typeface="Book Antiqua" pitchFamily="18" charset="0"/>
              </a:rPr>
              <a:t>Student Name4: Reg. No.</a:t>
            </a:r>
          </a:p>
          <a:p>
            <a:pPr marL="0" marR="0" lvl="0" indent="0" algn="l" defTabSz="914400" rtl="0" eaLnBrk="1" fontAlgn="auto" latinLnBrk="0" hangingPunct="1">
              <a:lnSpc>
                <a:spcPct val="100000"/>
              </a:lnSpc>
              <a:spcBef>
                <a:spcPts val="600"/>
              </a:spcBef>
              <a:spcAft>
                <a:spcPts val="0"/>
              </a:spcAft>
              <a:buClrTx/>
              <a:buSzTx/>
              <a:buFont typeface="Arial" pitchFamily="34" charset="0"/>
              <a:buNone/>
              <a:tabLst/>
              <a:defRPr/>
            </a:pPr>
            <a:endParaRPr kumimoji="0" lang="en-US" sz="1800" b="1" i="0" u="none" strike="noStrike" kern="1200" cap="none" spc="0" normalizeH="0" baseline="0" noProof="0" dirty="0">
              <a:ln>
                <a:noFill/>
              </a:ln>
              <a:solidFill>
                <a:schemeClr val="tx1"/>
              </a:solidFill>
              <a:effectLst/>
              <a:uLnTx/>
              <a:uFillTx/>
              <a:latin typeface="Book Antiqua"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2000" b="1" i="0" u="none" strike="noStrike" kern="1200" cap="none" spc="0" normalizeH="0" baseline="0" noProof="0" dirty="0">
              <a:ln>
                <a:noFill/>
              </a:ln>
              <a:solidFill>
                <a:schemeClr val="tx1"/>
              </a:solidFill>
              <a:effectLst/>
              <a:uLnTx/>
              <a:uFillTx/>
              <a:latin typeface="Bookman Old Style"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US" sz="2000" b="1" i="0" u="none" strike="noStrike" kern="1200" cap="none" spc="0" normalizeH="0" baseline="0" noProof="0" dirty="0">
              <a:ln>
                <a:noFill/>
              </a:ln>
              <a:solidFill>
                <a:schemeClr val="tx1"/>
              </a:solidFill>
              <a:effectLst/>
              <a:uLnTx/>
              <a:uFillTx/>
              <a:latin typeface="Bookman Old Style" pitchFamily="18" charset="0"/>
              <a:ea typeface="+mn-ea"/>
              <a:cs typeface="+mn-cs"/>
            </a:endParaRPr>
          </a:p>
        </p:txBody>
      </p:sp>
      <p:sp>
        <p:nvSpPr>
          <p:cNvPr id="5" name="Title 4"/>
          <p:cNvSpPr txBox="1">
            <a:spLocks noGrp="1"/>
          </p:cNvSpPr>
          <p:nvPr>
            <p:ph type="ctrTitle"/>
          </p:nvPr>
        </p:nvSpPr>
        <p:spPr>
          <a:xfrm>
            <a:off x="914400" y="1742502"/>
            <a:ext cx="8403771" cy="830956"/>
          </a:xfrm>
          <a:prstGeom prst="rect">
            <a:avLst/>
          </a:prstGeom>
          <a:noFill/>
        </p:spPr>
        <p:txBody>
          <a:bodyPr wrap="square" rtlCol="0">
            <a:spAutoFit/>
          </a:bodyPr>
          <a:lstStyle/>
          <a:p>
            <a:pPr algn="ctr"/>
            <a:r>
              <a:rPr lang="en-US" sz="2400" b="1" dirty="0">
                <a:solidFill>
                  <a:schemeClr val="tx1"/>
                </a:solidFill>
              </a:rPr>
              <a:t>Faculty of Engineering and Technology</a:t>
            </a:r>
          </a:p>
          <a:p>
            <a:pPr algn="ctr"/>
            <a:r>
              <a:rPr lang="en-US" sz="2400" b="1" dirty="0">
                <a:solidFill>
                  <a:schemeClr val="tx1"/>
                </a:solidFill>
              </a:rPr>
              <a:t>Department of Computer Science and Engineering</a:t>
            </a:r>
          </a:p>
        </p:txBody>
      </p:sp>
      <p:sp>
        <p:nvSpPr>
          <p:cNvPr id="6" name="Text Box 9"/>
          <p:cNvSpPr txBox="1">
            <a:spLocks noChangeArrowheads="1"/>
          </p:cNvSpPr>
          <p:nvPr/>
        </p:nvSpPr>
        <p:spPr bwMode="auto">
          <a:xfrm>
            <a:off x="4919404" y="4491395"/>
            <a:ext cx="4610394" cy="1815882"/>
          </a:xfrm>
          <a:prstGeom prst="rect">
            <a:avLst/>
          </a:prstGeom>
          <a:noFill/>
          <a:ln w="9525">
            <a:noFill/>
            <a:miter lim="800000"/>
            <a:headEnd/>
            <a:tailEnd/>
          </a:ln>
        </p:spPr>
        <p:txBody>
          <a:bodyPr wrap="square">
            <a:spAutoFit/>
          </a:bodyPr>
          <a:lstStyle/>
          <a:p>
            <a:pPr>
              <a:spcBef>
                <a:spcPct val="20000"/>
              </a:spcBef>
              <a:buClrTx/>
            </a:pPr>
            <a:r>
              <a:rPr lang="en-US" sz="2000" b="1" kern="1200" dirty="0">
                <a:solidFill>
                  <a:schemeClr val="tx1"/>
                </a:solidFill>
                <a:latin typeface="Bookman Old Style" pitchFamily="18" charset="0"/>
                <a:ea typeface="+mn-ea"/>
                <a:cs typeface="+mn-cs"/>
              </a:rPr>
              <a:t>Guide</a:t>
            </a:r>
          </a:p>
          <a:p>
            <a:pPr>
              <a:spcBef>
                <a:spcPts val="600"/>
              </a:spcBef>
              <a:buClrTx/>
              <a:buFontTx/>
              <a:buNone/>
            </a:pPr>
            <a:r>
              <a:rPr lang="en-US" sz="2000" b="1" kern="1200" dirty="0">
                <a:solidFill>
                  <a:schemeClr val="tx1"/>
                </a:solidFill>
                <a:highlight>
                  <a:srgbClr val="FFFF00"/>
                </a:highlight>
                <a:latin typeface="Bookman Old Style" pitchFamily="18" charset="0"/>
                <a:ea typeface="+mn-ea"/>
                <a:cs typeface="+mn-cs"/>
              </a:rPr>
              <a:t>Dr./Mr./Ms. Faculty Name</a:t>
            </a:r>
          </a:p>
          <a:p>
            <a:pPr>
              <a:spcBef>
                <a:spcPts val="600"/>
              </a:spcBef>
              <a:buClrTx/>
              <a:buFontTx/>
              <a:buNone/>
            </a:pPr>
            <a:r>
              <a:rPr lang="en-US" sz="1600" kern="1200" dirty="0">
                <a:solidFill>
                  <a:schemeClr val="tx1"/>
                </a:solidFill>
                <a:highlight>
                  <a:srgbClr val="FFFF00"/>
                </a:highlight>
                <a:latin typeface="Bookman Old Style" pitchFamily="18" charset="0"/>
                <a:ea typeface="+mn-ea"/>
                <a:cs typeface="+mn-cs"/>
              </a:rPr>
              <a:t>Professor/Assoc. Professor/Asst. Professor</a:t>
            </a:r>
          </a:p>
          <a:p>
            <a:pPr>
              <a:spcBef>
                <a:spcPts val="600"/>
              </a:spcBef>
              <a:buClrTx/>
              <a:buFontTx/>
              <a:buNone/>
            </a:pPr>
            <a:r>
              <a:rPr lang="en-US" sz="1600" kern="1200" dirty="0">
                <a:solidFill>
                  <a:schemeClr val="tx1"/>
                </a:solidFill>
                <a:latin typeface="Bookman Old Style" pitchFamily="18" charset="0"/>
                <a:ea typeface="+mn-ea"/>
                <a:cs typeface="+mn-cs"/>
              </a:rPr>
              <a:t>Dept. of CSE, MSRUAS, Bengaluru</a:t>
            </a:r>
          </a:p>
          <a:p>
            <a:pPr>
              <a:spcBef>
                <a:spcPts val="600"/>
              </a:spcBef>
              <a:buClrTx/>
              <a:buFontTx/>
              <a:buNone/>
            </a:pPr>
            <a:endParaRPr lang="en-US" sz="2000" kern="1200" dirty="0">
              <a:solidFill>
                <a:schemeClr val="tx1"/>
              </a:solidFill>
              <a:latin typeface="Bookman Old Style" pitchFamily="18" charset="0"/>
              <a:ea typeface="+mn-ea"/>
              <a:cs typeface="+mn-cs"/>
            </a:endParaRPr>
          </a:p>
        </p:txBody>
      </p:sp>
      <p:sp>
        <p:nvSpPr>
          <p:cNvPr id="7" name="Google Shape;93;p1"/>
          <p:cNvSpPr txBox="1">
            <a:spLocks/>
          </p:cNvSpPr>
          <p:nvPr/>
        </p:nvSpPr>
        <p:spPr>
          <a:xfrm>
            <a:off x="548640" y="2697480"/>
            <a:ext cx="8805672" cy="1600200"/>
          </a:xfrm>
          <a:prstGeom prst="rect">
            <a:avLst/>
          </a:prstGeom>
          <a:noFill/>
          <a:ln>
            <a:noFill/>
          </a:ln>
        </p:spPr>
        <p:txBody>
          <a:bodyPr spcFirstLastPara="1" vert="horz" wrap="square" lIns="91425" tIns="45700" rIns="91425" bIns="45700" rtlCol="0" anchor="ctr" anchorCtr="0">
            <a:noAutofit/>
          </a:bodyPr>
          <a:lstStyle>
            <a:lvl1pPr algn="ctr" defTabSz="742950" rtl="0" eaLnBrk="1" latinLnBrk="0" hangingPunct="1">
              <a:lnSpc>
                <a:spcPct val="90000"/>
              </a:lnSpc>
              <a:spcBef>
                <a:spcPct val="0"/>
              </a:spcBef>
              <a:buNone/>
              <a:defRPr sz="3900" kern="1200">
                <a:solidFill>
                  <a:schemeClr val="tx1"/>
                </a:solidFill>
                <a:latin typeface="+mj-lt"/>
                <a:ea typeface="+mj-ea"/>
                <a:cs typeface="+mj-cs"/>
              </a:defRPr>
            </a:lvl1pPr>
          </a:lstStyle>
          <a:p>
            <a:pPr>
              <a:lnSpc>
                <a:spcPct val="100000"/>
              </a:lnSpc>
              <a:spcBef>
                <a:spcPts val="600"/>
              </a:spcBef>
              <a:buClr>
                <a:srgbClr val="FF0000"/>
              </a:buClr>
              <a:buSzPts val="3200"/>
              <a:buFontTx/>
            </a:pPr>
            <a:r>
              <a:rPr lang="en-US" sz="2400" b="1" dirty="0"/>
              <a:t>Pre-Project Presentation</a:t>
            </a:r>
            <a:br>
              <a:rPr lang="en-US" sz="2400" b="1" dirty="0"/>
            </a:br>
            <a:r>
              <a:rPr lang="en-US" sz="2200" b="1" dirty="0">
                <a:solidFill>
                  <a:srgbClr val="FF0000"/>
                </a:solidFill>
              </a:rPr>
              <a:t>DBARS: Demand Based Bus Allocation &amp; Routing System</a:t>
            </a:r>
          </a:p>
          <a:p>
            <a:pPr>
              <a:lnSpc>
                <a:spcPct val="100000"/>
              </a:lnSpc>
              <a:spcBef>
                <a:spcPts val="600"/>
              </a:spcBef>
              <a:buClr>
                <a:srgbClr val="FF0000"/>
              </a:buClr>
              <a:buSzPts val="3200"/>
              <a:buFontTx/>
            </a:pPr>
            <a:r>
              <a:rPr lang="en-US" sz="1400" b="0" dirty="0" i="1">
                <a:solidFill>
                  <a:srgbClr val="4B5563"/>
                </a:solidFill>
              </a:rPr>
              <a:t>One BMTC timetable, three products: find the bus  |  plan the fleet  |  open the data</a:t>
            </a:r>
          </a:p>
          <a:p>
            <a:pPr>
              <a:lnSpc>
                <a:spcPct val="100000"/>
              </a:lnSpc>
              <a:spcBef>
                <a:spcPts val="600"/>
              </a:spcBef>
              <a:buClr>
                <a:srgbClr val="FF0000"/>
              </a:buClr>
              <a:buSzPts val="3200"/>
              <a:buFontTx/>
            </a:pPr>
            <a:r>
              <a:rPr lang="en-US" sz="1600" b="1" dirty="0">
                <a:solidFill>
                  <a:srgbClr val="FF0000"/>
                </a:solidFill>
                <a:highlight>
                  <a:srgbClr val="FFFF00"/>
                </a:highlight>
              </a:rPr>
              <a:t>Project Batch No.: &lt;&lt;to be filled&gt;&gt;</a:t>
            </a:r>
            <a:br>
              <a:rPr lang="en-US" sz="2400" b="1" dirty="0">
                <a:solidFill>
                  <a:srgbClr val="FF0000"/>
                </a:solidFill>
              </a:rPr>
            </a:br>
            <a:endParaRPr lang="en-US" sz="2400" b="1" dirty="0">
              <a:solidFill>
                <a:srgbClr val="FF0000"/>
              </a:solidFill>
            </a:endParaRPr>
          </a:p>
        </p:txBody>
      </p:sp>
      <p:pic>
        <p:nvPicPr>
          <p:cNvPr id="9" name="Picture 8">
            <a:extLst>
              <a:ext uri="{FF2B5EF4-FFF2-40B4-BE49-F238E27FC236}">
                <a16:creationId xmlns:a16="http://schemas.microsoft.com/office/drawing/2014/main" id="{ED9AE390-1EBF-06F6-7AA0-D50F7D61EA96}"/>
              </a:ext>
            </a:extLst>
          </p:cNvPr>
          <p:cNvPicPr>
            <a:picLocks noChangeAspect="1"/>
          </p:cNvPicPr>
          <p:nvPr/>
        </p:nvPicPr>
        <p:blipFill>
          <a:blip r:embed="rId2"/>
          <a:stretch>
            <a:fillRect/>
          </a:stretch>
        </p:blipFill>
        <p:spPr>
          <a:xfrm>
            <a:off x="3066380" y="406143"/>
            <a:ext cx="3310210" cy="1155033"/>
          </a:xfrm>
          <a:prstGeom prst="rect">
            <a:avLst/>
          </a:prstGeom>
        </p:spPr>
      </p:pic>
    </p:spTree>
    <p:extLst>
      <p:ext uri="{BB962C8B-B14F-4D97-AF65-F5344CB8AC3E}">
        <p14:creationId xmlns:p14="http://schemas.microsoft.com/office/powerpoint/2010/main" val="138772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5"/>
          <p:cNvSpPr txBox="1">
            <a:spLocks noGrp="1"/>
          </p:cNvSpPr>
          <p:nvPr>
            <p:ph type="ctrTitle"/>
          </p:nvPr>
        </p:nvSpPr>
        <p:spPr>
          <a:xfrm>
            <a:off x="742950" y="2103120"/>
            <a:ext cx="8420100" cy="118872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Clr>
                <a:schemeClr val="dk2"/>
              </a:buClr>
              <a:buSzPts val="4000"/>
              <a:buFont typeface="Calibri"/>
              <a:buNone/>
            </a:pPr>
            <a:r>
              <a:rPr lang="en-US" sz="4000" b="1">
                <a:solidFill>
                  <a:schemeClr val="dk2"/>
                </a:solidFill>
                <a:latin typeface="Calibri"/>
                <a:ea typeface="Calibri"/>
                <a:cs typeface="Calibri"/>
                <a:sym typeface="Calibri"/>
              </a:rPr>
              <a:t>Thank You</a:t>
            </a:r>
            <a:endParaRPr sz="4000" b="1">
              <a:solidFill>
                <a:schemeClr val="dk2"/>
              </a:solidFill>
              <a:latin typeface="Calibri"/>
              <a:ea typeface="Calibri"/>
              <a:cs typeface="Calibri"/>
              <a:sym typeface="Calibri"/>
            </a:endParaRPr>
          </a:p>
        </p:txBody>
      </p:sp>
      <p:pic>
        <p:nvPicPr>
          <p:cNvPr id="165" name="Google Shape;165;p15"/>
          <p:cNvPicPr preferRelativeResize="0"/>
          <p:nvPr/>
        </p:nvPicPr>
        <p:blipFill rotWithShape="1">
          <a:blip r:embed="rId3">
            <a:alphaModFix/>
          </a:blip>
          <a:srcRect/>
          <a:stretch/>
        </p:blipFill>
        <p:spPr>
          <a:xfrm>
            <a:off x="200472" y="6714622"/>
            <a:ext cx="2416616" cy="152094"/>
          </a:xfrm>
          <a:prstGeom prst="rect">
            <a:avLst/>
          </a:prstGeom>
          <a:noFill/>
          <a:ln>
            <a:noFill/>
          </a:ln>
        </p:spPr>
      </p:pic>
      <p:sp>
        <p:nvSpPr>
          <p:cNvPr id="166" name="TextBox 165"/>
          <p:cNvSpPr txBox="1"/>
          <p:nvPr/>
        </p:nvSpPr>
        <p:spPr>
          <a:xfrm>
            <a:off x="548640" y="3291840"/>
            <a:ext cx="8805672" cy="457200"/>
          </a:xfrm>
          <a:prstGeom prst="rect">
            <a:avLst/>
          </a:prstGeom>
          <a:noFill/>
        </p:spPr>
        <p:txBody>
          <a:bodyPr wrap="square" anchor="t" lIns="73152" rIns="73152"/>
          <a:lstStyle/>
          <a:p>
            <a:pPr algn="ctr"/>
            <a:r>
              <a:rPr sz="2200" b="1" i="0">
                <a:solidFill>
                  <a:srgbClr val="C00000"/>
                </a:solidFill>
                <a:latin typeface="Arial"/>
              </a:rPr>
              <a:t>Questions and Discussion</a:t>
            </a:r>
            <a:endParaRPr sz="2200"/>
          </a:p>
        </p:txBody>
      </p:sp>
      <p:sp>
        <p:nvSpPr>
          <p:cNvPr id="167" name="TextBox 166"/>
          <p:cNvSpPr txBox="1"/>
          <p:nvPr/>
        </p:nvSpPr>
        <p:spPr>
          <a:xfrm>
            <a:off x="548640" y="3931920"/>
            <a:ext cx="8805672" cy="457200"/>
          </a:xfrm>
          <a:prstGeom prst="rect">
            <a:avLst/>
          </a:prstGeom>
          <a:noFill/>
        </p:spPr>
        <p:txBody>
          <a:bodyPr wrap="square" anchor="t" lIns="73152" rIns="73152"/>
          <a:lstStyle/>
          <a:p>
            <a:pPr algn="ctr"/>
            <a:r>
              <a:rPr sz="1600" b="1" i="0">
                <a:solidFill>
                  <a:srgbClr val="1F2937"/>
                </a:solidFill>
                <a:latin typeface="Arial"/>
              </a:rPr>
              <a:t>DBARS: Demand Based Bus Allocation &amp; Routing System</a:t>
            </a:r>
            <a:endParaRPr sz="1600"/>
          </a:p>
        </p:txBody>
      </p:sp>
      <p:sp>
        <p:nvSpPr>
          <p:cNvPr id="168" name="TextBox 167"/>
          <p:cNvSpPr txBox="1"/>
          <p:nvPr/>
        </p:nvSpPr>
        <p:spPr>
          <a:xfrm>
            <a:off x="548640" y="4389120"/>
            <a:ext cx="8805672" cy="457200"/>
          </a:xfrm>
          <a:prstGeom prst="rect">
            <a:avLst/>
          </a:prstGeom>
          <a:noFill/>
        </p:spPr>
        <p:txBody>
          <a:bodyPr wrap="square" anchor="t" lIns="73152" rIns="73152"/>
          <a:lstStyle/>
          <a:p>
            <a:pPr algn="ctr"/>
            <a:r>
              <a:rPr sz="1400" b="0" i="1">
                <a:solidFill>
                  <a:srgbClr val="4B5563"/>
                </a:solidFill>
                <a:latin typeface="Arial"/>
              </a:rPr>
              <a:t>One timetable. Three products. Both sides of the same question.</a:t>
            </a:r>
            <a:endParaRPr sz="1400"/>
          </a:p>
        </p:txBody>
      </p:sp>
      <p:sp>
        <p:nvSpPr>
          <p:cNvPr id="169" name="Rounded Rectangle 168"/>
          <p:cNvSpPr/>
          <p:nvPr/>
        </p:nvSpPr>
        <p:spPr>
          <a:xfrm>
            <a:off x="1234440" y="5074920"/>
            <a:ext cx="2331720" cy="502920"/>
          </a:xfrm>
          <a:prstGeom prst="roundRect">
            <a:avLst>
              <a:gd name="adj" fmla="val 40000"/>
            </a:avLst>
          </a:prstGeom>
          <a:solidFill>
            <a:srgbClr val="C00000"/>
          </a:solidFill>
          <a:ln>
            <a:noFill/>
          </a:ln>
          <a:effectLst/>
        </p:spPr>
        <p:txBody>
          <a:bodyPr rtlCol="0" anchor="ctr" wrap="square" lIns="73152" rIns="73152"/>
          <a:lstStyle/>
          <a:p>
            <a:pPr algn="ctr"/>
            <a:r>
              <a:rPr sz="1400" b="1" i="0">
                <a:solidFill>
                  <a:srgbClr val="FFFFFF"/>
                </a:solidFill>
                <a:latin typeface="Arial"/>
              </a:rPr>
              <a:t>Find the bus</a:t>
            </a:r>
            <a:endParaRPr sz="1400"/>
          </a:p>
        </p:txBody>
      </p:sp>
      <p:sp>
        <p:nvSpPr>
          <p:cNvPr id="170" name="Rounded Rectangle 169"/>
          <p:cNvSpPr/>
          <p:nvPr/>
        </p:nvSpPr>
        <p:spPr>
          <a:xfrm>
            <a:off x="3749039" y="5074920"/>
            <a:ext cx="2331720" cy="502920"/>
          </a:xfrm>
          <a:prstGeom prst="roundRect">
            <a:avLst>
              <a:gd name="adj" fmla="val 40000"/>
            </a:avLst>
          </a:prstGeom>
          <a:solidFill>
            <a:srgbClr val="C00000"/>
          </a:solidFill>
          <a:ln>
            <a:noFill/>
          </a:ln>
          <a:effectLst/>
        </p:spPr>
        <p:txBody>
          <a:bodyPr rtlCol="0" anchor="ctr" wrap="square" lIns="73152" rIns="73152"/>
          <a:lstStyle/>
          <a:p>
            <a:pPr algn="ctr"/>
            <a:r>
              <a:rPr sz="1400" b="1" i="0">
                <a:solidFill>
                  <a:srgbClr val="FFFFFF"/>
                </a:solidFill>
                <a:latin typeface="Arial"/>
              </a:rPr>
              <a:t>Plan the fleet</a:t>
            </a:r>
            <a:endParaRPr sz="1400"/>
          </a:p>
        </p:txBody>
      </p:sp>
      <p:sp>
        <p:nvSpPr>
          <p:cNvPr id="171" name="Rounded Rectangle 170"/>
          <p:cNvSpPr/>
          <p:nvPr/>
        </p:nvSpPr>
        <p:spPr>
          <a:xfrm>
            <a:off x="6263640" y="5074920"/>
            <a:ext cx="2331720" cy="502920"/>
          </a:xfrm>
          <a:prstGeom prst="roundRect">
            <a:avLst>
              <a:gd name="adj" fmla="val 40000"/>
            </a:avLst>
          </a:prstGeom>
          <a:solidFill>
            <a:srgbClr val="C00000"/>
          </a:solidFill>
          <a:ln>
            <a:noFill/>
          </a:ln>
          <a:effectLst/>
        </p:spPr>
        <p:txBody>
          <a:bodyPr rtlCol="0" anchor="ctr" wrap="square" lIns="73152" rIns="73152"/>
          <a:lstStyle/>
          <a:p>
            <a:pPr algn="ctr"/>
            <a:r>
              <a:rPr sz="1400" b="1" i="0">
                <a:solidFill>
                  <a:srgbClr val="FFFFFF"/>
                </a:solidFill>
                <a:latin typeface="Arial"/>
              </a:rPr>
              <a:t>Open the data</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Outline</a:t>
            </a:r>
          </a:p>
        </p:txBody>
      </p:sp>
      <p:sp>
        <p:nvSpPr>
          <p:cNvPr id="3" name="Rounded Rectangle 2"/>
          <p:cNvSpPr/>
          <p:nvPr/>
        </p:nvSpPr>
        <p:spPr>
          <a:xfrm>
            <a:off x="548640" y="1051560"/>
            <a:ext cx="4343400" cy="512064"/>
          </a:xfrm>
          <a:prstGeom prst="roundRect">
            <a:avLst>
              <a:gd name="adj" fmla="val 12000"/>
            </a:avLst>
          </a:prstGeom>
          <a:solidFill>
            <a:srgbClr val="F3F4F6"/>
          </a:solidFill>
          <a:ln>
            <a:noFill/>
          </a:ln>
          <a:effectLst/>
        </p:spPr>
        <p:txBody>
          <a:bodyPr rtlCol="0" anchor="ctr"/>
          <a:lstStyle/>
          <a:p>
            <a:pPr algn="ctr"/>
          </a:p>
        </p:txBody>
      </p:sp>
      <p:sp>
        <p:nvSpPr>
          <p:cNvPr id="4" name="Oval 3"/>
          <p:cNvSpPr/>
          <p:nvPr/>
        </p:nvSpPr>
        <p:spPr>
          <a:xfrm>
            <a:off x="640080" y="111556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a:t>
            </a:r>
            <a:endParaRPr sz="1300"/>
          </a:p>
        </p:txBody>
      </p:sp>
      <p:sp>
        <p:nvSpPr>
          <p:cNvPr id="5" name="TextBox 4"/>
          <p:cNvSpPr txBox="1"/>
          <p:nvPr/>
        </p:nvSpPr>
        <p:spPr>
          <a:xfrm>
            <a:off x="1143000" y="1051560"/>
            <a:ext cx="3657600" cy="512064"/>
          </a:xfrm>
          <a:prstGeom prst="rect">
            <a:avLst/>
          </a:prstGeom>
          <a:noFill/>
        </p:spPr>
        <p:txBody>
          <a:bodyPr wrap="square" anchor="ctr" lIns="73152" rIns="73152"/>
          <a:lstStyle/>
          <a:p>
            <a:pPr algn="l"/>
            <a:r>
              <a:rPr sz="1400" b="1" i="0">
                <a:solidFill>
                  <a:srgbClr val="1F2937"/>
                </a:solidFill>
                <a:latin typeface="Arial"/>
              </a:rPr>
              <a:t>Introduction</a:t>
            </a:r>
            <a:endParaRPr sz="1400"/>
          </a:p>
        </p:txBody>
      </p:sp>
      <p:sp>
        <p:nvSpPr>
          <p:cNvPr id="6" name="Rounded Rectangle 5"/>
          <p:cNvSpPr/>
          <p:nvPr/>
        </p:nvSpPr>
        <p:spPr>
          <a:xfrm>
            <a:off x="548640" y="1691639"/>
            <a:ext cx="4343400" cy="512064"/>
          </a:xfrm>
          <a:prstGeom prst="roundRect">
            <a:avLst>
              <a:gd name="adj" fmla="val 12000"/>
            </a:avLst>
          </a:prstGeom>
          <a:solidFill>
            <a:srgbClr val="F3F4F6"/>
          </a:solidFill>
          <a:ln>
            <a:noFill/>
          </a:ln>
          <a:effectLst/>
        </p:spPr>
        <p:txBody>
          <a:bodyPr rtlCol="0" anchor="ctr"/>
          <a:lstStyle/>
          <a:p>
            <a:pPr algn="ctr"/>
          </a:p>
        </p:txBody>
      </p:sp>
      <p:sp>
        <p:nvSpPr>
          <p:cNvPr id="7" name="Oval 6"/>
          <p:cNvSpPr/>
          <p:nvPr/>
        </p:nvSpPr>
        <p:spPr>
          <a:xfrm>
            <a:off x="640080" y="175564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2</a:t>
            </a:r>
            <a:endParaRPr sz="1300"/>
          </a:p>
        </p:txBody>
      </p:sp>
      <p:sp>
        <p:nvSpPr>
          <p:cNvPr id="8" name="TextBox 7"/>
          <p:cNvSpPr txBox="1"/>
          <p:nvPr/>
        </p:nvSpPr>
        <p:spPr>
          <a:xfrm>
            <a:off x="1143000" y="1691639"/>
            <a:ext cx="3657600" cy="512064"/>
          </a:xfrm>
          <a:prstGeom prst="rect">
            <a:avLst/>
          </a:prstGeom>
          <a:noFill/>
        </p:spPr>
        <p:txBody>
          <a:bodyPr wrap="square" anchor="ctr" lIns="73152" rIns="73152"/>
          <a:lstStyle/>
          <a:p>
            <a:pPr algn="l"/>
            <a:r>
              <a:rPr sz="1400" b="1" i="0">
                <a:solidFill>
                  <a:srgbClr val="1F2937"/>
                </a:solidFill>
                <a:latin typeface="Arial"/>
              </a:rPr>
              <a:t>Literature Survey and Research Gaps</a:t>
            </a:r>
            <a:endParaRPr sz="1400"/>
          </a:p>
        </p:txBody>
      </p:sp>
      <p:sp>
        <p:nvSpPr>
          <p:cNvPr id="9" name="Rounded Rectangle 8"/>
          <p:cNvSpPr/>
          <p:nvPr/>
        </p:nvSpPr>
        <p:spPr>
          <a:xfrm>
            <a:off x="548640" y="2331720"/>
            <a:ext cx="4343400" cy="512064"/>
          </a:xfrm>
          <a:prstGeom prst="roundRect">
            <a:avLst>
              <a:gd name="adj" fmla="val 12000"/>
            </a:avLst>
          </a:prstGeom>
          <a:solidFill>
            <a:srgbClr val="F3F4F6"/>
          </a:solidFill>
          <a:ln>
            <a:noFill/>
          </a:ln>
          <a:effectLst/>
        </p:spPr>
        <p:txBody>
          <a:bodyPr rtlCol="0" anchor="ctr"/>
          <a:lstStyle/>
          <a:p>
            <a:pPr algn="ctr"/>
          </a:p>
        </p:txBody>
      </p:sp>
      <p:sp>
        <p:nvSpPr>
          <p:cNvPr id="10" name="Oval 9"/>
          <p:cNvSpPr/>
          <p:nvPr/>
        </p:nvSpPr>
        <p:spPr>
          <a:xfrm>
            <a:off x="640080" y="239572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3</a:t>
            </a:r>
            <a:endParaRPr sz="1300"/>
          </a:p>
        </p:txBody>
      </p:sp>
      <p:sp>
        <p:nvSpPr>
          <p:cNvPr id="11" name="TextBox 10"/>
          <p:cNvSpPr txBox="1"/>
          <p:nvPr/>
        </p:nvSpPr>
        <p:spPr>
          <a:xfrm>
            <a:off x="1143000" y="2331720"/>
            <a:ext cx="3657600" cy="512064"/>
          </a:xfrm>
          <a:prstGeom prst="rect">
            <a:avLst/>
          </a:prstGeom>
          <a:noFill/>
        </p:spPr>
        <p:txBody>
          <a:bodyPr wrap="square" anchor="ctr" lIns="73152" rIns="73152"/>
          <a:lstStyle/>
          <a:p>
            <a:pPr algn="l"/>
            <a:r>
              <a:rPr sz="1400" b="1" i="0">
                <a:solidFill>
                  <a:srgbClr val="1F2937"/>
                </a:solidFill>
                <a:latin typeface="Arial"/>
              </a:rPr>
              <a:t>Problem Statement</a:t>
            </a:r>
            <a:endParaRPr sz="1400"/>
          </a:p>
        </p:txBody>
      </p:sp>
      <p:sp>
        <p:nvSpPr>
          <p:cNvPr id="12" name="Rounded Rectangle 11"/>
          <p:cNvSpPr/>
          <p:nvPr/>
        </p:nvSpPr>
        <p:spPr>
          <a:xfrm>
            <a:off x="548640" y="2971799"/>
            <a:ext cx="4343400" cy="512064"/>
          </a:xfrm>
          <a:prstGeom prst="roundRect">
            <a:avLst>
              <a:gd name="adj" fmla="val 12000"/>
            </a:avLst>
          </a:prstGeom>
          <a:solidFill>
            <a:srgbClr val="F3F4F6"/>
          </a:solidFill>
          <a:ln>
            <a:noFill/>
          </a:ln>
          <a:effectLst/>
        </p:spPr>
        <p:txBody>
          <a:bodyPr rtlCol="0" anchor="ctr"/>
          <a:lstStyle/>
          <a:p>
            <a:pPr algn="ctr"/>
          </a:p>
        </p:txBody>
      </p:sp>
      <p:sp>
        <p:nvSpPr>
          <p:cNvPr id="13" name="Oval 12"/>
          <p:cNvSpPr/>
          <p:nvPr/>
        </p:nvSpPr>
        <p:spPr>
          <a:xfrm>
            <a:off x="640080" y="303580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4</a:t>
            </a:r>
            <a:endParaRPr sz="1300"/>
          </a:p>
        </p:txBody>
      </p:sp>
      <p:sp>
        <p:nvSpPr>
          <p:cNvPr id="14" name="TextBox 13"/>
          <p:cNvSpPr txBox="1"/>
          <p:nvPr/>
        </p:nvSpPr>
        <p:spPr>
          <a:xfrm>
            <a:off x="1143000" y="2971799"/>
            <a:ext cx="3657600" cy="512064"/>
          </a:xfrm>
          <a:prstGeom prst="rect">
            <a:avLst/>
          </a:prstGeom>
          <a:noFill/>
        </p:spPr>
        <p:txBody>
          <a:bodyPr wrap="square" anchor="ctr" lIns="73152" rIns="73152"/>
          <a:lstStyle/>
          <a:p>
            <a:pPr algn="l"/>
            <a:r>
              <a:rPr sz="1400" b="1" i="0">
                <a:solidFill>
                  <a:srgbClr val="1F2937"/>
                </a:solidFill>
                <a:latin typeface="Arial"/>
              </a:rPr>
              <a:t>Objectives</a:t>
            </a:r>
            <a:endParaRPr sz="1400"/>
          </a:p>
        </p:txBody>
      </p:sp>
      <p:sp>
        <p:nvSpPr>
          <p:cNvPr id="15" name="Rounded Rectangle 14"/>
          <p:cNvSpPr/>
          <p:nvPr/>
        </p:nvSpPr>
        <p:spPr>
          <a:xfrm>
            <a:off x="548640" y="3611879"/>
            <a:ext cx="4343400" cy="512064"/>
          </a:xfrm>
          <a:prstGeom prst="roundRect">
            <a:avLst>
              <a:gd name="adj" fmla="val 12000"/>
            </a:avLst>
          </a:prstGeom>
          <a:solidFill>
            <a:srgbClr val="F3F4F6"/>
          </a:solidFill>
          <a:ln>
            <a:noFill/>
          </a:ln>
          <a:effectLst/>
        </p:spPr>
        <p:txBody>
          <a:bodyPr rtlCol="0" anchor="ctr"/>
          <a:lstStyle/>
          <a:p>
            <a:pPr algn="ctr"/>
          </a:p>
        </p:txBody>
      </p:sp>
      <p:sp>
        <p:nvSpPr>
          <p:cNvPr id="16" name="Oval 15"/>
          <p:cNvSpPr/>
          <p:nvPr/>
        </p:nvSpPr>
        <p:spPr>
          <a:xfrm>
            <a:off x="640080" y="367588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5</a:t>
            </a:r>
            <a:endParaRPr sz="1300"/>
          </a:p>
        </p:txBody>
      </p:sp>
      <p:sp>
        <p:nvSpPr>
          <p:cNvPr id="17" name="TextBox 16"/>
          <p:cNvSpPr txBox="1"/>
          <p:nvPr/>
        </p:nvSpPr>
        <p:spPr>
          <a:xfrm>
            <a:off x="1143000" y="3611879"/>
            <a:ext cx="3657600" cy="512064"/>
          </a:xfrm>
          <a:prstGeom prst="rect">
            <a:avLst/>
          </a:prstGeom>
          <a:noFill/>
        </p:spPr>
        <p:txBody>
          <a:bodyPr wrap="square" anchor="ctr" lIns="73152" rIns="73152"/>
          <a:lstStyle/>
          <a:p>
            <a:pPr algn="l"/>
            <a:r>
              <a:rPr sz="1400" b="1" i="0">
                <a:solidFill>
                  <a:srgbClr val="1F2937"/>
                </a:solidFill>
                <a:latin typeface="Arial"/>
              </a:rPr>
              <a:t>Proposed Methodology</a:t>
            </a:r>
            <a:endParaRPr sz="1400"/>
          </a:p>
        </p:txBody>
      </p:sp>
      <p:sp>
        <p:nvSpPr>
          <p:cNvPr id="18" name="Rounded Rectangle 17"/>
          <p:cNvSpPr/>
          <p:nvPr/>
        </p:nvSpPr>
        <p:spPr>
          <a:xfrm>
            <a:off x="548640" y="4251960"/>
            <a:ext cx="4343400" cy="512064"/>
          </a:xfrm>
          <a:prstGeom prst="roundRect">
            <a:avLst>
              <a:gd name="adj" fmla="val 12000"/>
            </a:avLst>
          </a:prstGeom>
          <a:solidFill>
            <a:srgbClr val="F3F4F6"/>
          </a:solidFill>
          <a:ln>
            <a:noFill/>
          </a:ln>
          <a:effectLst/>
        </p:spPr>
        <p:txBody>
          <a:bodyPr rtlCol="0" anchor="ctr"/>
          <a:lstStyle/>
          <a:p>
            <a:pPr algn="ctr"/>
          </a:p>
        </p:txBody>
      </p:sp>
      <p:sp>
        <p:nvSpPr>
          <p:cNvPr id="19" name="Oval 18"/>
          <p:cNvSpPr/>
          <p:nvPr/>
        </p:nvSpPr>
        <p:spPr>
          <a:xfrm>
            <a:off x="640080" y="431596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6</a:t>
            </a:r>
            <a:endParaRPr sz="1300"/>
          </a:p>
        </p:txBody>
      </p:sp>
      <p:sp>
        <p:nvSpPr>
          <p:cNvPr id="20" name="TextBox 19"/>
          <p:cNvSpPr txBox="1"/>
          <p:nvPr/>
        </p:nvSpPr>
        <p:spPr>
          <a:xfrm>
            <a:off x="1143000" y="4251960"/>
            <a:ext cx="3657600" cy="512064"/>
          </a:xfrm>
          <a:prstGeom prst="rect">
            <a:avLst/>
          </a:prstGeom>
          <a:noFill/>
        </p:spPr>
        <p:txBody>
          <a:bodyPr wrap="square" anchor="ctr" lIns="73152" rIns="73152"/>
          <a:lstStyle/>
          <a:p>
            <a:pPr algn="l"/>
            <a:r>
              <a:rPr sz="1400" b="1" i="0">
                <a:solidFill>
                  <a:srgbClr val="1F2937"/>
                </a:solidFill>
                <a:latin typeface="Arial"/>
              </a:rPr>
              <a:t>Proposed System Architecture</a:t>
            </a:r>
            <a:endParaRPr sz="1400"/>
          </a:p>
        </p:txBody>
      </p:sp>
      <p:sp>
        <p:nvSpPr>
          <p:cNvPr id="21" name="Rounded Rectangle 20"/>
          <p:cNvSpPr/>
          <p:nvPr/>
        </p:nvSpPr>
        <p:spPr>
          <a:xfrm>
            <a:off x="548640" y="4892040"/>
            <a:ext cx="4343400" cy="512064"/>
          </a:xfrm>
          <a:prstGeom prst="roundRect">
            <a:avLst>
              <a:gd name="adj" fmla="val 12000"/>
            </a:avLst>
          </a:prstGeom>
          <a:solidFill>
            <a:srgbClr val="F3F4F6"/>
          </a:solidFill>
          <a:ln>
            <a:noFill/>
          </a:ln>
          <a:effectLst/>
        </p:spPr>
        <p:txBody>
          <a:bodyPr rtlCol="0" anchor="ctr"/>
          <a:lstStyle/>
          <a:p>
            <a:pPr algn="ctr"/>
          </a:p>
        </p:txBody>
      </p:sp>
      <p:sp>
        <p:nvSpPr>
          <p:cNvPr id="22" name="Oval 21"/>
          <p:cNvSpPr/>
          <p:nvPr/>
        </p:nvSpPr>
        <p:spPr>
          <a:xfrm>
            <a:off x="640080" y="495604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7</a:t>
            </a:r>
            <a:endParaRPr sz="1300"/>
          </a:p>
        </p:txBody>
      </p:sp>
      <p:sp>
        <p:nvSpPr>
          <p:cNvPr id="23" name="TextBox 22"/>
          <p:cNvSpPr txBox="1"/>
          <p:nvPr/>
        </p:nvSpPr>
        <p:spPr>
          <a:xfrm>
            <a:off x="1143000" y="4892040"/>
            <a:ext cx="3657600" cy="512064"/>
          </a:xfrm>
          <a:prstGeom prst="rect">
            <a:avLst/>
          </a:prstGeom>
          <a:noFill/>
        </p:spPr>
        <p:txBody>
          <a:bodyPr wrap="square" anchor="ctr" lIns="73152" rIns="73152"/>
          <a:lstStyle/>
          <a:p>
            <a:pPr algn="l"/>
            <a:r>
              <a:rPr sz="1400" b="1" i="0">
                <a:solidFill>
                  <a:srgbClr val="1F2937"/>
                </a:solidFill>
                <a:latin typeface="Arial"/>
              </a:rPr>
              <a:t>Planned Features by User</a:t>
            </a:r>
            <a:endParaRPr sz="1400"/>
          </a:p>
        </p:txBody>
      </p:sp>
      <p:sp>
        <p:nvSpPr>
          <p:cNvPr id="24" name="Rounded Rectangle 23"/>
          <p:cNvSpPr/>
          <p:nvPr/>
        </p:nvSpPr>
        <p:spPr>
          <a:xfrm>
            <a:off x="548640" y="5532119"/>
            <a:ext cx="4343400" cy="512064"/>
          </a:xfrm>
          <a:prstGeom prst="roundRect">
            <a:avLst>
              <a:gd name="adj" fmla="val 12000"/>
            </a:avLst>
          </a:prstGeom>
          <a:solidFill>
            <a:srgbClr val="F3F4F6"/>
          </a:solidFill>
          <a:ln>
            <a:noFill/>
          </a:ln>
          <a:effectLst/>
        </p:spPr>
        <p:txBody>
          <a:bodyPr rtlCol="0" anchor="ctr"/>
          <a:lstStyle/>
          <a:p>
            <a:pPr algn="ctr"/>
          </a:p>
        </p:txBody>
      </p:sp>
      <p:sp>
        <p:nvSpPr>
          <p:cNvPr id="25" name="Oval 24"/>
          <p:cNvSpPr/>
          <p:nvPr/>
        </p:nvSpPr>
        <p:spPr>
          <a:xfrm>
            <a:off x="640080" y="559612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8</a:t>
            </a:r>
            <a:endParaRPr sz="1300"/>
          </a:p>
        </p:txBody>
      </p:sp>
      <p:sp>
        <p:nvSpPr>
          <p:cNvPr id="26" name="TextBox 25"/>
          <p:cNvSpPr txBox="1"/>
          <p:nvPr/>
        </p:nvSpPr>
        <p:spPr>
          <a:xfrm>
            <a:off x="1143000" y="5532119"/>
            <a:ext cx="3657600" cy="512064"/>
          </a:xfrm>
          <a:prstGeom prst="rect">
            <a:avLst/>
          </a:prstGeom>
          <a:noFill/>
        </p:spPr>
        <p:txBody>
          <a:bodyPr wrap="square" anchor="ctr" lIns="73152" rIns="73152"/>
          <a:lstStyle/>
          <a:p>
            <a:pPr algn="l"/>
            <a:r>
              <a:rPr sz="1400" b="1" i="0">
                <a:solidFill>
                  <a:srgbClr val="1F2937"/>
                </a:solidFill>
                <a:latin typeface="Arial"/>
              </a:rPr>
              <a:t>Existing Services vs DBARS</a:t>
            </a:r>
            <a:endParaRPr sz="1400"/>
          </a:p>
        </p:txBody>
      </p:sp>
      <p:sp>
        <p:nvSpPr>
          <p:cNvPr id="27" name="Rounded Rectangle 26"/>
          <p:cNvSpPr/>
          <p:nvPr/>
        </p:nvSpPr>
        <p:spPr>
          <a:xfrm>
            <a:off x="5120640" y="1051560"/>
            <a:ext cx="4343400" cy="512064"/>
          </a:xfrm>
          <a:prstGeom prst="roundRect">
            <a:avLst>
              <a:gd name="adj" fmla="val 12000"/>
            </a:avLst>
          </a:prstGeom>
          <a:solidFill>
            <a:srgbClr val="F3F4F6"/>
          </a:solidFill>
          <a:ln>
            <a:noFill/>
          </a:ln>
          <a:effectLst/>
        </p:spPr>
        <p:txBody>
          <a:bodyPr rtlCol="0" anchor="ctr"/>
          <a:lstStyle/>
          <a:p>
            <a:pPr algn="ctr"/>
          </a:p>
        </p:txBody>
      </p:sp>
      <p:sp>
        <p:nvSpPr>
          <p:cNvPr id="28" name="Oval 27"/>
          <p:cNvSpPr/>
          <p:nvPr/>
        </p:nvSpPr>
        <p:spPr>
          <a:xfrm>
            <a:off x="5212079" y="111556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9</a:t>
            </a:r>
            <a:endParaRPr sz="1300"/>
          </a:p>
        </p:txBody>
      </p:sp>
      <p:sp>
        <p:nvSpPr>
          <p:cNvPr id="29" name="TextBox 28"/>
          <p:cNvSpPr txBox="1"/>
          <p:nvPr/>
        </p:nvSpPr>
        <p:spPr>
          <a:xfrm>
            <a:off x="5715000" y="1051560"/>
            <a:ext cx="3657600" cy="512064"/>
          </a:xfrm>
          <a:prstGeom prst="rect">
            <a:avLst/>
          </a:prstGeom>
          <a:noFill/>
        </p:spPr>
        <p:txBody>
          <a:bodyPr wrap="square" anchor="ctr" lIns="73152" rIns="73152"/>
          <a:lstStyle/>
          <a:p>
            <a:pPr algn="l"/>
            <a:r>
              <a:rPr sz="1400" b="1" i="0">
                <a:solidFill>
                  <a:srgbClr val="1F2937"/>
                </a:solidFill>
                <a:latin typeface="Arial"/>
              </a:rPr>
              <a:t>Why DBARS Is Unique</a:t>
            </a:r>
            <a:endParaRPr sz="1400"/>
          </a:p>
        </p:txBody>
      </p:sp>
      <p:sp>
        <p:nvSpPr>
          <p:cNvPr id="30" name="Rounded Rectangle 29"/>
          <p:cNvSpPr/>
          <p:nvPr/>
        </p:nvSpPr>
        <p:spPr>
          <a:xfrm>
            <a:off x="5120640" y="1691639"/>
            <a:ext cx="4343400" cy="512064"/>
          </a:xfrm>
          <a:prstGeom prst="roundRect">
            <a:avLst>
              <a:gd name="adj" fmla="val 12000"/>
            </a:avLst>
          </a:prstGeom>
          <a:solidFill>
            <a:srgbClr val="F3F4F6"/>
          </a:solidFill>
          <a:ln>
            <a:noFill/>
          </a:ln>
          <a:effectLst/>
        </p:spPr>
        <p:txBody>
          <a:bodyPr rtlCol="0" anchor="ctr"/>
          <a:lstStyle/>
          <a:p>
            <a:pPr algn="ctr"/>
          </a:p>
        </p:txBody>
      </p:sp>
      <p:sp>
        <p:nvSpPr>
          <p:cNvPr id="31" name="Oval 30"/>
          <p:cNvSpPr/>
          <p:nvPr/>
        </p:nvSpPr>
        <p:spPr>
          <a:xfrm>
            <a:off x="5212079" y="175564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10</a:t>
            </a:r>
            <a:endParaRPr sz="1300"/>
          </a:p>
        </p:txBody>
      </p:sp>
      <p:sp>
        <p:nvSpPr>
          <p:cNvPr id="32" name="TextBox 31"/>
          <p:cNvSpPr txBox="1"/>
          <p:nvPr/>
        </p:nvSpPr>
        <p:spPr>
          <a:xfrm>
            <a:off x="5715000" y="1691639"/>
            <a:ext cx="3657600" cy="512064"/>
          </a:xfrm>
          <a:prstGeom prst="rect">
            <a:avLst/>
          </a:prstGeom>
          <a:noFill/>
        </p:spPr>
        <p:txBody>
          <a:bodyPr wrap="square" anchor="ctr" lIns="73152" rIns="73152"/>
          <a:lstStyle/>
          <a:p>
            <a:pPr algn="l"/>
            <a:r>
              <a:rPr sz="1400" b="1" i="0">
                <a:solidFill>
                  <a:srgbClr val="1F2937"/>
                </a:solidFill>
                <a:latin typeface="Arial"/>
              </a:rPr>
              <a:t>Sustainable Development Goals</a:t>
            </a:r>
            <a:endParaRPr sz="1400"/>
          </a:p>
        </p:txBody>
      </p:sp>
      <p:sp>
        <p:nvSpPr>
          <p:cNvPr id="33" name="Rounded Rectangle 32"/>
          <p:cNvSpPr/>
          <p:nvPr/>
        </p:nvSpPr>
        <p:spPr>
          <a:xfrm>
            <a:off x="5120640" y="2331720"/>
            <a:ext cx="4343400" cy="512064"/>
          </a:xfrm>
          <a:prstGeom prst="roundRect">
            <a:avLst>
              <a:gd name="adj" fmla="val 12000"/>
            </a:avLst>
          </a:prstGeom>
          <a:solidFill>
            <a:srgbClr val="F3F4F6"/>
          </a:solidFill>
          <a:ln>
            <a:noFill/>
          </a:ln>
          <a:effectLst/>
        </p:spPr>
        <p:txBody>
          <a:bodyPr rtlCol="0" anchor="ctr"/>
          <a:lstStyle/>
          <a:p>
            <a:pPr algn="ctr"/>
          </a:p>
        </p:txBody>
      </p:sp>
      <p:sp>
        <p:nvSpPr>
          <p:cNvPr id="34" name="Oval 33"/>
          <p:cNvSpPr/>
          <p:nvPr/>
        </p:nvSpPr>
        <p:spPr>
          <a:xfrm>
            <a:off x="5212079" y="239572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11</a:t>
            </a:r>
            <a:endParaRPr sz="1300"/>
          </a:p>
        </p:txBody>
      </p:sp>
      <p:sp>
        <p:nvSpPr>
          <p:cNvPr id="35" name="TextBox 34"/>
          <p:cNvSpPr txBox="1"/>
          <p:nvPr/>
        </p:nvSpPr>
        <p:spPr>
          <a:xfrm>
            <a:off x="5715000" y="2331720"/>
            <a:ext cx="3657600" cy="512064"/>
          </a:xfrm>
          <a:prstGeom prst="rect">
            <a:avLst/>
          </a:prstGeom>
          <a:noFill/>
        </p:spPr>
        <p:txBody>
          <a:bodyPr wrap="square" anchor="ctr" lIns="73152" rIns="73152"/>
          <a:lstStyle/>
          <a:p>
            <a:pPr algn="l"/>
            <a:r>
              <a:rPr sz="1400" b="1" i="0">
                <a:solidFill>
                  <a:srgbClr val="1F2937"/>
                </a:solidFill>
                <a:latin typeface="Arial"/>
              </a:rPr>
              <a:t>Expected Outcomes</a:t>
            </a:r>
            <a:endParaRPr sz="1400"/>
          </a:p>
        </p:txBody>
      </p:sp>
      <p:sp>
        <p:nvSpPr>
          <p:cNvPr id="36" name="Rounded Rectangle 35"/>
          <p:cNvSpPr/>
          <p:nvPr/>
        </p:nvSpPr>
        <p:spPr>
          <a:xfrm>
            <a:off x="5120640" y="2971799"/>
            <a:ext cx="4343400" cy="512064"/>
          </a:xfrm>
          <a:prstGeom prst="roundRect">
            <a:avLst>
              <a:gd name="adj" fmla="val 12000"/>
            </a:avLst>
          </a:prstGeom>
          <a:solidFill>
            <a:srgbClr val="F3F4F6"/>
          </a:solidFill>
          <a:ln>
            <a:noFill/>
          </a:ln>
          <a:effectLst/>
        </p:spPr>
        <p:txBody>
          <a:bodyPr rtlCol="0" anchor="ctr"/>
          <a:lstStyle/>
          <a:p>
            <a:pPr algn="ctr"/>
          </a:p>
        </p:txBody>
      </p:sp>
      <p:sp>
        <p:nvSpPr>
          <p:cNvPr id="37" name="Oval 36"/>
          <p:cNvSpPr/>
          <p:nvPr/>
        </p:nvSpPr>
        <p:spPr>
          <a:xfrm>
            <a:off x="5212079" y="303580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12</a:t>
            </a:r>
            <a:endParaRPr sz="1300"/>
          </a:p>
        </p:txBody>
      </p:sp>
      <p:sp>
        <p:nvSpPr>
          <p:cNvPr id="38" name="TextBox 37"/>
          <p:cNvSpPr txBox="1"/>
          <p:nvPr/>
        </p:nvSpPr>
        <p:spPr>
          <a:xfrm>
            <a:off x="5715000" y="2971799"/>
            <a:ext cx="3657600" cy="512064"/>
          </a:xfrm>
          <a:prstGeom prst="rect">
            <a:avLst/>
          </a:prstGeom>
          <a:noFill/>
        </p:spPr>
        <p:txBody>
          <a:bodyPr wrap="square" anchor="ctr" lIns="73152" rIns="73152"/>
          <a:lstStyle/>
          <a:p>
            <a:pPr algn="l"/>
            <a:r>
              <a:rPr sz="1400" b="1" i="0">
                <a:solidFill>
                  <a:srgbClr val="1F2937"/>
                </a:solidFill>
                <a:latin typeface="Arial"/>
              </a:rPr>
              <a:t>Value for BMTC and Pilot Plan</a:t>
            </a:r>
            <a:endParaRPr sz="1400"/>
          </a:p>
        </p:txBody>
      </p:sp>
      <p:sp>
        <p:nvSpPr>
          <p:cNvPr id="39" name="Rounded Rectangle 38"/>
          <p:cNvSpPr/>
          <p:nvPr/>
        </p:nvSpPr>
        <p:spPr>
          <a:xfrm>
            <a:off x="5120640" y="3611879"/>
            <a:ext cx="4343400" cy="512064"/>
          </a:xfrm>
          <a:prstGeom prst="roundRect">
            <a:avLst>
              <a:gd name="adj" fmla="val 12000"/>
            </a:avLst>
          </a:prstGeom>
          <a:solidFill>
            <a:srgbClr val="F3F4F6"/>
          </a:solidFill>
          <a:ln>
            <a:noFill/>
          </a:ln>
          <a:effectLst/>
        </p:spPr>
        <p:txBody>
          <a:bodyPr rtlCol="0" anchor="ctr"/>
          <a:lstStyle/>
          <a:p>
            <a:pPr algn="ctr"/>
          </a:p>
        </p:txBody>
      </p:sp>
      <p:sp>
        <p:nvSpPr>
          <p:cNvPr id="40" name="Oval 39"/>
          <p:cNvSpPr/>
          <p:nvPr/>
        </p:nvSpPr>
        <p:spPr>
          <a:xfrm>
            <a:off x="5212079" y="367588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13</a:t>
            </a:r>
            <a:endParaRPr sz="1300"/>
          </a:p>
        </p:txBody>
      </p:sp>
      <p:sp>
        <p:nvSpPr>
          <p:cNvPr id="41" name="TextBox 40"/>
          <p:cNvSpPr txBox="1"/>
          <p:nvPr/>
        </p:nvSpPr>
        <p:spPr>
          <a:xfrm>
            <a:off x="5715000" y="3611879"/>
            <a:ext cx="3657600" cy="512064"/>
          </a:xfrm>
          <a:prstGeom prst="rect">
            <a:avLst/>
          </a:prstGeom>
          <a:noFill/>
        </p:spPr>
        <p:txBody>
          <a:bodyPr wrap="square" anchor="ctr" lIns="73152" rIns="73152"/>
          <a:lstStyle/>
          <a:p>
            <a:pPr algn="l"/>
            <a:r>
              <a:rPr sz="1400" b="1" i="0">
                <a:solidFill>
                  <a:srgbClr val="1F2937"/>
                </a:solidFill>
                <a:latin typeface="Arial"/>
              </a:rPr>
              <a:t>Gantt Chart for Work Plan</a:t>
            </a:r>
            <a:endParaRPr sz="1400"/>
          </a:p>
        </p:txBody>
      </p:sp>
      <p:sp>
        <p:nvSpPr>
          <p:cNvPr id="42" name="Rounded Rectangle 41"/>
          <p:cNvSpPr/>
          <p:nvPr/>
        </p:nvSpPr>
        <p:spPr>
          <a:xfrm>
            <a:off x="5120640" y="4251960"/>
            <a:ext cx="4343400" cy="512064"/>
          </a:xfrm>
          <a:prstGeom prst="roundRect">
            <a:avLst>
              <a:gd name="adj" fmla="val 12000"/>
            </a:avLst>
          </a:prstGeom>
          <a:solidFill>
            <a:srgbClr val="F3F4F6"/>
          </a:solidFill>
          <a:ln>
            <a:noFill/>
          </a:ln>
          <a:effectLst/>
        </p:spPr>
        <p:txBody>
          <a:bodyPr rtlCol="0" anchor="ctr"/>
          <a:lstStyle/>
          <a:p>
            <a:pPr algn="ctr"/>
          </a:p>
        </p:txBody>
      </p:sp>
      <p:sp>
        <p:nvSpPr>
          <p:cNvPr id="43" name="Oval 42"/>
          <p:cNvSpPr/>
          <p:nvPr/>
        </p:nvSpPr>
        <p:spPr>
          <a:xfrm>
            <a:off x="5212079" y="431596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14</a:t>
            </a:r>
            <a:endParaRPr sz="1300"/>
          </a:p>
        </p:txBody>
      </p:sp>
      <p:sp>
        <p:nvSpPr>
          <p:cNvPr id="44" name="TextBox 43"/>
          <p:cNvSpPr txBox="1"/>
          <p:nvPr/>
        </p:nvSpPr>
        <p:spPr>
          <a:xfrm>
            <a:off x="5715000" y="4251960"/>
            <a:ext cx="3657600" cy="512064"/>
          </a:xfrm>
          <a:prstGeom prst="rect">
            <a:avLst/>
          </a:prstGeom>
          <a:noFill/>
        </p:spPr>
        <p:txBody>
          <a:bodyPr wrap="square" anchor="ctr" lIns="73152" rIns="73152"/>
          <a:lstStyle/>
          <a:p>
            <a:pPr algn="l"/>
            <a:r>
              <a:rPr sz="1400" b="1" i="0">
                <a:solidFill>
                  <a:srgbClr val="1F2937"/>
                </a:solidFill>
                <a:latin typeface="Arial"/>
              </a:rPr>
              <a:t>Risks and Mitigation</a:t>
            </a:r>
            <a:endParaRPr sz="1400"/>
          </a:p>
        </p:txBody>
      </p:sp>
      <p:sp>
        <p:nvSpPr>
          <p:cNvPr id="45" name="Rounded Rectangle 44"/>
          <p:cNvSpPr/>
          <p:nvPr/>
        </p:nvSpPr>
        <p:spPr>
          <a:xfrm>
            <a:off x="5120640" y="4892040"/>
            <a:ext cx="4343400" cy="512064"/>
          </a:xfrm>
          <a:prstGeom prst="roundRect">
            <a:avLst>
              <a:gd name="adj" fmla="val 12000"/>
            </a:avLst>
          </a:prstGeom>
          <a:solidFill>
            <a:srgbClr val="F3F4F6"/>
          </a:solidFill>
          <a:ln>
            <a:noFill/>
          </a:ln>
          <a:effectLst/>
        </p:spPr>
        <p:txBody>
          <a:bodyPr rtlCol="0" anchor="ctr"/>
          <a:lstStyle/>
          <a:p>
            <a:pPr algn="ctr"/>
          </a:p>
        </p:txBody>
      </p:sp>
      <p:sp>
        <p:nvSpPr>
          <p:cNvPr id="46" name="Oval 45"/>
          <p:cNvSpPr/>
          <p:nvPr/>
        </p:nvSpPr>
        <p:spPr>
          <a:xfrm>
            <a:off x="5212079" y="4956048"/>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15</a:t>
            </a:r>
            <a:endParaRPr sz="1300"/>
          </a:p>
        </p:txBody>
      </p:sp>
      <p:sp>
        <p:nvSpPr>
          <p:cNvPr id="47" name="TextBox 46"/>
          <p:cNvSpPr txBox="1"/>
          <p:nvPr/>
        </p:nvSpPr>
        <p:spPr>
          <a:xfrm>
            <a:off x="5715000" y="4892040"/>
            <a:ext cx="3657600" cy="512064"/>
          </a:xfrm>
          <a:prstGeom prst="rect">
            <a:avLst/>
          </a:prstGeom>
          <a:noFill/>
        </p:spPr>
        <p:txBody>
          <a:bodyPr wrap="square" anchor="ctr" lIns="73152" rIns="73152"/>
          <a:lstStyle/>
          <a:p>
            <a:pPr algn="l"/>
            <a:r>
              <a:rPr sz="1400" b="1" i="0">
                <a:solidFill>
                  <a:srgbClr val="1F2937"/>
                </a:solidFill>
                <a:latin typeface="Arial"/>
              </a:rPr>
              <a:t>Conclusion</a:t>
            </a:r>
            <a:endParaRPr sz="1400"/>
          </a:p>
        </p:txBody>
      </p:sp>
      <p:sp>
        <p:nvSpPr>
          <p:cNvPr id="48" name="Rounded Rectangle 47"/>
          <p:cNvSpPr/>
          <p:nvPr/>
        </p:nvSpPr>
        <p:spPr>
          <a:xfrm>
            <a:off x="5120640" y="5532119"/>
            <a:ext cx="4343400" cy="512064"/>
          </a:xfrm>
          <a:prstGeom prst="roundRect">
            <a:avLst>
              <a:gd name="adj" fmla="val 12000"/>
            </a:avLst>
          </a:prstGeom>
          <a:solidFill>
            <a:srgbClr val="F3F4F6"/>
          </a:solidFill>
          <a:ln>
            <a:noFill/>
          </a:ln>
          <a:effectLst/>
        </p:spPr>
        <p:txBody>
          <a:bodyPr rtlCol="0" anchor="ctr"/>
          <a:lstStyle/>
          <a:p>
            <a:pPr algn="ctr"/>
          </a:p>
        </p:txBody>
      </p:sp>
      <p:sp>
        <p:nvSpPr>
          <p:cNvPr id="49" name="Oval 48"/>
          <p:cNvSpPr/>
          <p:nvPr/>
        </p:nvSpPr>
        <p:spPr>
          <a:xfrm>
            <a:off x="5212079" y="5596127"/>
            <a:ext cx="384048" cy="384048"/>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16</a:t>
            </a:r>
            <a:endParaRPr sz="1300"/>
          </a:p>
        </p:txBody>
      </p:sp>
      <p:sp>
        <p:nvSpPr>
          <p:cNvPr id="50" name="TextBox 49"/>
          <p:cNvSpPr txBox="1"/>
          <p:nvPr/>
        </p:nvSpPr>
        <p:spPr>
          <a:xfrm>
            <a:off x="5715000" y="5532119"/>
            <a:ext cx="3657600" cy="512064"/>
          </a:xfrm>
          <a:prstGeom prst="rect">
            <a:avLst/>
          </a:prstGeom>
          <a:noFill/>
        </p:spPr>
        <p:txBody>
          <a:bodyPr wrap="square" anchor="ctr" lIns="73152" rIns="73152"/>
          <a:lstStyle/>
          <a:p>
            <a:pPr algn="l"/>
            <a:r>
              <a:rPr sz="1400" b="1" i="0">
                <a:solidFill>
                  <a:srgbClr val="1F2937"/>
                </a:solidFill>
                <a:latin typeface="Arial"/>
              </a:rPr>
              <a:t>References</a:t>
            </a:r>
            <a:endParaRPr sz="14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Introduction</a:t>
            </a:r>
          </a:p>
        </p:txBody>
      </p:sp>
      <p:sp>
        <p:nvSpPr>
          <p:cNvPr id="3" name="Rounded Rectangle 2"/>
          <p:cNvSpPr/>
          <p:nvPr/>
        </p:nvSpPr>
        <p:spPr>
          <a:xfrm>
            <a:off x="457200" y="914400"/>
            <a:ext cx="4434840" cy="1600200"/>
          </a:xfrm>
          <a:prstGeom prst="roundRect">
            <a:avLst>
              <a:gd name="adj" fmla="val 5000"/>
            </a:avLst>
          </a:prstGeom>
          <a:solidFill>
            <a:srgbClr val="F3F4F6"/>
          </a:solidFill>
          <a:ln>
            <a:noFill/>
          </a:ln>
          <a:effectLst/>
        </p:spPr>
        <p:txBody>
          <a:bodyPr rtlCol="0" anchor="ctr"/>
          <a:lstStyle/>
          <a:p>
            <a:pPr algn="ctr"/>
          </a:p>
        </p:txBody>
      </p:sp>
      <p:sp>
        <p:nvSpPr>
          <p:cNvPr id="4" name="Oval 3"/>
          <p:cNvSpPr/>
          <p:nvPr/>
        </p:nvSpPr>
        <p:spPr>
          <a:xfrm>
            <a:off x="594360"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a:t>
            </a:r>
            <a:endParaRPr sz="1300"/>
          </a:p>
        </p:txBody>
      </p:sp>
      <p:sp>
        <p:nvSpPr>
          <p:cNvPr id="5" name="TextBox 4"/>
          <p:cNvSpPr txBox="1"/>
          <p:nvPr/>
        </p:nvSpPr>
        <p:spPr>
          <a:xfrm>
            <a:off x="1051560" y="1033271"/>
            <a:ext cx="3703320" cy="365760"/>
          </a:xfrm>
          <a:prstGeom prst="rect">
            <a:avLst/>
          </a:prstGeom>
          <a:noFill/>
        </p:spPr>
        <p:txBody>
          <a:bodyPr wrap="square" anchor="ctr" lIns="73152" rIns="73152"/>
          <a:lstStyle/>
          <a:p>
            <a:pPr algn="l"/>
            <a:r>
              <a:rPr sz="1500" b="1" i="0">
                <a:solidFill>
                  <a:srgbClr val="C00000"/>
                </a:solidFill>
                <a:latin typeface="Arial"/>
              </a:rPr>
              <a:t>The domain</a:t>
            </a:r>
            <a:endParaRPr sz="1500"/>
          </a:p>
        </p:txBody>
      </p:sp>
      <p:sp>
        <p:nvSpPr>
          <p:cNvPr id="6" name="TextBox 5"/>
          <p:cNvSpPr txBox="1"/>
          <p:nvPr/>
        </p:nvSpPr>
        <p:spPr>
          <a:xfrm>
            <a:off x="566928" y="1463040"/>
            <a:ext cx="4215383" cy="1005840"/>
          </a:xfrm>
          <a:prstGeom prst="rect">
            <a:avLst/>
          </a:prstGeom>
          <a:noFill/>
        </p:spPr>
        <p:txBody>
          <a:bodyPr wrap="square" anchor="t" lIns="73152" rIns="73152"/>
          <a:lstStyle/>
          <a:p>
            <a:pPr algn="l"/>
            <a:r>
              <a:rPr sz="1200" b="0" i="0">
                <a:solidFill>
                  <a:srgbClr val="1F2937"/>
                </a:solidFill>
                <a:latin typeface="Arial"/>
              </a:rPr>
              <a:t>Urban public transport: Bengaluru's city bus network run by BMTC, whose fleet has crossed 7,000 buses [19]. We will work on BMTC's published timetable: 6,737 route-directions, 3,940 bus numbers and 4,883 stops.</a:t>
            </a:r>
            <a:endParaRPr sz="1200"/>
          </a:p>
        </p:txBody>
      </p:sp>
      <p:sp>
        <p:nvSpPr>
          <p:cNvPr id="7" name="Rounded Rectangle 6"/>
          <p:cNvSpPr/>
          <p:nvPr/>
        </p:nvSpPr>
        <p:spPr>
          <a:xfrm>
            <a:off x="5010912" y="914400"/>
            <a:ext cx="4434840" cy="1600200"/>
          </a:xfrm>
          <a:prstGeom prst="roundRect">
            <a:avLst>
              <a:gd name="adj" fmla="val 5000"/>
            </a:avLst>
          </a:prstGeom>
          <a:solidFill>
            <a:srgbClr val="F3F4F6"/>
          </a:solidFill>
          <a:ln>
            <a:noFill/>
          </a:ln>
          <a:effectLst/>
        </p:spPr>
        <p:txBody>
          <a:bodyPr rtlCol="0" anchor="ctr"/>
          <a:lstStyle/>
          <a:p>
            <a:pPr algn="ctr"/>
          </a:p>
        </p:txBody>
      </p:sp>
      <p:sp>
        <p:nvSpPr>
          <p:cNvPr id="8" name="Oval 7"/>
          <p:cNvSpPr/>
          <p:nvPr/>
        </p:nvSpPr>
        <p:spPr>
          <a:xfrm>
            <a:off x="5148072"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2</a:t>
            </a:r>
            <a:endParaRPr sz="1300"/>
          </a:p>
        </p:txBody>
      </p:sp>
      <p:sp>
        <p:nvSpPr>
          <p:cNvPr id="9" name="TextBox 8"/>
          <p:cNvSpPr txBox="1"/>
          <p:nvPr/>
        </p:nvSpPr>
        <p:spPr>
          <a:xfrm>
            <a:off x="5605272" y="1033271"/>
            <a:ext cx="3703320" cy="365760"/>
          </a:xfrm>
          <a:prstGeom prst="rect">
            <a:avLst/>
          </a:prstGeom>
          <a:noFill/>
        </p:spPr>
        <p:txBody>
          <a:bodyPr wrap="square" anchor="ctr" lIns="73152" rIns="73152"/>
          <a:lstStyle/>
          <a:p>
            <a:pPr algn="l"/>
            <a:r>
              <a:rPr sz="1500" b="1" i="0">
                <a:solidFill>
                  <a:srgbClr val="C00000"/>
                </a:solidFill>
                <a:latin typeface="Arial"/>
              </a:rPr>
              <a:t>Why it matters</a:t>
            </a:r>
            <a:endParaRPr sz="1500"/>
          </a:p>
        </p:txBody>
      </p:sp>
      <p:sp>
        <p:nvSpPr>
          <p:cNvPr id="10" name="TextBox 9"/>
          <p:cNvSpPr txBox="1"/>
          <p:nvPr/>
        </p:nvSpPr>
        <p:spPr>
          <a:xfrm>
            <a:off x="5120640" y="1463040"/>
            <a:ext cx="4215383" cy="1005840"/>
          </a:xfrm>
          <a:prstGeom prst="rect">
            <a:avLst/>
          </a:prstGeom>
          <a:noFill/>
        </p:spPr>
        <p:txBody>
          <a:bodyPr wrap="square" anchor="t" lIns="73152" rIns="73152"/>
          <a:lstStyle/>
          <a:p>
            <a:pPr algn="l"/>
            <a:r>
              <a:rPr sz="1200" b="0" i="0">
                <a:solidFill>
                  <a:srgbClr val="1F2937"/>
                </a:solidFill>
                <a:latin typeface="Arial"/>
              </a:rPr>
              <a:t>Buses are the everyday mass-mobility service of a fast-growing city. Riders need to find and pay for the right bus; the operator needs to size its fleet and crew. Both depend on accurate, connected data.</a:t>
            </a:r>
            <a:endParaRPr sz="1200"/>
          </a:p>
        </p:txBody>
      </p:sp>
      <p:sp>
        <p:nvSpPr>
          <p:cNvPr id="11" name="Rounded Rectangle 10"/>
          <p:cNvSpPr/>
          <p:nvPr/>
        </p:nvSpPr>
        <p:spPr>
          <a:xfrm>
            <a:off x="457200" y="2633472"/>
            <a:ext cx="4434840" cy="1600200"/>
          </a:xfrm>
          <a:prstGeom prst="roundRect">
            <a:avLst>
              <a:gd name="adj" fmla="val 5000"/>
            </a:avLst>
          </a:prstGeom>
          <a:solidFill>
            <a:srgbClr val="F3F4F6"/>
          </a:solidFill>
          <a:ln>
            <a:noFill/>
          </a:ln>
          <a:effectLst/>
        </p:spPr>
        <p:txBody>
          <a:bodyPr rtlCol="0" anchor="ctr"/>
          <a:lstStyle/>
          <a:p>
            <a:pPr algn="ctr"/>
          </a:p>
        </p:txBody>
      </p:sp>
      <p:sp>
        <p:nvSpPr>
          <p:cNvPr id="12" name="Oval 11"/>
          <p:cNvSpPr/>
          <p:nvPr/>
        </p:nvSpPr>
        <p:spPr>
          <a:xfrm>
            <a:off x="594360" y="275234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3</a:t>
            </a:r>
            <a:endParaRPr sz="1300"/>
          </a:p>
        </p:txBody>
      </p:sp>
      <p:sp>
        <p:nvSpPr>
          <p:cNvPr id="13" name="TextBox 12"/>
          <p:cNvSpPr txBox="1"/>
          <p:nvPr/>
        </p:nvSpPr>
        <p:spPr>
          <a:xfrm>
            <a:off x="1051560" y="2752344"/>
            <a:ext cx="3703320" cy="365760"/>
          </a:xfrm>
          <a:prstGeom prst="rect">
            <a:avLst/>
          </a:prstGeom>
          <a:noFill/>
        </p:spPr>
        <p:txBody>
          <a:bodyPr wrap="square" anchor="ctr" lIns="73152" rIns="73152"/>
          <a:lstStyle/>
          <a:p>
            <a:pPr algn="l"/>
            <a:r>
              <a:rPr sz="1500" b="1" i="0">
                <a:solidFill>
                  <a:srgbClr val="C00000"/>
                </a:solidFill>
                <a:latin typeface="Arial"/>
              </a:rPr>
              <a:t>The general issue</a:t>
            </a:r>
            <a:endParaRPr sz="1500"/>
          </a:p>
        </p:txBody>
      </p:sp>
      <p:sp>
        <p:nvSpPr>
          <p:cNvPr id="14" name="TextBox 13"/>
          <p:cNvSpPr txBox="1"/>
          <p:nvPr/>
        </p:nvSpPr>
        <p:spPr>
          <a:xfrm>
            <a:off x="566928" y="3182112"/>
            <a:ext cx="4215383" cy="1005840"/>
          </a:xfrm>
          <a:prstGeom prst="rect">
            <a:avLst/>
          </a:prstGeom>
          <a:noFill/>
        </p:spPr>
        <p:txBody>
          <a:bodyPr wrap="square" anchor="t" lIns="73152" rIns="73152"/>
          <a:lstStyle/>
          <a:p>
            <a:pPr algn="l"/>
            <a:r>
              <a:rPr sz="1200" b="0" i="0">
                <a:solidFill>
                  <a:srgbClr val="1F2937"/>
                </a:solidFill>
                <a:latin typeface="Arial"/>
              </a:rPr>
              <a:t>Consumer apps now cover trip planning, live tracking and ticketing [14-18]. What we did not find in them is the operator's side in their public descriptions: how many buses and crew a timetable needs, and how commuter demand reaches depot decisions.</a:t>
            </a:r>
            <a:endParaRPr sz="1200"/>
          </a:p>
        </p:txBody>
      </p:sp>
      <p:sp>
        <p:nvSpPr>
          <p:cNvPr id="15" name="Rounded Rectangle 14"/>
          <p:cNvSpPr/>
          <p:nvPr/>
        </p:nvSpPr>
        <p:spPr>
          <a:xfrm>
            <a:off x="5010912" y="2633472"/>
            <a:ext cx="4434840" cy="1600200"/>
          </a:xfrm>
          <a:prstGeom prst="roundRect">
            <a:avLst>
              <a:gd name="adj" fmla="val 5000"/>
            </a:avLst>
          </a:prstGeom>
          <a:solidFill>
            <a:srgbClr val="F3F4F6"/>
          </a:solidFill>
          <a:ln>
            <a:noFill/>
          </a:ln>
          <a:effectLst/>
        </p:spPr>
        <p:txBody>
          <a:bodyPr rtlCol="0" anchor="ctr"/>
          <a:lstStyle/>
          <a:p>
            <a:pPr algn="ctr"/>
          </a:p>
        </p:txBody>
      </p:sp>
      <p:sp>
        <p:nvSpPr>
          <p:cNvPr id="16" name="Oval 15"/>
          <p:cNvSpPr/>
          <p:nvPr/>
        </p:nvSpPr>
        <p:spPr>
          <a:xfrm>
            <a:off x="5148072" y="275234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4</a:t>
            </a:r>
            <a:endParaRPr sz="1300"/>
          </a:p>
        </p:txBody>
      </p:sp>
      <p:sp>
        <p:nvSpPr>
          <p:cNvPr id="17" name="TextBox 16"/>
          <p:cNvSpPr txBox="1"/>
          <p:nvPr/>
        </p:nvSpPr>
        <p:spPr>
          <a:xfrm>
            <a:off x="5605272" y="2752344"/>
            <a:ext cx="3703320" cy="365760"/>
          </a:xfrm>
          <a:prstGeom prst="rect">
            <a:avLst/>
          </a:prstGeom>
          <a:noFill/>
        </p:spPr>
        <p:txBody>
          <a:bodyPr wrap="square" anchor="ctr" lIns="73152" rIns="73152"/>
          <a:lstStyle/>
          <a:p>
            <a:pPr algn="l"/>
            <a:r>
              <a:rPr sz="1500" b="1" i="0">
                <a:solidFill>
                  <a:srgbClr val="C00000"/>
                </a:solidFill>
                <a:latin typeface="Arial"/>
              </a:rPr>
              <a:t>Why it is relevant today</a:t>
            </a:r>
            <a:endParaRPr sz="1500"/>
          </a:p>
        </p:txBody>
      </p:sp>
      <p:sp>
        <p:nvSpPr>
          <p:cNvPr id="18" name="TextBox 17"/>
          <p:cNvSpPr txBox="1"/>
          <p:nvPr/>
        </p:nvSpPr>
        <p:spPr>
          <a:xfrm>
            <a:off x="5120640" y="3182112"/>
            <a:ext cx="4215383" cy="1005840"/>
          </a:xfrm>
          <a:prstGeom prst="rect">
            <a:avLst/>
          </a:prstGeom>
          <a:noFill/>
        </p:spPr>
        <p:txBody>
          <a:bodyPr wrap="square" anchor="t" lIns="73152" rIns="73152"/>
          <a:lstStyle/>
          <a:p>
            <a:pPr algn="l"/>
            <a:r>
              <a:rPr sz="1200" b="0" i="0">
                <a:solidFill>
                  <a:srgbClr val="1F2937"/>
                </a:solidFill>
                <a:latin typeface="Arial"/>
              </a:rPr>
              <a:t>Karnataka's Shakti free-travel scheme (June 2023) reshaped ridership: 28.9 million trips were analysed over 27 months [12]. With tickets and tracking going digital, demand-aware planning and exact reimbursement tracking are now both urgent and possible.</a:t>
            </a:r>
            <a:endParaRPr sz="1200"/>
          </a:p>
        </p:txBody>
      </p:sp>
      <p:sp>
        <p:nvSpPr>
          <p:cNvPr id="19" name="Rounded Rectangle 18"/>
          <p:cNvSpPr/>
          <p:nvPr/>
        </p:nvSpPr>
        <p:spPr>
          <a:xfrm>
            <a:off x="457200"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0" name="TextBox 19"/>
          <p:cNvSpPr txBox="1"/>
          <p:nvPr/>
        </p:nvSpPr>
        <p:spPr>
          <a:xfrm>
            <a:off x="457200" y="4526280"/>
            <a:ext cx="2148840" cy="502920"/>
          </a:xfrm>
          <a:prstGeom prst="rect">
            <a:avLst/>
          </a:prstGeom>
          <a:noFill/>
        </p:spPr>
        <p:txBody>
          <a:bodyPr wrap="square" anchor="ctr" lIns="73152" rIns="73152"/>
          <a:lstStyle/>
          <a:p>
            <a:pPr algn="ctr"/>
            <a:r>
              <a:rPr sz="2600" b="1" i="0">
                <a:solidFill>
                  <a:srgbClr val="C00000"/>
                </a:solidFill>
                <a:latin typeface="Arial"/>
              </a:rPr>
              <a:t>7,000+</a:t>
            </a:r>
            <a:endParaRPr sz="2600"/>
          </a:p>
        </p:txBody>
      </p:sp>
      <p:sp>
        <p:nvSpPr>
          <p:cNvPr id="21" name="TextBox 20"/>
          <p:cNvSpPr txBox="1"/>
          <p:nvPr/>
        </p:nvSpPr>
        <p:spPr>
          <a:xfrm>
            <a:off x="457200" y="5010912"/>
            <a:ext cx="2148840" cy="292608"/>
          </a:xfrm>
          <a:prstGeom prst="rect">
            <a:avLst/>
          </a:prstGeom>
          <a:noFill/>
        </p:spPr>
        <p:txBody>
          <a:bodyPr wrap="square" anchor="t" lIns="73152" rIns="73152"/>
          <a:lstStyle/>
          <a:p>
            <a:pPr algn="ctr"/>
            <a:r>
              <a:rPr sz="1100" b="0" i="0">
                <a:solidFill>
                  <a:srgbClr val="4B5563"/>
                </a:solidFill>
                <a:latin typeface="Arial"/>
              </a:rPr>
              <a:t>buses in BMTC's fleet</a:t>
            </a:r>
            <a:endParaRPr sz="1100"/>
          </a:p>
        </p:txBody>
      </p:sp>
      <p:sp>
        <p:nvSpPr>
          <p:cNvPr id="22" name="Rounded Rectangle 21"/>
          <p:cNvSpPr/>
          <p:nvPr/>
        </p:nvSpPr>
        <p:spPr>
          <a:xfrm>
            <a:off x="2736799"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3" name="TextBox 22"/>
          <p:cNvSpPr txBox="1"/>
          <p:nvPr/>
        </p:nvSpPr>
        <p:spPr>
          <a:xfrm>
            <a:off x="2736799" y="4526280"/>
            <a:ext cx="2148840" cy="502920"/>
          </a:xfrm>
          <a:prstGeom prst="rect">
            <a:avLst/>
          </a:prstGeom>
          <a:noFill/>
        </p:spPr>
        <p:txBody>
          <a:bodyPr wrap="square" anchor="ctr" lIns="73152" rIns="73152"/>
          <a:lstStyle/>
          <a:p>
            <a:pPr algn="ctr"/>
            <a:r>
              <a:rPr sz="2600" b="1" i="0">
                <a:solidFill>
                  <a:srgbClr val="C00000"/>
                </a:solidFill>
                <a:latin typeface="Arial"/>
              </a:rPr>
              <a:t>6,737</a:t>
            </a:r>
            <a:endParaRPr sz="2600"/>
          </a:p>
        </p:txBody>
      </p:sp>
      <p:sp>
        <p:nvSpPr>
          <p:cNvPr id="24" name="TextBox 23"/>
          <p:cNvSpPr txBox="1"/>
          <p:nvPr/>
        </p:nvSpPr>
        <p:spPr>
          <a:xfrm>
            <a:off x="2736799" y="5010912"/>
            <a:ext cx="2148840" cy="292608"/>
          </a:xfrm>
          <a:prstGeom prst="rect">
            <a:avLst/>
          </a:prstGeom>
          <a:noFill/>
        </p:spPr>
        <p:txBody>
          <a:bodyPr wrap="square" anchor="t" lIns="73152" rIns="73152"/>
          <a:lstStyle/>
          <a:p>
            <a:pPr algn="ctr"/>
            <a:r>
              <a:rPr sz="1100" b="0" i="0">
                <a:solidFill>
                  <a:srgbClr val="4B5563"/>
                </a:solidFill>
                <a:latin typeface="Arial"/>
              </a:rPr>
              <a:t>route-directions in the dataset</a:t>
            </a:r>
            <a:endParaRPr sz="1100"/>
          </a:p>
        </p:txBody>
      </p:sp>
      <p:sp>
        <p:nvSpPr>
          <p:cNvPr id="25" name="Rounded Rectangle 24"/>
          <p:cNvSpPr/>
          <p:nvPr/>
        </p:nvSpPr>
        <p:spPr>
          <a:xfrm>
            <a:off x="5016398"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6" name="TextBox 25"/>
          <p:cNvSpPr txBox="1"/>
          <p:nvPr/>
        </p:nvSpPr>
        <p:spPr>
          <a:xfrm>
            <a:off x="5016398" y="4526280"/>
            <a:ext cx="2148840" cy="502920"/>
          </a:xfrm>
          <a:prstGeom prst="rect">
            <a:avLst/>
          </a:prstGeom>
          <a:noFill/>
        </p:spPr>
        <p:txBody>
          <a:bodyPr wrap="square" anchor="ctr" lIns="73152" rIns="73152"/>
          <a:lstStyle/>
          <a:p>
            <a:pPr algn="ctr"/>
            <a:r>
              <a:rPr sz="2600" b="1" i="0">
                <a:solidFill>
                  <a:srgbClr val="C00000"/>
                </a:solidFill>
                <a:latin typeface="Arial"/>
              </a:rPr>
              <a:t>4,883</a:t>
            </a:r>
            <a:endParaRPr sz="2600"/>
          </a:p>
        </p:txBody>
      </p:sp>
      <p:sp>
        <p:nvSpPr>
          <p:cNvPr id="27" name="TextBox 26"/>
          <p:cNvSpPr txBox="1"/>
          <p:nvPr/>
        </p:nvSpPr>
        <p:spPr>
          <a:xfrm>
            <a:off x="5016398" y="5010912"/>
            <a:ext cx="2148840" cy="292608"/>
          </a:xfrm>
          <a:prstGeom prst="rect">
            <a:avLst/>
          </a:prstGeom>
          <a:noFill/>
        </p:spPr>
        <p:txBody>
          <a:bodyPr wrap="square" anchor="t" lIns="73152" rIns="73152"/>
          <a:lstStyle/>
          <a:p>
            <a:pPr algn="ctr"/>
            <a:r>
              <a:rPr sz="1100" b="0" i="0">
                <a:solidFill>
                  <a:srgbClr val="4B5563"/>
                </a:solidFill>
                <a:latin typeface="Arial"/>
              </a:rPr>
              <a:t>bus stops in the dataset</a:t>
            </a:r>
            <a:endParaRPr sz="1100"/>
          </a:p>
        </p:txBody>
      </p:sp>
      <p:sp>
        <p:nvSpPr>
          <p:cNvPr id="28" name="Rounded Rectangle 27"/>
          <p:cNvSpPr/>
          <p:nvPr/>
        </p:nvSpPr>
        <p:spPr>
          <a:xfrm>
            <a:off x="7295997" y="4480560"/>
            <a:ext cx="2148840" cy="868680"/>
          </a:xfrm>
          <a:prstGeom prst="roundRect">
            <a:avLst>
              <a:gd name="adj" fmla="val 8000"/>
            </a:avLst>
          </a:prstGeom>
          <a:solidFill>
            <a:srgbClr val="FFFFFF"/>
          </a:solidFill>
          <a:ln w="15875">
            <a:solidFill>
              <a:srgbClr val="C00000"/>
            </a:solidFill>
          </a:ln>
          <a:effectLst/>
        </p:spPr>
        <p:txBody>
          <a:bodyPr rtlCol="0" anchor="ctr"/>
          <a:lstStyle/>
          <a:p>
            <a:pPr algn="ctr"/>
          </a:p>
        </p:txBody>
      </p:sp>
      <p:sp>
        <p:nvSpPr>
          <p:cNvPr id="29" name="TextBox 28"/>
          <p:cNvSpPr txBox="1"/>
          <p:nvPr/>
        </p:nvSpPr>
        <p:spPr>
          <a:xfrm>
            <a:off x="7295997" y="4526280"/>
            <a:ext cx="2148840" cy="502920"/>
          </a:xfrm>
          <a:prstGeom prst="rect">
            <a:avLst/>
          </a:prstGeom>
          <a:noFill/>
        </p:spPr>
        <p:txBody>
          <a:bodyPr wrap="square" anchor="ctr" lIns="73152" rIns="73152"/>
          <a:lstStyle/>
          <a:p>
            <a:pPr algn="ctr"/>
            <a:r>
              <a:rPr sz="2600" b="1" i="0">
                <a:solidFill>
                  <a:srgbClr val="C00000"/>
                </a:solidFill>
                <a:latin typeface="Arial"/>
              </a:rPr>
              <a:t>44</a:t>
            </a:r>
            <a:endParaRPr sz="2600"/>
          </a:p>
        </p:txBody>
      </p:sp>
      <p:sp>
        <p:nvSpPr>
          <p:cNvPr id="30" name="TextBox 29"/>
          <p:cNvSpPr txBox="1"/>
          <p:nvPr/>
        </p:nvSpPr>
        <p:spPr>
          <a:xfrm>
            <a:off x="7295997" y="5010912"/>
            <a:ext cx="2148840" cy="292608"/>
          </a:xfrm>
          <a:prstGeom prst="rect">
            <a:avLst/>
          </a:prstGeom>
          <a:noFill/>
        </p:spPr>
        <p:txBody>
          <a:bodyPr wrap="square" anchor="t" lIns="73152" rIns="73152"/>
          <a:lstStyle/>
          <a:p>
            <a:pPr algn="ctr"/>
            <a:r>
              <a:rPr sz="1100" b="0" i="0">
                <a:solidFill>
                  <a:srgbClr val="4B5563"/>
                </a:solidFill>
                <a:latin typeface="Arial"/>
              </a:rPr>
              <a:t>depots to plan for</a:t>
            </a:r>
            <a:endParaRPr sz="1100"/>
          </a:p>
        </p:txBody>
      </p:sp>
      <p:sp>
        <p:nvSpPr>
          <p:cNvPr id="31" name="Rounded Rectangle 30"/>
          <p:cNvSpPr/>
          <p:nvPr/>
        </p:nvSpPr>
        <p:spPr>
          <a:xfrm>
            <a:off x="457200" y="5486400"/>
            <a:ext cx="8988552" cy="749808"/>
          </a:xfrm>
          <a:prstGeom prst="roundRect">
            <a:avLst>
              <a:gd name="adj" fmla="val 10000"/>
            </a:avLst>
          </a:prstGeom>
          <a:solidFill>
            <a:srgbClr val="E6F4EA"/>
          </a:solidFill>
          <a:ln>
            <a:noFill/>
          </a:ln>
          <a:effectLst/>
        </p:spPr>
        <p:txBody>
          <a:bodyPr rtlCol="0" anchor="ctr" wrap="square" lIns="182880" rIns="182880"/>
          <a:lstStyle/>
          <a:p>
            <a:pPr algn="ctr"/>
            <a:r>
              <a:rPr sz="1250" b="1" i="0">
                <a:solidFill>
                  <a:srgbClr val="0B8A3E"/>
                </a:solidFill>
                <a:latin typeface="Arial"/>
              </a:rPr>
              <a:t>DBARS will turn one published BMTC timetable into three products: a journey planner for commuters, a fleet and crew planner for depots, and an open GTFS feed for everyone else.</a:t>
            </a:r>
            <a:endParaRPr sz="125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Literature Survey (1/2)</a:t>
            </a:r>
          </a:p>
        </p:txBody>
      </p:sp>
      <p:graphicFrame>
        <p:nvGraphicFramePr>
          <p:cNvPr id="3" name="Table 2"/>
          <p:cNvGraphicFramePr>
            <a:graphicFrameLocks noGrp="1"/>
          </p:cNvGraphicFramePr>
          <p:nvPr/>
        </p:nvGraphicFramePr>
        <p:xfrm>
          <a:off x="457200" y="914400"/>
          <a:ext cx="8988552" cy="4700016"/>
        </p:xfrm>
        <a:graphic>
          <a:graphicData uri="http://schemas.openxmlformats.org/drawingml/2006/table">
            <a:tbl>
              <a:tblPr firstRow="0" bandRow="0">
                <a:tableStyleId>{2D5ABB26-0587-4C30-8999-92F81FD0307C}</a:tableStyleId>
              </a:tblPr>
              <a:tblGrid>
                <a:gridCol w="365760"/>
                <a:gridCol w="2240280"/>
                <a:gridCol w="1691640"/>
                <a:gridCol w="1371600"/>
                <a:gridCol w="1600200"/>
                <a:gridCol w="1719072"/>
              </a:tblGrid>
              <a:tr h="310896">
                <a:tc>
                  <a:txBody>
                    <a:bodyPr wrap="square" anchor="ctr" lIns="45720" tIns="27432" rIns="45720" bIns="27432"/>
                    <a:lstStyle/>
                    <a:p>
                      <a:pPr algn="ctr"/>
                      <a:r>
                        <a:rPr sz="1050" b="1" i="0">
                          <a:solidFill>
                            <a:srgbClr val="FFFFFF"/>
                          </a:solidFill>
                          <a:latin typeface="Arial"/>
                        </a:rPr>
                        <a:t>Ref.</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Title and Year</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Methodology</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Dataset</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Limitations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Observations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731520">
                <a:tc>
                  <a:txBody>
                    <a:bodyPr wrap="square" anchor="t" lIns="45720" tIns="27432" rIns="45720" bIns="27432"/>
                    <a:lstStyle/>
                    <a:p>
                      <a:pPr algn="ctr"/>
                      <a:r>
                        <a:rPr sz="950" b="1" i="0">
                          <a:solidFill>
                            <a:srgbClr val="1F2937"/>
                          </a:solidFill>
                          <a:latin typeface="Arial"/>
                        </a:rPr>
                        <a:t>[1]</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ULTRA: Unlimited transfers for efficient multimodal journey planning</a:t>
                      </a:r>
                      <a:endParaRPr sz="950"/>
                    </a:p>
                    <a:p>
                      <a:pPr algn="l"/>
                      <a:r>
                        <a:rPr sz="950" b="0" i="0">
                          <a:solidFill>
                            <a:srgbClr val="1F2937"/>
                          </a:solidFill>
                          <a:latin typeface="Arial"/>
                        </a:rPr>
                        <a:t>Baum et al., Transportation Science,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Preprocessing computes transfer shortcuts; Pareto-optimal journeys on arrival time and number of trips; ~10x faster than prior approaches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Public-transit networks combined with secondary modes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Passenger-side objective only; no fleet or crew planning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Transfers drive journey cost: DBARS will limit changes and reject unwalkable interchanges (over 1.2 km)</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Analyzing transit systems using GTFS by generating spatiotemporal transit networks</a:t>
                      </a:r>
                      <a:endParaRPr sz="950"/>
                    </a:p>
                    <a:p>
                      <a:pPr algn="l"/>
                      <a:r>
                        <a:rPr sz="950" b="0" i="0">
                          <a:solidFill>
                            <a:srgbClr val="1F2937"/>
                          </a:solidFill>
                          <a:latin typeface="Arial"/>
                        </a:rPr>
                        <a:t>Liu et al., Information,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GTFS2STN converts GTFS to spatiotemporal networks; Dijkstra shortest paths; before/after statistical tests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WeGo Transit (Nashville) GTFS, 2019 to 2024; checked against Google Maps (MAPE within 12%)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Circular walk buffers; cannot merge several feeds; memory-heavy; no demand side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GTFS is the standard analysis input: DBARS will publish the BMTC network as GTFS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Visualizing public transit system operation with GTFS data: Calgary, Canada</a:t>
                      </a:r>
                      <a:endParaRPr sz="950"/>
                    </a:p>
                    <a:p>
                      <a:pPr algn="l"/>
                      <a:r>
                        <a:rPr sz="950" b="0" i="0">
                          <a:solidFill>
                            <a:srgbClr val="1F2937"/>
                          </a:solidFill>
                          <a:latin typeface="Arial"/>
                        </a:rPr>
                        <a:t>Prommaharaj et al., Heliyon, 2020</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PubtraVis: six interactive visualisation modules; cosine similarity and X-means clustering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Calgary Transit static GTFS, Apr to Jun 2016 (755 MB, 8 CSV files)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Static GTFS only, no real-time data; ease of use needs work</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Analysis and visualisation for planners; no journey search or fleet sizing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[4]</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Multi-depot vehicle scheduling with multiple vehicle types on overlapped bus routes</a:t>
                      </a:r>
                      <a:endParaRPr sz="950"/>
                    </a:p>
                    <a:p>
                      <a:pPr algn="l"/>
                      <a:r>
                        <a:rPr sz="950" b="0" i="0">
                          <a:solidFill>
                            <a:srgbClr val="1F2937"/>
                          </a:solidFill>
                          <a:latin typeface="Arial"/>
                        </a:rPr>
                        <a:t>Shang et al., Expert Systems with Applications,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Bi-objective integer programming; capacity-constrained incremental assignment; Pareto solutions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Beijing: about 1.18 million bus-card swipes on six congested lines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Mixed vehicle types give irregular departures; regional use needs multi-operator coordination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Validated on six lines; DBARS aims at a whole timetable across 44 depots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An exact approach for the multi-depot electric bus scheduling problem with time windows</a:t>
                      </a:r>
                      <a:endParaRPr sz="950"/>
                    </a:p>
                    <a:p>
                      <a:pPr algn="l"/>
                      <a:r>
                        <a:rPr sz="950" b="0" i="0">
                          <a:solidFill>
                            <a:srgbClr val="1F2937"/>
                          </a:solidFill>
                          <a:latin typeface="Arial"/>
                        </a:rPr>
                        <a:t>Gkiotsalitis et al., European J. of Operational Research,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Mixed-integer linear programme with valid inequalities and charging-capacity constraints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Benchmark instances (Carpaneto et al., 1989) plus a toy network</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Exact method tested on instances of up to 30 trips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Exact solvers do not reach a city timetable: DBARS will use greedy chaining with a provable lower bound</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[6]</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 GRASP algorithm for the bus crew scheduling problem</a:t>
                      </a:r>
                      <a:endParaRPr sz="950"/>
                    </a:p>
                    <a:p>
                      <a:pPr algn="l"/>
                      <a:r>
                        <a:rPr sz="950" b="0" i="0">
                          <a:solidFill>
                            <a:srgbClr val="1F2937"/>
                          </a:solidFill>
                          <a:latin typeface="Arial"/>
                        </a:rPr>
                        <a:t>Pardo-Pena et al., Int. J. of Industrial Eng. Computations, 2024</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GRASP metaheuristic: constructive step, repair and local search (INSERT, SWAP)</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Musliu (2006) instances of 42 to 595 shifts; real data from operator INTEGRA S.A.</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One instance stayed infeasible; results depend on tuning; satisfaction model is simple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Crew studied apart from vehicle blocks: DBARS will cut duties directly from blocks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Literature Survey (2/2)</a:t>
            </a:r>
          </a:p>
        </p:txBody>
      </p:sp>
      <p:graphicFrame>
        <p:nvGraphicFramePr>
          <p:cNvPr id="3" name="Table 2"/>
          <p:cNvGraphicFramePr>
            <a:graphicFrameLocks noGrp="1"/>
          </p:cNvGraphicFramePr>
          <p:nvPr/>
        </p:nvGraphicFramePr>
        <p:xfrm>
          <a:off x="457200" y="914400"/>
          <a:ext cx="8988552" cy="4700016"/>
        </p:xfrm>
        <a:graphic>
          <a:graphicData uri="http://schemas.openxmlformats.org/drawingml/2006/table">
            <a:tbl>
              <a:tblPr firstRow="0" bandRow="0">
                <a:tableStyleId>{2D5ABB26-0587-4C30-8999-92F81FD0307C}</a:tableStyleId>
              </a:tblPr>
              <a:tblGrid>
                <a:gridCol w="365760"/>
                <a:gridCol w="2240280"/>
                <a:gridCol w="1691640"/>
                <a:gridCol w="1371600"/>
                <a:gridCol w="1600200"/>
                <a:gridCol w="1719072"/>
              </a:tblGrid>
              <a:tr h="310896">
                <a:tc>
                  <a:txBody>
                    <a:bodyPr wrap="square" anchor="ctr" lIns="45720" tIns="27432" rIns="45720" bIns="27432"/>
                    <a:lstStyle/>
                    <a:p>
                      <a:pPr algn="ctr"/>
                      <a:r>
                        <a:rPr sz="1050" b="1" i="0">
                          <a:solidFill>
                            <a:srgbClr val="FFFFFF"/>
                          </a:solidFill>
                          <a:latin typeface="Arial"/>
                        </a:rPr>
                        <a:t>Ref.</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Title and Year</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Methodology</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Dataset</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Limitations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27432" rIns="45720" bIns="27432"/>
                    <a:lstStyle/>
                    <a:p>
                      <a:pPr algn="l"/>
                      <a:r>
                        <a:rPr sz="1050" b="1" i="0">
                          <a:solidFill>
                            <a:srgbClr val="FFFFFF"/>
                          </a:solidFill>
                          <a:latin typeface="Arial"/>
                        </a:rPr>
                        <a:t>Observations</a:t>
                      </a:r>
                      <a:endParaRPr sz="1050"/>
                    </a:p>
                  </a:txBody>
                  <a:tcPr marL="45720" marT="27432" marR="45720"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731520">
                <a:tc>
                  <a:txBody>
                    <a:bodyPr wrap="square" anchor="t" lIns="45720" tIns="27432" rIns="45720" bIns="27432"/>
                    <a:lstStyle/>
                    <a:p>
                      <a:pPr algn="ctr"/>
                      <a:r>
                        <a:rPr sz="950" b="1" i="0">
                          <a:solidFill>
                            <a:srgbClr val="1F2937"/>
                          </a:solidFill>
                          <a:latin typeface="Arial"/>
                        </a:rPr>
                        <a:t>[7]</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Optimizing bus driver scheduling: a set covering approach for reducing transportation costs</a:t>
                      </a:r>
                      <a:endParaRPr sz="950"/>
                    </a:p>
                    <a:p>
                      <a:pPr algn="l"/>
                      <a:r>
                        <a:rPr sz="950" b="0" i="0">
                          <a:solidFill>
                            <a:srgbClr val="1F2937"/>
                          </a:solidFill>
                          <a:latin typeface="Arial"/>
                        </a:rPr>
                        <a:t>Argilan &amp; Bekesi, Applied System Innovation,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Set covering with column generation and heuristics; time-space network; label-setting for shortest paths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Benchmarks A200 (200 trips, 2 depots) and A400, plus real operational data</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Integrated models simplify driving rules due to problem size; local rules need special checks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Crew rules are the hard part: DBARS will model spread-over, driving-time and break limits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[8]</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 direct demand model for bus transit ridership in Bengaluru, India</a:t>
                      </a:r>
                      <a:endParaRPr sz="950"/>
                    </a:p>
                    <a:p>
                      <a:pPr algn="l"/>
                      <a:r>
                        <a:rPr sz="950" b="0" i="0">
                          <a:solidFill>
                            <a:srgbClr val="1F2937"/>
                          </a:solidFill>
                          <a:latin typeface="Arial"/>
                        </a:rPr>
                        <a:t>Deepa et al., Transportation Research Part A, 2022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Stop-route demand model; Voronoi catchments; two-stage residual inclusion; piecewise frequency effect</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BMTC boardings at fare-stage clusters, morning peak</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Needs fare-stage level data, not individual stops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Ridership gains flatten at high frequency: supports demand-based, not blanket, allocation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[9]</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The adverse impact of headway variability on bus transit ridership: Bengaluru</a:t>
                      </a:r>
                      <a:endParaRPr sz="950"/>
                    </a:p>
                    <a:p>
                      <a:pPr algn="l"/>
                      <a:r>
                        <a:rPr sz="950" b="0" i="0">
                          <a:solidFill>
                            <a:srgbClr val="1F2937"/>
                          </a:solidFill>
                          <a:latin typeface="Arial"/>
                        </a:rPr>
                        <a:t>Deepa et al., Transport Policy,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Direct demand models at route and stop level; two-stage residual inclusion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BMTC demand and supply data (over 6,000 buses)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Single city; limits generalisation</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Irregular headways cut boardings: DBARS will report schedule adherence and ETA confidence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[10]</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A review of bus arrival time prediction using artificial intelligence</a:t>
                      </a:r>
                      <a:endParaRPr sz="950"/>
                    </a:p>
                    <a:p>
                      <a:pPr algn="l"/>
                      <a:r>
                        <a:rPr sz="950" b="0" i="0">
                          <a:solidFill>
                            <a:srgbClr val="1F2937"/>
                          </a:solidFill>
                          <a:latin typeface="Arial"/>
                        </a:rPr>
                        <a:t>Singh &amp; Kumar, WIREs Data Mining and Knowledge Discovery, 2022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Systematic review of AI-based arrival-time prediction models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Review of published studies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Identifies research gaps and future directions; review only</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Where no live feed is connected, DBARS will fall back to route-following ETA and flag it as an estimate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31520">
                <a:tc>
                  <a:txBody>
                    <a:bodyPr wrap="square" anchor="t" lIns="45720" tIns="27432" rIns="45720" bIns="27432"/>
                    <a:lstStyle/>
                    <a:p>
                      <a:pPr algn="ctr"/>
                      <a:r>
                        <a:rPr sz="950" b="1" i="0">
                          <a:solidFill>
                            <a:srgbClr val="1F2937"/>
                          </a:solidFill>
                          <a:latin typeface="Arial"/>
                        </a:rPr>
                        <a:t>[11]</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1" i="0">
                          <a:solidFill>
                            <a:srgbClr val="1F2937"/>
                          </a:solidFill>
                          <a:latin typeface="Arial"/>
                        </a:rPr>
                        <a:t>Survey of hallucination in natural language generation</a:t>
                      </a:r>
                      <a:endParaRPr sz="950"/>
                    </a:p>
                    <a:p>
                      <a:pPr algn="l"/>
                      <a:r>
                        <a:rPr sz="950" b="0" i="0">
                          <a:solidFill>
                            <a:srgbClr val="1F2937"/>
                          </a:solidFill>
                          <a:latin typeface="Arial"/>
                        </a:rPr>
                        <a:t>Ji et al., ACM Computing Surveys, 2023</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Survey of hallucination metrics and mitigation across NLG tasks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Survey (summarisation, dialogue, QA, and more)</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General NLG; not specific to transport or operations assistants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t" lIns="45720" tIns="27432" rIns="45720" bIns="27432"/>
                    <a:lstStyle/>
                    <a:p>
                      <a:pPr algn="l"/>
                      <a:r>
                        <a:rPr sz="950" b="0" i="0">
                          <a:solidFill>
                            <a:srgbClr val="1F2937"/>
                          </a:solidFill>
                          <a:latin typeface="Arial"/>
                        </a:rPr>
                        <a:t>Motivates a read-only DBARS assistant that answers from retrieved evidence with citations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noFill/>
                  </a:tcPr>
                </a:tc>
              </a:tr>
              <a:tr h="731520">
                <a:tc>
                  <a:txBody>
                    <a:bodyPr wrap="square" anchor="t" lIns="45720" tIns="27432" rIns="45720" bIns="27432"/>
                    <a:lstStyle/>
                    <a:p>
                      <a:pPr algn="ctr"/>
                      <a:r>
                        <a:rPr sz="950" b="1" i="0">
                          <a:solidFill>
                            <a:srgbClr val="1F2937"/>
                          </a:solidFill>
                          <a:latin typeface="Arial"/>
                        </a:rPr>
                        <a:t>[12]</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1" i="0">
                          <a:solidFill>
                            <a:srgbClr val="1F2937"/>
                          </a:solidFill>
                          <a:latin typeface="Arial"/>
                        </a:rPr>
                        <a:t>Gender, welfare, and mobility: impact of the Shakti scheme on BMTC (report)</a:t>
                      </a:r>
                      <a:endParaRPr sz="950"/>
                    </a:p>
                    <a:p>
                      <a:pPr algn="l"/>
                      <a:r>
                        <a:rPr sz="950" b="0" i="0">
                          <a:solidFill>
                            <a:srgbClr val="1F2937"/>
                          </a:solidFill>
                          <a:latin typeface="Arial"/>
                        </a:rPr>
                        <a:t>Halder &amp; Jayadev, Azim Premji University,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Pre/post analysis of the scheme over 27 months (Jan 2023 to Mar 2025)</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BMTC ridership: 28.9 million trips</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BMTC only; ridership focus, no operator tooling</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t" lIns="45720" tIns="27432" rIns="45720" bIns="27432"/>
                    <a:lstStyle/>
                    <a:p>
                      <a:pPr algn="l"/>
                      <a:r>
                        <a:rPr sz="950" b="0" i="0">
                          <a:solidFill>
                            <a:srgbClr val="1F2937"/>
                          </a:solidFill>
                          <a:latin typeface="Arial"/>
                        </a:rPr>
                        <a:t>Free rides must still be counted: DBARS will store fare value and fare collected separately</a:t>
                      </a:r>
                      <a:endParaRPr sz="950"/>
                    </a:p>
                  </a:txBody>
                  <a:tcPr marL="45720" marT="27432" marR="45720" marB="27432" anchor="t">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Literature Survey: Gaps in Existing Work</a:t>
            </a:r>
          </a:p>
        </p:txBody>
      </p:sp>
      <p:sp>
        <p:nvSpPr>
          <p:cNvPr id="3" name="Rounded Rectangle 2"/>
          <p:cNvSpPr/>
          <p:nvPr/>
        </p:nvSpPr>
        <p:spPr>
          <a:xfrm>
            <a:off x="457200" y="914400"/>
            <a:ext cx="8988552" cy="969264"/>
          </a:xfrm>
          <a:prstGeom prst="roundRect">
            <a:avLst>
              <a:gd name="adj" fmla="val 6000"/>
            </a:avLst>
          </a:prstGeom>
          <a:solidFill>
            <a:srgbClr val="F3F4F6"/>
          </a:solidFill>
          <a:ln>
            <a:noFill/>
          </a:ln>
          <a:effectLst/>
        </p:spPr>
        <p:txBody>
          <a:bodyPr rtlCol="0" anchor="ctr"/>
          <a:lstStyle/>
          <a:p>
            <a:pPr algn="ctr"/>
          </a:p>
        </p:txBody>
      </p:sp>
      <p:sp>
        <p:nvSpPr>
          <p:cNvPr id="4" name="Rounded Rectangle 3"/>
          <p:cNvSpPr/>
          <p:nvPr/>
        </p:nvSpPr>
        <p:spPr>
          <a:xfrm>
            <a:off x="566928" y="1097280"/>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G1</a:t>
            </a:r>
            <a:endParaRPr sz="1600"/>
          </a:p>
        </p:txBody>
      </p:sp>
      <p:sp>
        <p:nvSpPr>
          <p:cNvPr id="5" name="TextBox 4"/>
          <p:cNvSpPr txBox="1"/>
          <p:nvPr/>
        </p:nvSpPr>
        <p:spPr>
          <a:xfrm>
            <a:off x="1371600" y="960120"/>
            <a:ext cx="7955279" cy="310896"/>
          </a:xfrm>
          <a:prstGeom prst="rect">
            <a:avLst/>
          </a:prstGeom>
          <a:noFill/>
        </p:spPr>
        <p:txBody>
          <a:bodyPr wrap="square" anchor="ctr" lIns="73152" rIns="73152"/>
          <a:lstStyle/>
          <a:p>
            <a:pPr algn="l"/>
            <a:r>
              <a:rPr sz="1400" b="1" i="0">
                <a:solidFill>
                  <a:srgbClr val="C00000"/>
                </a:solidFill>
                <a:latin typeface="Arial"/>
              </a:rPr>
              <a:t>Passenger and operator sides are studied separately</a:t>
            </a:r>
            <a:endParaRPr sz="1400"/>
          </a:p>
        </p:txBody>
      </p:sp>
      <p:sp>
        <p:nvSpPr>
          <p:cNvPr id="6" name="TextBox 5"/>
          <p:cNvSpPr txBox="1"/>
          <p:nvPr/>
        </p:nvSpPr>
        <p:spPr>
          <a:xfrm>
            <a:off x="1371600" y="1280160"/>
            <a:ext cx="7955279" cy="585216"/>
          </a:xfrm>
          <a:prstGeom prst="rect">
            <a:avLst/>
          </a:prstGeom>
          <a:noFill/>
        </p:spPr>
        <p:txBody>
          <a:bodyPr wrap="square" anchor="t" lIns="73152" rIns="73152"/>
          <a:lstStyle/>
          <a:p>
            <a:pPr algn="l"/>
            <a:r>
              <a:rPr sz="1200" b="0" i="0">
                <a:solidFill>
                  <a:srgbClr val="1F2937"/>
                </a:solidFill>
                <a:latin typeface="Arial"/>
              </a:rPr>
              <a:t>Journey-planning work optimises the rider's trip [1]; scheduling work optimises buses or crews [4-7]. None of the surveyed papers derives a commuter search, a fleet size and a crew roster from one dataset.</a:t>
            </a:r>
            <a:endParaRPr sz="1200"/>
          </a:p>
        </p:txBody>
      </p:sp>
      <p:sp>
        <p:nvSpPr>
          <p:cNvPr id="7" name="Rounded Rectangle 6"/>
          <p:cNvSpPr/>
          <p:nvPr/>
        </p:nvSpPr>
        <p:spPr>
          <a:xfrm>
            <a:off x="457200" y="1975104"/>
            <a:ext cx="8988552" cy="969264"/>
          </a:xfrm>
          <a:prstGeom prst="roundRect">
            <a:avLst>
              <a:gd name="adj" fmla="val 6000"/>
            </a:avLst>
          </a:prstGeom>
          <a:solidFill>
            <a:srgbClr val="F3F4F6"/>
          </a:solidFill>
          <a:ln>
            <a:noFill/>
          </a:ln>
          <a:effectLst/>
        </p:spPr>
        <p:txBody>
          <a:bodyPr rtlCol="0" anchor="ctr"/>
          <a:lstStyle/>
          <a:p>
            <a:pPr algn="ctr"/>
          </a:p>
        </p:txBody>
      </p:sp>
      <p:sp>
        <p:nvSpPr>
          <p:cNvPr id="8" name="Rounded Rectangle 7"/>
          <p:cNvSpPr/>
          <p:nvPr/>
        </p:nvSpPr>
        <p:spPr>
          <a:xfrm>
            <a:off x="566928" y="2157984"/>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G2</a:t>
            </a:r>
            <a:endParaRPr sz="1600"/>
          </a:p>
        </p:txBody>
      </p:sp>
      <p:sp>
        <p:nvSpPr>
          <p:cNvPr id="9" name="TextBox 8"/>
          <p:cNvSpPr txBox="1"/>
          <p:nvPr/>
        </p:nvSpPr>
        <p:spPr>
          <a:xfrm>
            <a:off x="1371600" y="2020824"/>
            <a:ext cx="7955279" cy="310896"/>
          </a:xfrm>
          <a:prstGeom prst="rect">
            <a:avLst/>
          </a:prstGeom>
          <a:noFill/>
        </p:spPr>
        <p:txBody>
          <a:bodyPr wrap="square" anchor="ctr" lIns="73152" rIns="73152"/>
          <a:lstStyle/>
          <a:p>
            <a:pPr algn="l"/>
            <a:r>
              <a:rPr sz="1400" b="1" i="0">
                <a:solidFill>
                  <a:srgbClr val="C00000"/>
                </a:solidFill>
                <a:latin typeface="Arial"/>
              </a:rPr>
              <a:t>Scheduling methods are validated on small instances</a:t>
            </a:r>
            <a:endParaRPr sz="1400"/>
          </a:p>
        </p:txBody>
      </p:sp>
      <p:sp>
        <p:nvSpPr>
          <p:cNvPr id="10" name="TextBox 9"/>
          <p:cNvSpPr txBox="1"/>
          <p:nvPr/>
        </p:nvSpPr>
        <p:spPr>
          <a:xfrm>
            <a:off x="1371600" y="2340864"/>
            <a:ext cx="7955279" cy="585216"/>
          </a:xfrm>
          <a:prstGeom prst="rect">
            <a:avLst/>
          </a:prstGeom>
          <a:noFill/>
        </p:spPr>
        <p:txBody>
          <a:bodyPr wrap="square" anchor="t" lIns="73152" rIns="73152"/>
          <a:lstStyle/>
          <a:p>
            <a:pPr algn="l"/>
            <a:r>
              <a:rPr sz="1200" b="0" i="0">
                <a:solidFill>
                  <a:srgbClr val="1F2937"/>
                </a:solidFill>
                <a:latin typeface="Arial"/>
              </a:rPr>
              <a:t>Reported tests: six bus lines [4], up to 30 trips [5], 42 to 595 shifts [6], 200 to 400 trips [7]. A full metropolitan timetable (6,737 route-directions, 44 depots) is not covered.</a:t>
            </a:r>
            <a:endParaRPr sz="1200"/>
          </a:p>
        </p:txBody>
      </p:sp>
      <p:sp>
        <p:nvSpPr>
          <p:cNvPr id="11" name="Rounded Rectangle 10"/>
          <p:cNvSpPr/>
          <p:nvPr/>
        </p:nvSpPr>
        <p:spPr>
          <a:xfrm>
            <a:off x="457200" y="3035808"/>
            <a:ext cx="8988552" cy="969264"/>
          </a:xfrm>
          <a:prstGeom prst="roundRect">
            <a:avLst>
              <a:gd name="adj" fmla="val 6000"/>
            </a:avLst>
          </a:prstGeom>
          <a:solidFill>
            <a:srgbClr val="F3F4F6"/>
          </a:solidFill>
          <a:ln>
            <a:noFill/>
          </a:ln>
          <a:effectLst/>
        </p:spPr>
        <p:txBody>
          <a:bodyPr rtlCol="0" anchor="ctr"/>
          <a:lstStyle/>
          <a:p>
            <a:pPr algn="ctr"/>
          </a:p>
        </p:txBody>
      </p:sp>
      <p:sp>
        <p:nvSpPr>
          <p:cNvPr id="12" name="Rounded Rectangle 11"/>
          <p:cNvSpPr/>
          <p:nvPr/>
        </p:nvSpPr>
        <p:spPr>
          <a:xfrm>
            <a:off x="566928" y="3218688"/>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G3</a:t>
            </a:r>
            <a:endParaRPr sz="1600"/>
          </a:p>
        </p:txBody>
      </p:sp>
      <p:sp>
        <p:nvSpPr>
          <p:cNvPr id="13" name="TextBox 12"/>
          <p:cNvSpPr txBox="1"/>
          <p:nvPr/>
        </p:nvSpPr>
        <p:spPr>
          <a:xfrm>
            <a:off x="1371600" y="3081528"/>
            <a:ext cx="7955279" cy="310896"/>
          </a:xfrm>
          <a:prstGeom prst="rect">
            <a:avLst/>
          </a:prstGeom>
          <a:noFill/>
        </p:spPr>
        <p:txBody>
          <a:bodyPr wrap="square" anchor="ctr" lIns="73152" rIns="73152"/>
          <a:lstStyle/>
          <a:p>
            <a:pPr algn="l"/>
            <a:r>
              <a:rPr sz="1400" b="1" i="0">
                <a:solidFill>
                  <a:srgbClr val="C00000"/>
                </a:solidFill>
                <a:latin typeface="Arial"/>
              </a:rPr>
              <a:t>Open-data work stops at static schedules</a:t>
            </a:r>
            <a:endParaRPr sz="1400"/>
          </a:p>
        </p:txBody>
      </p:sp>
      <p:sp>
        <p:nvSpPr>
          <p:cNvPr id="14" name="TextBox 13"/>
          <p:cNvSpPr txBox="1"/>
          <p:nvPr/>
        </p:nvSpPr>
        <p:spPr>
          <a:xfrm>
            <a:off x="1371600" y="3401568"/>
            <a:ext cx="7955279" cy="585216"/>
          </a:xfrm>
          <a:prstGeom prst="rect">
            <a:avLst/>
          </a:prstGeom>
          <a:noFill/>
        </p:spPr>
        <p:txBody>
          <a:bodyPr wrap="square" anchor="t" lIns="73152" rIns="73152"/>
          <a:lstStyle/>
          <a:p>
            <a:pPr algn="l"/>
            <a:r>
              <a:rPr sz="1200" b="0" i="0">
                <a:solidFill>
                  <a:srgbClr val="1F2937"/>
                </a:solidFill>
                <a:latin typeface="Arial"/>
              </a:rPr>
              <a:t>GTFS studies [2, 3] analyse static feeds, and [3] notes the lack of real-time data. A feed that also carries service alerts and clearly labels estimated or simulated values is still needed.</a:t>
            </a:r>
            <a:endParaRPr sz="1200"/>
          </a:p>
        </p:txBody>
      </p:sp>
      <p:sp>
        <p:nvSpPr>
          <p:cNvPr id="15" name="Rounded Rectangle 14"/>
          <p:cNvSpPr/>
          <p:nvPr/>
        </p:nvSpPr>
        <p:spPr>
          <a:xfrm>
            <a:off x="457200" y="4096512"/>
            <a:ext cx="8988552" cy="969264"/>
          </a:xfrm>
          <a:prstGeom prst="roundRect">
            <a:avLst>
              <a:gd name="adj" fmla="val 6000"/>
            </a:avLst>
          </a:prstGeom>
          <a:solidFill>
            <a:srgbClr val="F3F4F6"/>
          </a:solidFill>
          <a:ln>
            <a:noFill/>
          </a:ln>
          <a:effectLst/>
        </p:spPr>
        <p:txBody>
          <a:bodyPr rtlCol="0" anchor="ctr"/>
          <a:lstStyle/>
          <a:p>
            <a:pPr algn="ctr"/>
          </a:p>
        </p:txBody>
      </p:sp>
      <p:sp>
        <p:nvSpPr>
          <p:cNvPr id="16" name="Rounded Rectangle 15"/>
          <p:cNvSpPr/>
          <p:nvPr/>
        </p:nvSpPr>
        <p:spPr>
          <a:xfrm>
            <a:off x="566928" y="4279392"/>
            <a:ext cx="640080" cy="603504"/>
          </a:xfrm>
          <a:prstGeom prst="roundRect">
            <a:avLst>
              <a:gd name="adj" fmla="val 15000"/>
            </a:avLst>
          </a:prstGeom>
          <a:solidFill>
            <a:srgbClr val="C00000"/>
          </a:solidFill>
          <a:ln>
            <a:noFill/>
          </a:ln>
          <a:effectLst/>
        </p:spPr>
        <p:txBody>
          <a:bodyPr rtlCol="0" anchor="ctr" wrap="square" lIns="0" tIns="0" rIns="0" bIns="0"/>
          <a:lstStyle/>
          <a:p>
            <a:pPr algn="ctr"/>
            <a:r>
              <a:rPr sz="1600" b="1" i="0">
                <a:solidFill>
                  <a:srgbClr val="FFFFFF"/>
                </a:solidFill>
                <a:latin typeface="Arial"/>
              </a:rPr>
              <a:t>G4</a:t>
            </a:r>
            <a:endParaRPr sz="1600"/>
          </a:p>
        </p:txBody>
      </p:sp>
      <p:sp>
        <p:nvSpPr>
          <p:cNvPr id="17" name="TextBox 16"/>
          <p:cNvSpPr txBox="1"/>
          <p:nvPr/>
        </p:nvSpPr>
        <p:spPr>
          <a:xfrm>
            <a:off x="1371600" y="4142232"/>
            <a:ext cx="7955279" cy="310896"/>
          </a:xfrm>
          <a:prstGeom prst="rect">
            <a:avLst/>
          </a:prstGeom>
          <a:noFill/>
        </p:spPr>
        <p:txBody>
          <a:bodyPr wrap="square" anchor="ctr" lIns="73152" rIns="73152"/>
          <a:lstStyle/>
          <a:p>
            <a:pPr algn="l"/>
            <a:r>
              <a:rPr sz="1400" b="1" i="0">
                <a:solidFill>
                  <a:srgbClr val="C00000"/>
                </a:solidFill>
                <a:latin typeface="Arial"/>
              </a:rPr>
              <a:t>Demand knowledge does not reach dispatch decisions</a:t>
            </a:r>
            <a:endParaRPr sz="1400"/>
          </a:p>
        </p:txBody>
      </p:sp>
      <p:sp>
        <p:nvSpPr>
          <p:cNvPr id="18" name="TextBox 17"/>
          <p:cNvSpPr txBox="1"/>
          <p:nvPr/>
        </p:nvSpPr>
        <p:spPr>
          <a:xfrm>
            <a:off x="1371600" y="4462272"/>
            <a:ext cx="7955279" cy="585216"/>
          </a:xfrm>
          <a:prstGeom prst="rect">
            <a:avLst/>
          </a:prstGeom>
          <a:noFill/>
        </p:spPr>
        <p:txBody>
          <a:bodyPr wrap="square" anchor="t" lIns="73152" rIns="73152"/>
          <a:lstStyle/>
          <a:p>
            <a:pPr algn="l"/>
            <a:r>
              <a:rPr sz="1200" b="0" i="0">
                <a:solidFill>
                  <a:srgbClr val="1F2937"/>
                </a:solidFill>
                <a:latin typeface="Arial"/>
              </a:rPr>
              <a:t>BMTC demand studies [8, 9] are offline statistical models. No surveyed work lets commuters express unmet demand and turns it into ranked recommendations for a depot manager.</a:t>
            </a:r>
            <a:endParaRPr sz="1200"/>
          </a:p>
        </p:txBody>
      </p:sp>
      <p:sp>
        <p:nvSpPr>
          <p:cNvPr id="19" name="Rounded Rectangle 18"/>
          <p:cNvSpPr/>
          <p:nvPr/>
        </p:nvSpPr>
        <p:spPr>
          <a:xfrm>
            <a:off x="457200" y="5175504"/>
            <a:ext cx="8988552" cy="658368"/>
          </a:xfrm>
          <a:prstGeom prst="roundRect">
            <a:avLst>
              <a:gd name="adj" fmla="val 10000"/>
            </a:avLst>
          </a:prstGeom>
          <a:solidFill>
            <a:srgbClr val="1F2937"/>
          </a:solidFill>
          <a:ln>
            <a:noFill/>
          </a:ln>
          <a:effectLst/>
        </p:spPr>
        <p:txBody>
          <a:bodyPr rtlCol="0" anchor="ctr" wrap="square" lIns="228600" rIns="228600"/>
          <a:lstStyle/>
          <a:p>
            <a:pPr algn="l"/>
            <a:r>
              <a:rPr sz="1300" b="1" i="0">
                <a:solidFill>
                  <a:srgbClr val="FFC9C9"/>
                </a:solidFill>
                <a:latin typeface="Arial"/>
              </a:rPr>
              <a:t>Bridge to our project: </a:t>
            </a:r>
            <a:r>
              <a:rPr sz="1300" b="0" i="0">
                <a:solidFill>
                  <a:srgbClr val="FFFFFF"/>
                </a:solidFill>
                <a:latin typeface="Arial"/>
              </a:rPr>
              <a:t>DBARS will answer both sides of the same question from one BMTC dataset, publish it as GTFS, and close the loop from commuter demand to depot dispatch.</a:t>
            </a:r>
            <a:endParaRPr sz="13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Proposed Work / Problem Statement</a:t>
            </a:r>
          </a:p>
        </p:txBody>
      </p:sp>
      <p:sp>
        <p:nvSpPr>
          <p:cNvPr id="3" name="Rounded Rectangle 2"/>
          <p:cNvSpPr/>
          <p:nvPr/>
        </p:nvSpPr>
        <p:spPr>
          <a:xfrm>
            <a:off x="457200" y="914400"/>
            <a:ext cx="8988552" cy="2011680"/>
          </a:xfrm>
          <a:prstGeom prst="roundRect">
            <a:avLst>
              <a:gd name="adj" fmla="val 5000"/>
            </a:avLst>
          </a:prstGeom>
          <a:solidFill>
            <a:srgbClr val="E6F4EA"/>
          </a:solidFill>
          <a:ln>
            <a:noFill/>
          </a:ln>
          <a:effectLst/>
        </p:spPr>
        <p:txBody>
          <a:bodyPr rtlCol="0" anchor="ctr" wrap="square" lIns="274320" tIns="91440" rIns="274320" bIns="91440"/>
          <a:lstStyle/>
          <a:p>
            <a:pPr algn="l">
              <a:spcAft>
                <a:spcPts val="600"/>
              </a:spcAft>
            </a:pPr>
            <a:r>
              <a:rPr sz="1400" b="0" i="0">
                <a:solidFill>
                  <a:srgbClr val="1F2937"/>
                </a:solidFill>
                <a:latin typeface="Arial"/>
              </a:rPr>
              <a:t>Bengaluru's bus network, with 3,940 bus numbers serving 4,883 stops, is hard to navigate, and the software around it mostly solves one side of the problem. Commuter apps say which bus to catch, but none of the apps we reviewed links a commuter's need to the number of buses and crew a timetable requires.</a:t>
            </a:r>
            <a:endParaRPr sz="1400"/>
          </a:p>
          <a:p>
            <a:pPr algn="l"/>
            <a:r>
              <a:rPr sz="1400" b="0" i="0">
                <a:solidFill>
                  <a:srgbClr val="1F2937"/>
                </a:solidFill>
                <a:latin typeface="Arial"/>
              </a:rPr>
              <a:t>There is therefore a need for one data-driven platform that answers both sides from a single BMTC dataset: journey search with transfers, minimum fleet and crew planning, demand-to-dispatch feedback and open GTFS data, while stating clearly what is modelled and what is measured.</a:t>
            </a:r>
            <a:endParaRPr sz="1400"/>
          </a:p>
        </p:txBody>
      </p:sp>
      <p:sp>
        <p:nvSpPr>
          <p:cNvPr id="4" name="Rounded Rectangle 3"/>
          <p:cNvSpPr/>
          <p:nvPr/>
        </p:nvSpPr>
        <p:spPr>
          <a:xfrm>
            <a:off x="457200" y="3108960"/>
            <a:ext cx="2916936" cy="2011680"/>
          </a:xfrm>
          <a:prstGeom prst="roundRect">
            <a:avLst>
              <a:gd name="adj" fmla="val 6000"/>
            </a:avLst>
          </a:prstGeom>
          <a:solidFill>
            <a:srgbClr val="F3F4F6"/>
          </a:solidFill>
          <a:ln>
            <a:noFill/>
          </a:ln>
          <a:effectLst/>
        </p:spPr>
        <p:txBody>
          <a:bodyPr rtlCol="0" anchor="ctr"/>
          <a:lstStyle/>
          <a:p>
            <a:pPr algn="ctr"/>
          </a:p>
        </p:txBody>
      </p:sp>
      <p:sp>
        <p:nvSpPr>
          <p:cNvPr id="5" name="Oval 4"/>
          <p:cNvSpPr/>
          <p:nvPr/>
        </p:nvSpPr>
        <p:spPr>
          <a:xfrm>
            <a:off x="621792" y="325526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1</a:t>
            </a:r>
            <a:endParaRPr sz="1300"/>
          </a:p>
        </p:txBody>
      </p:sp>
      <p:sp>
        <p:nvSpPr>
          <p:cNvPr id="6" name="TextBox 5"/>
          <p:cNvSpPr txBox="1"/>
          <p:nvPr/>
        </p:nvSpPr>
        <p:spPr>
          <a:xfrm>
            <a:off x="1097280" y="3255264"/>
            <a:ext cx="2185415" cy="365760"/>
          </a:xfrm>
          <a:prstGeom prst="rect">
            <a:avLst/>
          </a:prstGeom>
          <a:noFill/>
        </p:spPr>
        <p:txBody>
          <a:bodyPr wrap="square" anchor="ctr" lIns="73152" rIns="73152"/>
          <a:lstStyle/>
          <a:p>
            <a:pPr algn="l"/>
            <a:r>
              <a:rPr sz="1500" b="1" i="0">
                <a:solidFill>
                  <a:srgbClr val="C00000"/>
                </a:solidFill>
                <a:latin typeface="Arial"/>
              </a:rPr>
              <a:t>Commuters</a:t>
            </a:r>
            <a:endParaRPr sz="1500"/>
          </a:p>
        </p:txBody>
      </p:sp>
      <p:sp>
        <p:nvSpPr>
          <p:cNvPr id="7" name="TextBox 6"/>
          <p:cNvSpPr txBox="1"/>
          <p:nvPr/>
        </p:nvSpPr>
        <p:spPr>
          <a:xfrm>
            <a:off x="594360" y="3749039"/>
            <a:ext cx="2642616" cy="1325880"/>
          </a:xfrm>
          <a:prstGeom prst="rect">
            <a:avLst/>
          </a:prstGeom>
          <a:noFill/>
        </p:spPr>
        <p:txBody>
          <a:bodyPr wrap="square" anchor="t" lIns="73152" rIns="73152"/>
          <a:lstStyle/>
          <a:p>
            <a:pPr algn="l"/>
            <a:r>
              <a:rPr sz="1300" b="0" i="0">
                <a:solidFill>
                  <a:srgbClr val="1F2937"/>
                </a:solidFill>
                <a:latin typeface="Arial"/>
              </a:rPr>
              <a:t>Which of 3,940 buses goes from A to B, especially when a change is needed, and where do they want more service?</a:t>
            </a:r>
            <a:endParaRPr sz="1300"/>
          </a:p>
        </p:txBody>
      </p:sp>
      <p:sp>
        <p:nvSpPr>
          <p:cNvPr id="8" name="Rounded Rectangle 7"/>
          <p:cNvSpPr/>
          <p:nvPr/>
        </p:nvSpPr>
        <p:spPr>
          <a:xfrm>
            <a:off x="3493008" y="3108960"/>
            <a:ext cx="2916936" cy="2011680"/>
          </a:xfrm>
          <a:prstGeom prst="roundRect">
            <a:avLst>
              <a:gd name="adj" fmla="val 6000"/>
            </a:avLst>
          </a:prstGeom>
          <a:solidFill>
            <a:srgbClr val="F3F4F6"/>
          </a:solidFill>
          <a:ln>
            <a:noFill/>
          </a:ln>
          <a:effectLst/>
        </p:spPr>
        <p:txBody>
          <a:bodyPr rtlCol="0" anchor="ctr"/>
          <a:lstStyle/>
          <a:p>
            <a:pPr algn="ctr"/>
          </a:p>
        </p:txBody>
      </p:sp>
      <p:sp>
        <p:nvSpPr>
          <p:cNvPr id="9" name="Oval 8"/>
          <p:cNvSpPr/>
          <p:nvPr/>
        </p:nvSpPr>
        <p:spPr>
          <a:xfrm>
            <a:off x="3657600" y="325526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2</a:t>
            </a:r>
            <a:endParaRPr sz="1300"/>
          </a:p>
        </p:txBody>
      </p:sp>
      <p:sp>
        <p:nvSpPr>
          <p:cNvPr id="10" name="TextBox 9"/>
          <p:cNvSpPr txBox="1"/>
          <p:nvPr/>
        </p:nvSpPr>
        <p:spPr>
          <a:xfrm>
            <a:off x="4133087" y="3255264"/>
            <a:ext cx="2185415" cy="365760"/>
          </a:xfrm>
          <a:prstGeom prst="rect">
            <a:avLst/>
          </a:prstGeom>
          <a:noFill/>
        </p:spPr>
        <p:txBody>
          <a:bodyPr wrap="square" anchor="ctr" lIns="73152" rIns="73152"/>
          <a:lstStyle/>
          <a:p>
            <a:pPr algn="l"/>
            <a:r>
              <a:rPr sz="1500" b="1" i="0">
                <a:solidFill>
                  <a:srgbClr val="C00000"/>
                </a:solidFill>
                <a:latin typeface="Arial"/>
              </a:rPr>
              <a:t>Operator</a:t>
            </a:r>
            <a:endParaRPr sz="1500"/>
          </a:p>
        </p:txBody>
      </p:sp>
      <p:sp>
        <p:nvSpPr>
          <p:cNvPr id="11" name="TextBox 10"/>
          <p:cNvSpPr txBox="1"/>
          <p:nvPr/>
        </p:nvSpPr>
        <p:spPr>
          <a:xfrm>
            <a:off x="3630168" y="3749039"/>
            <a:ext cx="2642616" cy="1325880"/>
          </a:xfrm>
          <a:prstGeom prst="rect">
            <a:avLst/>
          </a:prstGeom>
          <a:noFill/>
        </p:spPr>
        <p:txBody>
          <a:bodyPr wrap="square" anchor="t" lIns="73152" rIns="73152"/>
          <a:lstStyle/>
          <a:p>
            <a:pPr algn="l"/>
            <a:r>
              <a:rPr sz="1300" b="0" i="0">
                <a:solidFill>
                  <a:srgbClr val="1F2937"/>
                </a:solidFill>
                <a:latin typeface="Arial"/>
              </a:rPr>
              <a:t>How many buses, empty kilometres and crew duties does this timetable really need?</a:t>
            </a:r>
            <a:endParaRPr sz="1300"/>
          </a:p>
        </p:txBody>
      </p:sp>
      <p:sp>
        <p:nvSpPr>
          <p:cNvPr id="12" name="Rounded Rectangle 11"/>
          <p:cNvSpPr/>
          <p:nvPr/>
        </p:nvSpPr>
        <p:spPr>
          <a:xfrm>
            <a:off x="6528816" y="3108960"/>
            <a:ext cx="2916936" cy="2011680"/>
          </a:xfrm>
          <a:prstGeom prst="roundRect">
            <a:avLst>
              <a:gd name="adj" fmla="val 6000"/>
            </a:avLst>
          </a:prstGeom>
          <a:solidFill>
            <a:srgbClr val="F3F4F6"/>
          </a:solidFill>
          <a:ln>
            <a:noFill/>
          </a:ln>
          <a:effectLst/>
        </p:spPr>
        <p:txBody>
          <a:bodyPr rtlCol="0" anchor="ctr"/>
          <a:lstStyle/>
          <a:p>
            <a:pPr algn="ctr"/>
          </a:p>
        </p:txBody>
      </p:sp>
      <p:sp>
        <p:nvSpPr>
          <p:cNvPr id="13" name="Oval 12"/>
          <p:cNvSpPr/>
          <p:nvPr/>
        </p:nvSpPr>
        <p:spPr>
          <a:xfrm>
            <a:off x="6693407" y="325526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3</a:t>
            </a:r>
            <a:endParaRPr sz="1300"/>
          </a:p>
        </p:txBody>
      </p:sp>
      <p:sp>
        <p:nvSpPr>
          <p:cNvPr id="14" name="TextBox 13"/>
          <p:cNvSpPr txBox="1"/>
          <p:nvPr/>
        </p:nvSpPr>
        <p:spPr>
          <a:xfrm>
            <a:off x="7168896" y="3255264"/>
            <a:ext cx="2185415" cy="365760"/>
          </a:xfrm>
          <a:prstGeom prst="rect">
            <a:avLst/>
          </a:prstGeom>
          <a:noFill/>
        </p:spPr>
        <p:txBody>
          <a:bodyPr wrap="square" anchor="ctr" lIns="73152" rIns="73152"/>
          <a:lstStyle/>
          <a:p>
            <a:pPr algn="l"/>
            <a:r>
              <a:rPr sz="1500" b="1" i="0">
                <a:solidFill>
                  <a:srgbClr val="C00000"/>
                </a:solidFill>
                <a:latin typeface="Arial"/>
              </a:rPr>
              <a:t>Ecosystem</a:t>
            </a:r>
            <a:endParaRPr sz="1500"/>
          </a:p>
        </p:txBody>
      </p:sp>
      <p:sp>
        <p:nvSpPr>
          <p:cNvPr id="15" name="TextBox 14"/>
          <p:cNvSpPr txBox="1"/>
          <p:nvPr/>
        </p:nvSpPr>
        <p:spPr>
          <a:xfrm>
            <a:off x="6665976" y="3749039"/>
            <a:ext cx="2642616" cy="1325880"/>
          </a:xfrm>
          <a:prstGeom prst="rect">
            <a:avLst/>
          </a:prstGeom>
          <a:noFill/>
        </p:spPr>
        <p:txBody>
          <a:bodyPr wrap="square" anchor="t" lIns="73152" rIns="73152"/>
          <a:lstStyle/>
          <a:p>
            <a:pPr algn="l"/>
            <a:r>
              <a:rPr sz="1300" b="0" i="0">
                <a:solidFill>
                  <a:srgbClr val="1F2937"/>
                </a:solidFill>
                <a:latin typeface="Arial"/>
              </a:rPr>
              <a:t>The public BMTC feed listing is a static schedule [18]. Alerts and clearly labelled live-versus-estimated data are still needed.</a:t>
            </a:r>
            <a:endParaRPr sz="1300"/>
          </a:p>
        </p:txBody>
      </p:sp>
      <p:sp>
        <p:nvSpPr>
          <p:cNvPr id="16" name="Rounded Rectangle 15"/>
          <p:cNvSpPr/>
          <p:nvPr/>
        </p:nvSpPr>
        <p:spPr>
          <a:xfrm>
            <a:off x="457200" y="5303520"/>
            <a:ext cx="8988552" cy="914400"/>
          </a:xfrm>
          <a:prstGeom prst="roundRect">
            <a:avLst>
              <a:gd name="adj" fmla="val 8000"/>
            </a:avLst>
          </a:prstGeom>
          <a:solidFill>
            <a:srgbClr val="FFFFFF"/>
          </a:solidFill>
          <a:ln w="15875">
            <a:solidFill>
              <a:srgbClr val="C00000"/>
            </a:solidFill>
          </a:ln>
          <a:effectLst/>
        </p:spPr>
        <p:txBody>
          <a:bodyPr rtlCol="0" anchor="ctr" wrap="square" lIns="228600" rIns="228600"/>
          <a:lstStyle/>
          <a:p>
            <a:pPr algn="l"/>
            <a:r>
              <a:rPr sz="1300" b="1" i="0">
                <a:solidFill>
                  <a:srgbClr val="C00000"/>
                </a:solidFill>
                <a:latin typeface="Arial"/>
              </a:rPr>
              <a:t>Title expanded: </a:t>
            </a:r>
            <a:r>
              <a:rPr sz="1300" b="0" i="0">
                <a:solidFill>
                  <a:srgbClr val="1F2937"/>
                </a:solidFill>
                <a:latin typeface="Arial"/>
              </a:rPr>
              <a:t>Demand Based Bus Allocation = commuter demand becomes an operator decision. Routing System = the journey planner based on the same data.</a:t>
            </a:r>
            <a:endParaRPr sz="13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Objectives</a:t>
            </a:r>
          </a:p>
        </p:txBody>
      </p:sp>
      <p:sp>
        <p:nvSpPr>
          <p:cNvPr id="3" name="Rounded Rectangle 2"/>
          <p:cNvSpPr/>
          <p:nvPr/>
        </p:nvSpPr>
        <p:spPr>
          <a:xfrm>
            <a:off x="457200" y="914400"/>
            <a:ext cx="8988552" cy="1261872"/>
          </a:xfrm>
          <a:prstGeom prst="roundRect">
            <a:avLst>
              <a:gd name="adj" fmla="val 5000"/>
            </a:avLst>
          </a:prstGeom>
          <a:solidFill>
            <a:srgbClr val="F3F4F6"/>
          </a:solidFill>
          <a:ln>
            <a:noFill/>
          </a:ln>
          <a:effectLst/>
        </p:spPr>
        <p:txBody>
          <a:bodyPr rtlCol="0" anchor="ctr"/>
          <a:lstStyle/>
          <a:p>
            <a:pPr algn="ctr"/>
          </a:p>
        </p:txBody>
      </p:sp>
      <p:sp>
        <p:nvSpPr>
          <p:cNvPr id="4" name="Oval 3"/>
          <p:cNvSpPr/>
          <p:nvPr/>
        </p:nvSpPr>
        <p:spPr>
          <a:xfrm>
            <a:off x="594360" y="1042416"/>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1</a:t>
            </a:r>
            <a:endParaRPr sz="1600"/>
          </a:p>
        </p:txBody>
      </p:sp>
      <p:sp>
        <p:nvSpPr>
          <p:cNvPr id="5" name="TextBox 4"/>
          <p:cNvSpPr txBox="1"/>
          <p:nvPr/>
        </p:nvSpPr>
        <p:spPr>
          <a:xfrm>
            <a:off x="1234440" y="987552"/>
            <a:ext cx="8092440" cy="603504"/>
          </a:xfrm>
          <a:prstGeom prst="rect">
            <a:avLst/>
          </a:prstGeom>
          <a:noFill/>
        </p:spPr>
        <p:txBody>
          <a:bodyPr wrap="square" anchor="ctr" lIns="73152" rIns="73152"/>
          <a:lstStyle/>
          <a:p>
            <a:pPr algn="l"/>
            <a:r>
              <a:rPr sz="1400" b="1" i="0">
                <a:solidFill>
                  <a:srgbClr val="C00000"/>
                </a:solidFill>
                <a:latin typeface="Arial"/>
              </a:rPr>
              <a:t>To develop </a:t>
            </a:r>
            <a:r>
              <a:rPr sz="1400" b="0" i="0">
                <a:solidFill>
                  <a:srgbClr val="1F2937"/>
                </a:solidFill>
                <a:latin typeface="Arial"/>
              </a:rPr>
              <a:t>a journey planner for direct, one-change and two-change bus journeys between any two of the 4,883 stops.</a:t>
            </a:r>
            <a:endParaRPr sz="1400"/>
          </a:p>
        </p:txBody>
      </p:sp>
      <p:sp>
        <p:nvSpPr>
          <p:cNvPr id="6" name="TextBox 5"/>
          <p:cNvSpPr txBox="1"/>
          <p:nvPr/>
        </p:nvSpPr>
        <p:spPr>
          <a:xfrm>
            <a:off x="1234440" y="1591056"/>
            <a:ext cx="8092440" cy="566928"/>
          </a:xfrm>
          <a:prstGeom prst="rect">
            <a:avLst/>
          </a:prstGeom>
          <a:noFill/>
        </p:spPr>
        <p:txBody>
          <a:bodyPr wrap="square" anchor="t" lIns="73152" rIns="73152"/>
          <a:lstStyle/>
          <a:p>
            <a:pPr algn="l"/>
            <a:r>
              <a:rPr sz="1150" b="0" i="1">
                <a:solidFill>
                  <a:srgbClr val="4B5563"/>
                </a:solidFill>
                <a:latin typeface="Arial"/>
              </a:rPr>
              <a:t>Target: the correct bus comes up as the top suggestion in the large majority of cases, and results return quickly enough to feel instant.</a:t>
            </a:r>
            <a:endParaRPr sz="1150"/>
          </a:p>
        </p:txBody>
      </p:sp>
      <p:sp>
        <p:nvSpPr>
          <p:cNvPr id="7" name="Rounded Rectangle 6"/>
          <p:cNvSpPr/>
          <p:nvPr/>
        </p:nvSpPr>
        <p:spPr>
          <a:xfrm>
            <a:off x="457200" y="2258568"/>
            <a:ext cx="8988552" cy="1261872"/>
          </a:xfrm>
          <a:prstGeom prst="roundRect">
            <a:avLst>
              <a:gd name="adj" fmla="val 5000"/>
            </a:avLst>
          </a:prstGeom>
          <a:solidFill>
            <a:srgbClr val="F3F4F6"/>
          </a:solidFill>
          <a:ln>
            <a:noFill/>
          </a:ln>
          <a:effectLst/>
        </p:spPr>
        <p:txBody>
          <a:bodyPr rtlCol="0" anchor="ctr"/>
          <a:lstStyle/>
          <a:p>
            <a:pPr algn="ctr"/>
          </a:p>
        </p:txBody>
      </p:sp>
      <p:sp>
        <p:nvSpPr>
          <p:cNvPr id="8" name="Oval 7"/>
          <p:cNvSpPr/>
          <p:nvPr/>
        </p:nvSpPr>
        <p:spPr>
          <a:xfrm>
            <a:off x="594360" y="2386584"/>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2</a:t>
            </a:r>
            <a:endParaRPr sz="1600"/>
          </a:p>
        </p:txBody>
      </p:sp>
      <p:sp>
        <p:nvSpPr>
          <p:cNvPr id="9" name="TextBox 8"/>
          <p:cNvSpPr txBox="1"/>
          <p:nvPr/>
        </p:nvSpPr>
        <p:spPr>
          <a:xfrm>
            <a:off x="1234440" y="2331720"/>
            <a:ext cx="8092440" cy="603504"/>
          </a:xfrm>
          <a:prstGeom prst="rect">
            <a:avLst/>
          </a:prstGeom>
          <a:noFill/>
        </p:spPr>
        <p:txBody>
          <a:bodyPr wrap="square" anchor="ctr" lIns="73152" rIns="73152"/>
          <a:lstStyle/>
          <a:p>
            <a:pPr algn="l"/>
            <a:r>
              <a:rPr sz="1400" b="1" i="0">
                <a:solidFill>
                  <a:srgbClr val="C00000"/>
                </a:solidFill>
                <a:latin typeface="Arial"/>
              </a:rPr>
              <a:t>To establish </a:t>
            </a:r>
            <a:r>
              <a:rPr sz="1400" b="0" i="0">
                <a:solidFill>
                  <a:srgbClr val="1F2937"/>
                </a:solidFill>
                <a:latin typeface="Arial"/>
              </a:rPr>
              <a:t>an operations planner that works out the minimum fleet, dead kilometres and crew duties a timetable needs.</a:t>
            </a:r>
            <a:endParaRPr sz="1400"/>
          </a:p>
        </p:txBody>
      </p:sp>
      <p:sp>
        <p:nvSpPr>
          <p:cNvPr id="10" name="TextBox 9"/>
          <p:cNvSpPr txBox="1"/>
          <p:nvPr/>
        </p:nvSpPr>
        <p:spPr>
          <a:xfrm>
            <a:off x="1234440" y="2935224"/>
            <a:ext cx="8092440" cy="566928"/>
          </a:xfrm>
          <a:prstGeom prst="rect">
            <a:avLst/>
          </a:prstGeom>
          <a:noFill/>
        </p:spPr>
        <p:txBody>
          <a:bodyPr wrap="square" anchor="t" lIns="73152" rIns="73152"/>
          <a:lstStyle/>
          <a:p>
            <a:pPr algn="l"/>
            <a:r>
              <a:rPr sz="1150" b="0" i="1">
                <a:solidFill>
                  <a:srgbClr val="4B5563"/>
                </a:solidFill>
                <a:latin typeface="Arial"/>
              </a:rPr>
              <a:t>Target: every fleet number comes with a mathematically justified lower bound, and every result shows the assumptions behind it.</a:t>
            </a:r>
            <a:endParaRPr sz="1150"/>
          </a:p>
        </p:txBody>
      </p:sp>
      <p:sp>
        <p:nvSpPr>
          <p:cNvPr id="11" name="Rounded Rectangle 10"/>
          <p:cNvSpPr/>
          <p:nvPr/>
        </p:nvSpPr>
        <p:spPr>
          <a:xfrm>
            <a:off x="457200" y="3602735"/>
            <a:ext cx="8988552" cy="1261872"/>
          </a:xfrm>
          <a:prstGeom prst="roundRect">
            <a:avLst>
              <a:gd name="adj" fmla="val 5000"/>
            </a:avLst>
          </a:prstGeom>
          <a:solidFill>
            <a:srgbClr val="F3F4F6"/>
          </a:solidFill>
          <a:ln>
            <a:noFill/>
          </a:ln>
          <a:effectLst/>
        </p:spPr>
        <p:txBody>
          <a:bodyPr rtlCol="0" anchor="ctr"/>
          <a:lstStyle/>
          <a:p>
            <a:pPr algn="ctr"/>
          </a:p>
        </p:txBody>
      </p:sp>
      <p:sp>
        <p:nvSpPr>
          <p:cNvPr id="12" name="Oval 11"/>
          <p:cNvSpPr/>
          <p:nvPr/>
        </p:nvSpPr>
        <p:spPr>
          <a:xfrm>
            <a:off x="594360" y="3730751"/>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3</a:t>
            </a:r>
            <a:endParaRPr sz="1600"/>
          </a:p>
        </p:txBody>
      </p:sp>
      <p:sp>
        <p:nvSpPr>
          <p:cNvPr id="13" name="TextBox 12"/>
          <p:cNvSpPr txBox="1"/>
          <p:nvPr/>
        </p:nvSpPr>
        <p:spPr>
          <a:xfrm>
            <a:off x="1234440" y="3675887"/>
            <a:ext cx="8092440" cy="603504"/>
          </a:xfrm>
          <a:prstGeom prst="rect">
            <a:avLst/>
          </a:prstGeom>
          <a:noFill/>
        </p:spPr>
        <p:txBody>
          <a:bodyPr wrap="square" anchor="ctr" lIns="73152" rIns="73152"/>
          <a:lstStyle/>
          <a:p>
            <a:pPr algn="l"/>
            <a:r>
              <a:rPr sz="1400" b="1" i="0">
                <a:solidFill>
                  <a:srgbClr val="C00000"/>
                </a:solidFill>
                <a:latin typeface="Arial"/>
              </a:rPr>
              <a:t>To analyse </a:t>
            </a:r>
            <a:r>
              <a:rPr sz="1400" b="0" i="0">
                <a:solidFill>
                  <a:srgbClr val="1F2937"/>
                </a:solidFill>
                <a:latin typeface="Arial"/>
              </a:rPr>
              <a:t>commuter demand and turn it into action: votes for under-served routes, checked for abuse, become ranked recommendations for depot managers.</a:t>
            </a:r>
            <a:endParaRPr sz="1400"/>
          </a:p>
        </p:txBody>
      </p:sp>
      <p:sp>
        <p:nvSpPr>
          <p:cNvPr id="14" name="TextBox 13"/>
          <p:cNvSpPr txBox="1"/>
          <p:nvPr/>
        </p:nvSpPr>
        <p:spPr>
          <a:xfrm>
            <a:off x="1234440" y="4279392"/>
            <a:ext cx="8092440" cy="566928"/>
          </a:xfrm>
          <a:prstGeom prst="rect">
            <a:avLst/>
          </a:prstGeom>
          <a:noFill/>
        </p:spPr>
        <p:txBody>
          <a:bodyPr wrap="square" anchor="t" lIns="73152" rIns="73152"/>
          <a:lstStyle/>
          <a:p>
            <a:pPr algn="l"/>
            <a:r>
              <a:rPr sz="1150" b="0" i="1">
                <a:solidFill>
                  <a:srgbClr val="4B5563"/>
                </a:solidFill>
                <a:latin typeface="Arial"/>
              </a:rPr>
              <a:t>Target: e-tickets, free Shakti travel and conductor cash are all tracked correctly, with no revenue counted twice.</a:t>
            </a:r>
            <a:endParaRPr sz="1150"/>
          </a:p>
        </p:txBody>
      </p:sp>
      <p:sp>
        <p:nvSpPr>
          <p:cNvPr id="15" name="Rounded Rectangle 14"/>
          <p:cNvSpPr/>
          <p:nvPr/>
        </p:nvSpPr>
        <p:spPr>
          <a:xfrm>
            <a:off x="457200" y="4946903"/>
            <a:ext cx="8988552" cy="1261872"/>
          </a:xfrm>
          <a:prstGeom prst="roundRect">
            <a:avLst>
              <a:gd name="adj" fmla="val 5000"/>
            </a:avLst>
          </a:prstGeom>
          <a:solidFill>
            <a:srgbClr val="F3F4F6"/>
          </a:solidFill>
          <a:ln>
            <a:noFill/>
          </a:ln>
          <a:effectLst/>
        </p:spPr>
        <p:txBody>
          <a:bodyPr rtlCol="0" anchor="ctr"/>
          <a:lstStyle/>
          <a:p>
            <a:pPr algn="ctr"/>
          </a:p>
        </p:txBody>
      </p:sp>
      <p:sp>
        <p:nvSpPr>
          <p:cNvPr id="16" name="Oval 15"/>
          <p:cNvSpPr/>
          <p:nvPr/>
        </p:nvSpPr>
        <p:spPr>
          <a:xfrm>
            <a:off x="594360" y="5074919"/>
            <a:ext cx="457200" cy="457200"/>
          </a:xfrm>
          <a:prstGeom prst="ellipse">
            <a:avLst/>
          </a:prstGeom>
          <a:solidFill>
            <a:srgbClr val="C00000"/>
          </a:solidFill>
          <a:ln>
            <a:noFill/>
          </a:ln>
          <a:effectLst/>
        </p:spPr>
        <p:txBody>
          <a:bodyPr rtlCol="0" anchor="ctr" wrap="none" lIns="0" tIns="0" rIns="0" bIns="0"/>
          <a:lstStyle/>
          <a:p>
            <a:pPr algn="ctr"/>
            <a:r>
              <a:rPr sz="1600" b="1" i="0">
                <a:solidFill>
                  <a:srgbClr val="FFFFFF"/>
                </a:solidFill>
                <a:latin typeface="Arial"/>
              </a:rPr>
              <a:t>4</a:t>
            </a:r>
            <a:endParaRPr sz="1600"/>
          </a:p>
        </p:txBody>
      </p:sp>
      <p:sp>
        <p:nvSpPr>
          <p:cNvPr id="17" name="TextBox 16"/>
          <p:cNvSpPr txBox="1"/>
          <p:nvPr/>
        </p:nvSpPr>
        <p:spPr>
          <a:xfrm>
            <a:off x="1234440" y="5020055"/>
            <a:ext cx="8092440" cy="603504"/>
          </a:xfrm>
          <a:prstGeom prst="rect">
            <a:avLst/>
          </a:prstGeom>
          <a:noFill/>
        </p:spPr>
        <p:txBody>
          <a:bodyPr wrap="square" anchor="ctr" lIns="73152" rIns="73152"/>
          <a:lstStyle/>
          <a:p>
            <a:pPr algn="l"/>
            <a:r>
              <a:rPr sz="1400" b="1" i="0">
                <a:solidFill>
                  <a:srgbClr val="C00000"/>
                </a:solidFill>
                <a:latin typeface="Arial"/>
              </a:rPr>
              <a:t>To publish </a:t>
            </a:r>
            <a:r>
              <a:rPr sz="1400" b="0" i="0">
                <a:solidFill>
                  <a:srgbClr val="1F2937"/>
                </a:solidFill>
                <a:latin typeface="Arial"/>
              </a:rPr>
              <a:t>the network as open data and evaluate the whole system against clear, honest benchmarks.</a:t>
            </a:r>
            <a:endParaRPr sz="1400"/>
          </a:p>
        </p:txBody>
      </p:sp>
      <p:sp>
        <p:nvSpPr>
          <p:cNvPr id="18" name="TextBox 17"/>
          <p:cNvSpPr txBox="1"/>
          <p:nvPr/>
        </p:nvSpPr>
        <p:spPr>
          <a:xfrm>
            <a:off x="1234440" y="5623559"/>
            <a:ext cx="8092440" cy="566928"/>
          </a:xfrm>
          <a:prstGeom prst="rect">
            <a:avLst/>
          </a:prstGeom>
          <a:noFill/>
        </p:spPr>
        <p:txBody>
          <a:bodyPr wrap="square" anchor="t" lIns="73152" rIns="73152"/>
          <a:lstStyle/>
          <a:p>
            <a:pPr algn="l"/>
            <a:r>
              <a:rPr sz="1150" b="0" i="1">
                <a:solidFill>
                  <a:srgbClr val="4B5563"/>
                </a:solidFill>
                <a:latin typeface="Arial"/>
              </a:rPr>
              <a:t>Target: an open-format timetable any app can reuse, with estimates flagged, and accuracy judged by a metric that can genuinely fail.</a:t>
            </a:r>
            <a:endParaRPr sz="115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Methods / Proposed Methodology</a:t>
            </a:r>
          </a:p>
        </p:txBody>
      </p:sp>
      <p:graphicFrame>
        <p:nvGraphicFramePr>
          <p:cNvPr id="3" name="Table 2"/>
          <p:cNvGraphicFramePr>
            <a:graphicFrameLocks noGrp="1"/>
          </p:cNvGraphicFramePr>
          <p:nvPr/>
        </p:nvGraphicFramePr>
        <p:xfrm>
          <a:off x="457200" y="914400"/>
          <a:ext cx="8988552" cy="5358384"/>
        </p:xfrm>
        <a:graphic>
          <a:graphicData uri="http://schemas.openxmlformats.org/drawingml/2006/table">
            <a:tbl>
              <a:tblPr firstRow="0" bandRow="0">
                <a:tableStyleId>{2D5ABB26-0587-4C30-8999-92F81FD0307C}</a:tableStyleId>
              </a:tblPr>
              <a:tblGrid>
                <a:gridCol w="1417320"/>
                <a:gridCol w="4663440"/>
                <a:gridCol w="2907792"/>
              </a:tblGrid>
              <a:tr h="329184">
                <a:tc>
                  <a:txBody>
                    <a:bodyPr wrap="square" anchor="ctr" lIns="73152" tIns="36576" rIns="73152" bIns="36576"/>
                    <a:lstStyle/>
                    <a:p>
                      <a:pPr algn="l"/>
                      <a:r>
                        <a:rPr sz="1200" b="1" i="0">
                          <a:solidFill>
                            <a:srgbClr val="FFFFFF"/>
                          </a:solidFill>
                          <a:latin typeface="Arial"/>
                        </a:rPr>
                        <a:t>Objective</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36576" rIns="73152" bIns="36576"/>
                    <a:lstStyle/>
                    <a:p>
                      <a:pPr algn="l"/>
                      <a:r>
                        <a:rPr sz="1200" b="1" i="0">
                          <a:solidFill>
                            <a:srgbClr val="FFFFFF"/>
                          </a:solidFill>
                          <a:latin typeface="Arial"/>
                        </a:rPr>
                        <a:t>How we will achieve it (method)</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36576" rIns="73152" bIns="36576"/>
                    <a:lstStyle/>
                    <a:p>
                      <a:pPr algn="l"/>
                      <a:r>
                        <a:rPr sz="1200" b="1" i="0">
                          <a:solidFill>
                            <a:srgbClr val="FFFFFF"/>
                          </a:solidFill>
                          <a:latin typeface="Arial"/>
                        </a:rPr>
                        <a:t>Why this method</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1371600">
                <a:tc>
                  <a:txBody>
                    <a:bodyPr wrap="square" anchor="ctr" lIns="73152" tIns="36576" rIns="73152" bIns="36576"/>
                    <a:lstStyle/>
                    <a:p>
                      <a:pPr algn="l"/>
                      <a:r>
                        <a:rPr sz="1100" b="1" i="0">
                          <a:solidFill>
                            <a:srgbClr val="C00000"/>
                          </a:solidFill>
                          <a:latin typeface="Arial"/>
                        </a:rPr>
                        <a:t>1  Journey planner</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Index bus routes by stop sequence so direct and connecting journeys are found quickly</a:t>
                      </a:r>
                      <a:endParaRPr sz="1100"/>
                    </a:p>
                    <a:p>
                      <a:pPr algn="l" marL="164592" indent="-164592">
                        <a:buClr>
                          <a:srgbClr val="C00000"/>
                        </a:buClr>
                        <a:buFont typeface="Arial"/>
                        <a:buChar char="•"/>
                      </a:pPr>
                      <a:r>
                        <a:rPr sz="1100" b="0" i="0">
                          <a:solidFill>
                            <a:srgbClr val="1F2937"/>
                          </a:solidFill>
                          <a:latin typeface="Arial"/>
                        </a:rPr>
                        <a:t>Clean and match stop names, including local names (Majestic = Kempegowda Bus Station)</a:t>
                      </a:r>
                      <a:endParaRPr sz="1100"/>
                    </a:p>
                    <a:p>
                      <a:pPr algn="l" marL="164592" indent="-164592">
                        <a:buClr>
                          <a:srgbClr val="C00000"/>
                        </a:buClr>
                        <a:buFont typeface="Arial"/>
                        <a:buChar char="•"/>
                      </a:pPr>
                      <a:r>
                        <a:rPr sz="1100" b="0" i="0">
                          <a:solidFill>
                            <a:srgbClr val="1F2937"/>
                          </a:solidFill>
                          <a:latin typeface="Arial"/>
                        </a:rPr>
                        <a:t>Suggest a transfer only where the walk between stops is short and realistic</a:t>
                      </a:r>
                      <a:endParaRPr sz="1100"/>
                    </a:p>
                    <a:p>
                      <a:pPr algn="l" marL="164592" indent="-164592">
                        <a:buClr>
                          <a:srgbClr val="C00000"/>
                        </a:buClr>
                        <a:buFont typeface="Arial"/>
                        <a:buChar char="•"/>
                      </a:pPr>
                      <a:r>
                        <a:rPr sz="1100" b="0" i="0">
                          <a:solidFill>
                            <a:srgbClr val="1F2937"/>
                          </a:solidFill>
                          <a:latin typeface="Arial"/>
                        </a:rPr>
                        <a:t>Rank results by how direct and how frequent each option is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Direction matters, so routes are indexed in stop order. The data is a route catalogue with no labels, so a search index suits it better than a trained classifier.</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r>
              <a:tr h="1143000">
                <a:tc>
                  <a:txBody>
                    <a:bodyPr wrap="square" anchor="ctr" lIns="73152" tIns="36576" rIns="73152" bIns="36576"/>
                    <a:lstStyle/>
                    <a:p>
                      <a:pPr algn="l"/>
                      <a:r>
                        <a:rPr sz="1100" b="1" i="0">
                          <a:solidFill>
                            <a:srgbClr val="C00000"/>
                          </a:solidFill>
                          <a:latin typeface="Arial"/>
                        </a:rPr>
                        <a:t>2  Operations planner</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Chain trips efficiently to find the minimum number of buses a timetable needs</a:t>
                      </a:r>
                      <a:endParaRPr sz="1100"/>
                    </a:p>
                    <a:p>
                      <a:pPr algn="l" marL="164592" indent="-164592">
                        <a:buClr>
                          <a:srgbClr val="C00000"/>
                        </a:buClr>
                        <a:buFont typeface="Arial"/>
                        <a:buChar char="•"/>
                      </a:pPr>
                      <a:r>
                        <a:rPr sz="1100" b="0" i="0">
                          <a:solidFill>
                            <a:srgbClr val="1F2937"/>
                          </a:solidFill>
                          <a:latin typeface="Arial"/>
                        </a:rPr>
                        <a:t>Compare against a lower bound: the most trips running at the same moment</a:t>
                      </a:r>
                      <a:endParaRPr sz="1100"/>
                    </a:p>
                    <a:p>
                      <a:pPr algn="l" marL="164592" indent="-164592">
                        <a:buClr>
                          <a:srgbClr val="C00000"/>
                        </a:buClr>
                        <a:buFont typeface="Arial"/>
                        <a:buChar char="•"/>
                      </a:pPr>
                      <a:r>
                        <a:rPr sz="1100" b="0" i="0">
                          <a:solidFill>
                            <a:srgbClr val="1F2937"/>
                          </a:solidFill>
                          <a:latin typeface="Arial"/>
                        </a:rPr>
                        <a:t>Derive legal crew duties from those bus schedules; state all assumptions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A lower bound shows whether the fleet number is truly minimal. A plan only counts if crews can staff it.</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1371600">
                <a:tc>
                  <a:txBody>
                    <a:bodyPr wrap="square" anchor="ctr" lIns="73152" tIns="36576" rIns="73152" bIns="36576"/>
                    <a:lstStyle/>
                    <a:p>
                      <a:pPr algn="l"/>
                      <a:r>
                        <a:rPr sz="1100" b="1" i="0">
                          <a:solidFill>
                            <a:srgbClr val="C00000"/>
                          </a:solidFill>
                          <a:latin typeface="Arial"/>
                        </a:rPr>
                        <a:t>3  Demand, tickets, money</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Check votes for suspicious patterns, group them by origin and destination, rank for depots</a:t>
                      </a:r>
                      <a:endParaRPr sz="1100"/>
                    </a:p>
                    <a:p>
                      <a:pPr algn="l" marL="164592" indent="-164592">
                        <a:buClr>
                          <a:srgbClr val="C00000"/>
                        </a:buClr>
                        <a:buFont typeface="Arial"/>
                        <a:buChar char="•"/>
                      </a:pPr>
                      <a:r>
                        <a:rPr sz="1100" b="0" i="0">
                          <a:solidFill>
                            <a:srgbClr val="1F2937"/>
                          </a:solidFill>
                          <a:latin typeface="Arial"/>
                        </a:rPr>
                        <a:t>Calculate fares centrally; issue QR tickets; record the full fare value of free Shakti rides</a:t>
                      </a:r>
                      <a:endParaRPr sz="1100"/>
                    </a:p>
                    <a:p>
                      <a:pPr algn="l" marL="164592" indent="-164592">
                        <a:buClr>
                          <a:srgbClr val="C00000"/>
                        </a:buClr>
                        <a:buFont typeface="Arial"/>
                        <a:buChar char="•"/>
                      </a:pPr>
                      <a:r>
                        <a:rPr sz="1100" b="0" i="0">
                          <a:solidFill>
                            <a:srgbClr val="1F2937"/>
                          </a:solidFill>
                          <a:latin typeface="Arial"/>
                        </a:rPr>
                        <a:t>Let conductors sell offline and sync safely, with no duplicate charges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Closes the loop from passengers to depots. Buses lose signal, so offline must be the default, and syncing must never count revenue twice.</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r>
              <a:tr h="1143000">
                <a:tc>
                  <a:txBody>
                    <a:bodyPr wrap="square" anchor="ctr" lIns="73152" tIns="36576" rIns="73152" bIns="36576"/>
                    <a:lstStyle/>
                    <a:p>
                      <a:pPr algn="l"/>
                      <a:r>
                        <a:rPr sz="1100" b="1" i="0">
                          <a:solidFill>
                            <a:srgbClr val="C00000"/>
                          </a:solidFill>
                          <a:latin typeface="Arial"/>
                        </a:rPr>
                        <a:t>4  Open data and evaluation</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marL="164592" indent="-164592">
                        <a:buClr>
                          <a:srgbClr val="C00000"/>
                        </a:buClr>
                        <a:buFont typeface="Arial"/>
                        <a:buChar char="•"/>
                      </a:pPr>
                      <a:r>
                        <a:rPr sz="1100" b="0" i="0">
                          <a:solidFill>
                            <a:srgbClr val="1F2937"/>
                          </a:solidFill>
                          <a:latin typeface="Arial"/>
                        </a:rPr>
                        <a:t>Publish the network in the open GTFS format, flagging estimated timings</a:t>
                      </a:r>
                      <a:endParaRPr sz="1100"/>
                    </a:p>
                    <a:p>
                      <a:pPr algn="l" marL="164592" indent="-164592">
                        <a:buClr>
                          <a:srgbClr val="C00000"/>
                        </a:buClr>
                        <a:buFont typeface="Arial"/>
                        <a:buChar char="•"/>
                      </a:pPr>
                      <a:r>
                        <a:rPr sz="1100" b="0" i="0">
                          <a:solidFill>
                            <a:srgbClr val="1F2937"/>
                          </a:solidFill>
                          <a:latin typeface="Arial"/>
                        </a:rPr>
                        <a:t>Label vehicle positions as live only when they truly are</a:t>
                      </a:r>
                      <a:endParaRPr sz="1100"/>
                    </a:p>
                    <a:p>
                      <a:pPr algn="l" marL="164592" indent="-164592">
                        <a:buClr>
                          <a:srgbClr val="C00000"/>
                        </a:buClr>
                        <a:buFont typeface="Arial"/>
                        <a:buChar char="•"/>
                      </a:pPr>
                      <a:r>
                        <a:rPr sz="1100" b="0" i="0">
                          <a:solidFill>
                            <a:srgbClr val="1F2937"/>
                          </a:solidFill>
                          <a:latin typeface="Arial"/>
                        </a:rPr>
                        <a:t>Judge accuracy with a benchmark that can fail, compared against simple baselines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Open formats let any app reuse the timetable. Honest labels and a metric that can fail keep results defensible.</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Proposed System Architecture</a:t>
            </a:r>
          </a:p>
        </p:txBody>
      </p:sp>
      <p:sp>
        <p:nvSpPr>
          <p:cNvPr id="3" name="Rounded Rectangle 2"/>
          <p:cNvSpPr/>
          <p:nvPr/>
        </p:nvSpPr>
        <p:spPr>
          <a:xfrm>
            <a:off x="45720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Commuter</a:t>
            </a:r>
            <a:endParaRPr sz="1100"/>
          </a:p>
        </p:txBody>
      </p:sp>
      <p:sp>
        <p:nvSpPr>
          <p:cNvPr id="4" name="Rounded Rectangle 3"/>
          <p:cNvSpPr/>
          <p:nvPr/>
        </p:nvSpPr>
        <p:spPr>
          <a:xfrm>
            <a:off x="208026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Conductor</a:t>
            </a:r>
            <a:endParaRPr sz="1100"/>
          </a:p>
        </p:txBody>
      </p:sp>
      <p:sp>
        <p:nvSpPr>
          <p:cNvPr id="5" name="Rounded Rectangle 4"/>
          <p:cNvSpPr/>
          <p:nvPr/>
        </p:nvSpPr>
        <p:spPr>
          <a:xfrm>
            <a:off x="370332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Depot manager</a:t>
            </a:r>
            <a:endParaRPr sz="1100"/>
          </a:p>
        </p:txBody>
      </p:sp>
      <p:sp>
        <p:nvSpPr>
          <p:cNvPr id="6" name="Rounded Rectangle 5"/>
          <p:cNvSpPr/>
          <p:nvPr/>
        </p:nvSpPr>
        <p:spPr>
          <a:xfrm>
            <a:off x="5326380" y="914400"/>
            <a:ext cx="1531620" cy="365760"/>
          </a:xfrm>
          <a:prstGeom prst="roundRect">
            <a:avLst>
              <a:gd name="adj" fmla="val 30000"/>
            </a:avLst>
          </a:prstGeom>
          <a:solidFill>
            <a:srgbClr val="1F2937"/>
          </a:solidFill>
          <a:ln>
            <a:noFill/>
          </a:ln>
          <a:effectLst/>
        </p:spPr>
        <p:txBody>
          <a:bodyPr rtlCol="0" anchor="ctr" wrap="square" lIns="18288" tIns="18288" rIns="18288" bIns="18288"/>
          <a:lstStyle/>
          <a:p>
            <a:pPr algn="ctr"/>
            <a:r>
              <a:rPr sz="1100" b="1" i="0">
                <a:solidFill>
                  <a:srgbClr val="FFFFFF"/>
                </a:solidFill>
                <a:latin typeface="Arial"/>
              </a:rPr>
              <a:t>Admin</a:t>
            </a:r>
            <a:endParaRPr sz="1100"/>
          </a:p>
        </p:txBody>
      </p:sp>
      <p:sp>
        <p:nvSpPr>
          <p:cNvPr id="7" name="Down Arrow 6"/>
          <p:cNvSpPr/>
          <p:nvPr/>
        </p:nvSpPr>
        <p:spPr>
          <a:xfrm>
            <a:off x="3520440" y="1298448"/>
            <a:ext cx="274320" cy="182880"/>
          </a:xfrm>
          <a:prstGeom prst="downArrow">
            <a:avLst/>
          </a:prstGeom>
          <a:solidFill>
            <a:srgbClr val="4B5563"/>
          </a:solidFill>
          <a:ln>
            <a:noFill/>
          </a:ln>
          <a:effectLst/>
        </p:spPr>
        <p:txBody>
          <a:bodyPr rtlCol="0" anchor="ctr"/>
          <a:lstStyle/>
          <a:p>
            <a:pPr algn="ctr"/>
          </a:p>
        </p:txBody>
      </p:sp>
      <p:sp>
        <p:nvSpPr>
          <p:cNvPr id="8" name="Rounded Rectangle 7"/>
          <p:cNvSpPr/>
          <p:nvPr/>
        </p:nvSpPr>
        <p:spPr>
          <a:xfrm>
            <a:off x="457200" y="1499616"/>
            <a:ext cx="6400800" cy="713232"/>
          </a:xfrm>
          <a:prstGeom prst="roundRect">
            <a:avLst>
              <a:gd name="adj" fmla="val 7000"/>
            </a:avLst>
          </a:prstGeom>
          <a:solidFill>
            <a:srgbClr val="F3F4F6"/>
          </a:solidFill>
          <a:ln>
            <a:noFill/>
          </a:ln>
          <a:effectLst/>
        </p:spPr>
        <p:txBody>
          <a:bodyPr rtlCol="0" anchor="ctr"/>
          <a:lstStyle/>
          <a:p>
            <a:pPr algn="ctr"/>
          </a:p>
        </p:txBody>
      </p:sp>
      <p:sp>
        <p:nvSpPr>
          <p:cNvPr id="9" name="TextBox 8"/>
          <p:cNvSpPr txBox="1"/>
          <p:nvPr/>
        </p:nvSpPr>
        <p:spPr>
          <a:xfrm>
            <a:off x="566928" y="1545336"/>
            <a:ext cx="6181344" cy="274320"/>
          </a:xfrm>
          <a:prstGeom prst="rect">
            <a:avLst/>
          </a:prstGeom>
          <a:noFill/>
        </p:spPr>
        <p:txBody>
          <a:bodyPr wrap="square" anchor="t" lIns="73152" rIns="73152"/>
          <a:lstStyle/>
          <a:p>
            <a:pPr algn="l"/>
            <a:r>
              <a:rPr sz="1200" b="1" i="0">
                <a:solidFill>
                  <a:srgbClr val="C00000"/>
                </a:solidFill>
                <a:latin typeface="Arial"/>
              </a:rPr>
              <a:t>User layer: web and mobile app</a:t>
            </a:r>
            <a:endParaRPr sz="1200"/>
          </a:p>
        </p:txBody>
      </p:sp>
      <p:sp>
        <p:nvSpPr>
          <p:cNvPr id="10" name="TextBox 9"/>
          <p:cNvSpPr txBox="1"/>
          <p:nvPr/>
        </p:nvSpPr>
        <p:spPr>
          <a:xfrm>
            <a:off x="566928" y="1828800"/>
            <a:ext cx="6181344" cy="347472"/>
          </a:xfrm>
          <a:prstGeom prst="rect">
            <a:avLst/>
          </a:prstGeom>
          <a:noFill/>
        </p:spPr>
        <p:txBody>
          <a:bodyPr wrap="square" anchor="t" lIns="73152" rIns="73152"/>
          <a:lstStyle/>
          <a:p>
            <a:pPr algn="l"/>
            <a:r>
              <a:rPr sz="1100" b="0" i="0">
                <a:solidFill>
                  <a:srgbClr val="1F2937"/>
                </a:solidFill>
                <a:latin typeface="Arial"/>
              </a:rPr>
              <a:t>Maps, charts, English / Kannada / Hindi / Telugu; installable on Android phones; SMS for feature phones</a:t>
            </a:r>
            <a:endParaRPr sz="1100"/>
          </a:p>
        </p:txBody>
      </p:sp>
      <p:sp>
        <p:nvSpPr>
          <p:cNvPr id="11" name="Down Arrow 10"/>
          <p:cNvSpPr/>
          <p:nvPr/>
        </p:nvSpPr>
        <p:spPr>
          <a:xfrm>
            <a:off x="3520440" y="2231136"/>
            <a:ext cx="274320" cy="182880"/>
          </a:xfrm>
          <a:prstGeom prst="downArrow">
            <a:avLst/>
          </a:prstGeom>
          <a:solidFill>
            <a:srgbClr val="4B5563"/>
          </a:solidFill>
          <a:ln>
            <a:noFill/>
          </a:ln>
          <a:effectLst/>
        </p:spPr>
        <p:txBody>
          <a:bodyPr rtlCol="0" anchor="ctr"/>
          <a:lstStyle/>
          <a:p>
            <a:pPr algn="ctr"/>
          </a:p>
        </p:txBody>
      </p:sp>
      <p:sp>
        <p:nvSpPr>
          <p:cNvPr id="12" name="Rounded Rectangle 11"/>
          <p:cNvSpPr/>
          <p:nvPr/>
        </p:nvSpPr>
        <p:spPr>
          <a:xfrm>
            <a:off x="457200" y="2432304"/>
            <a:ext cx="6400800" cy="713232"/>
          </a:xfrm>
          <a:prstGeom prst="roundRect">
            <a:avLst>
              <a:gd name="adj" fmla="val 7000"/>
            </a:avLst>
          </a:prstGeom>
          <a:solidFill>
            <a:srgbClr val="F3F4F6"/>
          </a:solidFill>
          <a:ln>
            <a:noFill/>
          </a:ln>
          <a:effectLst/>
        </p:spPr>
        <p:txBody>
          <a:bodyPr rtlCol="0" anchor="ctr"/>
          <a:lstStyle/>
          <a:p>
            <a:pPr algn="ctr"/>
          </a:p>
        </p:txBody>
      </p:sp>
      <p:sp>
        <p:nvSpPr>
          <p:cNvPr id="13" name="TextBox 12"/>
          <p:cNvSpPr txBox="1"/>
          <p:nvPr/>
        </p:nvSpPr>
        <p:spPr>
          <a:xfrm>
            <a:off x="566928" y="2478024"/>
            <a:ext cx="6181344" cy="274320"/>
          </a:xfrm>
          <a:prstGeom prst="rect">
            <a:avLst/>
          </a:prstGeom>
          <a:noFill/>
        </p:spPr>
        <p:txBody>
          <a:bodyPr wrap="square" anchor="t" lIns="73152" rIns="73152"/>
          <a:lstStyle/>
          <a:p>
            <a:pPr algn="l"/>
            <a:r>
              <a:rPr sz="1200" b="1" i="0">
                <a:solidFill>
                  <a:srgbClr val="C00000"/>
                </a:solidFill>
                <a:latin typeface="Arial"/>
              </a:rPr>
              <a:t>Application layer: requests and security</a:t>
            </a:r>
            <a:endParaRPr sz="1200"/>
          </a:p>
        </p:txBody>
      </p:sp>
      <p:sp>
        <p:nvSpPr>
          <p:cNvPr id="14" name="TextBox 13"/>
          <p:cNvSpPr txBox="1"/>
          <p:nvPr/>
        </p:nvSpPr>
        <p:spPr>
          <a:xfrm>
            <a:off x="566928" y="2761488"/>
            <a:ext cx="6181344" cy="347472"/>
          </a:xfrm>
          <a:prstGeom prst="rect">
            <a:avLst/>
          </a:prstGeom>
          <a:noFill/>
        </p:spPr>
        <p:txBody>
          <a:bodyPr wrap="square" anchor="t" lIns="73152" rIns="73152"/>
          <a:lstStyle/>
          <a:p>
            <a:pPr algn="l"/>
            <a:r>
              <a:rPr sz="1100" b="0" i="0">
                <a:solidFill>
                  <a:srgbClr val="1F2937"/>
                </a:solidFill>
                <a:latin typeface="Arial"/>
              </a:rPr>
              <a:t>Logins, role-based access, input checks and protection against misuse</a:t>
            </a:r>
            <a:endParaRPr sz="1100"/>
          </a:p>
        </p:txBody>
      </p:sp>
      <p:sp>
        <p:nvSpPr>
          <p:cNvPr id="15" name="Down Arrow 14"/>
          <p:cNvSpPr/>
          <p:nvPr/>
        </p:nvSpPr>
        <p:spPr>
          <a:xfrm>
            <a:off x="3520440" y="3163824"/>
            <a:ext cx="274320" cy="182880"/>
          </a:xfrm>
          <a:prstGeom prst="downArrow">
            <a:avLst/>
          </a:prstGeom>
          <a:solidFill>
            <a:srgbClr val="4B5563"/>
          </a:solidFill>
          <a:ln>
            <a:noFill/>
          </a:ln>
          <a:effectLst/>
        </p:spPr>
        <p:txBody>
          <a:bodyPr rtlCol="0" anchor="ctr"/>
          <a:lstStyle/>
          <a:p>
            <a:pPr algn="ctr"/>
          </a:p>
        </p:txBody>
      </p:sp>
      <p:sp>
        <p:nvSpPr>
          <p:cNvPr id="16" name="Rounded Rectangle 15"/>
          <p:cNvSpPr/>
          <p:nvPr/>
        </p:nvSpPr>
        <p:spPr>
          <a:xfrm>
            <a:off x="457200" y="3364992"/>
            <a:ext cx="6400800" cy="713232"/>
          </a:xfrm>
          <a:prstGeom prst="roundRect">
            <a:avLst>
              <a:gd name="adj" fmla="val 7000"/>
            </a:avLst>
          </a:prstGeom>
          <a:solidFill>
            <a:srgbClr val="F3F4F6"/>
          </a:solidFill>
          <a:ln>
            <a:noFill/>
          </a:ln>
          <a:effectLst/>
        </p:spPr>
        <p:txBody>
          <a:bodyPr rtlCol="0" anchor="ctr"/>
          <a:lstStyle/>
          <a:p>
            <a:pPr algn="ctr"/>
          </a:p>
        </p:txBody>
      </p:sp>
      <p:sp>
        <p:nvSpPr>
          <p:cNvPr id="17" name="TextBox 16"/>
          <p:cNvSpPr txBox="1"/>
          <p:nvPr/>
        </p:nvSpPr>
        <p:spPr>
          <a:xfrm>
            <a:off x="566928" y="3410712"/>
            <a:ext cx="6181344" cy="274320"/>
          </a:xfrm>
          <a:prstGeom prst="rect">
            <a:avLst/>
          </a:prstGeom>
          <a:noFill/>
        </p:spPr>
        <p:txBody>
          <a:bodyPr wrap="square" anchor="t" lIns="73152" rIns="73152"/>
          <a:lstStyle/>
          <a:p>
            <a:pPr algn="l"/>
            <a:r>
              <a:rPr sz="1200" b="1" i="0">
                <a:solidFill>
                  <a:srgbClr val="C00000"/>
                </a:solidFill>
                <a:latin typeface="Arial"/>
              </a:rPr>
              <a:t>Business-rules layer</a:t>
            </a:r>
            <a:endParaRPr sz="1200"/>
          </a:p>
        </p:txBody>
      </p:sp>
      <p:sp>
        <p:nvSpPr>
          <p:cNvPr id="18" name="TextBox 17"/>
          <p:cNvSpPr txBox="1"/>
          <p:nvPr/>
        </p:nvSpPr>
        <p:spPr>
          <a:xfrm>
            <a:off x="566928" y="3694176"/>
            <a:ext cx="6181344" cy="347472"/>
          </a:xfrm>
          <a:prstGeom prst="rect">
            <a:avLst/>
          </a:prstGeom>
          <a:noFill/>
        </p:spPr>
        <p:txBody>
          <a:bodyPr wrap="square" anchor="t" lIns="73152" rIns="73152"/>
          <a:lstStyle/>
          <a:p>
            <a:pPr algn="l"/>
            <a:r>
              <a:rPr sz="1100" b="0" i="0">
                <a:solidFill>
                  <a:srgbClr val="1F2937"/>
                </a:solidFill>
                <a:latin typeface="Arial"/>
              </a:rPr>
              <a:t>Votes, tickets, waybills, passes, alerts and the audit log</a:t>
            </a:r>
            <a:endParaRPr sz="1100"/>
          </a:p>
        </p:txBody>
      </p:sp>
      <p:sp>
        <p:nvSpPr>
          <p:cNvPr id="19" name="Down Arrow 18"/>
          <p:cNvSpPr/>
          <p:nvPr/>
        </p:nvSpPr>
        <p:spPr>
          <a:xfrm>
            <a:off x="2011680" y="4096512"/>
            <a:ext cx="274320" cy="182880"/>
          </a:xfrm>
          <a:prstGeom prst="downArrow">
            <a:avLst/>
          </a:prstGeom>
          <a:solidFill>
            <a:srgbClr val="4B5563"/>
          </a:solidFill>
          <a:ln>
            <a:noFill/>
          </a:ln>
          <a:effectLst/>
        </p:spPr>
        <p:txBody>
          <a:bodyPr rtlCol="0" anchor="ctr"/>
          <a:lstStyle/>
          <a:p>
            <a:pPr algn="ctr"/>
          </a:p>
        </p:txBody>
      </p:sp>
      <p:sp>
        <p:nvSpPr>
          <p:cNvPr id="20" name="Down Arrow 19"/>
          <p:cNvSpPr/>
          <p:nvPr/>
        </p:nvSpPr>
        <p:spPr>
          <a:xfrm>
            <a:off x="5120640" y="4096512"/>
            <a:ext cx="274320" cy="182880"/>
          </a:xfrm>
          <a:prstGeom prst="downArrow">
            <a:avLst/>
          </a:prstGeom>
          <a:solidFill>
            <a:srgbClr val="4B5563"/>
          </a:solidFill>
          <a:ln>
            <a:noFill/>
          </a:ln>
          <a:effectLst/>
        </p:spPr>
        <p:txBody>
          <a:bodyPr rtlCol="0" anchor="ctr"/>
          <a:lstStyle/>
          <a:p>
            <a:pPr algn="ctr"/>
          </a:p>
        </p:txBody>
      </p:sp>
      <p:sp>
        <p:nvSpPr>
          <p:cNvPr id="21" name="Rounded Rectangle 20"/>
          <p:cNvSpPr/>
          <p:nvPr/>
        </p:nvSpPr>
        <p:spPr>
          <a:xfrm>
            <a:off x="457200" y="4297680"/>
            <a:ext cx="3108960" cy="1234440"/>
          </a:xfrm>
          <a:prstGeom prst="roundRect">
            <a:avLst>
              <a:gd name="adj" fmla="val 7000"/>
            </a:avLst>
          </a:prstGeom>
          <a:solidFill>
            <a:srgbClr val="E6F4EA"/>
          </a:solidFill>
          <a:ln>
            <a:noFill/>
          </a:ln>
          <a:effectLst/>
        </p:spPr>
        <p:txBody>
          <a:bodyPr rtlCol="0" anchor="ctr"/>
          <a:lstStyle/>
          <a:p>
            <a:pPr algn="ctr"/>
          </a:p>
        </p:txBody>
      </p:sp>
      <p:sp>
        <p:nvSpPr>
          <p:cNvPr id="22" name="TextBox 21"/>
          <p:cNvSpPr txBox="1"/>
          <p:nvPr/>
        </p:nvSpPr>
        <p:spPr>
          <a:xfrm>
            <a:off x="566928" y="4343400"/>
            <a:ext cx="2889504" cy="274320"/>
          </a:xfrm>
          <a:prstGeom prst="rect">
            <a:avLst/>
          </a:prstGeom>
          <a:noFill/>
        </p:spPr>
        <p:txBody>
          <a:bodyPr wrap="square" anchor="t" lIns="73152" rIns="73152"/>
          <a:lstStyle/>
          <a:p>
            <a:pPr algn="l"/>
            <a:r>
              <a:rPr sz="1200" b="1" i="0">
                <a:solidFill>
                  <a:srgbClr val="0B8A3E"/>
                </a:solidFill>
                <a:latin typeface="Arial"/>
              </a:rPr>
              <a:t>Core engines</a:t>
            </a:r>
            <a:endParaRPr sz="1200"/>
          </a:p>
        </p:txBody>
      </p:sp>
      <p:sp>
        <p:nvSpPr>
          <p:cNvPr id="23" name="TextBox 22"/>
          <p:cNvSpPr txBox="1"/>
          <p:nvPr/>
        </p:nvSpPr>
        <p:spPr>
          <a:xfrm>
            <a:off x="566928" y="4626864"/>
            <a:ext cx="2889504" cy="868680"/>
          </a:xfrm>
          <a:prstGeom prst="rect">
            <a:avLst/>
          </a:prstGeom>
          <a:noFill/>
        </p:spPr>
        <p:txBody>
          <a:bodyPr wrap="square" anchor="t" lIns="73152" rIns="73152"/>
          <a:lstStyle/>
          <a:p>
            <a:pPr algn="l"/>
            <a:r>
              <a:rPr sz="1100" b="0" i="0">
                <a:solidFill>
                  <a:srgbClr val="1F2937"/>
                </a:solidFill>
                <a:latin typeface="Arial"/>
              </a:rPr>
              <a:t>Journey search, fleet planning, crew duties, open-data export, vehicle tracking</a:t>
            </a:r>
            <a:endParaRPr sz="1100"/>
          </a:p>
        </p:txBody>
      </p:sp>
      <p:sp>
        <p:nvSpPr>
          <p:cNvPr id="24" name="Rounded Rectangle 23"/>
          <p:cNvSpPr/>
          <p:nvPr/>
        </p:nvSpPr>
        <p:spPr>
          <a:xfrm>
            <a:off x="3749039" y="4297680"/>
            <a:ext cx="3108960" cy="1234440"/>
          </a:xfrm>
          <a:prstGeom prst="roundRect">
            <a:avLst>
              <a:gd name="adj" fmla="val 7000"/>
            </a:avLst>
          </a:prstGeom>
          <a:solidFill>
            <a:srgbClr val="F3F4F6"/>
          </a:solidFill>
          <a:ln>
            <a:noFill/>
          </a:ln>
          <a:effectLst/>
        </p:spPr>
        <p:txBody>
          <a:bodyPr rtlCol="0" anchor="ctr"/>
          <a:lstStyle/>
          <a:p>
            <a:pPr algn="ctr"/>
          </a:p>
        </p:txBody>
      </p:sp>
      <p:sp>
        <p:nvSpPr>
          <p:cNvPr id="25" name="TextBox 24"/>
          <p:cNvSpPr txBox="1"/>
          <p:nvPr/>
        </p:nvSpPr>
        <p:spPr>
          <a:xfrm>
            <a:off x="3858768" y="4343400"/>
            <a:ext cx="2889504" cy="274320"/>
          </a:xfrm>
          <a:prstGeom prst="rect">
            <a:avLst/>
          </a:prstGeom>
          <a:noFill/>
        </p:spPr>
        <p:txBody>
          <a:bodyPr wrap="square" anchor="t" lIns="73152" rIns="73152"/>
          <a:lstStyle/>
          <a:p>
            <a:pPr algn="l"/>
            <a:r>
              <a:rPr sz="1200" b="1" i="0">
                <a:solidFill>
                  <a:srgbClr val="C00000"/>
                </a:solidFill>
                <a:latin typeface="Arial"/>
              </a:rPr>
              <a:t>Data layer</a:t>
            </a:r>
            <a:endParaRPr sz="1200"/>
          </a:p>
        </p:txBody>
      </p:sp>
      <p:sp>
        <p:nvSpPr>
          <p:cNvPr id="26" name="TextBox 25"/>
          <p:cNvSpPr txBox="1"/>
          <p:nvPr/>
        </p:nvSpPr>
        <p:spPr>
          <a:xfrm>
            <a:off x="3858768" y="4626864"/>
            <a:ext cx="2889504" cy="868680"/>
          </a:xfrm>
          <a:prstGeom prst="rect">
            <a:avLst/>
          </a:prstGeom>
          <a:noFill/>
        </p:spPr>
        <p:txBody>
          <a:bodyPr wrap="square" anchor="t" lIns="73152" rIns="73152"/>
          <a:lstStyle/>
          <a:p>
            <a:pPr algn="l"/>
            <a:r>
              <a:rPr sz="1100" b="0" i="0">
                <a:solidFill>
                  <a:srgbClr val="1F2937"/>
                </a:solidFill>
                <a:latin typeface="Arial"/>
              </a:rPr>
              <a:t>BMTC timetable, stop coordinates, fares and Metro network; storage for tickets, accounts and logs</a:t>
            </a:r>
            <a:endParaRPr sz="1100"/>
          </a:p>
        </p:txBody>
      </p:sp>
      <p:sp>
        <p:nvSpPr>
          <p:cNvPr id="27" name="Rounded Rectangle 26"/>
          <p:cNvSpPr/>
          <p:nvPr/>
        </p:nvSpPr>
        <p:spPr>
          <a:xfrm>
            <a:off x="7086600" y="914400"/>
            <a:ext cx="2359152" cy="3163824"/>
          </a:xfrm>
          <a:prstGeom prst="roundRect">
            <a:avLst>
              <a:gd name="adj" fmla="val 5000"/>
            </a:avLst>
          </a:prstGeom>
          <a:solidFill>
            <a:srgbClr val="FFF4E5"/>
          </a:solidFill>
          <a:ln>
            <a:noFill/>
          </a:ln>
          <a:effectLst/>
        </p:spPr>
        <p:txBody>
          <a:bodyPr rtlCol="0" anchor="ctr"/>
          <a:lstStyle/>
          <a:p>
            <a:pPr algn="ctr"/>
          </a:p>
        </p:txBody>
      </p:sp>
      <p:sp>
        <p:nvSpPr>
          <p:cNvPr id="28" name="TextBox 27"/>
          <p:cNvSpPr txBox="1"/>
          <p:nvPr/>
        </p:nvSpPr>
        <p:spPr>
          <a:xfrm>
            <a:off x="7196328" y="969264"/>
            <a:ext cx="2157984" cy="502920"/>
          </a:xfrm>
          <a:prstGeom prst="rect">
            <a:avLst/>
          </a:prstGeom>
          <a:noFill/>
        </p:spPr>
        <p:txBody>
          <a:bodyPr wrap="square" anchor="t" lIns="73152" rIns="73152"/>
          <a:lstStyle/>
          <a:p>
            <a:pPr algn="l"/>
            <a:r>
              <a:rPr sz="1200" b="1" i="0">
                <a:solidFill>
                  <a:srgbClr val="B45309"/>
                </a:solidFill>
                <a:latin typeface="Arial"/>
              </a:rPr>
              <a:t>Assistant layer</a:t>
            </a:r>
            <a:endParaRPr sz="1200"/>
          </a:p>
          <a:p>
            <a:pPr algn="l"/>
            <a:r>
              <a:rPr sz="1000" b="0" i="0">
                <a:solidFill>
                  <a:srgbClr val="B45309"/>
                </a:solidFill>
                <a:latin typeface="Arial"/>
              </a:rPr>
              <a:t>additive and read-only</a:t>
            </a:r>
            <a:endParaRPr sz="1000"/>
          </a:p>
        </p:txBody>
      </p:sp>
      <p:sp>
        <p:nvSpPr>
          <p:cNvPr id="29" name="TextBox 28"/>
          <p:cNvSpPr txBox="1"/>
          <p:nvPr/>
        </p:nvSpPr>
        <p:spPr>
          <a:xfrm>
            <a:off x="7196328" y="1536192"/>
            <a:ext cx="2157984" cy="2514600"/>
          </a:xfrm>
          <a:prstGeom prst="rect">
            <a:avLst/>
          </a:prstGeom>
          <a:noFill/>
        </p:spPr>
        <p:txBody>
          <a:bodyPr wrap="square" anchor="t" lIns="73152" rIns="73152"/>
          <a:lstStyle/>
          <a:p>
            <a:pPr algn="l" marL="164592" indent="-164592">
              <a:spcAft>
                <a:spcPts val="400"/>
              </a:spcAft>
              <a:buClr>
                <a:srgbClr val="C00000"/>
              </a:buClr>
              <a:buFont typeface="Arial"/>
              <a:buChar char="•"/>
            </a:pPr>
            <a:r>
              <a:rPr sz="1150" b="0" i="0">
                <a:solidFill>
                  <a:srgbClr val="1F2937"/>
                </a:solidFill>
                <a:latin typeface="Arial"/>
              </a:rPr>
              <a:t>Answers questions from approved documents and data</a:t>
            </a:r>
            <a:endParaRPr sz="1150"/>
          </a:p>
          <a:p>
            <a:pPr algn="l" marL="164592" indent="-164592">
              <a:spcAft>
                <a:spcPts val="400"/>
              </a:spcAft>
              <a:buClr>
                <a:srgbClr val="C00000"/>
              </a:buClr>
              <a:buFont typeface="Arial"/>
              <a:buChar char="•"/>
            </a:pPr>
            <a:r>
              <a:rPr sz="1150" b="0" i="0">
                <a:solidFill>
                  <a:srgbClr val="1F2937"/>
                </a:solidFill>
                <a:latin typeface="Arial"/>
              </a:rPr>
              <a:t>Cannot change any operational data</a:t>
            </a:r>
            <a:endParaRPr sz="1150"/>
          </a:p>
          <a:p>
            <a:pPr algn="l" marL="164592" indent="-164592">
              <a:spcAft>
                <a:spcPts val="400"/>
              </a:spcAft>
              <a:buClr>
                <a:srgbClr val="C00000"/>
              </a:buClr>
              <a:buFont typeface="Arial"/>
              <a:buChar char="•"/>
            </a:pPr>
            <a:r>
              <a:rPr sz="1150" b="0" i="0">
                <a:solidFill>
                  <a:srgbClr val="1F2937"/>
                </a:solidFill>
                <a:latin typeface="Arial"/>
              </a:rPr>
              <a:t>Access follows the user's role</a:t>
            </a:r>
            <a:endParaRPr sz="1150"/>
          </a:p>
          <a:p>
            <a:pPr algn="l" marL="164592" indent="-164592">
              <a:buClr>
                <a:srgbClr val="C00000"/>
              </a:buClr>
              <a:buFont typeface="Arial"/>
              <a:buChar char="•"/>
            </a:pPr>
            <a:r>
              <a:rPr sz="1150" b="0" i="0">
                <a:solidFill>
                  <a:srgbClr val="1F2937"/>
                </a:solidFill>
                <a:latin typeface="Arial"/>
              </a:rPr>
              <a:t>Every answer cites its source, or says it does not know</a:t>
            </a:r>
            <a:endParaRPr sz="1150"/>
          </a:p>
        </p:txBody>
      </p:sp>
      <p:sp>
        <p:nvSpPr>
          <p:cNvPr id="30" name="Rounded Rectangle 29"/>
          <p:cNvSpPr/>
          <p:nvPr/>
        </p:nvSpPr>
        <p:spPr>
          <a:xfrm>
            <a:off x="7086600" y="4261104"/>
            <a:ext cx="2359152" cy="1271016"/>
          </a:xfrm>
          <a:prstGeom prst="roundRect">
            <a:avLst>
              <a:gd name="adj" fmla="val 6000"/>
            </a:avLst>
          </a:prstGeom>
          <a:solidFill>
            <a:srgbClr val="C00000"/>
          </a:solidFill>
          <a:ln>
            <a:noFill/>
          </a:ln>
          <a:effectLst/>
        </p:spPr>
        <p:txBody>
          <a:bodyPr rtlCol="0" anchor="ctr" wrap="square" lIns="109728" tIns="54864" rIns="109728" bIns="54864"/>
          <a:lstStyle/>
          <a:p>
            <a:pPr algn="l">
              <a:spcAft>
                <a:spcPts val="200"/>
              </a:spcAft>
            </a:pPr>
            <a:r>
              <a:rPr sz="1100" b="1" i="0">
                <a:solidFill>
                  <a:srgbClr val="FFC9C9"/>
                </a:solidFill>
                <a:latin typeface="Arial"/>
              </a:rPr>
              <a:t>Key design decision</a:t>
            </a:r>
            <a:endParaRPr sz="1100"/>
          </a:p>
          <a:p>
            <a:pPr algn="l"/>
            <a:r>
              <a:rPr sz="1100" b="0" i="0">
                <a:solidFill>
                  <a:srgbClr val="FFFFFF"/>
                </a:solidFill>
                <a:latin typeface="Arial"/>
              </a:rPr>
              <a:t>Core engines work straight from the timetable data, so journey search and planning keep running even if other parts fail.</a:t>
            </a:r>
            <a:endParaRPr sz="1100"/>
          </a:p>
        </p:txBody>
      </p:sp>
      <p:sp>
        <p:nvSpPr>
          <p:cNvPr id="31" name="Rounded Rectangle 30"/>
          <p:cNvSpPr/>
          <p:nvPr/>
        </p:nvSpPr>
        <p:spPr>
          <a:xfrm>
            <a:off x="457200" y="5687568"/>
            <a:ext cx="8988552" cy="548640"/>
          </a:xfrm>
          <a:prstGeom prst="roundRect">
            <a:avLst>
              <a:gd name="adj" fmla="val 10000"/>
            </a:avLst>
          </a:prstGeom>
          <a:solidFill>
            <a:srgbClr val="FFFFFF"/>
          </a:solidFill>
          <a:ln w="9525">
            <a:solidFill>
              <a:srgbClr val="D1D5DB"/>
            </a:solidFill>
          </a:ln>
          <a:effectLst/>
        </p:spPr>
        <p:txBody>
          <a:bodyPr rtlCol="0" anchor="ctr" wrap="square" lIns="182880" tIns="27432" rIns="182880" bIns="27432"/>
          <a:lstStyle/>
          <a:p>
            <a:pPr algn="l"/>
            <a:r>
              <a:rPr sz="1100" b="1" i="0">
                <a:solidFill>
                  <a:srgbClr val="C00000"/>
                </a:solidFill>
                <a:latin typeface="Arial"/>
              </a:rPr>
              <a:t>Technology: </a:t>
            </a:r>
            <a:r>
              <a:rPr sz="1100" b="0" i="0">
                <a:solidFill>
                  <a:srgbClr val="1F2937"/>
                </a:solidFill>
                <a:latin typeface="Arial"/>
              </a:rPr>
              <a:t>planned with standard, widely used open-source web technologies, finalised after the requirements phase.</a:t>
            </a:r>
            <a:endParaRPr sz="11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Planned Features by User</a:t>
            </a:r>
          </a:p>
        </p:txBody>
      </p:sp>
      <p:sp>
        <p:nvSpPr>
          <p:cNvPr id="3" name="Rounded Rectangle 2"/>
          <p:cNvSpPr/>
          <p:nvPr/>
        </p:nvSpPr>
        <p:spPr>
          <a:xfrm>
            <a:off x="457200" y="914400"/>
            <a:ext cx="2171700" cy="4526280"/>
          </a:xfrm>
          <a:prstGeom prst="roundRect">
            <a:avLst>
              <a:gd name="adj" fmla="val 4000"/>
            </a:avLst>
          </a:prstGeom>
          <a:solidFill>
            <a:srgbClr val="F3F4F6"/>
          </a:solidFill>
          <a:ln>
            <a:noFill/>
          </a:ln>
          <a:effectLst/>
        </p:spPr>
        <p:txBody>
          <a:bodyPr rtlCol="0" anchor="ctr"/>
          <a:lstStyle/>
          <a:p>
            <a:pPr algn="ctr"/>
          </a:p>
        </p:txBody>
      </p:sp>
      <p:sp>
        <p:nvSpPr>
          <p:cNvPr id="4" name="Rounded Rectangle 3"/>
          <p:cNvSpPr/>
          <p:nvPr/>
        </p:nvSpPr>
        <p:spPr>
          <a:xfrm>
            <a:off x="457200" y="914400"/>
            <a:ext cx="2171700" cy="457200"/>
          </a:xfrm>
          <a:prstGeom prst="roundRect">
            <a:avLst>
              <a:gd name="adj" fmla="val 12000"/>
            </a:avLst>
          </a:prstGeom>
          <a:solidFill>
            <a:srgbClr val="C00000"/>
          </a:solidFill>
          <a:ln>
            <a:noFill/>
          </a:ln>
          <a:effectLst/>
        </p:spPr>
        <p:txBody>
          <a:bodyPr rtlCol="0" anchor="ctr" wrap="square" lIns="36576" tIns="18288" rIns="36576" bIns="18288"/>
          <a:lstStyle/>
          <a:p>
            <a:pPr algn="ctr"/>
            <a:r>
              <a:rPr sz="1300" b="1" i="0">
                <a:solidFill>
                  <a:srgbClr val="FFFFFF"/>
                </a:solidFill>
                <a:latin typeface="Arial"/>
              </a:rPr>
              <a:t>Commuter</a:t>
            </a:r>
            <a:endParaRPr sz="1300"/>
          </a:p>
        </p:txBody>
      </p:sp>
      <p:sp>
        <p:nvSpPr>
          <p:cNvPr id="5" name="TextBox 4"/>
          <p:cNvSpPr txBox="1"/>
          <p:nvPr/>
        </p:nvSpPr>
        <p:spPr>
          <a:xfrm>
            <a:off x="512064" y="1463040"/>
            <a:ext cx="2061972" cy="3931920"/>
          </a:xfrm>
          <a:prstGeom prst="rect">
            <a:avLst/>
          </a:prstGeom>
          <a:noFill/>
        </p:spPr>
        <p:txBody>
          <a:bodyPr wrap="square" anchor="t" lIns="73152" rIns="73152"/>
          <a:lstStyle/>
          <a:p>
            <a:pPr algn="l" marL="164592" indent="-164592">
              <a:spcAft>
                <a:spcPts val="1000"/>
              </a:spcAft>
              <a:buClr>
                <a:srgbClr val="C00000"/>
              </a:buClr>
              <a:buFont typeface="Arial"/>
              <a:buChar char="•"/>
            </a:pPr>
            <a:r>
              <a:rPr sz="1200" b="0" i="0">
                <a:solidFill>
                  <a:srgbClr val="1F2937"/>
                </a:solidFill>
                <a:latin typeface="Arial"/>
              </a:rPr>
              <a:t>Direct, 1-change and 2-change search across 4,883 stops</a:t>
            </a:r>
            <a:endParaRPr sz="1200"/>
          </a:p>
          <a:p>
            <a:pPr algn="l" marL="164592" indent="-164592">
              <a:spcAft>
                <a:spcPts val="1000"/>
              </a:spcAft>
              <a:buClr>
                <a:srgbClr val="C00000"/>
              </a:buClr>
              <a:buFont typeface="Arial"/>
              <a:buChar char="•"/>
            </a:pPr>
            <a:r>
              <a:rPr sz="1200" b="0" i="0">
                <a:solidFill>
                  <a:srgbClr val="1F2937"/>
                </a:solidFill>
                <a:latin typeface="Arial"/>
              </a:rPr>
              <a:t>Stop names found even with local names or typos</a:t>
            </a:r>
            <a:endParaRPr sz="1200"/>
          </a:p>
          <a:p>
            <a:pPr algn="l" marL="164592" indent="-164592">
              <a:spcAft>
                <a:spcPts val="1000"/>
              </a:spcAft>
              <a:buClr>
                <a:srgbClr val="C00000"/>
              </a:buClr>
              <a:buFont typeface="Arial"/>
              <a:buChar char="•"/>
            </a:pPr>
            <a:r>
              <a:rPr sz="1200" b="0" i="0">
                <a:solidFill>
                  <a:srgbClr val="1F2937"/>
                </a:solidFill>
                <a:latin typeface="Arial"/>
              </a:rPr>
              <a:t>Fare, distance, route map and nearby Metro interchange</a:t>
            </a:r>
            <a:endParaRPr sz="1200"/>
          </a:p>
          <a:p>
            <a:pPr algn="l" marL="164592" indent="-164592">
              <a:spcAft>
                <a:spcPts val="1000"/>
              </a:spcAft>
              <a:buClr>
                <a:srgbClr val="C00000"/>
              </a:buClr>
              <a:buFont typeface="Arial"/>
              <a:buChar char="•"/>
            </a:pPr>
            <a:r>
              <a:rPr sz="1200" b="0" i="0">
                <a:solidFill>
                  <a:srgbClr val="1F2937"/>
                </a:solidFill>
                <a:latin typeface="Arial"/>
              </a:rPr>
              <a:t>Vote for routes they wish existed</a:t>
            </a:r>
            <a:endParaRPr sz="1200"/>
          </a:p>
          <a:p>
            <a:pPr algn="l" marL="164592" indent="-164592">
              <a:spcAft>
                <a:spcPts val="1000"/>
              </a:spcAft>
              <a:buClr>
                <a:srgbClr val="C00000"/>
              </a:buClr>
              <a:buFont typeface="Arial"/>
              <a:buChar char="•"/>
            </a:pPr>
            <a:r>
              <a:rPr sz="1200" b="0" i="0">
                <a:solidFill>
                  <a:srgbClr val="1F2937"/>
                </a:solidFill>
                <a:latin typeface="Arial"/>
              </a:rPr>
              <a:t>QR e-tickets incl. free Shakti tickets; 4 languages plus SMS</a:t>
            </a:r>
            <a:endParaRPr sz="1200"/>
          </a:p>
        </p:txBody>
      </p:sp>
      <p:sp>
        <p:nvSpPr>
          <p:cNvPr id="6" name="Rounded Rectangle 5"/>
          <p:cNvSpPr/>
          <p:nvPr/>
        </p:nvSpPr>
        <p:spPr>
          <a:xfrm>
            <a:off x="2729484" y="914400"/>
            <a:ext cx="2171700" cy="4526280"/>
          </a:xfrm>
          <a:prstGeom prst="roundRect">
            <a:avLst>
              <a:gd name="adj" fmla="val 4000"/>
            </a:avLst>
          </a:prstGeom>
          <a:solidFill>
            <a:srgbClr val="F3F4F6"/>
          </a:solidFill>
          <a:ln>
            <a:noFill/>
          </a:ln>
          <a:effectLst/>
        </p:spPr>
        <p:txBody>
          <a:bodyPr rtlCol="0" anchor="ctr"/>
          <a:lstStyle/>
          <a:p>
            <a:pPr algn="ctr"/>
          </a:p>
        </p:txBody>
      </p:sp>
      <p:sp>
        <p:nvSpPr>
          <p:cNvPr id="7" name="Rounded Rectangle 6"/>
          <p:cNvSpPr/>
          <p:nvPr/>
        </p:nvSpPr>
        <p:spPr>
          <a:xfrm>
            <a:off x="2729484" y="914400"/>
            <a:ext cx="2171700" cy="457200"/>
          </a:xfrm>
          <a:prstGeom prst="roundRect">
            <a:avLst>
              <a:gd name="adj" fmla="val 12000"/>
            </a:avLst>
          </a:prstGeom>
          <a:solidFill>
            <a:srgbClr val="C00000"/>
          </a:solidFill>
          <a:ln>
            <a:noFill/>
          </a:ln>
          <a:effectLst/>
        </p:spPr>
        <p:txBody>
          <a:bodyPr rtlCol="0" anchor="ctr" wrap="square" lIns="36576" tIns="18288" rIns="36576" bIns="18288"/>
          <a:lstStyle/>
          <a:p>
            <a:pPr algn="ctr"/>
            <a:r>
              <a:rPr sz="1300" b="1" i="0">
                <a:solidFill>
                  <a:srgbClr val="FFFFFF"/>
                </a:solidFill>
                <a:latin typeface="Arial"/>
              </a:rPr>
              <a:t>Conductor</a:t>
            </a:r>
            <a:endParaRPr sz="1300"/>
          </a:p>
        </p:txBody>
      </p:sp>
      <p:sp>
        <p:nvSpPr>
          <p:cNvPr id="8" name="TextBox 7"/>
          <p:cNvSpPr txBox="1"/>
          <p:nvPr/>
        </p:nvSpPr>
        <p:spPr>
          <a:xfrm>
            <a:off x="2784348" y="1463040"/>
            <a:ext cx="2061972" cy="3931920"/>
          </a:xfrm>
          <a:prstGeom prst="rect">
            <a:avLst/>
          </a:prstGeom>
          <a:noFill/>
        </p:spPr>
        <p:txBody>
          <a:bodyPr wrap="square" anchor="t" lIns="73152" rIns="73152"/>
          <a:lstStyle/>
          <a:p>
            <a:pPr algn="l" marL="164592" indent="-164592">
              <a:spcAft>
                <a:spcPts val="1000"/>
              </a:spcAft>
              <a:buClr>
                <a:srgbClr val="C00000"/>
              </a:buClr>
              <a:buFont typeface="Arial"/>
              <a:buChar char="•"/>
            </a:pPr>
            <a:r>
              <a:rPr sz="1200" b="0" i="0">
                <a:solidFill>
                  <a:srgbClr val="1F2937"/>
                </a:solidFill>
                <a:latin typeface="Arial"/>
              </a:rPr>
              <a:t>Digital waybill that works with no signal</a:t>
            </a:r>
            <a:endParaRPr sz="1200"/>
          </a:p>
          <a:p>
            <a:pPr algn="l" marL="164592" indent="-164592">
              <a:spcAft>
                <a:spcPts val="1000"/>
              </a:spcAft>
              <a:buClr>
                <a:srgbClr val="C00000"/>
              </a:buClr>
              <a:buFont typeface="Arial"/>
              <a:buChar char="•"/>
            </a:pPr>
            <a:r>
              <a:rPr sz="1200" b="0" i="0">
                <a:solidFill>
                  <a:srgbClr val="1F2937"/>
                </a:solidFill>
                <a:latin typeface="Arial"/>
              </a:rPr>
              <a:t>Safe syncing that never counts revenue twice</a:t>
            </a:r>
            <a:endParaRPr sz="1200"/>
          </a:p>
          <a:p>
            <a:pPr algn="l" marL="164592" indent="-164592">
              <a:spcAft>
                <a:spcPts val="1000"/>
              </a:spcAft>
              <a:buClr>
                <a:srgbClr val="C00000"/>
              </a:buClr>
              <a:buFont typeface="Arial"/>
              <a:buChar char="•"/>
            </a:pPr>
            <a:r>
              <a:rPr sz="1200" b="0" i="0">
                <a:solidFill>
                  <a:srgbClr val="1F2937"/>
                </a:solidFill>
                <a:latin typeface="Arial"/>
              </a:rPr>
              <a:t>Centrally calculated fares; QR tickets to check</a:t>
            </a:r>
            <a:endParaRPr sz="1200"/>
          </a:p>
          <a:p>
            <a:pPr algn="l" marL="164592" indent="-164592">
              <a:spcAft>
                <a:spcPts val="1000"/>
              </a:spcAft>
              <a:buClr>
                <a:srgbClr val="C00000"/>
              </a:buClr>
              <a:buFont typeface="Arial"/>
              <a:buChar char="•"/>
            </a:pPr>
            <a:r>
              <a:rPr sz="1200" b="0" i="0">
                <a:solidFill>
                  <a:srgbClr val="1F2937"/>
                </a:solidFill>
                <a:latin typeface="Arial"/>
              </a:rPr>
              <a:t>Cash reconciliation: any shortfall is shown, not hidden</a:t>
            </a:r>
            <a:endParaRPr sz="1200"/>
          </a:p>
          <a:p>
            <a:pPr algn="l" marL="164592" indent="-164592">
              <a:spcAft>
                <a:spcPts val="1000"/>
              </a:spcAft>
              <a:buClr>
                <a:srgbClr val="C00000"/>
              </a:buClr>
              <a:buFont typeface="Arial"/>
              <a:buChar char="•"/>
            </a:pPr>
            <a:r>
              <a:rPr sz="1200" b="0" i="0">
                <a:solidFill>
                  <a:srgbClr val="1F2937"/>
                </a:solidFill>
                <a:latin typeface="Arial"/>
              </a:rPr>
              <a:t>Shakti trips logged as fare value vs fare collected</a:t>
            </a:r>
            <a:endParaRPr sz="1200"/>
          </a:p>
        </p:txBody>
      </p:sp>
      <p:sp>
        <p:nvSpPr>
          <p:cNvPr id="9" name="Rounded Rectangle 8"/>
          <p:cNvSpPr/>
          <p:nvPr/>
        </p:nvSpPr>
        <p:spPr>
          <a:xfrm>
            <a:off x="5001768" y="914400"/>
            <a:ext cx="2171700" cy="4526280"/>
          </a:xfrm>
          <a:prstGeom prst="roundRect">
            <a:avLst>
              <a:gd name="adj" fmla="val 4000"/>
            </a:avLst>
          </a:prstGeom>
          <a:solidFill>
            <a:srgbClr val="F3F4F6"/>
          </a:solidFill>
          <a:ln>
            <a:noFill/>
          </a:ln>
          <a:effectLst/>
        </p:spPr>
        <p:txBody>
          <a:bodyPr rtlCol="0" anchor="ctr"/>
          <a:lstStyle/>
          <a:p>
            <a:pPr algn="ctr"/>
          </a:p>
        </p:txBody>
      </p:sp>
      <p:sp>
        <p:nvSpPr>
          <p:cNvPr id="10" name="Rounded Rectangle 9"/>
          <p:cNvSpPr/>
          <p:nvPr/>
        </p:nvSpPr>
        <p:spPr>
          <a:xfrm>
            <a:off x="5001768" y="914400"/>
            <a:ext cx="2171700" cy="457200"/>
          </a:xfrm>
          <a:prstGeom prst="roundRect">
            <a:avLst>
              <a:gd name="adj" fmla="val 12000"/>
            </a:avLst>
          </a:prstGeom>
          <a:solidFill>
            <a:srgbClr val="C00000"/>
          </a:solidFill>
          <a:ln>
            <a:noFill/>
          </a:ln>
          <a:effectLst/>
        </p:spPr>
        <p:txBody>
          <a:bodyPr rtlCol="0" anchor="ctr" wrap="square" lIns="36576" tIns="18288" rIns="36576" bIns="18288"/>
          <a:lstStyle/>
          <a:p>
            <a:pPr algn="ctr"/>
            <a:r>
              <a:rPr sz="1300" b="1" i="0">
                <a:solidFill>
                  <a:srgbClr val="FFFFFF"/>
                </a:solidFill>
                <a:latin typeface="Arial"/>
              </a:rPr>
              <a:t>Depot manager and HQ</a:t>
            </a:r>
            <a:endParaRPr sz="1300"/>
          </a:p>
        </p:txBody>
      </p:sp>
      <p:sp>
        <p:nvSpPr>
          <p:cNvPr id="11" name="TextBox 10"/>
          <p:cNvSpPr txBox="1"/>
          <p:nvPr/>
        </p:nvSpPr>
        <p:spPr>
          <a:xfrm>
            <a:off x="5056631" y="1463040"/>
            <a:ext cx="2061972" cy="3931920"/>
          </a:xfrm>
          <a:prstGeom prst="rect">
            <a:avLst/>
          </a:prstGeom>
          <a:noFill/>
        </p:spPr>
        <p:txBody>
          <a:bodyPr wrap="square" anchor="t" lIns="73152" rIns="73152"/>
          <a:lstStyle/>
          <a:p>
            <a:pPr algn="l" marL="164592" indent="-164592">
              <a:spcAft>
                <a:spcPts val="1000"/>
              </a:spcAft>
              <a:buClr>
                <a:srgbClr val="C00000"/>
              </a:buClr>
              <a:buFont typeface="Arial"/>
              <a:buChar char="•"/>
            </a:pPr>
            <a:r>
              <a:rPr sz="1200" b="0" i="0">
                <a:solidFill>
                  <a:srgbClr val="1F2937"/>
                </a:solidFill>
                <a:latin typeface="Arial"/>
              </a:rPr>
              <a:t>Minimum fleet, dead kilometres and crew duties, with a lower bound</a:t>
            </a:r>
            <a:endParaRPr sz="1200"/>
          </a:p>
          <a:p>
            <a:pPr algn="l" marL="164592" indent="-164592">
              <a:spcAft>
                <a:spcPts val="1000"/>
              </a:spcAft>
              <a:buClr>
                <a:srgbClr val="C00000"/>
              </a:buClr>
              <a:buFont typeface="Arial"/>
              <a:buChar char="•"/>
            </a:pPr>
            <a:r>
              <a:rPr sz="1200" b="0" i="0">
                <a:solidFill>
                  <a:srgbClr val="1F2937"/>
                </a:solidFill>
                <a:latin typeface="Arial"/>
              </a:rPr>
              <a:t>What-if console: see what a timetable change costs</a:t>
            </a:r>
            <a:endParaRPr sz="1200"/>
          </a:p>
          <a:p>
            <a:pPr algn="l" marL="164592" indent="-164592">
              <a:spcAft>
                <a:spcPts val="1000"/>
              </a:spcAft>
              <a:buClr>
                <a:srgbClr val="C00000"/>
              </a:buClr>
              <a:buFont typeface="Arial"/>
              <a:buChar char="•"/>
            </a:pPr>
            <a:r>
              <a:rPr sz="1200" b="0" i="0">
                <a:solidFill>
                  <a:srgbClr val="1F2937"/>
                </a:solidFill>
                <a:latin typeface="Arial"/>
              </a:rPr>
              <a:t>Votes ranked HIGH / MEDIUM / LOW into dispatch advice</a:t>
            </a:r>
            <a:endParaRPr sz="1200"/>
          </a:p>
          <a:p>
            <a:pPr algn="l" marL="164592" indent="-164592">
              <a:spcAft>
                <a:spcPts val="1000"/>
              </a:spcAft>
              <a:buClr>
                <a:srgbClr val="C00000"/>
              </a:buClr>
              <a:buFont typeface="Arial"/>
              <a:buChar char="•"/>
            </a:pPr>
            <a:r>
              <a:rPr sz="1200" b="0" i="0">
                <a:solidFill>
                  <a:srgbClr val="1F2937"/>
                </a:solidFill>
                <a:latin typeface="Arial"/>
              </a:rPr>
              <a:t>Shakti reimbursement claim report</a:t>
            </a:r>
            <a:endParaRPr sz="1200"/>
          </a:p>
          <a:p>
            <a:pPr algn="l" marL="164592" indent="-164592">
              <a:spcAft>
                <a:spcPts val="1000"/>
              </a:spcAft>
              <a:buClr>
                <a:srgbClr val="C00000"/>
              </a:buClr>
              <a:buFont typeface="Arial"/>
              <a:buChar char="•"/>
            </a:pPr>
            <a:r>
              <a:rPr sz="1200" b="0" i="0">
                <a:solidFill>
                  <a:srgbClr val="1F2937"/>
                </a:solidFill>
                <a:latin typeface="Arial"/>
              </a:rPr>
              <a:t>Audit log of sensitive actions</a:t>
            </a:r>
            <a:endParaRPr sz="1200"/>
          </a:p>
        </p:txBody>
      </p:sp>
      <p:sp>
        <p:nvSpPr>
          <p:cNvPr id="12" name="Rounded Rectangle 11"/>
          <p:cNvSpPr/>
          <p:nvPr/>
        </p:nvSpPr>
        <p:spPr>
          <a:xfrm>
            <a:off x="7274052" y="914400"/>
            <a:ext cx="2171700" cy="4526280"/>
          </a:xfrm>
          <a:prstGeom prst="roundRect">
            <a:avLst>
              <a:gd name="adj" fmla="val 4000"/>
            </a:avLst>
          </a:prstGeom>
          <a:solidFill>
            <a:srgbClr val="F3F4F6"/>
          </a:solidFill>
          <a:ln>
            <a:noFill/>
          </a:ln>
          <a:effectLst/>
        </p:spPr>
        <p:txBody>
          <a:bodyPr rtlCol="0" anchor="ctr"/>
          <a:lstStyle/>
          <a:p>
            <a:pPr algn="ctr"/>
          </a:p>
        </p:txBody>
      </p:sp>
      <p:sp>
        <p:nvSpPr>
          <p:cNvPr id="13" name="Rounded Rectangle 12"/>
          <p:cNvSpPr/>
          <p:nvPr/>
        </p:nvSpPr>
        <p:spPr>
          <a:xfrm>
            <a:off x="7274052" y="914400"/>
            <a:ext cx="2171700" cy="457200"/>
          </a:xfrm>
          <a:prstGeom prst="roundRect">
            <a:avLst>
              <a:gd name="adj" fmla="val 12000"/>
            </a:avLst>
          </a:prstGeom>
          <a:solidFill>
            <a:srgbClr val="C00000"/>
          </a:solidFill>
          <a:ln>
            <a:noFill/>
          </a:ln>
          <a:effectLst/>
        </p:spPr>
        <p:txBody>
          <a:bodyPr rtlCol="0" anchor="ctr" wrap="square" lIns="36576" tIns="18288" rIns="36576" bIns="18288"/>
          <a:lstStyle/>
          <a:p>
            <a:pPr algn="ctr"/>
            <a:r>
              <a:rPr sz="1300" b="1" i="0">
                <a:solidFill>
                  <a:srgbClr val="FFFFFF"/>
                </a:solidFill>
                <a:latin typeface="Arial"/>
              </a:rPr>
              <a:t>Open data and Admin</a:t>
            </a:r>
            <a:endParaRPr sz="1300"/>
          </a:p>
        </p:txBody>
      </p:sp>
      <p:sp>
        <p:nvSpPr>
          <p:cNvPr id="14" name="TextBox 13"/>
          <p:cNvSpPr txBox="1"/>
          <p:nvPr/>
        </p:nvSpPr>
        <p:spPr>
          <a:xfrm>
            <a:off x="7328916" y="1463040"/>
            <a:ext cx="2061972" cy="3931920"/>
          </a:xfrm>
          <a:prstGeom prst="rect">
            <a:avLst/>
          </a:prstGeom>
          <a:noFill/>
        </p:spPr>
        <p:txBody>
          <a:bodyPr wrap="square" anchor="t" lIns="73152" rIns="73152"/>
          <a:lstStyle/>
          <a:p>
            <a:pPr algn="l" marL="164592" indent="-164592">
              <a:spcAft>
                <a:spcPts val="1000"/>
              </a:spcAft>
              <a:buClr>
                <a:srgbClr val="C00000"/>
              </a:buClr>
              <a:buFont typeface="Arial"/>
              <a:buChar char="•"/>
            </a:pPr>
            <a:r>
              <a:rPr sz="1200" b="0" i="0">
                <a:solidFill>
                  <a:srgbClr val="1F2937"/>
                </a:solidFill>
                <a:latin typeface="Arial"/>
              </a:rPr>
              <a:t>Open timetable export (GTFS) with estimated times flagged</a:t>
            </a:r>
            <a:endParaRPr sz="1200"/>
          </a:p>
          <a:p>
            <a:pPr algn="l" marL="164592" indent="-164592">
              <a:spcAft>
                <a:spcPts val="1000"/>
              </a:spcAft>
              <a:buClr>
                <a:srgbClr val="C00000"/>
              </a:buClr>
              <a:buFont typeface="Arial"/>
              <a:buChar char="•"/>
            </a:pPr>
            <a:r>
              <a:rPr sz="1200" b="0" i="0">
                <a:solidFill>
                  <a:srgbClr val="1F2937"/>
                </a:solidFill>
                <a:latin typeface="Arial"/>
              </a:rPr>
              <a:t>Live service alerts for other apps</a:t>
            </a:r>
            <a:endParaRPr sz="1200"/>
          </a:p>
          <a:p>
            <a:pPr algn="l" marL="164592" indent="-164592">
              <a:spcAft>
                <a:spcPts val="1000"/>
              </a:spcAft>
              <a:buClr>
                <a:srgbClr val="C00000"/>
              </a:buClr>
              <a:buFont typeface="Arial"/>
              <a:buChar char="•"/>
            </a:pPr>
            <a:r>
              <a:rPr sz="1200" b="0" i="0">
                <a:solidFill>
                  <a:srgbClr val="1F2937"/>
                </a:solidFill>
                <a:latin typeface="Arial"/>
              </a:rPr>
              <a:t>Vehicle tracking that says when data is estimated</a:t>
            </a:r>
            <a:endParaRPr sz="1200"/>
          </a:p>
          <a:p>
            <a:pPr algn="l" marL="164592" indent="-164592">
              <a:spcAft>
                <a:spcPts val="1000"/>
              </a:spcAft>
              <a:buClr>
                <a:srgbClr val="C00000"/>
              </a:buClr>
              <a:buFont typeface="Arial"/>
              <a:buChar char="•"/>
            </a:pPr>
            <a:r>
              <a:rPr sz="1200" b="0" i="0">
                <a:solidFill>
                  <a:srgbClr val="1F2937"/>
                </a:solidFill>
                <a:latin typeface="Arial"/>
              </a:rPr>
              <a:t>Role-based access; abuse checks on votes</a:t>
            </a:r>
            <a:endParaRPr sz="1200"/>
          </a:p>
          <a:p>
            <a:pPr algn="l" marL="164592" indent="-164592">
              <a:spcAft>
                <a:spcPts val="1000"/>
              </a:spcAft>
              <a:buClr>
                <a:srgbClr val="C00000"/>
              </a:buClr>
              <a:buFont typeface="Arial"/>
              <a:buChar char="•"/>
            </a:pPr>
            <a:r>
              <a:rPr sz="1200" b="0" i="0">
                <a:solidFill>
                  <a:srgbClr val="1F2937"/>
                </a:solidFill>
                <a:latin typeface="Arial"/>
              </a:rPr>
              <a:t>Read-only assistant that cites its sources</a:t>
            </a:r>
            <a:endParaRPr sz="1200"/>
          </a:p>
        </p:txBody>
      </p:sp>
      <p:sp>
        <p:nvSpPr>
          <p:cNvPr id="15" name="TextBox 14"/>
          <p:cNvSpPr txBox="1"/>
          <p:nvPr/>
        </p:nvSpPr>
        <p:spPr>
          <a:xfrm>
            <a:off x="457200" y="5532120"/>
            <a:ext cx="1828800" cy="640080"/>
          </a:xfrm>
          <a:prstGeom prst="rect">
            <a:avLst/>
          </a:prstGeom>
          <a:noFill/>
        </p:spPr>
        <p:txBody>
          <a:bodyPr wrap="square" anchor="ctr" lIns="73152" rIns="73152"/>
          <a:lstStyle/>
          <a:p>
            <a:pPr algn="l"/>
            <a:r>
              <a:rPr sz="1150" b="1" i="0">
                <a:solidFill>
                  <a:srgbClr val="C00000"/>
                </a:solidFill>
                <a:latin typeface="Arial"/>
              </a:rPr>
              <a:t>Design rules across every feature:</a:t>
            </a:r>
            <a:endParaRPr sz="1150"/>
          </a:p>
        </p:txBody>
      </p:sp>
      <p:sp>
        <p:nvSpPr>
          <p:cNvPr id="16" name="Rounded Rectangle 15"/>
          <p:cNvSpPr/>
          <p:nvPr/>
        </p:nvSpPr>
        <p:spPr>
          <a:xfrm>
            <a:off x="2377440" y="5605272"/>
            <a:ext cx="1691640" cy="502920"/>
          </a:xfrm>
          <a:prstGeom prst="roundRect">
            <a:avLst>
              <a:gd name="adj" fmla="val 40000"/>
            </a:avLst>
          </a:prstGeom>
          <a:solidFill>
            <a:srgbClr val="1F2937"/>
          </a:solidFill>
          <a:ln>
            <a:noFill/>
          </a:ln>
          <a:effectLst/>
        </p:spPr>
        <p:txBody>
          <a:bodyPr rtlCol="0" anchor="ctr" wrap="square" lIns="27432" tIns="18288" rIns="27432" bIns="18288"/>
          <a:lstStyle/>
          <a:p>
            <a:pPr algn="ctr"/>
            <a:r>
              <a:rPr sz="1150" b="1" i="0">
                <a:solidFill>
                  <a:srgbClr val="FFFFFF"/>
                </a:solidFill>
                <a:latin typeface="Arial"/>
              </a:rPr>
              <a:t>Honest data labels</a:t>
            </a:r>
            <a:endParaRPr sz="1150"/>
          </a:p>
        </p:txBody>
      </p:sp>
      <p:sp>
        <p:nvSpPr>
          <p:cNvPr id="17" name="Rounded Rectangle 16"/>
          <p:cNvSpPr/>
          <p:nvPr/>
        </p:nvSpPr>
        <p:spPr>
          <a:xfrm>
            <a:off x="4160520" y="5605272"/>
            <a:ext cx="1691640" cy="502920"/>
          </a:xfrm>
          <a:prstGeom prst="roundRect">
            <a:avLst>
              <a:gd name="adj" fmla="val 40000"/>
            </a:avLst>
          </a:prstGeom>
          <a:solidFill>
            <a:srgbClr val="1F2937"/>
          </a:solidFill>
          <a:ln>
            <a:noFill/>
          </a:ln>
          <a:effectLst/>
        </p:spPr>
        <p:txBody>
          <a:bodyPr rtlCol="0" anchor="ctr" wrap="square" lIns="27432" tIns="18288" rIns="27432" bIns="18288"/>
          <a:lstStyle/>
          <a:p>
            <a:pPr algn="ctr"/>
            <a:r>
              <a:rPr sz="1150" b="1" i="0">
                <a:solidFill>
                  <a:srgbClr val="FFFFFF"/>
                </a:solidFill>
                <a:latin typeface="Arial"/>
              </a:rPr>
              <a:t>Offline-first</a:t>
            </a:r>
            <a:endParaRPr sz="1150"/>
          </a:p>
        </p:txBody>
      </p:sp>
      <p:sp>
        <p:nvSpPr>
          <p:cNvPr id="18" name="Rounded Rectangle 17"/>
          <p:cNvSpPr/>
          <p:nvPr/>
        </p:nvSpPr>
        <p:spPr>
          <a:xfrm>
            <a:off x="5943600" y="5605272"/>
            <a:ext cx="1691640" cy="502920"/>
          </a:xfrm>
          <a:prstGeom prst="roundRect">
            <a:avLst>
              <a:gd name="adj" fmla="val 40000"/>
            </a:avLst>
          </a:prstGeom>
          <a:solidFill>
            <a:srgbClr val="1F2937"/>
          </a:solidFill>
          <a:ln>
            <a:noFill/>
          </a:ln>
          <a:effectLst/>
        </p:spPr>
        <p:txBody>
          <a:bodyPr rtlCol="0" anchor="ctr" wrap="square" lIns="27432" tIns="18288" rIns="27432" bIns="18288"/>
          <a:lstStyle/>
          <a:p>
            <a:pPr algn="ctr"/>
            <a:r>
              <a:rPr sz="1150" b="1" i="0">
                <a:solidFill>
                  <a:srgbClr val="FFFFFF"/>
                </a:solidFill>
                <a:latin typeface="Arial"/>
              </a:rPr>
              <a:t>Read-only AI</a:t>
            </a:r>
            <a:endParaRPr sz="1150"/>
          </a:p>
        </p:txBody>
      </p:sp>
      <p:sp>
        <p:nvSpPr>
          <p:cNvPr id="19" name="Rounded Rectangle 18"/>
          <p:cNvSpPr/>
          <p:nvPr/>
        </p:nvSpPr>
        <p:spPr>
          <a:xfrm>
            <a:off x="7726680" y="5605272"/>
            <a:ext cx="1691640" cy="502920"/>
          </a:xfrm>
          <a:prstGeom prst="roundRect">
            <a:avLst>
              <a:gd name="adj" fmla="val 40000"/>
            </a:avLst>
          </a:prstGeom>
          <a:solidFill>
            <a:srgbClr val="1F2937"/>
          </a:solidFill>
          <a:ln>
            <a:noFill/>
          </a:ln>
          <a:effectLst/>
        </p:spPr>
        <p:txBody>
          <a:bodyPr rtlCol="0" anchor="ctr" wrap="square" lIns="27432" tIns="18288" rIns="27432" bIns="18288"/>
          <a:lstStyle/>
          <a:p>
            <a:pPr algn="ctr"/>
            <a:r>
              <a:rPr sz="1150" b="1" i="0">
                <a:solidFill>
                  <a:srgbClr val="FFFFFF"/>
                </a:solidFill>
                <a:latin typeface="Arial"/>
              </a:rPr>
              <a:t>Open standards</a:t>
            </a:r>
            <a:endParaRPr sz="115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Existing Services vs DBARS</a:t>
            </a:r>
          </a:p>
        </p:txBody>
      </p:sp>
      <p:graphicFrame>
        <p:nvGraphicFramePr>
          <p:cNvPr id="3" name="Table 2"/>
          <p:cNvGraphicFramePr>
            <a:graphicFrameLocks noGrp="1"/>
          </p:cNvGraphicFramePr>
          <p:nvPr/>
        </p:nvGraphicFramePr>
        <p:xfrm>
          <a:off x="457200" y="914400"/>
          <a:ext cx="8988552" cy="4626864"/>
        </p:xfrm>
        <a:graphic>
          <a:graphicData uri="http://schemas.openxmlformats.org/drawingml/2006/table">
            <a:tbl>
              <a:tblPr firstRow="0" bandRow="0">
                <a:tableStyleId>{2D5ABB26-0587-4C30-8999-92F81FD0307C}</a:tableStyleId>
              </a:tblPr>
              <a:tblGrid>
                <a:gridCol w="1481328"/>
                <a:gridCol w="1600200"/>
                <a:gridCol w="1463040"/>
                <a:gridCol w="1417320"/>
                <a:gridCol w="3026664"/>
              </a:tblGrid>
              <a:tr h="384048">
                <a:tc>
                  <a:txBody>
                    <a:bodyPr wrap="square" anchor="ctr" lIns="54864" tIns="27432" rIns="54864" bIns="27432"/>
                    <a:lstStyle/>
                    <a:p>
                      <a:pPr algn="l"/>
                      <a:r>
                        <a:rPr sz="1050" b="1" i="0">
                          <a:solidFill>
                            <a:srgbClr val="FFFFFF"/>
                          </a:solidFill>
                          <a:latin typeface="Arial"/>
                        </a:rPr>
                        <a:t>Capability</a:t>
                      </a:r>
                      <a:endParaRPr sz="105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54864" tIns="27432" rIns="54864" bIns="27432"/>
                    <a:lstStyle/>
                    <a:p>
                      <a:pPr algn="l"/>
                      <a:r>
                        <a:rPr sz="1050" b="1" i="0">
                          <a:solidFill>
                            <a:srgbClr val="FFFFFF"/>
                          </a:solidFill>
                          <a:latin typeface="Arial"/>
                        </a:rPr>
                        <a:t>Namma BMTC 2.0 (BMTC)</a:t>
                      </a:r>
                      <a:endParaRPr sz="105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54864" tIns="27432" rIns="54864" bIns="27432"/>
                    <a:lstStyle/>
                    <a:p>
                      <a:pPr algn="l"/>
                      <a:r>
                        <a:rPr sz="1050" b="1" i="0">
                          <a:solidFill>
                            <a:srgbClr val="FFFFFF"/>
                          </a:solidFill>
                          <a:latin typeface="Arial"/>
                        </a:rPr>
                        <a:t>Moovit / Google-type planners</a:t>
                      </a:r>
                      <a:endParaRPr sz="105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54864" tIns="27432" rIns="54864" bIns="27432"/>
                    <a:lstStyle/>
                    <a:p>
                      <a:pPr algn="l"/>
                      <a:r>
                        <a:rPr sz="1050" b="1" i="0">
                          <a:solidFill>
                            <a:srgbClr val="FFFFFF"/>
                          </a:solidFill>
                          <a:latin typeface="Arial"/>
                        </a:rPr>
                        <a:t>Chalo-type ticketing apps</a:t>
                      </a:r>
                      <a:endParaRPr sz="105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54864" tIns="27432" rIns="54864" bIns="27432"/>
                    <a:lstStyle/>
                    <a:p>
                      <a:pPr algn="l"/>
                      <a:r>
                        <a:rPr sz="1050" b="1" i="0">
                          <a:solidFill>
                            <a:srgbClr val="FFFFFF"/>
                          </a:solidFill>
                          <a:latin typeface="Arial"/>
                        </a:rPr>
                        <a:t>DBARS (proposed)</a:t>
                      </a:r>
                      <a:endParaRPr sz="105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530352">
                <a:tc>
                  <a:txBody>
                    <a:bodyPr wrap="square" anchor="ctr" lIns="54864" tIns="27432" rIns="54864" bIns="27432"/>
                    <a:lstStyle/>
                    <a:p>
                      <a:pPr algn="l"/>
                      <a:r>
                        <a:rPr sz="1000" b="1" i="0">
                          <a:solidFill>
                            <a:srgbClr val="1F2937"/>
                          </a:solidFill>
                          <a:latin typeface="Arial"/>
                        </a:rPr>
                        <a:t>Bus journey planning</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bus + Metro planner</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step-by-step trips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a core offering</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direct, 1- and 2-change; ranked with a metric that can fail</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r h="530352">
                <a:tc>
                  <a:txBody>
                    <a:bodyPr wrap="square" anchor="ctr" lIns="54864" tIns="27432" rIns="54864" bIns="27432"/>
                    <a:lstStyle/>
                    <a:p>
                      <a:pPr algn="l"/>
                      <a:r>
                        <a:rPr sz="1000" b="1" i="0">
                          <a:solidFill>
                            <a:srgbClr val="1F2937"/>
                          </a:solidFill>
                          <a:latin typeface="Arial"/>
                        </a:rPr>
                        <a:t>Live tracking and ETA</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real-time arrivals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from any feed; simulated data always labelled, never sold as live</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r h="530352">
                <a:tc>
                  <a:txBody>
                    <a:bodyPr wrap="square" anchor="ctr" lIns="54864" tIns="27432" rIns="54864" bIns="27432"/>
                    <a:lstStyle/>
                    <a:p>
                      <a:pPr algn="l"/>
                      <a:r>
                        <a:rPr sz="1000" b="1" i="0">
                          <a:solidFill>
                            <a:srgbClr val="1F2937"/>
                          </a:solidFill>
                          <a:latin typeface="Arial"/>
                        </a:rPr>
                        <a:t>Tickets and passes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digital, Metro QR, NCMC card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mobile tickets, passes, card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Yes, plus Shakti tickets that store fare value vs fare collected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r h="530352">
                <a:tc>
                  <a:txBody>
                    <a:bodyPr wrap="square" anchor="ctr" lIns="54864" tIns="27432" rIns="54864" bIns="27432"/>
                    <a:lstStyle/>
                    <a:p>
                      <a:pPr algn="l"/>
                      <a:r>
                        <a:rPr sz="1000" b="1" i="0">
                          <a:solidFill>
                            <a:srgbClr val="1F2937"/>
                          </a:solidFill>
                          <a:latin typeface="Arial"/>
                        </a:rPr>
                        <a:t>Commuter demand to depot decision</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Fraud-checked votes become ranked dispatch recommendations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r h="530352">
                <a:tc>
                  <a:txBody>
                    <a:bodyPr wrap="square" anchor="ctr" lIns="54864" tIns="27432" rIns="54864" bIns="27432"/>
                    <a:lstStyle/>
                    <a:p>
                      <a:pPr algn="l"/>
                      <a:r>
                        <a:rPr sz="1000" b="1" i="0">
                          <a:solidFill>
                            <a:srgbClr val="1F2937"/>
                          </a:solidFill>
                          <a:latin typeface="Arial"/>
                        </a:rPr>
                        <a:t>Fleet and crew planning</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Minimum buses, dead km and crew duties, with what-if scenarios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r h="530352">
                <a:tc>
                  <a:txBody>
                    <a:bodyPr wrap="square" anchor="ctr" lIns="54864" tIns="27432" rIns="54864" bIns="27432"/>
                    <a:lstStyle/>
                    <a:p>
                      <a:pPr algn="l"/>
                      <a:r>
                        <a:rPr sz="1000" b="1" i="0">
                          <a:solidFill>
                            <a:srgbClr val="1F2937"/>
                          </a:solidFill>
                          <a:latin typeface="Arial"/>
                        </a:rPr>
                        <a:t>Conductor waybill and cash check</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Offline-first waybills; cash variance reported, never auto-corrected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r h="530352">
                <a:tc>
                  <a:txBody>
                    <a:bodyPr wrap="square" anchor="ctr" lIns="54864" tIns="27432" rIns="54864" bIns="27432"/>
                    <a:lstStyle/>
                    <a:p>
                      <a:pPr algn="l"/>
                      <a:r>
                        <a:rPr sz="1000" b="1" i="0">
                          <a:solidFill>
                            <a:srgbClr val="1F2937"/>
                          </a:solidFill>
                          <a:latin typeface="Arial"/>
                        </a:rPr>
                        <a:t>Open data</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 (a static BMTC schedule feed is listed publicly)</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Enriched GTFS plus GTFS-Realtime alerts, extending the static feed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r h="530352">
                <a:tc>
                  <a:txBody>
                    <a:bodyPr wrap="square" anchor="ctr" lIns="54864" tIns="27432" rIns="54864" bIns="27432"/>
                    <a:lstStyle/>
                    <a:p>
                      <a:pPr algn="l"/>
                      <a:r>
                        <a:rPr sz="1000" b="1" i="0">
                          <a:solidFill>
                            <a:srgbClr val="1F2937"/>
                          </a:solidFill>
                          <a:latin typeface="Arial"/>
                        </a:rPr>
                        <a:t>Languages and access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Kannada, English</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6B7280"/>
                          </a:solidFill>
                          <a:latin typeface="Arial"/>
                        </a:rPr>
                        <a:t>Not described</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54864" tIns="27432" rIns="54864" bIns="27432"/>
                    <a:lstStyle/>
                    <a:p>
                      <a:pPr algn="l"/>
                      <a:r>
                        <a:rPr sz="1000" b="0" i="0">
                          <a:solidFill>
                            <a:srgbClr val="1F2937"/>
                          </a:solidFill>
                          <a:latin typeface="Arial"/>
                        </a:rPr>
                        <a:t>English, Kannada, Hindi, Telugu, plus SMS for feature phones</a:t>
                      </a:r>
                      <a:endParaRPr sz="1000"/>
                    </a:p>
                  </a:txBody>
                  <a:tcPr marL="54864" marT="27432" marR="54864" marB="27432" anchor="ctr">
                    <a:lnL w="9525">
                      <a:solidFill>
                        <a:srgbClr val="D1D5DB"/>
                      </a:solidFill>
                    </a:lnL>
                    <a:lnR w="9525">
                      <a:solidFill>
                        <a:srgbClr val="D1D5DB"/>
                      </a:solidFill>
                    </a:lnR>
                    <a:lnT w="9525">
                      <a:solidFill>
                        <a:srgbClr val="D1D5DB"/>
                      </a:solidFill>
                    </a:lnT>
                    <a:lnB w="9525">
                      <a:solidFill>
                        <a:srgbClr val="D1D5DB"/>
                      </a:solidFill>
                    </a:lnB>
                    <a:solidFill>
                      <a:srgbClr val="E6F4EA"/>
                    </a:solidFill>
                  </a:tcPr>
                </a:tc>
              </a:tr>
            </a:tbl>
          </a:graphicData>
        </a:graphic>
      </p:graphicFrame>
      <p:sp>
        <p:nvSpPr>
          <p:cNvPr id="4" name="TextBox 3"/>
          <p:cNvSpPr txBox="1"/>
          <p:nvPr/>
        </p:nvSpPr>
        <p:spPr>
          <a:xfrm>
            <a:off x="457200" y="5669280"/>
            <a:ext cx="8988552" cy="594360"/>
          </a:xfrm>
          <a:prstGeom prst="rect">
            <a:avLst/>
          </a:prstGeom>
          <a:noFill/>
        </p:spPr>
        <p:txBody>
          <a:bodyPr wrap="square" anchor="t" lIns="73152" rIns="73152"/>
          <a:lstStyle/>
          <a:p>
            <a:pPr algn="l"/>
            <a:r>
              <a:rPr sz="1000" b="0" i="1">
                <a:solidFill>
                  <a:srgbClr val="4B5563"/>
                </a:solidFill>
                <a:latin typeface="Arial"/>
              </a:rPr>
              <a:t>Based on public feature descriptions reviewed in September 2026 [14-18]. "Not described" means the capability is not listed there; it is not proof that it is absent. Namma BMTC 2.0 launched in September 2026, so its feature set may grow.</a:t>
            </a:r>
            <a:endParaRPr sz="10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Why DBARS Is Unique</a:t>
            </a:r>
          </a:p>
        </p:txBody>
      </p:sp>
      <p:sp>
        <p:nvSpPr>
          <p:cNvPr id="3" name="Rounded Rectangle 2"/>
          <p:cNvSpPr/>
          <p:nvPr/>
        </p:nvSpPr>
        <p:spPr>
          <a:xfrm>
            <a:off x="457200" y="914400"/>
            <a:ext cx="8988552" cy="731520"/>
          </a:xfrm>
          <a:prstGeom prst="roundRect">
            <a:avLst>
              <a:gd name="adj" fmla="val 8000"/>
            </a:avLst>
          </a:prstGeom>
          <a:solidFill>
            <a:srgbClr val="1F2937"/>
          </a:solidFill>
          <a:ln>
            <a:noFill/>
          </a:ln>
          <a:effectLst/>
        </p:spPr>
        <p:txBody>
          <a:bodyPr rtlCol="0" anchor="ctr" wrap="square" lIns="274320" rIns="274320"/>
          <a:lstStyle/>
          <a:p>
            <a:pPr algn="ctr"/>
            <a:r>
              <a:rPr sz="1300" b="1" i="0">
                <a:solidFill>
                  <a:srgbClr val="FFFFFF"/>
                </a:solidFill>
                <a:latin typeface="Arial"/>
              </a:rPr>
              <a:t>Existing apps answer the rider's question: which bus do I take? DBARS also answers the operator's: how many buses do we run, and where do riders want more?</a:t>
            </a:r>
            <a:endParaRPr sz="1300"/>
          </a:p>
        </p:txBody>
      </p:sp>
      <p:sp>
        <p:nvSpPr>
          <p:cNvPr id="4" name="Rounded Rectangle 3"/>
          <p:cNvSpPr/>
          <p:nvPr/>
        </p:nvSpPr>
        <p:spPr>
          <a:xfrm>
            <a:off x="457200" y="1755648"/>
            <a:ext cx="8988552" cy="658368"/>
          </a:xfrm>
          <a:prstGeom prst="roundRect">
            <a:avLst>
              <a:gd name="adj" fmla="val 8000"/>
            </a:avLst>
          </a:prstGeom>
          <a:solidFill>
            <a:srgbClr val="F3F4F6"/>
          </a:solidFill>
          <a:ln>
            <a:noFill/>
          </a:ln>
          <a:effectLst/>
        </p:spPr>
        <p:txBody>
          <a:bodyPr rtlCol="0" anchor="ctr"/>
          <a:lstStyle/>
          <a:p>
            <a:pPr algn="ctr"/>
          </a:p>
        </p:txBody>
      </p:sp>
      <p:sp>
        <p:nvSpPr>
          <p:cNvPr id="5" name="Oval 4"/>
          <p:cNvSpPr/>
          <p:nvPr/>
        </p:nvSpPr>
        <p:spPr>
          <a:xfrm>
            <a:off x="594360" y="1901952"/>
            <a:ext cx="402336" cy="402336"/>
          </a:xfrm>
          <a:prstGeom prst="ellipse">
            <a:avLst/>
          </a:prstGeom>
          <a:solidFill>
            <a:srgbClr val="C00000"/>
          </a:solidFill>
          <a:ln>
            <a:noFill/>
          </a:ln>
          <a:effectLst/>
        </p:spPr>
        <p:txBody>
          <a:bodyPr rtlCol="0" anchor="ctr" wrap="none" lIns="0" tIns="0" rIns="0" bIns="0"/>
          <a:lstStyle/>
          <a:p>
            <a:pPr algn="ctr"/>
            <a:r>
              <a:rPr sz="1400" b="1" i="0">
                <a:solidFill>
                  <a:srgbClr val="FFFFFF"/>
                </a:solidFill>
                <a:latin typeface="Arial"/>
              </a:rPr>
              <a:t>1</a:t>
            </a:r>
            <a:endParaRPr sz="1400"/>
          </a:p>
        </p:txBody>
      </p:sp>
      <p:sp>
        <p:nvSpPr>
          <p:cNvPr id="6" name="TextBox 5"/>
          <p:cNvSpPr txBox="1"/>
          <p:nvPr/>
        </p:nvSpPr>
        <p:spPr>
          <a:xfrm>
            <a:off x="1143000" y="1773936"/>
            <a:ext cx="2743200" cy="621792"/>
          </a:xfrm>
          <a:prstGeom prst="rect">
            <a:avLst/>
          </a:prstGeom>
          <a:noFill/>
        </p:spPr>
        <p:txBody>
          <a:bodyPr wrap="square" anchor="ctr" lIns="73152" rIns="73152"/>
          <a:lstStyle/>
          <a:p>
            <a:pPr algn="l"/>
            <a:r>
              <a:rPr sz="1250" b="1" i="0">
                <a:solidFill>
                  <a:srgbClr val="C00000"/>
                </a:solidFill>
                <a:latin typeface="Arial"/>
              </a:rPr>
              <a:t>A closed loop from demand to dispatch</a:t>
            </a:r>
            <a:endParaRPr sz="1250"/>
          </a:p>
        </p:txBody>
      </p:sp>
      <p:sp>
        <p:nvSpPr>
          <p:cNvPr id="7" name="TextBox 6"/>
          <p:cNvSpPr txBox="1"/>
          <p:nvPr/>
        </p:nvSpPr>
        <p:spPr>
          <a:xfrm>
            <a:off x="3931920" y="1773936"/>
            <a:ext cx="5440680" cy="621792"/>
          </a:xfrm>
          <a:prstGeom prst="rect">
            <a:avLst/>
          </a:prstGeom>
          <a:noFill/>
        </p:spPr>
        <p:txBody>
          <a:bodyPr wrap="square" anchor="ctr" lIns="73152" rIns="73152"/>
          <a:lstStyle/>
          <a:p>
            <a:pPr algn="l"/>
            <a:r>
              <a:rPr sz="1150" b="0" i="0">
                <a:solidFill>
                  <a:srgbClr val="1F2937"/>
                </a:solidFill>
                <a:latin typeface="Arial"/>
              </a:rPr>
              <a:t>Commuter votes, checked for fraud, become ranked recommendations a depot manager can act on.</a:t>
            </a:r>
            <a:endParaRPr sz="1150"/>
          </a:p>
        </p:txBody>
      </p:sp>
      <p:sp>
        <p:nvSpPr>
          <p:cNvPr id="8" name="Rounded Rectangle 7"/>
          <p:cNvSpPr/>
          <p:nvPr/>
        </p:nvSpPr>
        <p:spPr>
          <a:xfrm>
            <a:off x="457200" y="2478024"/>
            <a:ext cx="8988552" cy="658368"/>
          </a:xfrm>
          <a:prstGeom prst="roundRect">
            <a:avLst>
              <a:gd name="adj" fmla="val 8000"/>
            </a:avLst>
          </a:prstGeom>
          <a:solidFill>
            <a:srgbClr val="F3F4F6"/>
          </a:solidFill>
          <a:ln>
            <a:noFill/>
          </a:ln>
          <a:effectLst/>
        </p:spPr>
        <p:txBody>
          <a:bodyPr rtlCol="0" anchor="ctr"/>
          <a:lstStyle/>
          <a:p>
            <a:pPr algn="ctr"/>
          </a:p>
        </p:txBody>
      </p:sp>
      <p:sp>
        <p:nvSpPr>
          <p:cNvPr id="9" name="Oval 8"/>
          <p:cNvSpPr/>
          <p:nvPr/>
        </p:nvSpPr>
        <p:spPr>
          <a:xfrm>
            <a:off x="594360" y="2624328"/>
            <a:ext cx="402336" cy="402336"/>
          </a:xfrm>
          <a:prstGeom prst="ellipse">
            <a:avLst/>
          </a:prstGeom>
          <a:solidFill>
            <a:srgbClr val="C00000"/>
          </a:solidFill>
          <a:ln>
            <a:noFill/>
          </a:ln>
          <a:effectLst/>
        </p:spPr>
        <p:txBody>
          <a:bodyPr rtlCol="0" anchor="ctr" wrap="none" lIns="0" tIns="0" rIns="0" bIns="0"/>
          <a:lstStyle/>
          <a:p>
            <a:pPr algn="ctr"/>
            <a:r>
              <a:rPr sz="1400" b="1" i="0">
                <a:solidFill>
                  <a:srgbClr val="FFFFFF"/>
                </a:solidFill>
                <a:latin typeface="Arial"/>
              </a:rPr>
              <a:t>2</a:t>
            </a:r>
            <a:endParaRPr sz="1400"/>
          </a:p>
        </p:txBody>
      </p:sp>
      <p:sp>
        <p:nvSpPr>
          <p:cNvPr id="10" name="TextBox 9"/>
          <p:cNvSpPr txBox="1"/>
          <p:nvPr/>
        </p:nvSpPr>
        <p:spPr>
          <a:xfrm>
            <a:off x="1143000" y="2496312"/>
            <a:ext cx="2743200" cy="621792"/>
          </a:xfrm>
          <a:prstGeom prst="rect">
            <a:avLst/>
          </a:prstGeom>
          <a:noFill/>
        </p:spPr>
        <p:txBody>
          <a:bodyPr wrap="square" anchor="ctr" lIns="73152" rIns="73152"/>
          <a:lstStyle/>
          <a:p>
            <a:pPr algn="l"/>
            <a:r>
              <a:rPr sz="1250" b="1" i="0">
                <a:solidFill>
                  <a:srgbClr val="C00000"/>
                </a:solidFill>
                <a:latin typeface="Arial"/>
              </a:rPr>
              <a:t>One dataset, both sides</a:t>
            </a:r>
            <a:endParaRPr sz="1250"/>
          </a:p>
        </p:txBody>
      </p:sp>
      <p:sp>
        <p:nvSpPr>
          <p:cNvPr id="11" name="TextBox 10"/>
          <p:cNvSpPr txBox="1"/>
          <p:nvPr/>
        </p:nvSpPr>
        <p:spPr>
          <a:xfrm>
            <a:off x="3931920" y="2496312"/>
            <a:ext cx="5440680" cy="621792"/>
          </a:xfrm>
          <a:prstGeom prst="rect">
            <a:avLst/>
          </a:prstGeom>
          <a:noFill/>
        </p:spPr>
        <p:txBody>
          <a:bodyPr wrap="square" anchor="ctr" lIns="73152" rIns="73152"/>
          <a:lstStyle/>
          <a:p>
            <a:pPr algn="l"/>
            <a:r>
              <a:rPr sz="1150" b="0" i="0">
                <a:solidFill>
                  <a:srgbClr val="1F2937"/>
                </a:solidFill>
                <a:latin typeface="Arial"/>
              </a:rPr>
              <a:t>The same timetable drives the rider's journey search and the operator's fleet and crew plan, so they never disagree.</a:t>
            </a:r>
            <a:endParaRPr sz="1150"/>
          </a:p>
        </p:txBody>
      </p:sp>
      <p:sp>
        <p:nvSpPr>
          <p:cNvPr id="12" name="Rounded Rectangle 11"/>
          <p:cNvSpPr/>
          <p:nvPr/>
        </p:nvSpPr>
        <p:spPr>
          <a:xfrm>
            <a:off x="457200" y="3200400"/>
            <a:ext cx="8988552" cy="658368"/>
          </a:xfrm>
          <a:prstGeom prst="roundRect">
            <a:avLst>
              <a:gd name="adj" fmla="val 8000"/>
            </a:avLst>
          </a:prstGeom>
          <a:solidFill>
            <a:srgbClr val="F3F4F6"/>
          </a:solidFill>
          <a:ln>
            <a:noFill/>
          </a:ln>
          <a:effectLst/>
        </p:spPr>
        <p:txBody>
          <a:bodyPr rtlCol="0" anchor="ctr"/>
          <a:lstStyle/>
          <a:p>
            <a:pPr algn="ctr"/>
          </a:p>
        </p:txBody>
      </p:sp>
      <p:sp>
        <p:nvSpPr>
          <p:cNvPr id="13" name="Oval 12"/>
          <p:cNvSpPr/>
          <p:nvPr/>
        </p:nvSpPr>
        <p:spPr>
          <a:xfrm>
            <a:off x="594360" y="3346704"/>
            <a:ext cx="402336" cy="402336"/>
          </a:xfrm>
          <a:prstGeom prst="ellipse">
            <a:avLst/>
          </a:prstGeom>
          <a:solidFill>
            <a:srgbClr val="C00000"/>
          </a:solidFill>
          <a:ln>
            <a:noFill/>
          </a:ln>
          <a:effectLst/>
        </p:spPr>
        <p:txBody>
          <a:bodyPr rtlCol="0" anchor="ctr" wrap="none" lIns="0" tIns="0" rIns="0" bIns="0"/>
          <a:lstStyle/>
          <a:p>
            <a:pPr algn="ctr"/>
            <a:r>
              <a:rPr sz="1400" b="1" i="0">
                <a:solidFill>
                  <a:srgbClr val="FFFFFF"/>
                </a:solidFill>
                <a:latin typeface="Arial"/>
              </a:rPr>
              <a:t>3</a:t>
            </a:r>
            <a:endParaRPr sz="1400"/>
          </a:p>
        </p:txBody>
      </p:sp>
      <p:sp>
        <p:nvSpPr>
          <p:cNvPr id="14" name="TextBox 13"/>
          <p:cNvSpPr txBox="1"/>
          <p:nvPr/>
        </p:nvSpPr>
        <p:spPr>
          <a:xfrm>
            <a:off x="1143000" y="3218688"/>
            <a:ext cx="2743200" cy="621792"/>
          </a:xfrm>
          <a:prstGeom prst="rect">
            <a:avLst/>
          </a:prstGeom>
          <a:noFill/>
        </p:spPr>
        <p:txBody>
          <a:bodyPr wrap="square" anchor="ctr" lIns="73152" rIns="73152"/>
          <a:lstStyle/>
          <a:p>
            <a:pPr algn="l"/>
            <a:r>
              <a:rPr sz="1250" b="1" i="0">
                <a:solidFill>
                  <a:srgbClr val="C00000"/>
                </a:solidFill>
                <a:latin typeface="Arial"/>
              </a:rPr>
              <a:t>A trustworthy money path</a:t>
            </a:r>
            <a:endParaRPr sz="1250"/>
          </a:p>
        </p:txBody>
      </p:sp>
      <p:sp>
        <p:nvSpPr>
          <p:cNvPr id="15" name="TextBox 14"/>
          <p:cNvSpPr txBox="1"/>
          <p:nvPr/>
        </p:nvSpPr>
        <p:spPr>
          <a:xfrm>
            <a:off x="3931920" y="3218688"/>
            <a:ext cx="5440680" cy="621792"/>
          </a:xfrm>
          <a:prstGeom prst="rect">
            <a:avLst/>
          </a:prstGeom>
          <a:noFill/>
        </p:spPr>
        <p:txBody>
          <a:bodyPr wrap="square" anchor="ctr" lIns="73152" rIns="73152"/>
          <a:lstStyle/>
          <a:p>
            <a:pPr algn="l"/>
            <a:r>
              <a:rPr sz="1150" b="0" i="0">
                <a:solidFill>
                  <a:srgbClr val="1F2937"/>
                </a:solidFill>
                <a:latin typeface="Arial"/>
              </a:rPr>
              <a:t>Shakti free rides keep their fare value for reimbursement; offline sales sync without double-counting; cash variance is reported.</a:t>
            </a:r>
            <a:endParaRPr sz="1150"/>
          </a:p>
        </p:txBody>
      </p:sp>
      <p:sp>
        <p:nvSpPr>
          <p:cNvPr id="16" name="Rounded Rectangle 15"/>
          <p:cNvSpPr/>
          <p:nvPr/>
        </p:nvSpPr>
        <p:spPr>
          <a:xfrm>
            <a:off x="457200" y="3922776"/>
            <a:ext cx="8988552" cy="658368"/>
          </a:xfrm>
          <a:prstGeom prst="roundRect">
            <a:avLst>
              <a:gd name="adj" fmla="val 8000"/>
            </a:avLst>
          </a:prstGeom>
          <a:solidFill>
            <a:srgbClr val="F3F4F6"/>
          </a:solidFill>
          <a:ln>
            <a:noFill/>
          </a:ln>
          <a:effectLst/>
        </p:spPr>
        <p:txBody>
          <a:bodyPr rtlCol="0" anchor="ctr"/>
          <a:lstStyle/>
          <a:p>
            <a:pPr algn="ctr"/>
          </a:p>
        </p:txBody>
      </p:sp>
      <p:sp>
        <p:nvSpPr>
          <p:cNvPr id="17" name="Oval 16"/>
          <p:cNvSpPr/>
          <p:nvPr/>
        </p:nvSpPr>
        <p:spPr>
          <a:xfrm>
            <a:off x="594360" y="4069080"/>
            <a:ext cx="402336" cy="402336"/>
          </a:xfrm>
          <a:prstGeom prst="ellipse">
            <a:avLst/>
          </a:prstGeom>
          <a:solidFill>
            <a:srgbClr val="C00000"/>
          </a:solidFill>
          <a:ln>
            <a:noFill/>
          </a:ln>
          <a:effectLst/>
        </p:spPr>
        <p:txBody>
          <a:bodyPr rtlCol="0" anchor="ctr" wrap="none" lIns="0" tIns="0" rIns="0" bIns="0"/>
          <a:lstStyle/>
          <a:p>
            <a:pPr algn="ctr"/>
            <a:r>
              <a:rPr sz="1400" b="1" i="0">
                <a:solidFill>
                  <a:srgbClr val="FFFFFF"/>
                </a:solidFill>
                <a:latin typeface="Arial"/>
              </a:rPr>
              <a:t>4</a:t>
            </a:r>
            <a:endParaRPr sz="1400"/>
          </a:p>
        </p:txBody>
      </p:sp>
      <p:sp>
        <p:nvSpPr>
          <p:cNvPr id="18" name="TextBox 17"/>
          <p:cNvSpPr txBox="1"/>
          <p:nvPr/>
        </p:nvSpPr>
        <p:spPr>
          <a:xfrm>
            <a:off x="1143000" y="3941063"/>
            <a:ext cx="2743200" cy="621792"/>
          </a:xfrm>
          <a:prstGeom prst="rect">
            <a:avLst/>
          </a:prstGeom>
          <a:noFill/>
        </p:spPr>
        <p:txBody>
          <a:bodyPr wrap="square" anchor="ctr" lIns="73152" rIns="73152"/>
          <a:lstStyle/>
          <a:p>
            <a:pPr algn="l"/>
            <a:r>
              <a:rPr sz="1250" b="1" i="0">
                <a:solidFill>
                  <a:srgbClr val="C00000"/>
                </a:solidFill>
                <a:latin typeface="Arial"/>
              </a:rPr>
              <a:t>Honest data labels</a:t>
            </a:r>
            <a:endParaRPr sz="1250"/>
          </a:p>
        </p:txBody>
      </p:sp>
      <p:sp>
        <p:nvSpPr>
          <p:cNvPr id="19" name="TextBox 18"/>
          <p:cNvSpPr txBox="1"/>
          <p:nvPr/>
        </p:nvSpPr>
        <p:spPr>
          <a:xfrm>
            <a:off x="3931920" y="3941063"/>
            <a:ext cx="5440680" cy="621792"/>
          </a:xfrm>
          <a:prstGeom prst="rect">
            <a:avLst/>
          </a:prstGeom>
          <a:noFill/>
        </p:spPr>
        <p:txBody>
          <a:bodyPr wrap="square" anchor="ctr" lIns="73152" rIns="73152"/>
          <a:lstStyle/>
          <a:p>
            <a:pPr algn="l"/>
            <a:r>
              <a:rPr sz="1150" b="0" i="0">
                <a:solidFill>
                  <a:srgbClr val="1F2937"/>
                </a:solidFill>
                <a:latin typeface="Arial"/>
              </a:rPr>
              <a:t>Simulated, estimated and live values are marked as such, and the accuracy metric is one that can fail.</a:t>
            </a:r>
            <a:endParaRPr sz="1150"/>
          </a:p>
        </p:txBody>
      </p:sp>
      <p:sp>
        <p:nvSpPr>
          <p:cNvPr id="20" name="Rounded Rectangle 19"/>
          <p:cNvSpPr/>
          <p:nvPr/>
        </p:nvSpPr>
        <p:spPr>
          <a:xfrm>
            <a:off x="457200" y="4645152"/>
            <a:ext cx="8988552" cy="658368"/>
          </a:xfrm>
          <a:prstGeom prst="roundRect">
            <a:avLst>
              <a:gd name="adj" fmla="val 8000"/>
            </a:avLst>
          </a:prstGeom>
          <a:solidFill>
            <a:srgbClr val="F3F4F6"/>
          </a:solidFill>
          <a:ln>
            <a:noFill/>
          </a:ln>
          <a:effectLst/>
        </p:spPr>
        <p:txBody>
          <a:bodyPr rtlCol="0" anchor="ctr"/>
          <a:lstStyle/>
          <a:p>
            <a:pPr algn="ctr"/>
          </a:p>
        </p:txBody>
      </p:sp>
      <p:sp>
        <p:nvSpPr>
          <p:cNvPr id="21" name="Oval 20"/>
          <p:cNvSpPr/>
          <p:nvPr/>
        </p:nvSpPr>
        <p:spPr>
          <a:xfrm>
            <a:off x="594360" y="4791456"/>
            <a:ext cx="402336" cy="402336"/>
          </a:xfrm>
          <a:prstGeom prst="ellipse">
            <a:avLst/>
          </a:prstGeom>
          <a:solidFill>
            <a:srgbClr val="C00000"/>
          </a:solidFill>
          <a:ln>
            <a:noFill/>
          </a:ln>
          <a:effectLst/>
        </p:spPr>
        <p:txBody>
          <a:bodyPr rtlCol="0" anchor="ctr" wrap="none" lIns="0" tIns="0" rIns="0" bIns="0"/>
          <a:lstStyle/>
          <a:p>
            <a:pPr algn="ctr"/>
            <a:r>
              <a:rPr sz="1400" b="1" i="0">
                <a:solidFill>
                  <a:srgbClr val="FFFFFF"/>
                </a:solidFill>
                <a:latin typeface="Arial"/>
              </a:rPr>
              <a:t>5</a:t>
            </a:r>
            <a:endParaRPr sz="1400"/>
          </a:p>
        </p:txBody>
      </p:sp>
      <p:sp>
        <p:nvSpPr>
          <p:cNvPr id="22" name="TextBox 21"/>
          <p:cNvSpPr txBox="1"/>
          <p:nvPr/>
        </p:nvSpPr>
        <p:spPr>
          <a:xfrm>
            <a:off x="1143000" y="4663440"/>
            <a:ext cx="2743200" cy="621792"/>
          </a:xfrm>
          <a:prstGeom prst="rect">
            <a:avLst/>
          </a:prstGeom>
          <a:noFill/>
        </p:spPr>
        <p:txBody>
          <a:bodyPr wrap="square" anchor="ctr" lIns="73152" rIns="73152"/>
          <a:lstStyle/>
          <a:p>
            <a:pPr algn="l"/>
            <a:r>
              <a:rPr sz="1250" b="1" i="0">
                <a:solidFill>
                  <a:srgbClr val="C00000"/>
                </a:solidFill>
                <a:latin typeface="Arial"/>
              </a:rPr>
              <a:t>Open and inclusive by design</a:t>
            </a:r>
            <a:endParaRPr sz="1250"/>
          </a:p>
        </p:txBody>
      </p:sp>
      <p:sp>
        <p:nvSpPr>
          <p:cNvPr id="23" name="TextBox 22"/>
          <p:cNvSpPr txBox="1"/>
          <p:nvPr/>
        </p:nvSpPr>
        <p:spPr>
          <a:xfrm>
            <a:off x="3931920" y="4663440"/>
            <a:ext cx="5440680" cy="621792"/>
          </a:xfrm>
          <a:prstGeom prst="rect">
            <a:avLst/>
          </a:prstGeom>
          <a:noFill/>
        </p:spPr>
        <p:txBody>
          <a:bodyPr wrap="square" anchor="ctr" lIns="73152" rIns="73152"/>
          <a:lstStyle/>
          <a:p>
            <a:pPr algn="l"/>
            <a:r>
              <a:rPr sz="1150" b="0" i="0">
                <a:solidFill>
                  <a:srgbClr val="1F2937"/>
                </a:solidFill>
                <a:latin typeface="Arial"/>
              </a:rPr>
              <a:t>GTFS plus real-time alerts for any app; four languages and SMS; core features keep running even if part of the system fails.</a:t>
            </a:r>
            <a:endParaRPr sz="1150"/>
          </a:p>
        </p:txBody>
      </p:sp>
      <p:sp>
        <p:nvSpPr>
          <p:cNvPr id="24" name="Rounded Rectangle 23"/>
          <p:cNvSpPr/>
          <p:nvPr/>
        </p:nvSpPr>
        <p:spPr>
          <a:xfrm>
            <a:off x="457200" y="5394960"/>
            <a:ext cx="8988552" cy="713232"/>
          </a:xfrm>
          <a:prstGeom prst="roundRect">
            <a:avLst>
              <a:gd name="adj" fmla="val 8000"/>
            </a:avLst>
          </a:prstGeom>
          <a:solidFill>
            <a:srgbClr val="E6F4EA"/>
          </a:solidFill>
          <a:ln>
            <a:noFill/>
          </a:ln>
          <a:effectLst/>
        </p:spPr>
        <p:txBody>
          <a:bodyPr rtlCol="0" anchor="ctr" wrap="square" lIns="228600" rIns="228600"/>
          <a:lstStyle/>
          <a:p>
            <a:pPr algn="l"/>
            <a:r>
              <a:rPr sz="1250" b="1" i="0">
                <a:solidFill>
                  <a:srgbClr val="0B8A3E"/>
                </a:solidFill>
                <a:latin typeface="Arial"/>
              </a:rPr>
              <a:t>Positioning: </a:t>
            </a:r>
            <a:r>
              <a:rPr sz="1250" b="0" i="0">
                <a:solidFill>
                  <a:srgbClr val="1F2937"/>
                </a:solidFill>
                <a:latin typeface="Arial"/>
              </a:rPr>
              <a:t>DBARS does not compete with Namma BMTC 2.0. It is the planning and open-data layer behind the services a bus operator runs, and it can complement the rider apps.</a:t>
            </a:r>
            <a:endParaRPr sz="125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400" b="1" i="0">
                <a:solidFill>
                  <a:srgbClr val="FF0000"/>
                </a:solidFill>
                <a:latin typeface="Arial"/>
              </a:rPr>
              <a:t>Sustainable Development Goals Aligned to the Project</a:t>
            </a:r>
          </a:p>
        </p:txBody>
      </p:sp>
      <p:sp>
        <p:nvSpPr>
          <p:cNvPr id="3" name="Rounded Rectangle 2"/>
          <p:cNvSpPr/>
          <p:nvPr/>
        </p:nvSpPr>
        <p:spPr>
          <a:xfrm>
            <a:off x="457200" y="914400"/>
            <a:ext cx="8988552" cy="1161288"/>
          </a:xfrm>
          <a:prstGeom prst="roundRect">
            <a:avLst>
              <a:gd name="adj" fmla="val 5000"/>
            </a:avLst>
          </a:prstGeom>
          <a:solidFill>
            <a:srgbClr val="F3F4F6"/>
          </a:solidFill>
          <a:ln>
            <a:noFill/>
          </a:ln>
          <a:effectLst/>
        </p:spPr>
        <p:txBody>
          <a:bodyPr rtlCol="0" anchor="ctr"/>
          <a:lstStyle/>
          <a:p>
            <a:pPr algn="ctr"/>
          </a:p>
        </p:txBody>
      </p:sp>
      <p:sp>
        <p:nvSpPr>
          <p:cNvPr id="4" name="Rounded Rectangle 3"/>
          <p:cNvSpPr/>
          <p:nvPr/>
        </p:nvSpPr>
        <p:spPr>
          <a:xfrm>
            <a:off x="566928" y="1024128"/>
            <a:ext cx="1600200" cy="941832"/>
          </a:xfrm>
          <a:prstGeom prst="roundRect">
            <a:avLst>
              <a:gd name="adj" fmla="val 6000"/>
            </a:avLst>
          </a:prstGeom>
          <a:solidFill>
            <a:srgbClr val="FD9D24"/>
          </a:solidFill>
          <a:ln>
            <a:noFill/>
          </a:ln>
          <a:effectLst/>
        </p:spPr>
        <p:txBody>
          <a:bodyPr rtlCol="0" anchor="ctr" wrap="square" lIns="73152" tIns="36576" rIns="73152" bIns="36576"/>
          <a:lstStyle/>
          <a:p>
            <a:pPr algn="ctr"/>
            <a:r>
              <a:rPr sz="2000" b="1" i="0">
                <a:solidFill>
                  <a:srgbClr val="1F2937"/>
                </a:solidFill>
                <a:latin typeface="Arial"/>
              </a:rPr>
              <a:t>SDG 11</a:t>
            </a:r>
            <a:endParaRPr sz="2000"/>
          </a:p>
          <a:p>
            <a:pPr algn="ctr"/>
            <a:r>
              <a:rPr sz="900" b="1" i="0">
                <a:solidFill>
                  <a:srgbClr val="1F2937"/>
                </a:solidFill>
                <a:latin typeface="Arial"/>
              </a:rPr>
              <a:t>Sustainable Cities and Communities</a:t>
            </a:r>
            <a:endParaRPr sz="900"/>
          </a:p>
        </p:txBody>
      </p:sp>
      <p:sp>
        <p:nvSpPr>
          <p:cNvPr id="5" name="TextBox 4"/>
          <p:cNvSpPr txBox="1"/>
          <p:nvPr/>
        </p:nvSpPr>
        <p:spPr>
          <a:xfrm>
            <a:off x="2286000" y="969264"/>
            <a:ext cx="7040880" cy="457200"/>
          </a:xfrm>
          <a:prstGeom prst="rect">
            <a:avLst/>
          </a:prstGeom>
          <a:noFill/>
        </p:spPr>
        <p:txBody>
          <a:bodyPr wrap="square" anchor="ctr" lIns="73152" rIns="73152"/>
          <a:lstStyle/>
          <a:p>
            <a:pPr algn="l"/>
            <a:r>
              <a:rPr sz="1100" b="1" i="0">
                <a:solidFill>
                  <a:srgbClr val="C00000"/>
                </a:solidFill>
                <a:latin typeface="Arial"/>
              </a:rPr>
              <a:t>Target 11.2: safe, affordable, accessible and sustainable transport systems for all, notably by expanding public transport.</a:t>
            </a:r>
            <a:endParaRPr sz="1100"/>
          </a:p>
        </p:txBody>
      </p:sp>
      <p:sp>
        <p:nvSpPr>
          <p:cNvPr id="6" name="TextBox 5"/>
          <p:cNvSpPr txBox="1"/>
          <p:nvPr/>
        </p:nvSpPr>
        <p:spPr>
          <a:xfrm>
            <a:off x="2286000" y="1444752"/>
            <a:ext cx="7040880" cy="621792"/>
          </a:xfrm>
          <a:prstGeom prst="rect">
            <a:avLst/>
          </a:prstGeom>
          <a:noFill/>
        </p:spPr>
        <p:txBody>
          <a:bodyPr wrap="square" anchor="t" lIns="73152" rIns="73152"/>
          <a:lstStyle/>
          <a:p>
            <a:pPr algn="l"/>
            <a:r>
              <a:rPr sz="1200" b="0" i="0">
                <a:solidFill>
                  <a:srgbClr val="1F2937"/>
                </a:solidFill>
                <a:latin typeface="Arial"/>
              </a:rPr>
              <a:t>DBARS will make the bus network easier to use: journey search with transfers, four interface languages, an SMS channel for feature phones and Metro interchange information.</a:t>
            </a:r>
            <a:endParaRPr sz="1200"/>
          </a:p>
        </p:txBody>
      </p:sp>
      <p:sp>
        <p:nvSpPr>
          <p:cNvPr id="7" name="Rounded Rectangle 6"/>
          <p:cNvSpPr/>
          <p:nvPr/>
        </p:nvSpPr>
        <p:spPr>
          <a:xfrm>
            <a:off x="457200" y="2167128"/>
            <a:ext cx="8988552" cy="1161288"/>
          </a:xfrm>
          <a:prstGeom prst="roundRect">
            <a:avLst>
              <a:gd name="adj" fmla="val 5000"/>
            </a:avLst>
          </a:prstGeom>
          <a:solidFill>
            <a:srgbClr val="F3F4F6"/>
          </a:solidFill>
          <a:ln>
            <a:noFill/>
          </a:ln>
          <a:effectLst/>
        </p:spPr>
        <p:txBody>
          <a:bodyPr rtlCol="0" anchor="ctr"/>
          <a:lstStyle/>
          <a:p>
            <a:pPr algn="ctr"/>
          </a:p>
        </p:txBody>
      </p:sp>
      <p:sp>
        <p:nvSpPr>
          <p:cNvPr id="8" name="Rounded Rectangle 7"/>
          <p:cNvSpPr/>
          <p:nvPr/>
        </p:nvSpPr>
        <p:spPr>
          <a:xfrm>
            <a:off x="566928" y="2276856"/>
            <a:ext cx="1600200" cy="941832"/>
          </a:xfrm>
          <a:prstGeom prst="roundRect">
            <a:avLst>
              <a:gd name="adj" fmla="val 6000"/>
            </a:avLst>
          </a:prstGeom>
          <a:solidFill>
            <a:srgbClr val="F36D25"/>
          </a:solidFill>
          <a:ln>
            <a:noFill/>
          </a:ln>
          <a:effectLst/>
        </p:spPr>
        <p:txBody>
          <a:bodyPr rtlCol="0" anchor="ctr" wrap="square" lIns="73152" tIns="36576" rIns="73152" bIns="36576"/>
          <a:lstStyle/>
          <a:p>
            <a:pPr algn="ctr"/>
            <a:r>
              <a:rPr sz="2000" b="1" i="0">
                <a:solidFill>
                  <a:srgbClr val="FFFFFF"/>
                </a:solidFill>
                <a:latin typeface="Arial"/>
              </a:rPr>
              <a:t>SDG 9</a:t>
            </a:r>
            <a:endParaRPr sz="2000"/>
          </a:p>
          <a:p>
            <a:pPr algn="ctr"/>
            <a:r>
              <a:rPr sz="900" b="1" i="0">
                <a:solidFill>
                  <a:srgbClr val="FFFFFF"/>
                </a:solidFill>
                <a:latin typeface="Arial"/>
              </a:rPr>
              <a:t>Industry, Innovation and Infrastructure</a:t>
            </a:r>
            <a:endParaRPr sz="900"/>
          </a:p>
        </p:txBody>
      </p:sp>
      <p:sp>
        <p:nvSpPr>
          <p:cNvPr id="9" name="TextBox 8"/>
          <p:cNvSpPr txBox="1"/>
          <p:nvPr/>
        </p:nvSpPr>
        <p:spPr>
          <a:xfrm>
            <a:off x="2286000" y="2221992"/>
            <a:ext cx="7040880" cy="457200"/>
          </a:xfrm>
          <a:prstGeom prst="rect">
            <a:avLst/>
          </a:prstGeom>
          <a:noFill/>
        </p:spPr>
        <p:txBody>
          <a:bodyPr wrap="square" anchor="ctr" lIns="73152" rIns="73152"/>
          <a:lstStyle/>
          <a:p>
            <a:pPr algn="l"/>
            <a:r>
              <a:rPr sz="1100" b="1" i="0">
                <a:solidFill>
                  <a:srgbClr val="C00000"/>
                </a:solidFill>
                <a:latin typeface="Arial"/>
              </a:rPr>
              <a:t>Target 9.1: quality, reliable, sustainable and resilient infrastructure with affordable and equitable access.</a:t>
            </a:r>
            <a:endParaRPr sz="1100"/>
          </a:p>
        </p:txBody>
      </p:sp>
      <p:sp>
        <p:nvSpPr>
          <p:cNvPr id="10" name="TextBox 9"/>
          <p:cNvSpPr txBox="1"/>
          <p:nvPr/>
        </p:nvSpPr>
        <p:spPr>
          <a:xfrm>
            <a:off x="2286000" y="2697480"/>
            <a:ext cx="7040880" cy="621792"/>
          </a:xfrm>
          <a:prstGeom prst="rect">
            <a:avLst/>
          </a:prstGeom>
          <a:noFill/>
        </p:spPr>
        <p:txBody>
          <a:bodyPr wrap="square" anchor="t" lIns="73152" rIns="73152"/>
          <a:lstStyle/>
          <a:p>
            <a:pPr algn="l"/>
            <a:r>
              <a:rPr sz="1200" b="0" i="0">
                <a:solidFill>
                  <a:srgbClr val="1F2937"/>
                </a:solidFill>
                <a:latin typeface="Arial"/>
              </a:rPr>
              <a:t>Fleet and crew planning will give the operator data-driven tools for reliable service, and core features are designed to keep running even if part of the system fails.</a:t>
            </a:r>
            <a:endParaRPr sz="1200"/>
          </a:p>
        </p:txBody>
      </p:sp>
      <p:sp>
        <p:nvSpPr>
          <p:cNvPr id="11" name="Rounded Rectangle 10"/>
          <p:cNvSpPr/>
          <p:nvPr/>
        </p:nvSpPr>
        <p:spPr>
          <a:xfrm>
            <a:off x="457200" y="3419856"/>
            <a:ext cx="8988552" cy="1161288"/>
          </a:xfrm>
          <a:prstGeom prst="roundRect">
            <a:avLst>
              <a:gd name="adj" fmla="val 5000"/>
            </a:avLst>
          </a:prstGeom>
          <a:solidFill>
            <a:srgbClr val="F3F4F6"/>
          </a:solidFill>
          <a:ln>
            <a:noFill/>
          </a:ln>
          <a:effectLst/>
        </p:spPr>
        <p:txBody>
          <a:bodyPr rtlCol="0" anchor="ctr"/>
          <a:lstStyle/>
          <a:p>
            <a:pPr algn="ctr"/>
          </a:p>
        </p:txBody>
      </p:sp>
      <p:sp>
        <p:nvSpPr>
          <p:cNvPr id="12" name="Rounded Rectangle 11"/>
          <p:cNvSpPr/>
          <p:nvPr/>
        </p:nvSpPr>
        <p:spPr>
          <a:xfrm>
            <a:off x="566928" y="3529584"/>
            <a:ext cx="1600200" cy="941832"/>
          </a:xfrm>
          <a:prstGeom prst="roundRect">
            <a:avLst>
              <a:gd name="adj" fmla="val 6000"/>
            </a:avLst>
          </a:prstGeom>
          <a:solidFill>
            <a:srgbClr val="FF3A21"/>
          </a:solidFill>
          <a:ln>
            <a:noFill/>
          </a:ln>
          <a:effectLst/>
        </p:spPr>
        <p:txBody>
          <a:bodyPr rtlCol="0" anchor="ctr" wrap="square" lIns="73152" tIns="36576" rIns="73152" bIns="36576"/>
          <a:lstStyle/>
          <a:p>
            <a:pPr algn="ctr"/>
            <a:r>
              <a:rPr sz="2000" b="1" i="0">
                <a:solidFill>
                  <a:srgbClr val="FFFFFF"/>
                </a:solidFill>
                <a:latin typeface="Arial"/>
              </a:rPr>
              <a:t>SDG 5</a:t>
            </a:r>
            <a:endParaRPr sz="2000"/>
          </a:p>
          <a:p>
            <a:pPr algn="ctr"/>
            <a:r>
              <a:rPr sz="900" b="1" i="0">
                <a:solidFill>
                  <a:srgbClr val="FFFFFF"/>
                </a:solidFill>
                <a:latin typeface="Arial"/>
              </a:rPr>
              <a:t>Gender Equality</a:t>
            </a:r>
            <a:endParaRPr sz="900"/>
          </a:p>
        </p:txBody>
      </p:sp>
      <p:sp>
        <p:nvSpPr>
          <p:cNvPr id="13" name="TextBox 12"/>
          <p:cNvSpPr txBox="1"/>
          <p:nvPr/>
        </p:nvSpPr>
        <p:spPr>
          <a:xfrm>
            <a:off x="2286000" y="3474720"/>
            <a:ext cx="7040880" cy="457200"/>
          </a:xfrm>
          <a:prstGeom prst="rect">
            <a:avLst/>
          </a:prstGeom>
          <a:noFill/>
        </p:spPr>
        <p:txBody>
          <a:bodyPr wrap="square" anchor="ctr" lIns="73152" rIns="73152"/>
          <a:lstStyle/>
          <a:p>
            <a:pPr algn="l"/>
            <a:r>
              <a:rPr sz="1100" b="1" i="0">
                <a:solidFill>
                  <a:srgbClr val="C00000"/>
                </a:solidFill>
                <a:latin typeface="Arial"/>
              </a:rPr>
              <a:t>Target 5.b: enhance the use of enabling technology to promote the empowerment of women.</a:t>
            </a:r>
            <a:endParaRPr sz="1100"/>
          </a:p>
        </p:txBody>
      </p:sp>
      <p:sp>
        <p:nvSpPr>
          <p:cNvPr id="14" name="TextBox 13"/>
          <p:cNvSpPr txBox="1"/>
          <p:nvPr/>
        </p:nvSpPr>
        <p:spPr>
          <a:xfrm>
            <a:off x="2286000" y="3950208"/>
            <a:ext cx="7040880" cy="621792"/>
          </a:xfrm>
          <a:prstGeom prst="rect">
            <a:avLst/>
          </a:prstGeom>
          <a:noFill/>
        </p:spPr>
        <p:txBody>
          <a:bodyPr wrap="square" anchor="t" lIns="73152" rIns="73152"/>
          <a:lstStyle/>
          <a:p>
            <a:pPr algn="l"/>
            <a:r>
              <a:rPr sz="1200" b="0" i="0">
                <a:solidFill>
                  <a:srgbClr val="1F2937"/>
                </a:solidFill>
                <a:latin typeface="Arial"/>
              </a:rPr>
              <a:t>Shakti-aware digital ticketing will issue free tickets with the same QR code and record the full fare value, so women's free travel is supported and counted.</a:t>
            </a:r>
            <a:endParaRPr sz="1200"/>
          </a:p>
        </p:txBody>
      </p:sp>
      <p:sp>
        <p:nvSpPr>
          <p:cNvPr id="15" name="Rounded Rectangle 14"/>
          <p:cNvSpPr/>
          <p:nvPr/>
        </p:nvSpPr>
        <p:spPr>
          <a:xfrm>
            <a:off x="457200" y="4672584"/>
            <a:ext cx="8988552" cy="1161288"/>
          </a:xfrm>
          <a:prstGeom prst="roundRect">
            <a:avLst>
              <a:gd name="adj" fmla="val 5000"/>
            </a:avLst>
          </a:prstGeom>
          <a:solidFill>
            <a:srgbClr val="F3F4F6"/>
          </a:solidFill>
          <a:ln>
            <a:noFill/>
          </a:ln>
          <a:effectLst/>
        </p:spPr>
        <p:txBody>
          <a:bodyPr rtlCol="0" anchor="ctr"/>
          <a:lstStyle/>
          <a:p>
            <a:pPr algn="ctr"/>
          </a:p>
        </p:txBody>
      </p:sp>
      <p:sp>
        <p:nvSpPr>
          <p:cNvPr id="16" name="Rounded Rectangle 15"/>
          <p:cNvSpPr/>
          <p:nvPr/>
        </p:nvSpPr>
        <p:spPr>
          <a:xfrm>
            <a:off x="566928" y="4782312"/>
            <a:ext cx="1600200" cy="941832"/>
          </a:xfrm>
          <a:prstGeom prst="roundRect">
            <a:avLst>
              <a:gd name="adj" fmla="val 6000"/>
            </a:avLst>
          </a:prstGeom>
          <a:solidFill>
            <a:srgbClr val="00689D"/>
          </a:solidFill>
          <a:ln>
            <a:noFill/>
          </a:ln>
          <a:effectLst/>
        </p:spPr>
        <p:txBody>
          <a:bodyPr rtlCol="0" anchor="ctr" wrap="square" lIns="73152" tIns="36576" rIns="73152" bIns="36576"/>
          <a:lstStyle/>
          <a:p>
            <a:pPr algn="ctr"/>
            <a:r>
              <a:rPr sz="2000" b="1" i="0">
                <a:solidFill>
                  <a:srgbClr val="FFFFFF"/>
                </a:solidFill>
                <a:latin typeface="Arial"/>
              </a:rPr>
              <a:t>SDG 16</a:t>
            </a:r>
            <a:endParaRPr sz="2000"/>
          </a:p>
          <a:p>
            <a:pPr algn="ctr"/>
            <a:r>
              <a:rPr sz="900" b="1" i="0">
                <a:solidFill>
                  <a:srgbClr val="FFFFFF"/>
                </a:solidFill>
                <a:latin typeface="Arial"/>
              </a:rPr>
              <a:t>Peace, Justice and Strong Institutions</a:t>
            </a:r>
            <a:endParaRPr sz="900"/>
          </a:p>
        </p:txBody>
      </p:sp>
      <p:sp>
        <p:nvSpPr>
          <p:cNvPr id="17" name="TextBox 16"/>
          <p:cNvSpPr txBox="1"/>
          <p:nvPr/>
        </p:nvSpPr>
        <p:spPr>
          <a:xfrm>
            <a:off x="2286000" y="4727448"/>
            <a:ext cx="7040880" cy="457200"/>
          </a:xfrm>
          <a:prstGeom prst="rect">
            <a:avLst/>
          </a:prstGeom>
          <a:noFill/>
        </p:spPr>
        <p:txBody>
          <a:bodyPr wrap="square" anchor="ctr" lIns="73152" rIns="73152"/>
          <a:lstStyle/>
          <a:p>
            <a:pPr algn="l"/>
            <a:r>
              <a:rPr sz="1100" b="1" i="0">
                <a:solidFill>
                  <a:srgbClr val="C00000"/>
                </a:solidFill>
                <a:latin typeface="Arial"/>
              </a:rPr>
              <a:t>Target 16.6: effective, accountable and transparent institutions.</a:t>
            </a:r>
            <a:endParaRPr sz="1100"/>
          </a:p>
        </p:txBody>
      </p:sp>
      <p:sp>
        <p:nvSpPr>
          <p:cNvPr id="18" name="TextBox 17"/>
          <p:cNvSpPr txBox="1"/>
          <p:nvPr/>
        </p:nvSpPr>
        <p:spPr>
          <a:xfrm>
            <a:off x="2286000" y="5202936"/>
            <a:ext cx="7040880" cy="621792"/>
          </a:xfrm>
          <a:prstGeom prst="rect">
            <a:avLst/>
          </a:prstGeom>
          <a:noFill/>
        </p:spPr>
        <p:txBody>
          <a:bodyPr wrap="square" anchor="t" lIns="73152" rIns="73152"/>
          <a:lstStyle/>
          <a:p>
            <a:pPr algn="l"/>
            <a:r>
              <a:rPr sz="1200" b="0" i="0">
                <a:solidFill>
                  <a:srgbClr val="1F2937"/>
                </a:solidFill>
                <a:latin typeface="Arial"/>
              </a:rPr>
              <a:t>An audit log, cash reconciliation that reports variance instead of hiding it, and a rule that simulated data is never shown as live, will support transparency.</a:t>
            </a:r>
            <a:endParaRPr sz="1200"/>
          </a:p>
        </p:txBody>
      </p:sp>
      <p:sp>
        <p:nvSpPr>
          <p:cNvPr id="19" name="TextBox 18"/>
          <p:cNvSpPr txBox="1"/>
          <p:nvPr/>
        </p:nvSpPr>
        <p:spPr>
          <a:xfrm>
            <a:off x="457200" y="5961888"/>
            <a:ext cx="8988552" cy="274320"/>
          </a:xfrm>
          <a:prstGeom prst="rect">
            <a:avLst/>
          </a:prstGeom>
          <a:noFill/>
        </p:spPr>
        <p:txBody>
          <a:bodyPr wrap="square" anchor="t" lIns="73152" rIns="73152"/>
          <a:lstStyle/>
          <a:p>
            <a:pPr algn="l"/>
            <a:r>
              <a:rPr sz="950" b="0" i="1">
                <a:solidFill>
                  <a:srgbClr val="4B5563"/>
                </a:solidFill>
                <a:latin typeface="Arial"/>
              </a:rPr>
              <a:t>Goals and targets: https://sdgs.un.org/goals [13] (wording checked against the UN site)</a:t>
            </a:r>
            <a:endParaRPr sz="95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Expected Outcomes</a:t>
            </a:r>
          </a:p>
        </p:txBody>
      </p:sp>
      <p:sp>
        <p:nvSpPr>
          <p:cNvPr id="3" name="Rounded Rectangle 2"/>
          <p:cNvSpPr/>
          <p:nvPr/>
        </p:nvSpPr>
        <p:spPr>
          <a:xfrm>
            <a:off x="457200" y="914400"/>
            <a:ext cx="4434840" cy="2606040"/>
          </a:xfrm>
          <a:prstGeom prst="roundRect">
            <a:avLst>
              <a:gd name="adj" fmla="val 5000"/>
            </a:avLst>
          </a:prstGeom>
          <a:solidFill>
            <a:srgbClr val="F3F4F6"/>
          </a:solidFill>
          <a:ln>
            <a:noFill/>
          </a:ln>
          <a:effectLst/>
        </p:spPr>
        <p:txBody>
          <a:bodyPr rtlCol="0" anchor="ctr"/>
          <a:lstStyle/>
          <a:p>
            <a:pPr algn="ctr"/>
          </a:p>
        </p:txBody>
      </p:sp>
      <p:sp>
        <p:nvSpPr>
          <p:cNvPr id="4" name="Oval 3"/>
          <p:cNvSpPr/>
          <p:nvPr/>
        </p:nvSpPr>
        <p:spPr>
          <a:xfrm>
            <a:off x="594360"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A</a:t>
            </a:r>
            <a:endParaRPr sz="1300"/>
          </a:p>
        </p:txBody>
      </p:sp>
      <p:sp>
        <p:nvSpPr>
          <p:cNvPr id="5" name="TextBox 4"/>
          <p:cNvSpPr txBox="1"/>
          <p:nvPr/>
        </p:nvSpPr>
        <p:spPr>
          <a:xfrm>
            <a:off x="1051560" y="987552"/>
            <a:ext cx="3703320" cy="292608"/>
          </a:xfrm>
          <a:prstGeom prst="rect">
            <a:avLst/>
          </a:prstGeom>
          <a:noFill/>
        </p:spPr>
        <p:txBody>
          <a:bodyPr wrap="square" anchor="ctr" lIns="73152" rIns="73152"/>
          <a:lstStyle/>
          <a:p>
            <a:pPr algn="l"/>
            <a:r>
              <a:rPr sz="1500" b="1" i="0">
                <a:solidFill>
                  <a:srgbClr val="C00000"/>
                </a:solidFill>
                <a:latin typeface="Arial"/>
              </a:rPr>
              <a:t>Functional outcome</a:t>
            </a:r>
            <a:endParaRPr sz="1500"/>
          </a:p>
        </p:txBody>
      </p:sp>
      <p:sp>
        <p:nvSpPr>
          <p:cNvPr id="6" name="TextBox 5"/>
          <p:cNvSpPr txBox="1"/>
          <p:nvPr/>
        </p:nvSpPr>
        <p:spPr>
          <a:xfrm>
            <a:off x="1051560" y="1261872"/>
            <a:ext cx="3703320" cy="228600"/>
          </a:xfrm>
          <a:prstGeom prst="rect">
            <a:avLst/>
          </a:prstGeom>
          <a:noFill/>
        </p:spPr>
        <p:txBody>
          <a:bodyPr wrap="square" anchor="t" lIns="73152" rIns="73152"/>
          <a:lstStyle/>
          <a:p>
            <a:pPr algn="l"/>
            <a:r>
              <a:rPr sz="1050" b="0" i="1">
                <a:solidFill>
                  <a:srgbClr val="4B5563"/>
                </a:solidFill>
                <a:latin typeface="Arial"/>
              </a:rPr>
              <a:t>What the system will do</a:t>
            </a:r>
            <a:endParaRPr sz="1050"/>
          </a:p>
        </p:txBody>
      </p:sp>
      <p:sp>
        <p:nvSpPr>
          <p:cNvPr id="7" name="TextBox 6"/>
          <p:cNvSpPr txBox="1"/>
          <p:nvPr/>
        </p:nvSpPr>
        <p:spPr>
          <a:xfrm>
            <a:off x="566928" y="1572768"/>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Direct, one-change and two-change journeys with distance, fare, map and Metro link</a:t>
            </a:r>
            <a:endParaRPr sz="1200"/>
          </a:p>
          <a:p>
            <a:pPr algn="l" marL="164592" indent="-164592">
              <a:spcAft>
                <a:spcPts val="500"/>
              </a:spcAft>
              <a:buClr>
                <a:srgbClr val="C00000"/>
              </a:buClr>
              <a:buFont typeface="Arial"/>
              <a:buChar char="•"/>
            </a:pPr>
            <a:r>
              <a:rPr sz="1200" b="0" i="0">
                <a:solidFill>
                  <a:srgbClr val="1F2937"/>
                </a:solidFill>
                <a:latin typeface="Arial"/>
              </a:rPr>
              <a:t>Fleet, dead-kilometre and crew plans with what-if scenarios</a:t>
            </a:r>
            <a:endParaRPr sz="1200"/>
          </a:p>
          <a:p>
            <a:pPr algn="l" marL="164592" indent="-164592">
              <a:spcAft>
                <a:spcPts val="500"/>
              </a:spcAft>
              <a:buClr>
                <a:srgbClr val="C00000"/>
              </a:buClr>
              <a:buFont typeface="Arial"/>
              <a:buChar char="•"/>
            </a:pPr>
            <a:r>
              <a:rPr sz="1200" b="0" i="0">
                <a:solidFill>
                  <a:srgbClr val="1F2937"/>
                </a:solidFill>
                <a:latin typeface="Arial"/>
              </a:rPr>
              <a:t>Votes to dispatch recommendations; QR e-tickets; offline conductor waybills; Shakti claim report</a:t>
            </a:r>
            <a:endParaRPr sz="1200"/>
          </a:p>
          <a:p>
            <a:pPr algn="l" marL="164592" indent="-164592">
              <a:spcAft>
                <a:spcPts val="500"/>
              </a:spcAft>
              <a:buClr>
                <a:srgbClr val="C00000"/>
              </a:buClr>
              <a:buFont typeface="Arial"/>
              <a:buChar char="•"/>
            </a:pPr>
            <a:r>
              <a:rPr sz="1200" b="0" i="0">
                <a:solidFill>
                  <a:srgbClr val="1F2937"/>
                </a:solidFill>
                <a:latin typeface="Arial"/>
              </a:rPr>
              <a:t>GTFS static feed and GTFS-Realtime service alerts</a:t>
            </a:r>
            <a:endParaRPr sz="1200"/>
          </a:p>
        </p:txBody>
      </p:sp>
      <p:sp>
        <p:nvSpPr>
          <p:cNvPr id="8" name="Rounded Rectangle 7"/>
          <p:cNvSpPr/>
          <p:nvPr/>
        </p:nvSpPr>
        <p:spPr>
          <a:xfrm>
            <a:off x="5010912" y="914400"/>
            <a:ext cx="4434840" cy="2606040"/>
          </a:xfrm>
          <a:prstGeom prst="roundRect">
            <a:avLst>
              <a:gd name="adj" fmla="val 5000"/>
            </a:avLst>
          </a:prstGeom>
          <a:solidFill>
            <a:srgbClr val="F3F4F6"/>
          </a:solidFill>
          <a:ln>
            <a:noFill/>
          </a:ln>
          <a:effectLst/>
        </p:spPr>
        <p:txBody>
          <a:bodyPr rtlCol="0" anchor="ctr"/>
          <a:lstStyle/>
          <a:p>
            <a:pPr algn="ctr"/>
          </a:p>
        </p:txBody>
      </p:sp>
      <p:sp>
        <p:nvSpPr>
          <p:cNvPr id="9" name="Oval 8"/>
          <p:cNvSpPr/>
          <p:nvPr/>
        </p:nvSpPr>
        <p:spPr>
          <a:xfrm>
            <a:off x="5148072" y="1033271"/>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B</a:t>
            </a:r>
            <a:endParaRPr sz="1300"/>
          </a:p>
        </p:txBody>
      </p:sp>
      <p:sp>
        <p:nvSpPr>
          <p:cNvPr id="10" name="TextBox 9"/>
          <p:cNvSpPr txBox="1"/>
          <p:nvPr/>
        </p:nvSpPr>
        <p:spPr>
          <a:xfrm>
            <a:off x="5605272" y="987552"/>
            <a:ext cx="3703320" cy="292608"/>
          </a:xfrm>
          <a:prstGeom prst="rect">
            <a:avLst/>
          </a:prstGeom>
          <a:noFill/>
        </p:spPr>
        <p:txBody>
          <a:bodyPr wrap="square" anchor="ctr" lIns="73152" rIns="73152"/>
          <a:lstStyle/>
          <a:p>
            <a:pPr algn="l"/>
            <a:r>
              <a:rPr sz="1500" b="1" i="0">
                <a:solidFill>
                  <a:srgbClr val="C00000"/>
                </a:solidFill>
                <a:latin typeface="Arial"/>
              </a:rPr>
              <a:t>Performance outcome</a:t>
            </a:r>
            <a:endParaRPr sz="1500"/>
          </a:p>
        </p:txBody>
      </p:sp>
      <p:sp>
        <p:nvSpPr>
          <p:cNvPr id="11" name="TextBox 10"/>
          <p:cNvSpPr txBox="1"/>
          <p:nvPr/>
        </p:nvSpPr>
        <p:spPr>
          <a:xfrm>
            <a:off x="5605272" y="1261872"/>
            <a:ext cx="3703320" cy="228600"/>
          </a:xfrm>
          <a:prstGeom prst="rect">
            <a:avLst/>
          </a:prstGeom>
          <a:noFill/>
        </p:spPr>
        <p:txBody>
          <a:bodyPr wrap="square" anchor="t" lIns="73152" rIns="73152"/>
          <a:lstStyle/>
          <a:p>
            <a:pPr algn="l"/>
            <a:r>
              <a:rPr sz="1050" b="0" i="1">
                <a:solidFill>
                  <a:srgbClr val="4B5563"/>
                </a:solidFill>
                <a:latin typeface="Arial"/>
              </a:rPr>
              <a:t>Targets we commit to</a:t>
            </a:r>
            <a:endParaRPr sz="1050"/>
          </a:p>
        </p:txBody>
      </p:sp>
      <p:sp>
        <p:nvSpPr>
          <p:cNvPr id="12" name="TextBox 11"/>
          <p:cNvSpPr txBox="1"/>
          <p:nvPr/>
        </p:nvSpPr>
        <p:spPr>
          <a:xfrm>
            <a:off x="5120640" y="1572768"/>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The correct bus ranks first in the large majority of test cases</a:t>
            </a:r>
            <a:endParaRPr sz="1200"/>
          </a:p>
          <a:p>
            <a:pPr algn="l" marL="164592" indent="-164592">
              <a:spcAft>
                <a:spcPts val="500"/>
              </a:spcAft>
              <a:buClr>
                <a:srgbClr val="C00000"/>
              </a:buClr>
              <a:buFont typeface="Arial"/>
              <a:buChar char="•"/>
            </a:pPr>
            <a:r>
              <a:rPr sz="1200" b="0" i="0">
                <a:solidFill>
                  <a:srgbClr val="1F2937"/>
                </a:solidFill>
                <a:latin typeface="Arial"/>
              </a:rPr>
              <a:t>Results return quickly enough for real-time use</a:t>
            </a:r>
            <a:endParaRPr sz="1200"/>
          </a:p>
          <a:p>
            <a:pPr algn="l" marL="164592" indent="-164592">
              <a:spcAft>
                <a:spcPts val="500"/>
              </a:spcAft>
              <a:buClr>
                <a:srgbClr val="C00000"/>
              </a:buClr>
              <a:buFont typeface="Arial"/>
              <a:buChar char="•"/>
            </a:pPr>
            <a:r>
              <a:rPr sz="1200" b="0" i="0">
                <a:solidFill>
                  <a:srgbClr val="1F2937"/>
                </a:solidFill>
                <a:latin typeface="Arial"/>
              </a:rPr>
              <a:t>The system almost always returns at least one valid route</a:t>
            </a:r>
            <a:endParaRPr sz="1200"/>
          </a:p>
          <a:p>
            <a:pPr algn="l" marL="164592" indent="-164592">
              <a:spcAft>
                <a:spcPts val="500"/>
              </a:spcAft>
              <a:buClr>
                <a:srgbClr val="C00000"/>
              </a:buClr>
              <a:buFont typeface="Arial"/>
              <a:buChar char="•"/>
            </a:pPr>
            <a:r>
              <a:rPr sz="1200" b="0" i="0">
                <a:solidFill>
                  <a:srgbClr val="1F2937"/>
                </a:solidFill>
                <a:latin typeface="Arial"/>
              </a:rPr>
              <a:t>Crew-to-bus ratio in line with what real bus operators typically run</a:t>
            </a:r>
            <a:endParaRPr sz="1200"/>
          </a:p>
        </p:txBody>
      </p:sp>
      <p:sp>
        <p:nvSpPr>
          <p:cNvPr id="13" name="Rounded Rectangle 12"/>
          <p:cNvSpPr/>
          <p:nvPr/>
        </p:nvSpPr>
        <p:spPr>
          <a:xfrm>
            <a:off x="457200" y="3639312"/>
            <a:ext cx="4434840" cy="2606040"/>
          </a:xfrm>
          <a:prstGeom prst="roundRect">
            <a:avLst>
              <a:gd name="adj" fmla="val 5000"/>
            </a:avLst>
          </a:prstGeom>
          <a:solidFill>
            <a:srgbClr val="F3F4F6"/>
          </a:solidFill>
          <a:ln>
            <a:noFill/>
          </a:ln>
          <a:effectLst/>
        </p:spPr>
        <p:txBody>
          <a:bodyPr rtlCol="0" anchor="ctr"/>
          <a:lstStyle/>
          <a:p>
            <a:pPr algn="ctr"/>
          </a:p>
        </p:txBody>
      </p:sp>
      <p:sp>
        <p:nvSpPr>
          <p:cNvPr id="14" name="Oval 13"/>
          <p:cNvSpPr/>
          <p:nvPr/>
        </p:nvSpPr>
        <p:spPr>
          <a:xfrm>
            <a:off x="594360" y="375818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C</a:t>
            </a:r>
            <a:endParaRPr sz="1300"/>
          </a:p>
        </p:txBody>
      </p:sp>
      <p:sp>
        <p:nvSpPr>
          <p:cNvPr id="15" name="TextBox 14"/>
          <p:cNvSpPr txBox="1"/>
          <p:nvPr/>
        </p:nvSpPr>
        <p:spPr>
          <a:xfrm>
            <a:off x="1051560" y="3712463"/>
            <a:ext cx="3703320" cy="292608"/>
          </a:xfrm>
          <a:prstGeom prst="rect">
            <a:avLst/>
          </a:prstGeom>
          <a:noFill/>
        </p:spPr>
        <p:txBody>
          <a:bodyPr wrap="square" anchor="ctr" lIns="73152" rIns="73152"/>
          <a:lstStyle/>
          <a:p>
            <a:pPr algn="l"/>
            <a:r>
              <a:rPr sz="1500" b="1" i="0">
                <a:solidFill>
                  <a:srgbClr val="C00000"/>
                </a:solidFill>
                <a:latin typeface="Arial"/>
              </a:rPr>
              <a:t>Practical impact</a:t>
            </a:r>
            <a:endParaRPr sz="1500"/>
          </a:p>
        </p:txBody>
      </p:sp>
      <p:sp>
        <p:nvSpPr>
          <p:cNvPr id="16" name="TextBox 15"/>
          <p:cNvSpPr txBox="1"/>
          <p:nvPr/>
        </p:nvSpPr>
        <p:spPr>
          <a:xfrm>
            <a:off x="1051560" y="3986784"/>
            <a:ext cx="3703320" cy="228600"/>
          </a:xfrm>
          <a:prstGeom prst="rect">
            <a:avLst/>
          </a:prstGeom>
          <a:noFill/>
        </p:spPr>
        <p:txBody>
          <a:bodyPr wrap="square" anchor="t" lIns="73152" rIns="73152"/>
          <a:lstStyle/>
          <a:p>
            <a:pPr algn="l"/>
            <a:r>
              <a:rPr sz="1050" b="0" i="1">
                <a:solidFill>
                  <a:srgbClr val="4B5563"/>
                </a:solidFill>
                <a:latin typeface="Arial"/>
              </a:rPr>
              <a:t>Who benefits</a:t>
            </a:r>
            <a:endParaRPr sz="1050"/>
          </a:p>
        </p:txBody>
      </p:sp>
      <p:sp>
        <p:nvSpPr>
          <p:cNvPr id="17" name="TextBox 16"/>
          <p:cNvSpPr txBox="1"/>
          <p:nvPr/>
        </p:nvSpPr>
        <p:spPr>
          <a:xfrm>
            <a:off x="566928" y="4297680"/>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Commuters: find buses across 4,883 stops in four languages</a:t>
            </a:r>
            <a:endParaRPr sz="1200"/>
          </a:p>
          <a:p>
            <a:pPr algn="l" marL="164592" indent="-164592">
              <a:spcAft>
                <a:spcPts val="500"/>
              </a:spcAft>
              <a:buClr>
                <a:srgbClr val="C00000"/>
              </a:buClr>
              <a:buFont typeface="Arial"/>
              <a:buChar char="•"/>
            </a:pPr>
            <a:r>
              <a:rPr sz="1200" b="0" i="0">
                <a:solidFill>
                  <a:srgbClr val="1F2937"/>
                </a:solidFill>
                <a:latin typeface="Arial"/>
              </a:rPr>
              <a:t>Depot managers: see what a timetable change costs in buses and crew</a:t>
            </a:r>
            <a:endParaRPr sz="1200"/>
          </a:p>
          <a:p>
            <a:pPr algn="l" marL="164592" indent="-164592">
              <a:spcAft>
                <a:spcPts val="500"/>
              </a:spcAft>
              <a:buClr>
                <a:srgbClr val="C00000"/>
              </a:buClr>
              <a:buFont typeface="Arial"/>
              <a:buChar char="•"/>
            </a:pPr>
            <a:r>
              <a:rPr sz="1200" b="0" i="0">
                <a:solidFill>
                  <a:srgbClr val="1F2937"/>
                </a:solidFill>
                <a:latin typeface="Arial"/>
              </a:rPr>
              <a:t>BMTC finance: Shakti reimbursement and cash variance visible per waybill</a:t>
            </a:r>
            <a:endParaRPr sz="1200"/>
          </a:p>
          <a:p>
            <a:pPr algn="l" marL="164592" indent="-164592">
              <a:spcAft>
                <a:spcPts val="500"/>
              </a:spcAft>
              <a:buClr>
                <a:srgbClr val="C00000"/>
              </a:buClr>
              <a:buFont typeface="Arial"/>
              <a:buChar char="•"/>
            </a:pPr>
            <a:r>
              <a:rPr sz="1200" b="0" i="0">
                <a:solidFill>
                  <a:srgbClr val="1F2937"/>
                </a:solidFill>
                <a:latin typeface="Arial"/>
              </a:rPr>
              <a:t>Other apps: reuse the timetable through GTFS</a:t>
            </a:r>
            <a:endParaRPr sz="1200"/>
          </a:p>
        </p:txBody>
      </p:sp>
      <p:sp>
        <p:nvSpPr>
          <p:cNvPr id="18" name="Rounded Rectangle 17"/>
          <p:cNvSpPr/>
          <p:nvPr/>
        </p:nvSpPr>
        <p:spPr>
          <a:xfrm>
            <a:off x="5010912" y="3639312"/>
            <a:ext cx="4434840" cy="2606040"/>
          </a:xfrm>
          <a:prstGeom prst="roundRect">
            <a:avLst>
              <a:gd name="adj" fmla="val 5000"/>
            </a:avLst>
          </a:prstGeom>
          <a:solidFill>
            <a:srgbClr val="F3F4F6"/>
          </a:solidFill>
          <a:ln>
            <a:noFill/>
          </a:ln>
          <a:effectLst/>
        </p:spPr>
        <p:txBody>
          <a:bodyPr rtlCol="0" anchor="ctr"/>
          <a:lstStyle/>
          <a:p>
            <a:pPr algn="ctr"/>
          </a:p>
        </p:txBody>
      </p:sp>
      <p:sp>
        <p:nvSpPr>
          <p:cNvPr id="19" name="Oval 18"/>
          <p:cNvSpPr/>
          <p:nvPr/>
        </p:nvSpPr>
        <p:spPr>
          <a:xfrm>
            <a:off x="5148072" y="3758184"/>
            <a:ext cx="365760" cy="365760"/>
          </a:xfrm>
          <a:prstGeom prst="ellipse">
            <a:avLst/>
          </a:prstGeom>
          <a:solidFill>
            <a:srgbClr val="C00000"/>
          </a:solidFill>
          <a:ln>
            <a:noFill/>
          </a:ln>
          <a:effectLst/>
        </p:spPr>
        <p:txBody>
          <a:bodyPr rtlCol="0" anchor="ctr" wrap="none" lIns="0" tIns="0" rIns="0" bIns="0"/>
          <a:lstStyle/>
          <a:p>
            <a:pPr algn="ctr"/>
            <a:r>
              <a:rPr sz="1300" b="1" i="0">
                <a:solidFill>
                  <a:srgbClr val="FFFFFF"/>
                </a:solidFill>
                <a:latin typeface="Arial"/>
              </a:rPr>
              <a:t>D</a:t>
            </a:r>
            <a:endParaRPr sz="1300"/>
          </a:p>
        </p:txBody>
      </p:sp>
      <p:sp>
        <p:nvSpPr>
          <p:cNvPr id="20" name="TextBox 19"/>
          <p:cNvSpPr txBox="1"/>
          <p:nvPr/>
        </p:nvSpPr>
        <p:spPr>
          <a:xfrm>
            <a:off x="5605272" y="3712463"/>
            <a:ext cx="3703320" cy="292608"/>
          </a:xfrm>
          <a:prstGeom prst="rect">
            <a:avLst/>
          </a:prstGeom>
          <a:noFill/>
        </p:spPr>
        <p:txBody>
          <a:bodyPr wrap="square" anchor="ctr" lIns="73152" rIns="73152"/>
          <a:lstStyle/>
          <a:p>
            <a:pPr algn="l"/>
            <a:r>
              <a:rPr sz="1500" b="1" i="0">
                <a:solidFill>
                  <a:srgbClr val="C00000"/>
                </a:solidFill>
                <a:latin typeface="Arial"/>
              </a:rPr>
              <a:t>Extension and research</a:t>
            </a:r>
            <a:endParaRPr sz="1500"/>
          </a:p>
        </p:txBody>
      </p:sp>
      <p:sp>
        <p:nvSpPr>
          <p:cNvPr id="21" name="TextBox 20"/>
          <p:cNvSpPr txBox="1"/>
          <p:nvPr/>
        </p:nvSpPr>
        <p:spPr>
          <a:xfrm>
            <a:off x="5605272" y="3986784"/>
            <a:ext cx="3703320" cy="228600"/>
          </a:xfrm>
          <a:prstGeom prst="rect">
            <a:avLst/>
          </a:prstGeom>
          <a:noFill/>
        </p:spPr>
        <p:txBody>
          <a:bodyPr wrap="square" anchor="t" lIns="73152" rIns="73152"/>
          <a:lstStyle/>
          <a:p>
            <a:pPr algn="l"/>
            <a:r>
              <a:rPr sz="1050" b="0" i="1">
                <a:solidFill>
                  <a:srgbClr val="4B5563"/>
                </a:solidFill>
                <a:latin typeface="Arial"/>
              </a:rPr>
              <a:t>Where it can grow</a:t>
            </a:r>
            <a:endParaRPr sz="1050"/>
          </a:p>
        </p:txBody>
      </p:sp>
      <p:sp>
        <p:nvSpPr>
          <p:cNvPr id="22" name="TextBox 21"/>
          <p:cNvSpPr txBox="1"/>
          <p:nvPr/>
        </p:nvSpPr>
        <p:spPr>
          <a:xfrm>
            <a:off x="5120640" y="4297680"/>
            <a:ext cx="4215383" cy="1892808"/>
          </a:xfrm>
          <a:prstGeom prst="rect">
            <a:avLst/>
          </a:prstGeom>
          <a:noFill/>
        </p:spPr>
        <p:txBody>
          <a:bodyPr wrap="square" anchor="t" lIns="73152" rIns="73152"/>
          <a:lstStyle/>
          <a:p>
            <a:pPr algn="l" marL="164592" indent="-164592">
              <a:spcAft>
                <a:spcPts val="500"/>
              </a:spcAft>
              <a:buClr>
                <a:srgbClr val="C00000"/>
              </a:buClr>
              <a:buFont typeface="Arial"/>
              <a:buChar char="•"/>
            </a:pPr>
            <a:r>
              <a:rPr sz="1200" b="0" i="0">
                <a:solidFill>
                  <a:srgbClr val="1F2937"/>
                </a:solidFill>
                <a:latin typeface="Arial"/>
              </a:rPr>
              <a:t>Plug in BMTC's live vehicle-location feed once it is made available</a:t>
            </a:r>
            <a:endParaRPr sz="1200"/>
          </a:p>
          <a:p>
            <a:pPr algn="l" marL="164592" indent="-164592">
              <a:spcAft>
                <a:spcPts val="500"/>
              </a:spcAft>
              <a:buClr>
                <a:srgbClr val="C00000"/>
              </a:buClr>
              <a:buFont typeface="Arial"/>
              <a:buChar char="•"/>
            </a:pPr>
            <a:r>
              <a:rPr sz="1200" b="0" i="0">
                <a:solidFill>
                  <a:srgbClr val="1F2937"/>
                </a:solidFill>
                <a:latin typeface="Arial"/>
              </a:rPr>
              <a:t>Relevance-set versus rank-quality benchmark method for route recommenders</a:t>
            </a:r>
            <a:endParaRPr sz="1200"/>
          </a:p>
          <a:p>
            <a:pPr algn="l" marL="164592" indent="-164592">
              <a:spcAft>
                <a:spcPts val="500"/>
              </a:spcAft>
              <a:buClr>
                <a:srgbClr val="C00000"/>
              </a:buClr>
              <a:buFont typeface="Arial"/>
              <a:buChar char="•"/>
            </a:pPr>
            <a:r>
              <a:rPr sz="1200" b="0" i="0">
                <a:solidFill>
                  <a:srgbClr val="1F2937"/>
                </a:solidFill>
                <a:latin typeface="Arial"/>
              </a:rPr>
              <a:t>Payment gateway and identity check for Shakti; scaling to city-wide usage</a:t>
            </a:r>
            <a:endParaRPr sz="12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Value for BMTC and Pilot Plan</a:t>
            </a:r>
          </a:p>
        </p:txBody>
      </p:sp>
      <p:sp>
        <p:nvSpPr>
          <p:cNvPr id="3" name="Rounded Rectangle 2"/>
          <p:cNvSpPr/>
          <p:nvPr/>
        </p:nvSpPr>
        <p:spPr>
          <a:xfrm>
            <a:off x="457200" y="914400"/>
            <a:ext cx="8988552" cy="777240"/>
          </a:xfrm>
          <a:prstGeom prst="roundRect">
            <a:avLst>
              <a:gd name="adj" fmla="val 8000"/>
            </a:avLst>
          </a:prstGeom>
          <a:solidFill>
            <a:srgbClr val="1F2937"/>
          </a:solidFill>
          <a:ln>
            <a:noFill/>
          </a:ln>
          <a:effectLst/>
        </p:spPr>
        <p:txBody>
          <a:bodyPr rtlCol="0" anchor="ctr" wrap="square" lIns="274320" rIns="274320"/>
          <a:lstStyle/>
          <a:p>
            <a:pPr algn="ctr"/>
            <a:r>
              <a:rPr sz="1300" b="1" i="0">
                <a:solidFill>
                  <a:srgbClr val="FFFFFF"/>
                </a:solidFill>
                <a:latin typeface="Arial"/>
              </a:rPr>
              <a:t>Namma BMTC 2.0, Moovit and Google Maps help riders reach the right bus. DBARS is designed to help BMTC decide how many buses and crew to run, and where to add service.</a:t>
            </a:r>
            <a:endParaRPr sz="1300"/>
          </a:p>
        </p:txBody>
      </p:sp>
      <p:sp>
        <p:nvSpPr>
          <p:cNvPr id="4" name="Rounded Rectangle 3"/>
          <p:cNvSpPr/>
          <p:nvPr/>
        </p:nvSpPr>
        <p:spPr>
          <a:xfrm>
            <a:off x="457200" y="1828800"/>
            <a:ext cx="2916936" cy="2377440"/>
          </a:xfrm>
          <a:prstGeom prst="roundRect">
            <a:avLst>
              <a:gd name="adj" fmla="val 5000"/>
            </a:avLst>
          </a:prstGeom>
          <a:solidFill>
            <a:srgbClr val="F3F4F6"/>
          </a:solidFill>
          <a:ln>
            <a:noFill/>
          </a:ln>
          <a:effectLst/>
        </p:spPr>
        <p:txBody>
          <a:bodyPr rtlCol="0" anchor="ctr"/>
          <a:lstStyle/>
          <a:p>
            <a:pPr algn="ctr"/>
          </a:p>
        </p:txBody>
      </p:sp>
      <p:sp>
        <p:nvSpPr>
          <p:cNvPr id="5" name="TextBox 4"/>
          <p:cNvSpPr txBox="1"/>
          <p:nvPr/>
        </p:nvSpPr>
        <p:spPr>
          <a:xfrm>
            <a:off x="566928" y="1883664"/>
            <a:ext cx="2697480" cy="329184"/>
          </a:xfrm>
          <a:prstGeom prst="rect">
            <a:avLst/>
          </a:prstGeom>
          <a:noFill/>
        </p:spPr>
        <p:txBody>
          <a:bodyPr wrap="square" anchor="ctr" lIns="73152" rIns="73152"/>
          <a:lstStyle/>
          <a:p>
            <a:pPr algn="l"/>
            <a:r>
              <a:rPr sz="1450" b="1" i="0">
                <a:solidFill>
                  <a:srgbClr val="C00000"/>
                </a:solidFill>
                <a:latin typeface="Arial"/>
              </a:rPr>
              <a:t>Commuters</a:t>
            </a:r>
            <a:endParaRPr sz="1450"/>
          </a:p>
        </p:txBody>
      </p:sp>
      <p:sp>
        <p:nvSpPr>
          <p:cNvPr id="6" name="TextBox 5"/>
          <p:cNvSpPr txBox="1"/>
          <p:nvPr/>
        </p:nvSpPr>
        <p:spPr>
          <a:xfrm>
            <a:off x="548640" y="2249424"/>
            <a:ext cx="2734056" cy="1920240"/>
          </a:xfrm>
          <a:prstGeom prst="rect">
            <a:avLst/>
          </a:prstGeom>
          <a:noFill/>
        </p:spPr>
        <p:txBody>
          <a:bodyPr wrap="square" anchor="t" lIns="73152" rIns="73152"/>
          <a:lstStyle/>
          <a:p>
            <a:pPr algn="l" marL="164592" indent="-164592">
              <a:spcAft>
                <a:spcPts val="500"/>
              </a:spcAft>
              <a:buClr>
                <a:srgbClr val="C00000"/>
              </a:buClr>
              <a:buFont typeface="Arial"/>
              <a:buChar char="•"/>
            </a:pPr>
            <a:r>
              <a:rPr sz="1150" b="0" i="0">
                <a:solidFill>
                  <a:srgbClr val="1F2937"/>
                </a:solidFill>
                <a:latin typeface="Arial"/>
              </a:rPr>
              <a:t>Direct, 1-change and 2-change journeys with fare, distance, map and nearby Metro</a:t>
            </a:r>
            <a:endParaRPr sz="1150"/>
          </a:p>
          <a:p>
            <a:pPr algn="l" marL="164592" indent="-164592">
              <a:spcAft>
                <a:spcPts val="500"/>
              </a:spcAft>
              <a:buClr>
                <a:srgbClr val="C00000"/>
              </a:buClr>
              <a:buFont typeface="Arial"/>
              <a:buChar char="•"/>
            </a:pPr>
            <a:r>
              <a:rPr sz="1150" b="0" i="0">
                <a:solidFill>
                  <a:srgbClr val="1F2937"/>
                </a:solidFill>
                <a:latin typeface="Arial"/>
              </a:rPr>
              <a:t>English, Kannada, Hindi, Telugu, plus SMS for feature phones</a:t>
            </a:r>
            <a:endParaRPr sz="1150"/>
          </a:p>
          <a:p>
            <a:pPr algn="l" marL="164592" indent="-164592">
              <a:spcAft>
                <a:spcPts val="500"/>
              </a:spcAft>
              <a:buClr>
                <a:srgbClr val="C00000"/>
              </a:buClr>
              <a:buFont typeface="Arial"/>
              <a:buChar char="•"/>
            </a:pPr>
            <a:r>
              <a:rPr sz="1150" b="0" i="0">
                <a:solidFill>
                  <a:srgbClr val="1F2937"/>
                </a:solidFill>
                <a:latin typeface="Arial"/>
              </a:rPr>
              <a:t>Vote for routes they wish existed; QR e-tickets; Shakti tickets use the same QR</a:t>
            </a:r>
            <a:endParaRPr sz="1150"/>
          </a:p>
        </p:txBody>
      </p:sp>
      <p:sp>
        <p:nvSpPr>
          <p:cNvPr id="7" name="Rounded Rectangle 6"/>
          <p:cNvSpPr/>
          <p:nvPr/>
        </p:nvSpPr>
        <p:spPr>
          <a:xfrm>
            <a:off x="3493008" y="1828800"/>
            <a:ext cx="2916936" cy="2377440"/>
          </a:xfrm>
          <a:prstGeom prst="roundRect">
            <a:avLst>
              <a:gd name="adj" fmla="val 5000"/>
            </a:avLst>
          </a:prstGeom>
          <a:solidFill>
            <a:srgbClr val="F3F4F6"/>
          </a:solidFill>
          <a:ln>
            <a:noFill/>
          </a:ln>
          <a:effectLst/>
        </p:spPr>
        <p:txBody>
          <a:bodyPr rtlCol="0" anchor="ctr"/>
          <a:lstStyle/>
          <a:p>
            <a:pPr algn="ctr"/>
          </a:p>
        </p:txBody>
      </p:sp>
      <p:sp>
        <p:nvSpPr>
          <p:cNvPr id="8" name="TextBox 7"/>
          <p:cNvSpPr txBox="1"/>
          <p:nvPr/>
        </p:nvSpPr>
        <p:spPr>
          <a:xfrm>
            <a:off x="3602736" y="1883664"/>
            <a:ext cx="2697480" cy="329184"/>
          </a:xfrm>
          <a:prstGeom prst="rect">
            <a:avLst/>
          </a:prstGeom>
          <a:noFill/>
        </p:spPr>
        <p:txBody>
          <a:bodyPr wrap="square" anchor="ctr" lIns="73152" rIns="73152"/>
          <a:lstStyle/>
          <a:p>
            <a:pPr algn="l"/>
            <a:r>
              <a:rPr sz="1450" b="1" i="0">
                <a:solidFill>
                  <a:srgbClr val="C00000"/>
                </a:solidFill>
                <a:latin typeface="Arial"/>
              </a:rPr>
              <a:t>Depot managers and HQ</a:t>
            </a:r>
            <a:endParaRPr sz="1450"/>
          </a:p>
        </p:txBody>
      </p:sp>
      <p:sp>
        <p:nvSpPr>
          <p:cNvPr id="9" name="TextBox 8"/>
          <p:cNvSpPr txBox="1"/>
          <p:nvPr/>
        </p:nvSpPr>
        <p:spPr>
          <a:xfrm>
            <a:off x="3584448" y="2249424"/>
            <a:ext cx="2734056" cy="1920240"/>
          </a:xfrm>
          <a:prstGeom prst="rect">
            <a:avLst/>
          </a:prstGeom>
          <a:noFill/>
        </p:spPr>
        <p:txBody>
          <a:bodyPr wrap="square" anchor="t" lIns="73152" rIns="73152"/>
          <a:lstStyle/>
          <a:p>
            <a:pPr algn="l" marL="164592" indent="-164592">
              <a:spcAft>
                <a:spcPts val="500"/>
              </a:spcAft>
              <a:buClr>
                <a:srgbClr val="C00000"/>
              </a:buClr>
              <a:buFont typeface="Arial"/>
              <a:buChar char="•"/>
            </a:pPr>
            <a:r>
              <a:rPr sz="1150" b="0" i="0">
                <a:solidFill>
                  <a:srgbClr val="1F2937"/>
                </a:solidFill>
                <a:latin typeface="Arial"/>
              </a:rPr>
              <a:t>Minimum buses, dead kilometres and crew duties; what-if console for timetable changes</a:t>
            </a:r>
            <a:endParaRPr sz="1150"/>
          </a:p>
          <a:p>
            <a:pPr algn="l" marL="164592" indent="-164592">
              <a:spcAft>
                <a:spcPts val="500"/>
              </a:spcAft>
              <a:buClr>
                <a:srgbClr val="C00000"/>
              </a:buClr>
              <a:buFont typeface="Arial"/>
              <a:buChar char="•"/>
            </a:pPr>
            <a:r>
              <a:rPr sz="1150" b="0" i="0">
                <a:solidFill>
                  <a:srgbClr val="1F2937"/>
                </a:solidFill>
                <a:latin typeface="Arial"/>
              </a:rPr>
              <a:t>Votes ranked into HIGH / MEDIUM / LOW dispatch recommendations</a:t>
            </a:r>
            <a:endParaRPr sz="1150"/>
          </a:p>
          <a:p>
            <a:pPr algn="l" marL="164592" indent="-164592">
              <a:spcAft>
                <a:spcPts val="500"/>
              </a:spcAft>
              <a:buClr>
                <a:srgbClr val="C00000"/>
              </a:buClr>
              <a:buFont typeface="Arial"/>
              <a:buChar char="•"/>
            </a:pPr>
            <a:r>
              <a:rPr sz="1150" b="0" i="0">
                <a:solidFill>
                  <a:srgbClr val="1F2937"/>
                </a:solidFill>
                <a:latin typeface="Arial"/>
              </a:rPr>
              <a:t>Waybills, cash variance reported (never auto-corrected), Shakti claim, audit log</a:t>
            </a:r>
            <a:endParaRPr sz="1150"/>
          </a:p>
        </p:txBody>
      </p:sp>
      <p:sp>
        <p:nvSpPr>
          <p:cNvPr id="10" name="Rounded Rectangle 9"/>
          <p:cNvSpPr/>
          <p:nvPr/>
        </p:nvSpPr>
        <p:spPr>
          <a:xfrm>
            <a:off x="6528816" y="1828800"/>
            <a:ext cx="2916936" cy="2377440"/>
          </a:xfrm>
          <a:prstGeom prst="roundRect">
            <a:avLst>
              <a:gd name="adj" fmla="val 5000"/>
            </a:avLst>
          </a:prstGeom>
          <a:solidFill>
            <a:srgbClr val="F3F4F6"/>
          </a:solidFill>
          <a:ln>
            <a:noFill/>
          </a:ln>
          <a:effectLst/>
        </p:spPr>
        <p:txBody>
          <a:bodyPr rtlCol="0" anchor="ctr"/>
          <a:lstStyle/>
          <a:p>
            <a:pPr algn="ctr"/>
          </a:p>
        </p:txBody>
      </p:sp>
      <p:sp>
        <p:nvSpPr>
          <p:cNvPr id="11" name="TextBox 10"/>
          <p:cNvSpPr txBox="1"/>
          <p:nvPr/>
        </p:nvSpPr>
        <p:spPr>
          <a:xfrm>
            <a:off x="6638544" y="1883664"/>
            <a:ext cx="2697480" cy="329184"/>
          </a:xfrm>
          <a:prstGeom prst="rect">
            <a:avLst/>
          </a:prstGeom>
          <a:noFill/>
        </p:spPr>
        <p:txBody>
          <a:bodyPr wrap="square" anchor="ctr" lIns="73152" rIns="73152"/>
          <a:lstStyle/>
          <a:p>
            <a:pPr algn="l"/>
            <a:r>
              <a:rPr sz="1450" b="1" i="0">
                <a:solidFill>
                  <a:srgbClr val="C00000"/>
                </a:solidFill>
                <a:latin typeface="Arial"/>
              </a:rPr>
              <a:t>Ecosystem</a:t>
            </a:r>
            <a:endParaRPr sz="1450"/>
          </a:p>
        </p:txBody>
      </p:sp>
      <p:sp>
        <p:nvSpPr>
          <p:cNvPr id="12" name="TextBox 11"/>
          <p:cNvSpPr txBox="1"/>
          <p:nvPr/>
        </p:nvSpPr>
        <p:spPr>
          <a:xfrm>
            <a:off x="6620255" y="2249424"/>
            <a:ext cx="2734056" cy="1920240"/>
          </a:xfrm>
          <a:prstGeom prst="rect">
            <a:avLst/>
          </a:prstGeom>
          <a:noFill/>
        </p:spPr>
        <p:txBody>
          <a:bodyPr wrap="square" anchor="t" lIns="73152" rIns="73152"/>
          <a:lstStyle/>
          <a:p>
            <a:pPr algn="l" marL="164592" indent="-164592">
              <a:spcAft>
                <a:spcPts val="500"/>
              </a:spcAft>
              <a:buClr>
                <a:srgbClr val="C00000"/>
              </a:buClr>
              <a:buFont typeface="Arial"/>
              <a:buChar char="•"/>
            </a:pPr>
            <a:r>
              <a:rPr sz="1150" b="0" i="0">
                <a:solidFill>
                  <a:srgbClr val="1F2937"/>
                </a:solidFill>
                <a:latin typeface="Arial"/>
              </a:rPr>
              <a:t>Enriched GTFS feed with alerts, extending the static BMTC schedule feed</a:t>
            </a:r>
            <a:endParaRPr sz="1150"/>
          </a:p>
          <a:p>
            <a:pPr algn="l" marL="164592" indent="-164592">
              <a:spcAft>
                <a:spcPts val="500"/>
              </a:spcAft>
              <a:buClr>
                <a:srgbClr val="C00000"/>
              </a:buClr>
              <a:buFont typeface="Arial"/>
              <a:buChar char="•"/>
            </a:pPr>
            <a:r>
              <a:rPr sz="1150" b="0" i="0">
                <a:solidFill>
                  <a:srgbClr val="1F2937"/>
                </a:solidFill>
                <a:latin typeface="Arial"/>
              </a:rPr>
              <a:t>GTFS-Realtime service alerts from real depot alerts</a:t>
            </a:r>
            <a:endParaRPr sz="1150"/>
          </a:p>
          <a:p>
            <a:pPr algn="l" marL="164592" indent="-164592">
              <a:spcAft>
                <a:spcPts val="500"/>
              </a:spcAft>
              <a:buClr>
                <a:srgbClr val="C00000"/>
              </a:buClr>
              <a:buFont typeface="Arial"/>
              <a:buChar char="•"/>
            </a:pPr>
            <a:r>
              <a:rPr sz="1150" b="0" i="0">
                <a:solidFill>
                  <a:srgbClr val="1F2937"/>
                </a:solidFill>
                <a:latin typeface="Arial"/>
              </a:rPr>
              <a:t>Live positions published only from a live feed; simulated data is never labelled real</a:t>
            </a:r>
            <a:endParaRPr sz="1150"/>
          </a:p>
        </p:txBody>
      </p:sp>
      <p:sp>
        <p:nvSpPr>
          <p:cNvPr id="13" name="TextBox 12"/>
          <p:cNvSpPr txBox="1"/>
          <p:nvPr/>
        </p:nvSpPr>
        <p:spPr>
          <a:xfrm>
            <a:off x="457200" y="4315968"/>
            <a:ext cx="8988552" cy="274320"/>
          </a:xfrm>
          <a:prstGeom prst="rect">
            <a:avLst/>
          </a:prstGeom>
          <a:noFill/>
        </p:spPr>
        <p:txBody>
          <a:bodyPr wrap="square" anchor="t" lIns="73152" rIns="73152"/>
          <a:lstStyle/>
          <a:p>
            <a:pPr algn="l"/>
            <a:r>
              <a:rPr sz="1300" b="1" i="0">
                <a:solidFill>
                  <a:srgbClr val="C00000"/>
                </a:solidFill>
                <a:latin typeface="Arial"/>
              </a:rPr>
              <a:t>Proposed pilot with BMTC</a:t>
            </a:r>
            <a:endParaRPr sz="1300"/>
          </a:p>
        </p:txBody>
      </p:sp>
      <p:sp>
        <p:nvSpPr>
          <p:cNvPr id="14" name="Pentagon 13"/>
          <p:cNvSpPr/>
          <p:nvPr/>
        </p:nvSpPr>
        <p:spPr>
          <a:xfrm>
            <a:off x="457200" y="4645152"/>
            <a:ext cx="2916936" cy="1572768"/>
          </a:xfrm>
          <a:prstGeom prst="homePlate">
            <a:avLst/>
          </a:prstGeom>
          <a:solidFill>
            <a:srgbClr val="FFFFFF"/>
          </a:solidFill>
          <a:ln w="15875">
            <a:solidFill>
              <a:srgbClr val="C00000"/>
            </a:solidFill>
          </a:ln>
          <a:effectLst/>
        </p:spPr>
        <p:txBody>
          <a:bodyPr rtlCol="0" anchor="ctr"/>
          <a:lstStyle/>
          <a:p>
            <a:pPr algn="ctr"/>
          </a:p>
        </p:txBody>
      </p:sp>
      <p:sp>
        <p:nvSpPr>
          <p:cNvPr id="15" name="TextBox 14"/>
          <p:cNvSpPr txBox="1"/>
          <p:nvPr/>
        </p:nvSpPr>
        <p:spPr>
          <a:xfrm>
            <a:off x="566928" y="4681728"/>
            <a:ext cx="2368296" cy="329184"/>
          </a:xfrm>
          <a:prstGeom prst="rect">
            <a:avLst/>
          </a:prstGeom>
          <a:noFill/>
        </p:spPr>
        <p:txBody>
          <a:bodyPr wrap="square" anchor="ctr" lIns="73152" rIns="73152"/>
          <a:lstStyle/>
          <a:p>
            <a:pPr algn="l"/>
            <a:r>
              <a:rPr sz="1250" b="1" i="0">
                <a:solidFill>
                  <a:srgbClr val="C00000"/>
                </a:solidFill>
                <a:latin typeface="Arial"/>
              </a:rPr>
              <a:t>1  </a:t>
            </a:r>
            <a:r>
              <a:rPr sz="1250" b="1" i="0">
                <a:solidFill>
                  <a:srgbClr val="1F2937"/>
                </a:solidFill>
                <a:latin typeface="Arial"/>
              </a:rPr>
              <a:t>Validate the plan</a:t>
            </a:r>
            <a:endParaRPr sz="1250"/>
          </a:p>
        </p:txBody>
      </p:sp>
      <p:sp>
        <p:nvSpPr>
          <p:cNvPr id="16" name="TextBox 15"/>
          <p:cNvSpPr txBox="1"/>
          <p:nvPr/>
        </p:nvSpPr>
        <p:spPr>
          <a:xfrm>
            <a:off x="566928" y="5010912"/>
            <a:ext cx="2350008" cy="1188720"/>
          </a:xfrm>
          <a:prstGeom prst="rect">
            <a:avLst/>
          </a:prstGeom>
          <a:noFill/>
        </p:spPr>
        <p:txBody>
          <a:bodyPr wrap="square" anchor="t" lIns="73152" rIns="73152"/>
          <a:lstStyle/>
          <a:p>
            <a:pPr algn="l"/>
            <a:r>
              <a:rPr sz="1150" b="0" i="0">
                <a:solidFill>
                  <a:srgbClr val="1F2937"/>
                </a:solidFill>
                <a:latin typeface="Arial"/>
              </a:rPr>
              <a:t>Load one depot's timetable and compare the modelled blocks and crew duties with the actual rosters.</a:t>
            </a:r>
            <a:endParaRPr sz="1150"/>
          </a:p>
        </p:txBody>
      </p:sp>
      <p:sp>
        <p:nvSpPr>
          <p:cNvPr id="17" name="Pentagon 16"/>
          <p:cNvSpPr/>
          <p:nvPr/>
        </p:nvSpPr>
        <p:spPr>
          <a:xfrm>
            <a:off x="3493008" y="4645152"/>
            <a:ext cx="2916936" cy="1572768"/>
          </a:xfrm>
          <a:prstGeom prst="homePlate">
            <a:avLst/>
          </a:prstGeom>
          <a:solidFill>
            <a:srgbClr val="FFFFFF"/>
          </a:solidFill>
          <a:ln w="15875">
            <a:solidFill>
              <a:srgbClr val="C00000"/>
            </a:solidFill>
          </a:ln>
          <a:effectLst/>
        </p:spPr>
        <p:txBody>
          <a:bodyPr rtlCol="0" anchor="ctr"/>
          <a:lstStyle/>
          <a:p>
            <a:pPr algn="ctr"/>
          </a:p>
        </p:txBody>
      </p:sp>
      <p:sp>
        <p:nvSpPr>
          <p:cNvPr id="18" name="TextBox 17"/>
          <p:cNvSpPr txBox="1"/>
          <p:nvPr/>
        </p:nvSpPr>
        <p:spPr>
          <a:xfrm>
            <a:off x="3602736" y="4681728"/>
            <a:ext cx="2368296" cy="329184"/>
          </a:xfrm>
          <a:prstGeom prst="rect">
            <a:avLst/>
          </a:prstGeom>
          <a:noFill/>
        </p:spPr>
        <p:txBody>
          <a:bodyPr wrap="square" anchor="ctr" lIns="73152" rIns="73152"/>
          <a:lstStyle/>
          <a:p>
            <a:pPr algn="l"/>
            <a:r>
              <a:rPr sz="1250" b="1" i="0">
                <a:solidFill>
                  <a:srgbClr val="C00000"/>
                </a:solidFill>
                <a:latin typeface="Arial"/>
              </a:rPr>
              <a:t>2  </a:t>
            </a:r>
            <a:r>
              <a:rPr sz="1250" b="1" i="0">
                <a:solidFill>
                  <a:srgbClr val="1F2937"/>
                </a:solidFill>
                <a:latin typeface="Arial"/>
              </a:rPr>
              <a:t>Go live</a:t>
            </a:r>
            <a:endParaRPr sz="1250"/>
          </a:p>
        </p:txBody>
      </p:sp>
      <p:sp>
        <p:nvSpPr>
          <p:cNvPr id="19" name="TextBox 18"/>
          <p:cNvSpPr txBox="1"/>
          <p:nvPr/>
        </p:nvSpPr>
        <p:spPr>
          <a:xfrm>
            <a:off x="3602736" y="5010912"/>
            <a:ext cx="2350008" cy="1188720"/>
          </a:xfrm>
          <a:prstGeom prst="rect">
            <a:avLst/>
          </a:prstGeom>
          <a:noFill/>
        </p:spPr>
        <p:txBody>
          <a:bodyPr wrap="square" anchor="t" lIns="73152" rIns="73152"/>
          <a:lstStyle/>
          <a:p>
            <a:pPr algn="l"/>
            <a:r>
              <a:rPr sz="1150" b="0" i="0">
                <a:solidFill>
                  <a:srgbClr val="1F2937"/>
                </a:solidFill>
                <a:latin typeface="Arial"/>
              </a:rPr>
              <a:t>Connect BMTC's vehicle-location feed once available, so live tracking replaces estimates.</a:t>
            </a:r>
            <a:endParaRPr sz="1150"/>
          </a:p>
        </p:txBody>
      </p:sp>
      <p:sp>
        <p:nvSpPr>
          <p:cNvPr id="20" name="Pentagon 19"/>
          <p:cNvSpPr/>
          <p:nvPr/>
        </p:nvSpPr>
        <p:spPr>
          <a:xfrm>
            <a:off x="6528816" y="4645152"/>
            <a:ext cx="2916936" cy="1572768"/>
          </a:xfrm>
          <a:prstGeom prst="homePlate">
            <a:avLst/>
          </a:prstGeom>
          <a:solidFill>
            <a:srgbClr val="FFFFFF"/>
          </a:solidFill>
          <a:ln w="15875">
            <a:solidFill>
              <a:srgbClr val="C00000"/>
            </a:solidFill>
          </a:ln>
          <a:effectLst/>
        </p:spPr>
        <p:txBody>
          <a:bodyPr rtlCol="0" anchor="ctr"/>
          <a:lstStyle/>
          <a:p>
            <a:pPr algn="ctr"/>
          </a:p>
        </p:txBody>
      </p:sp>
      <p:sp>
        <p:nvSpPr>
          <p:cNvPr id="21" name="TextBox 20"/>
          <p:cNvSpPr txBox="1"/>
          <p:nvPr/>
        </p:nvSpPr>
        <p:spPr>
          <a:xfrm>
            <a:off x="6638544" y="4681728"/>
            <a:ext cx="2368296" cy="329184"/>
          </a:xfrm>
          <a:prstGeom prst="rect">
            <a:avLst/>
          </a:prstGeom>
          <a:noFill/>
        </p:spPr>
        <p:txBody>
          <a:bodyPr wrap="square" anchor="ctr" lIns="73152" rIns="73152"/>
          <a:lstStyle/>
          <a:p>
            <a:pPr algn="l"/>
            <a:r>
              <a:rPr sz="1250" b="1" i="0">
                <a:solidFill>
                  <a:srgbClr val="C00000"/>
                </a:solidFill>
                <a:latin typeface="Arial"/>
              </a:rPr>
              <a:t>3  </a:t>
            </a:r>
            <a:r>
              <a:rPr sz="1250" b="1" i="0">
                <a:solidFill>
                  <a:srgbClr val="1F2937"/>
                </a:solidFill>
                <a:latin typeface="Arial"/>
              </a:rPr>
              <a:t>Pilot the money path</a:t>
            </a:r>
            <a:endParaRPr sz="1250"/>
          </a:p>
        </p:txBody>
      </p:sp>
      <p:sp>
        <p:nvSpPr>
          <p:cNvPr id="22" name="TextBox 21"/>
          <p:cNvSpPr txBox="1"/>
          <p:nvPr/>
        </p:nvSpPr>
        <p:spPr>
          <a:xfrm>
            <a:off x="6638544" y="5010912"/>
            <a:ext cx="2350008" cy="1188720"/>
          </a:xfrm>
          <a:prstGeom prst="rect">
            <a:avLst/>
          </a:prstGeom>
          <a:noFill/>
        </p:spPr>
        <p:txBody>
          <a:bodyPr wrap="square" anchor="t" lIns="73152" rIns="73152"/>
          <a:lstStyle/>
          <a:p>
            <a:pPr algn="l"/>
            <a:r>
              <a:rPr sz="1150" b="0" i="0">
                <a:solidFill>
                  <a:srgbClr val="1F2937"/>
                </a:solidFill>
                <a:latin typeface="Arial"/>
              </a:rPr>
              <a:t>Run conductor waybills, offline sync and Shakti claim reports on a few routes.</a:t>
            </a:r>
            <a:endParaRPr sz="115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Gantt Chart</a:t>
            </a:r>
          </a:p>
        </p:txBody>
      </p:sp>
      <p:graphicFrame>
        <p:nvGraphicFramePr>
          <p:cNvPr id="3" name="Table 2"/>
          <p:cNvGraphicFramePr>
            <a:graphicFrameLocks noGrp="1"/>
          </p:cNvGraphicFramePr>
          <p:nvPr/>
        </p:nvGraphicFramePr>
        <p:xfrm>
          <a:off x="457200" y="914400"/>
          <a:ext cx="9006840" cy="4517136"/>
        </p:xfrm>
        <a:graphic>
          <a:graphicData uri="http://schemas.openxmlformats.org/drawingml/2006/table">
            <a:tbl>
              <a:tblPr firstRow="0" bandRow="0">
                <a:tableStyleId>{2D5ABB26-0587-4C30-8999-92F81FD0307C}</a:tableStyleId>
              </a:tblPr>
              <a:tblGrid>
                <a:gridCol w="2971800"/>
                <a:gridCol w="377190"/>
                <a:gridCol w="377190"/>
                <a:gridCol w="377190"/>
                <a:gridCol w="377190"/>
                <a:gridCol w="377190"/>
                <a:gridCol w="377190"/>
                <a:gridCol w="377190"/>
                <a:gridCol w="377190"/>
                <a:gridCol w="377190"/>
                <a:gridCol w="377190"/>
                <a:gridCol w="377190"/>
                <a:gridCol w="377190"/>
                <a:gridCol w="377190"/>
                <a:gridCol w="377190"/>
                <a:gridCol w="377190"/>
                <a:gridCol w="377190"/>
              </a:tblGrid>
              <a:tr h="292608">
                <a:tc gridSpan="17">
                  <a:txBody>
                    <a:bodyPr wrap="square" anchor="ctr" lIns="45720" tIns="18288" rIns="27432" bIns="18288"/>
                    <a:lstStyle/>
                    <a:p>
                      <a:pPr algn="l"/>
                      <a:r>
                        <a:rPr sz="1000" b="1" i="0">
                          <a:solidFill>
                            <a:srgbClr val="FFFFFF"/>
                          </a:solidFill>
                          <a:latin typeface="Arial"/>
                        </a:rPr>
                        <a:t>Project Work (UG) 16 weeks</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hMerge="1">
                  <a:txBody>
                    <a:bodyPr wrap="square" anchor="ctr" lIns="45720" tIns="18288" rIns="27432" bIns="18288"/>
                    <a:lstStyle/>
                    <a:p>
                      <a:pPr algn="ctr"/>
                      <a:r>
                        <a:rPr sz="1000" b="1" i="0">
                          <a:solidFill>
                            <a:srgbClr val="FFFFFF"/>
                          </a:solidFill>
                          <a:latin typeface="Arial"/>
                        </a:rPr>
                        <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274320">
                <a:tc>
                  <a:txBody>
                    <a:bodyPr wrap="square" anchor="ctr" lIns="45720" tIns="18288" rIns="27432" bIns="18288"/>
                    <a:lstStyle/>
                    <a:p>
                      <a:pPr algn="l"/>
                      <a:r>
                        <a:rPr sz="1000" b="1" i="0">
                          <a:solidFill>
                            <a:srgbClr val="FFFFFF"/>
                          </a:solidFill>
                          <a:latin typeface="Arial"/>
                        </a:rPr>
                        <a:t>Week</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2</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3</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4</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5</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6</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7</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8</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9</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10</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11</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12</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13</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14</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15</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1000" b="1" i="0">
                          <a:solidFill>
                            <a:srgbClr val="FFFFFF"/>
                          </a:solidFill>
                          <a:latin typeface="Arial"/>
                        </a:rPr>
                        <a:t>16</a:t>
                      </a:r>
                      <a:endParaRPr sz="100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329184">
                <a:tc>
                  <a:txBody>
                    <a:bodyPr wrap="square" anchor="ctr" lIns="45720" tIns="18288" rIns="27432" bIns="18288"/>
                    <a:lstStyle/>
                    <a:p>
                      <a:pPr algn="l"/>
                      <a:r>
                        <a:rPr sz="950" b="1" i="0">
                          <a:solidFill>
                            <a:srgbClr val="C00000"/>
                          </a:solidFill>
                          <a:latin typeface="Arial"/>
                        </a:rPr>
                        <a:t>1.1  </a:t>
                      </a:r>
                      <a:r>
                        <a:rPr sz="950" b="0" i="0">
                          <a:solidFill>
                            <a:srgbClr val="1F2937"/>
                          </a:solidFill>
                          <a:latin typeface="Arial"/>
                        </a:rPr>
                        <a:t>Requirements, data collection, literature survey</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2.1  </a:t>
                      </a:r>
                      <a:r>
                        <a:rPr sz="950" b="0" i="0">
                          <a:solidFill>
                            <a:srgbClr val="1F2937"/>
                          </a:solidFill>
                          <a:latin typeface="Arial"/>
                        </a:rPr>
                        <a:t>Stop-name cleaning and route indexing</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2.2  </a:t>
                      </a:r>
                      <a:r>
                        <a:rPr sz="950" b="0" i="0">
                          <a:solidFill>
                            <a:srgbClr val="1F2937"/>
                          </a:solidFill>
                          <a:latin typeface="Arial"/>
                        </a:rPr>
                        <a:t>Transfer search, ranking, maps, Metro, fares</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3.1  </a:t>
                      </a:r>
                      <a:r>
                        <a:rPr sz="950" b="0" i="0">
                          <a:solidFill>
                            <a:srgbClr val="1F2937"/>
                          </a:solidFill>
                          <a:latin typeface="Arial"/>
                        </a:rPr>
                        <a:t>Minimum-fleet planning with lower bound</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3.2  </a:t>
                      </a:r>
                      <a:r>
                        <a:rPr sz="950" b="0" i="0">
                          <a:solidFill>
                            <a:srgbClr val="1F2937"/>
                          </a:solidFill>
                          <a:latin typeface="Arial"/>
                        </a:rPr>
                        <a:t>Crew duty planning</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4.1  </a:t>
                      </a:r>
                      <a:r>
                        <a:rPr sz="950" b="0" i="0">
                          <a:solidFill>
                            <a:srgbClr val="1F2937"/>
                          </a:solidFill>
                          <a:latin typeface="Arial"/>
                        </a:rPr>
                        <a:t>Backend services: logins, roles, data storage</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4.2  </a:t>
                      </a:r>
                      <a:r>
                        <a:rPr sz="950" b="0" i="0">
                          <a:solidFill>
                            <a:srgbClr val="1F2937"/>
                          </a:solidFill>
                          <a:latin typeface="Arial"/>
                        </a:rPr>
                        <a:t>Demand voting, e-tickets, Shakti, waybills</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5.1  </a:t>
                      </a:r>
                      <a:r>
                        <a:rPr sz="950" b="0" i="0">
                          <a:solidFill>
                            <a:srgbClr val="1F2937"/>
                          </a:solidFill>
                          <a:latin typeface="Arial"/>
                        </a:rPr>
                        <a:t>Open data export, alerts, vehicle tracking</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5.2  </a:t>
                      </a:r>
                      <a:r>
                        <a:rPr sz="950" b="0" i="0">
                          <a:solidFill>
                            <a:srgbClr val="1F2937"/>
                          </a:solidFill>
                          <a:latin typeface="Arial"/>
                        </a:rPr>
                        <a:t>User interface, languages and mobile app</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6.1  </a:t>
                      </a:r>
                      <a:r>
                        <a:rPr sz="950" b="0" i="0">
                          <a:solidFill>
                            <a:srgbClr val="1F2937"/>
                          </a:solidFill>
                          <a:latin typeface="Arial"/>
                        </a:rPr>
                        <a:t>Evaluation and ranking improvements</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6.2  </a:t>
                      </a:r>
                      <a:r>
                        <a:rPr sz="950" b="0" i="0">
                          <a:solidFill>
                            <a:srgbClr val="1F2937"/>
                          </a:solidFill>
                          <a:latin typeface="Arial"/>
                        </a:rPr>
                        <a:t>Read-only assistant</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r>
              <a:tr h="329184">
                <a:tc>
                  <a:txBody>
                    <a:bodyPr wrap="square" anchor="ctr" lIns="45720" tIns="18288" rIns="27432" bIns="18288"/>
                    <a:lstStyle/>
                    <a:p>
                      <a:pPr algn="l"/>
                      <a:r>
                        <a:rPr sz="950" b="1" i="0">
                          <a:solidFill>
                            <a:srgbClr val="C00000"/>
                          </a:solidFill>
                          <a:latin typeface="Arial"/>
                        </a:rPr>
                        <a:t>6.3  </a:t>
                      </a:r>
                      <a:r>
                        <a:rPr sz="950" b="0" i="0">
                          <a:solidFill>
                            <a:srgbClr val="1F2937"/>
                          </a:solidFill>
                          <a:latin typeface="Arial"/>
                        </a:rPr>
                        <a:t>Testing, deployment and final report</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45720" tIns="18288" rIns="27432" bIns="18288"/>
                    <a:lstStyle/>
                    <a:p>
                      <a:pPr algn="ctr"/>
                      <a:r>
                        <a:rPr sz="950" b="0" i="0">
                          <a:solidFill>
                            <a:srgbClr val="1F2937"/>
                          </a:solidFill>
                          <a:latin typeface="Arial"/>
                        </a:rPr>
                        <a:t/>
                      </a:r>
                      <a:endParaRPr sz="950"/>
                    </a:p>
                  </a:txBody>
                  <a:tcPr marL="45720" marT="18288" marR="27432" marB="18288"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bl>
          </a:graphicData>
        </a:graphic>
      </p:graphicFrame>
      <p:sp>
        <p:nvSpPr>
          <p:cNvPr id="4" name="TextBox 3"/>
          <p:cNvSpPr txBox="1"/>
          <p:nvPr/>
        </p:nvSpPr>
        <p:spPr>
          <a:xfrm>
            <a:off x="457200" y="5577840"/>
            <a:ext cx="8988552" cy="658368"/>
          </a:xfrm>
          <a:prstGeom prst="rect">
            <a:avLst/>
          </a:prstGeom>
          <a:noFill/>
        </p:spPr>
        <p:txBody>
          <a:bodyPr wrap="square" anchor="t" lIns="73152" rIns="73152"/>
          <a:lstStyle/>
          <a:p>
            <a:pPr algn="l">
              <a:spcAft>
                <a:spcPts val="300"/>
              </a:spcAft>
            </a:pPr>
            <a:r>
              <a:rPr sz="1100" b="1" i="0">
                <a:solidFill>
                  <a:srgbClr val="C00000"/>
                </a:solidFill>
                <a:latin typeface="Arial"/>
              </a:rPr>
              <a:t>Phases: </a:t>
            </a:r>
            <a:r>
              <a:rPr sz="1100" b="0" i="0">
                <a:solidFill>
                  <a:srgbClr val="1F2937"/>
                </a:solidFill>
                <a:latin typeface="Arial"/>
              </a:rPr>
              <a:t>1 Data and survey | 2 Journey planner | 3 Operations planner | 4 Platform services | 5 Open data and interface | 6 Evaluation, assistant and release</a:t>
            </a:r>
            <a:endParaRPr sz="1100"/>
          </a:p>
          <a:p>
            <a:pPr algn="l"/>
            <a:r>
              <a:rPr sz="1100" b="1" i="0">
                <a:solidFill>
                  <a:srgbClr val="C00000"/>
                </a:solidFill>
                <a:latin typeface="Arial"/>
              </a:rPr>
              <a:t>Suggested review points: </a:t>
            </a:r>
            <a:r>
              <a:rPr sz="1100" b="0" i="0">
                <a:solidFill>
                  <a:srgbClr val="1F2937"/>
                </a:solidFill>
                <a:latin typeface="Arial"/>
              </a:rPr>
              <a:t>week 4 problem and literature | week 8 journey-planner demo | week 12 platform demo | week 16 final evaluation</a:t>
            </a:r>
            <a:endParaRPr sz="11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2800" b="1" i="0">
                <a:solidFill>
                  <a:srgbClr val="FF0000"/>
                </a:solidFill>
                <a:latin typeface="Arial"/>
              </a:rPr>
              <a:t>Risks and Mitigation</a:t>
            </a:r>
          </a:p>
        </p:txBody>
      </p:sp>
      <p:graphicFrame>
        <p:nvGraphicFramePr>
          <p:cNvPr id="3" name="Table 2"/>
          <p:cNvGraphicFramePr>
            <a:graphicFrameLocks noGrp="1"/>
          </p:cNvGraphicFramePr>
          <p:nvPr/>
        </p:nvGraphicFramePr>
        <p:xfrm>
          <a:off x="457200" y="914400"/>
          <a:ext cx="8988552" cy="4864608"/>
        </p:xfrm>
        <a:graphic>
          <a:graphicData uri="http://schemas.openxmlformats.org/drawingml/2006/table">
            <a:tbl>
              <a:tblPr firstRow="0" bandRow="0">
                <a:tableStyleId>{2D5ABB26-0587-4C30-8999-92F81FD0307C}</a:tableStyleId>
              </a:tblPr>
              <a:tblGrid>
                <a:gridCol w="2286000"/>
                <a:gridCol w="2011680"/>
                <a:gridCol w="4690872"/>
              </a:tblGrid>
              <a:tr h="365760">
                <a:tc>
                  <a:txBody>
                    <a:bodyPr wrap="square" anchor="ctr" lIns="73152" tIns="36576" rIns="73152" bIns="36576"/>
                    <a:lstStyle/>
                    <a:p>
                      <a:pPr algn="l"/>
                      <a:r>
                        <a:rPr sz="1200" b="1" i="0">
                          <a:solidFill>
                            <a:srgbClr val="FFFFFF"/>
                          </a:solidFill>
                          <a:latin typeface="Arial"/>
                        </a:rPr>
                        <a:t>Risk</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36576" rIns="73152" bIns="36576"/>
                    <a:lstStyle/>
                    <a:p>
                      <a:pPr algn="l"/>
                      <a:r>
                        <a:rPr sz="1200" b="1" i="0">
                          <a:solidFill>
                            <a:srgbClr val="FFFFFF"/>
                          </a:solidFill>
                          <a:latin typeface="Arial"/>
                        </a:rPr>
                        <a:t>Why it matters</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c>
                  <a:txBody>
                    <a:bodyPr wrap="square" anchor="ctr" lIns="73152" tIns="36576" rIns="73152" bIns="36576"/>
                    <a:lstStyle/>
                    <a:p>
                      <a:pPr algn="l"/>
                      <a:r>
                        <a:rPr sz="1200" b="1" i="0">
                          <a:solidFill>
                            <a:srgbClr val="FFFFFF"/>
                          </a:solidFill>
                          <a:latin typeface="Arial"/>
                        </a:rPr>
                        <a:t>Planned mitigation</a:t>
                      </a:r>
                      <a:endParaRPr sz="12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C00000"/>
                    </a:solidFill>
                  </a:tcPr>
                </a:tc>
              </a:tr>
              <a:tr h="749808">
                <a:tc>
                  <a:txBody>
                    <a:bodyPr wrap="square" anchor="ctr" lIns="73152" tIns="36576" rIns="73152" bIns="36576"/>
                    <a:lstStyle/>
                    <a:p>
                      <a:pPr algn="l"/>
                      <a:r>
                        <a:rPr sz="1100" b="1" i="0">
                          <a:solidFill>
                            <a:srgbClr val="C00000"/>
                          </a:solidFill>
                          <a:latin typeface="Arial"/>
                        </a:rPr>
                        <a:t>No live BMTC vehicle feed</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Tracking could stay estimate-only</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Design so a live feed can be plugged in once BMTC provides one; until then, positions are clearly labelled as estimates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r>
              <a:tr h="749808">
                <a:tc>
                  <a:txBody>
                    <a:bodyPr wrap="square" anchor="ctr" lIns="73152" tIns="36576" rIns="73152" bIns="36576"/>
                    <a:lstStyle/>
                    <a:p>
                      <a:pPr algn="l"/>
                      <a:r>
                        <a:rPr sz="1100" b="1" i="0">
                          <a:solidFill>
                            <a:srgbClr val="C00000"/>
                          </a:solidFill>
                          <a:latin typeface="Arial"/>
                        </a:rPr>
                        <a:t>Modelled fleet and crew differ from real rosters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Operator trust in the numbers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State the assumptions (speed, layover, crew rules) with every result; compare with one depot's real rosters in the pilot</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49808">
                <a:tc>
                  <a:txBody>
                    <a:bodyPr wrap="square" anchor="ctr" lIns="73152" tIns="36576" rIns="73152" bIns="36576"/>
                    <a:lstStyle/>
                    <a:p>
                      <a:pPr algn="l"/>
                      <a:r>
                        <a:rPr sz="1100" b="1" i="0">
                          <a:solidFill>
                            <a:srgbClr val="C00000"/>
                          </a:solidFill>
                          <a:latin typeface="Arial"/>
                        </a:rPr>
                        <a:t>Ambiguous or duplicate stop names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Wrong routes or absurd journeys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A table of known alternative stop names, and rejection of transfers that need a long walk</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r>
              <a:tr h="749808">
                <a:tc>
                  <a:txBody>
                    <a:bodyPr wrap="square" anchor="ctr" lIns="73152" tIns="36576" rIns="73152" bIns="36576"/>
                    <a:lstStyle/>
                    <a:p>
                      <a:pPr algn="l"/>
                      <a:r>
                        <a:rPr sz="1100" b="1" i="0">
                          <a:solidFill>
                            <a:srgbClr val="C00000"/>
                          </a:solidFill>
                          <a:latin typeface="Arial"/>
                        </a:rPr>
                        <a:t>Fake or biased demand votes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Bad dispatch advice</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Checks for suspicious voting patterns; recommendations only advise, a depot manager decides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r h="749808">
                <a:tc>
                  <a:txBody>
                    <a:bodyPr wrap="square" anchor="ctr" lIns="73152" tIns="36576" rIns="73152" bIns="36576"/>
                    <a:lstStyle/>
                    <a:p>
                      <a:pPr algn="l"/>
                      <a:r>
                        <a:rPr sz="1100" b="1" i="0">
                          <a:solidFill>
                            <a:srgbClr val="C00000"/>
                          </a:solidFill>
                          <a:latin typeface="Arial"/>
                        </a:rPr>
                        <a:t>Offline sync duplicates or cash disputes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Revenue trust</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c>
                  <a:txBody>
                    <a:bodyPr wrap="square" anchor="ctr" lIns="73152" tIns="36576" rIns="73152" bIns="36576"/>
                    <a:lstStyle/>
                    <a:p>
                      <a:pPr algn="l"/>
                      <a:r>
                        <a:rPr sz="1100" b="0" i="0">
                          <a:solidFill>
                            <a:srgbClr val="1F2937"/>
                          </a:solidFill>
                          <a:latin typeface="Arial"/>
                        </a:rPr>
                        <a:t>Each offline sale carries a unique ID so a repeated sync is ignored; cash shortfalls shown, never auto-corrected</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noFill/>
                  </a:tcPr>
                </a:tc>
              </a:tr>
              <a:tr h="749808">
                <a:tc>
                  <a:txBody>
                    <a:bodyPr wrap="square" anchor="ctr" lIns="73152" tIns="36576" rIns="73152" bIns="36576"/>
                    <a:lstStyle/>
                    <a:p>
                      <a:pPr algn="l"/>
                      <a:r>
                        <a:rPr sz="1100" b="1" i="0">
                          <a:solidFill>
                            <a:srgbClr val="C00000"/>
                          </a:solidFill>
                          <a:latin typeface="Arial"/>
                        </a:rPr>
                        <a:t>Scope too large for 16 weeks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Delay or unfinished features</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c>
                  <a:txBody>
                    <a:bodyPr wrap="square" anchor="ctr" lIns="73152" tIns="36576" rIns="73152" bIns="36576"/>
                    <a:lstStyle/>
                    <a:p>
                      <a:pPr algn="l"/>
                      <a:r>
                        <a:rPr sz="1100" b="0" i="0">
                          <a:solidFill>
                            <a:srgbClr val="1F2937"/>
                          </a:solidFill>
                          <a:latin typeface="Arial"/>
                        </a:rPr>
                        <a:t>Phased plan with reviews at weeks 4, 8, 12 and 16; core first (journey and fleet), extras last</a:t>
                      </a:r>
                      <a:endParaRPr sz="1100"/>
                    </a:p>
                  </a:txBody>
                  <a:tcPr marL="73152" marT="36576" marR="73152" marB="36576" anchor="ctr">
                    <a:lnL w="9525">
                      <a:solidFill>
                        <a:srgbClr val="D1D5DB"/>
                      </a:solidFill>
                    </a:lnL>
                    <a:lnR w="9525">
                      <a:solidFill>
                        <a:srgbClr val="D1D5DB"/>
                      </a:solidFill>
                    </a:lnR>
                    <a:lnT w="9525">
                      <a:solidFill>
                        <a:srgbClr val="D1D5DB"/>
                      </a:solidFill>
                    </a:lnT>
                    <a:lnB w="9525">
                      <a:solidFill>
                        <a:srgbClr val="D1D5DB"/>
                      </a:solidFill>
                    </a:lnB>
                    <a:solidFill>
                      <a:srgbClr val="F3F4F6"/>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3200" b="1" i="0">
                <a:solidFill>
                  <a:srgbClr val="FF0000"/>
                </a:solidFill>
                <a:latin typeface="Arial"/>
              </a:rPr>
              <a:t>Conclusion</a:t>
            </a:r>
          </a:p>
        </p:txBody>
      </p:sp>
      <p:sp>
        <p:nvSpPr>
          <p:cNvPr id="3" name="Rounded Rectangle 2"/>
          <p:cNvSpPr/>
          <p:nvPr/>
        </p:nvSpPr>
        <p:spPr>
          <a:xfrm>
            <a:off x="457200" y="914400"/>
            <a:ext cx="8988552" cy="1033271"/>
          </a:xfrm>
          <a:prstGeom prst="roundRect">
            <a:avLst>
              <a:gd name="adj" fmla="val 6000"/>
            </a:avLst>
          </a:prstGeom>
          <a:solidFill>
            <a:srgbClr val="F3F4F6"/>
          </a:solidFill>
          <a:ln>
            <a:noFill/>
          </a:ln>
          <a:effectLst/>
        </p:spPr>
        <p:txBody>
          <a:bodyPr rtlCol="0" anchor="ctr"/>
          <a:lstStyle/>
          <a:p>
            <a:pPr algn="ctr"/>
          </a:p>
        </p:txBody>
      </p:sp>
      <p:sp>
        <p:nvSpPr>
          <p:cNvPr id="4" name="Rounded Rectangle 3"/>
          <p:cNvSpPr/>
          <p:nvPr/>
        </p:nvSpPr>
        <p:spPr>
          <a:xfrm>
            <a:off x="566928" y="1033271"/>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Problem addressed</a:t>
            </a:r>
            <a:endParaRPr sz="1250"/>
          </a:p>
        </p:txBody>
      </p:sp>
      <p:sp>
        <p:nvSpPr>
          <p:cNvPr id="5" name="TextBox 4"/>
          <p:cNvSpPr txBox="1"/>
          <p:nvPr/>
        </p:nvSpPr>
        <p:spPr>
          <a:xfrm>
            <a:off x="2606040" y="914400"/>
            <a:ext cx="6720840" cy="1033271"/>
          </a:xfrm>
          <a:prstGeom prst="rect">
            <a:avLst/>
          </a:prstGeom>
          <a:noFill/>
        </p:spPr>
        <p:txBody>
          <a:bodyPr wrap="square" anchor="ctr" lIns="73152" rIns="73152"/>
          <a:lstStyle/>
          <a:p>
            <a:pPr algn="l"/>
            <a:r>
              <a:rPr sz="1250" b="0" i="0">
                <a:solidFill>
                  <a:srgbClr val="1F2937"/>
                </a:solidFill>
                <a:latin typeface="Arial"/>
              </a:rPr>
              <a:t>Commuters cannot easily find which of 3,940 buses to take, and none of the public apps we reviewed links a commuter's need to the fleet and crew a timetable requires.</a:t>
            </a:r>
            <a:endParaRPr sz="1250"/>
          </a:p>
        </p:txBody>
      </p:sp>
      <p:sp>
        <p:nvSpPr>
          <p:cNvPr id="6" name="Rounded Rectangle 5"/>
          <p:cNvSpPr/>
          <p:nvPr/>
        </p:nvSpPr>
        <p:spPr>
          <a:xfrm>
            <a:off x="457200" y="2029967"/>
            <a:ext cx="8988552" cy="1033271"/>
          </a:xfrm>
          <a:prstGeom prst="roundRect">
            <a:avLst>
              <a:gd name="adj" fmla="val 6000"/>
            </a:avLst>
          </a:prstGeom>
          <a:solidFill>
            <a:srgbClr val="F3F4F6"/>
          </a:solidFill>
          <a:ln>
            <a:noFill/>
          </a:ln>
          <a:effectLst/>
        </p:spPr>
        <p:txBody>
          <a:bodyPr rtlCol="0" anchor="ctr"/>
          <a:lstStyle/>
          <a:p>
            <a:pPr algn="ctr"/>
          </a:p>
        </p:txBody>
      </p:sp>
      <p:sp>
        <p:nvSpPr>
          <p:cNvPr id="7" name="Rounded Rectangle 6"/>
          <p:cNvSpPr/>
          <p:nvPr/>
        </p:nvSpPr>
        <p:spPr>
          <a:xfrm>
            <a:off x="566928" y="2148839"/>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Why it is relevant</a:t>
            </a:r>
            <a:endParaRPr sz="1250"/>
          </a:p>
        </p:txBody>
      </p:sp>
      <p:sp>
        <p:nvSpPr>
          <p:cNvPr id="8" name="TextBox 7"/>
          <p:cNvSpPr txBox="1"/>
          <p:nvPr/>
        </p:nvSpPr>
        <p:spPr>
          <a:xfrm>
            <a:off x="2606040" y="2029967"/>
            <a:ext cx="6720840" cy="1033271"/>
          </a:xfrm>
          <a:prstGeom prst="rect">
            <a:avLst/>
          </a:prstGeom>
          <a:noFill/>
        </p:spPr>
        <p:txBody>
          <a:bodyPr wrap="square" anchor="ctr" lIns="73152" rIns="73152"/>
          <a:lstStyle/>
          <a:p>
            <a:pPr algn="l"/>
            <a:r>
              <a:rPr sz="1250" b="0" i="0">
                <a:solidFill>
                  <a:srgbClr val="1F2937"/>
                </a:solidFill>
                <a:latin typeface="Arial"/>
              </a:rPr>
              <a:t>Ridership has changed after Shakti, BMTC runs 7,000+ buses, and tickets and tracking are going digital, so demand-aware planning and exact reimbursement tracking are needed now.</a:t>
            </a:r>
            <a:endParaRPr sz="1250"/>
          </a:p>
        </p:txBody>
      </p:sp>
      <p:sp>
        <p:nvSpPr>
          <p:cNvPr id="9" name="Rounded Rectangle 8"/>
          <p:cNvSpPr/>
          <p:nvPr/>
        </p:nvSpPr>
        <p:spPr>
          <a:xfrm>
            <a:off x="457200" y="3145535"/>
            <a:ext cx="8988552" cy="1033271"/>
          </a:xfrm>
          <a:prstGeom prst="roundRect">
            <a:avLst>
              <a:gd name="adj" fmla="val 6000"/>
            </a:avLst>
          </a:prstGeom>
          <a:solidFill>
            <a:srgbClr val="F3F4F6"/>
          </a:solidFill>
          <a:ln>
            <a:noFill/>
          </a:ln>
          <a:effectLst/>
        </p:spPr>
        <p:txBody>
          <a:bodyPr rtlCol="0" anchor="ctr"/>
          <a:lstStyle/>
          <a:p>
            <a:pPr algn="ctr"/>
          </a:p>
        </p:txBody>
      </p:sp>
      <p:sp>
        <p:nvSpPr>
          <p:cNvPr id="10" name="Rounded Rectangle 9"/>
          <p:cNvSpPr/>
          <p:nvPr/>
        </p:nvSpPr>
        <p:spPr>
          <a:xfrm>
            <a:off x="566928" y="3264407"/>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Expected outcome</a:t>
            </a:r>
            <a:endParaRPr sz="1250"/>
          </a:p>
        </p:txBody>
      </p:sp>
      <p:sp>
        <p:nvSpPr>
          <p:cNvPr id="11" name="TextBox 10"/>
          <p:cNvSpPr txBox="1"/>
          <p:nvPr/>
        </p:nvSpPr>
        <p:spPr>
          <a:xfrm>
            <a:off x="2606040" y="3145535"/>
            <a:ext cx="6720840" cy="1033271"/>
          </a:xfrm>
          <a:prstGeom prst="rect">
            <a:avLst/>
          </a:prstGeom>
          <a:noFill/>
        </p:spPr>
        <p:txBody>
          <a:bodyPr wrap="square" anchor="ctr" lIns="73152" rIns="73152"/>
          <a:lstStyle/>
          <a:p>
            <a:pPr algn="l"/>
            <a:r>
              <a:rPr sz="1250" b="0" i="0">
                <a:solidFill>
                  <a:srgbClr val="1F2937"/>
                </a:solidFill>
                <a:latin typeface="Arial"/>
              </a:rPr>
              <a:t>One platform: journey planner, fleet and crew planner, demand-to-dispatch loop and GTFS open data, judged against acceptance targets that can fail.</a:t>
            </a:r>
            <a:endParaRPr sz="1250"/>
          </a:p>
        </p:txBody>
      </p:sp>
      <p:sp>
        <p:nvSpPr>
          <p:cNvPr id="12" name="Rounded Rectangle 11"/>
          <p:cNvSpPr/>
          <p:nvPr/>
        </p:nvSpPr>
        <p:spPr>
          <a:xfrm>
            <a:off x="457200" y="4261103"/>
            <a:ext cx="8988552" cy="1033271"/>
          </a:xfrm>
          <a:prstGeom prst="roundRect">
            <a:avLst>
              <a:gd name="adj" fmla="val 6000"/>
            </a:avLst>
          </a:prstGeom>
          <a:solidFill>
            <a:srgbClr val="F3F4F6"/>
          </a:solidFill>
          <a:ln>
            <a:noFill/>
          </a:ln>
          <a:effectLst/>
        </p:spPr>
        <p:txBody>
          <a:bodyPr rtlCol="0" anchor="ctr"/>
          <a:lstStyle/>
          <a:p>
            <a:pPr algn="ctr"/>
          </a:p>
        </p:txBody>
      </p:sp>
      <p:sp>
        <p:nvSpPr>
          <p:cNvPr id="13" name="Rounded Rectangle 12"/>
          <p:cNvSpPr/>
          <p:nvPr/>
        </p:nvSpPr>
        <p:spPr>
          <a:xfrm>
            <a:off x="566928" y="4379975"/>
            <a:ext cx="1874519" cy="795527"/>
          </a:xfrm>
          <a:prstGeom prst="roundRect">
            <a:avLst>
              <a:gd name="adj" fmla="val 8000"/>
            </a:avLst>
          </a:prstGeom>
          <a:solidFill>
            <a:srgbClr val="C00000"/>
          </a:solidFill>
          <a:ln>
            <a:noFill/>
          </a:ln>
          <a:effectLst/>
        </p:spPr>
        <p:txBody>
          <a:bodyPr rtlCol="0" anchor="ctr" wrap="square" lIns="54864" tIns="27432" rIns="54864" bIns="27432"/>
          <a:lstStyle/>
          <a:p>
            <a:pPr algn="ctr"/>
            <a:r>
              <a:rPr sz="1250" b="1" i="0">
                <a:solidFill>
                  <a:srgbClr val="FFFFFF"/>
                </a:solidFill>
                <a:latin typeface="Arial"/>
              </a:rPr>
              <a:t>Why it is feasible</a:t>
            </a:r>
            <a:endParaRPr sz="1250"/>
          </a:p>
        </p:txBody>
      </p:sp>
      <p:sp>
        <p:nvSpPr>
          <p:cNvPr id="14" name="TextBox 13"/>
          <p:cNvSpPr txBox="1"/>
          <p:nvPr/>
        </p:nvSpPr>
        <p:spPr>
          <a:xfrm>
            <a:off x="2606040" y="4261103"/>
            <a:ext cx="6720840" cy="1033271"/>
          </a:xfrm>
          <a:prstGeom prst="rect">
            <a:avLst/>
          </a:prstGeom>
          <a:noFill/>
        </p:spPr>
        <p:txBody>
          <a:bodyPr wrap="square" anchor="ctr" lIns="73152" rIns="73152"/>
          <a:lstStyle/>
          <a:p>
            <a:pPr algn="l"/>
            <a:r>
              <a:rPr sz="1250" b="0" i="0">
                <a:solidFill>
                  <a:srgbClr val="1F2937"/>
                </a:solidFill>
                <a:latin typeface="Arial"/>
              </a:rPr>
              <a:t>The inputs are in hand (BMTC's published timetable, stop coordinates, fare table and Metro network), the methods are established in the literature [1-7], the technology choices are standard and well understood, and a 16-week phased plan puts the core first.</a:t>
            </a:r>
            <a:endParaRPr sz="1250"/>
          </a:p>
        </p:txBody>
      </p:sp>
      <p:sp>
        <p:nvSpPr>
          <p:cNvPr id="15" name="Rounded Rectangle 14"/>
          <p:cNvSpPr/>
          <p:nvPr/>
        </p:nvSpPr>
        <p:spPr>
          <a:xfrm>
            <a:off x="457200" y="5394959"/>
            <a:ext cx="8988552" cy="868680"/>
          </a:xfrm>
          <a:prstGeom prst="roundRect">
            <a:avLst>
              <a:gd name="adj" fmla="val 8000"/>
            </a:avLst>
          </a:prstGeom>
          <a:solidFill>
            <a:srgbClr val="E6F4EA"/>
          </a:solidFill>
          <a:ln>
            <a:noFill/>
          </a:ln>
          <a:effectLst/>
        </p:spPr>
        <p:txBody>
          <a:bodyPr rtlCol="0" anchor="ctr" wrap="square" lIns="274320" rIns="274320"/>
          <a:lstStyle/>
          <a:p>
            <a:pPr algn="ctr"/>
            <a:r>
              <a:rPr sz="1250" b="1" i="0">
                <a:solidFill>
                  <a:srgbClr val="0B8A3E"/>
                </a:solidFill>
                <a:latin typeface="Arial"/>
              </a:rPr>
              <a:t>DBARS answers both sides of the same question, which bus to take and how many buses to run, and will say plainly what is measured and what is modelled.</a:t>
            </a:r>
            <a:endParaRPr sz="125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19456"/>
            <a:ext cx="8988552" cy="603504"/>
          </a:xfrm>
        </p:spPr>
        <p:txBody>
          <a:bodyPr anchor="ctr" wrap="square"/>
          <a:lstStyle/>
          <a:p>
            <a:pPr algn="ctr"/>
            <a:r>
              <a:rPr sz="3000" b="1" i="0">
                <a:solidFill>
                  <a:srgbClr val="FF0000"/>
                </a:solidFill>
                <a:latin typeface="Arial"/>
              </a:rPr>
              <a:t>References (APA format)</a:t>
            </a:r>
          </a:p>
        </p:txBody>
      </p:sp>
      <p:sp>
        <p:nvSpPr>
          <p:cNvPr id="3" name="TextBox 2"/>
          <p:cNvSpPr txBox="1"/>
          <p:nvPr/>
        </p:nvSpPr>
        <p:spPr>
          <a:xfrm>
            <a:off x="457200" y="868680"/>
            <a:ext cx="8988552" cy="5440680"/>
          </a:xfrm>
          <a:prstGeom prst="rect">
            <a:avLst/>
          </a:prstGeom>
          <a:noFill/>
        </p:spPr>
        <p:txBody>
          <a:bodyPr wrap="square" anchor="t" lIns="73152" rIns="73152"/>
          <a:lstStyle/>
          <a:p>
            <a:pPr algn="l">
              <a:spcAft>
                <a:spcPts val="400"/>
              </a:spcAft>
            </a:pPr>
            <a:r>
              <a:rPr sz="950" b="0" i="0">
                <a:solidFill>
                  <a:srgbClr val="1F2937"/>
                </a:solidFill>
                <a:latin typeface="Arial"/>
              </a:rPr>
              <a:t>[1] Baum, M., Buchhold, V., Sauer, J., Wagner, D., &amp; Zündorf, T. (2023). ULTRA: Unlimited transfers for efficient multimodal journey planning. Transportation Science, 57(6), 1536-1559. https://doi.org/10.1287/trsc.2022.0198</a:t>
            </a:r>
            <a:endParaRPr sz="950"/>
          </a:p>
          <a:p>
            <a:pPr algn="l">
              <a:spcAft>
                <a:spcPts val="400"/>
              </a:spcAft>
            </a:pPr>
            <a:r>
              <a:rPr sz="950" b="0" i="0">
                <a:solidFill>
                  <a:srgbClr val="1F2937"/>
                </a:solidFill>
                <a:latin typeface="Arial"/>
              </a:rPr>
              <a:t>[2] Liu, D., Guo, J., Gu, Y., King, M., Han, L. D., &amp; Brakewood, C. (2025). Analyzing transit systems using General Transit Feed Specification (GTFS) by generating spatiotemporal transit networks. Information, 16(1), 24.</a:t>
            </a:r>
            <a:endParaRPr sz="950"/>
          </a:p>
          <a:p>
            <a:pPr algn="l">
              <a:spcAft>
                <a:spcPts val="400"/>
              </a:spcAft>
            </a:pPr>
            <a:r>
              <a:rPr sz="950" b="0" i="0">
                <a:solidFill>
                  <a:srgbClr val="1F2937"/>
                </a:solidFill>
                <a:latin typeface="Arial"/>
              </a:rPr>
              <a:t>[3] Prommaharaj, P., Phithakkitnukoon, S., Demissie, M. G., Kattan, L., &amp; Ratti, C. (2020). Visualizing public transit system operation with GTFS data: A case study of Calgary, Canada. Heliyon, 6(4), e03729.</a:t>
            </a:r>
            <a:endParaRPr sz="950"/>
          </a:p>
          <a:p>
            <a:pPr algn="l">
              <a:spcAft>
                <a:spcPts val="400"/>
              </a:spcAft>
            </a:pPr>
            <a:r>
              <a:rPr sz="950" b="0" i="0">
                <a:solidFill>
                  <a:srgbClr val="1F2937"/>
                </a:solidFill>
                <a:latin typeface="Arial"/>
              </a:rPr>
              <a:t>[4] Shang, H., Liu, Y., Wu, W., &amp; Zhao, F. (2023). Multi-depot vehicle scheduling with multiple vehicle types on overlapped bus routes. Expert Systems with Applications, 228, 120352.</a:t>
            </a:r>
            <a:endParaRPr sz="950"/>
          </a:p>
          <a:p>
            <a:pPr algn="l">
              <a:spcAft>
                <a:spcPts val="400"/>
              </a:spcAft>
            </a:pPr>
            <a:r>
              <a:rPr sz="950" b="0" i="0">
                <a:solidFill>
                  <a:srgbClr val="1F2937"/>
                </a:solidFill>
                <a:latin typeface="Arial"/>
              </a:rPr>
              <a:t>[5] Gkiotsalitis, K., Iliopoulou, C., &amp; Kepaptsoglou, K. (2023). An exact approach for the multi-depot electric bus scheduling problem with time windows. European Journal of Operational Research, 306(1), 189-206.</a:t>
            </a:r>
            <a:endParaRPr sz="950"/>
          </a:p>
          <a:p>
            <a:pPr algn="l">
              <a:spcAft>
                <a:spcPts val="400"/>
              </a:spcAft>
            </a:pPr>
            <a:r>
              <a:rPr sz="950" b="0" i="0">
                <a:solidFill>
                  <a:srgbClr val="1F2937"/>
                </a:solidFill>
                <a:latin typeface="Arial"/>
              </a:rPr>
              <a:t>[6] Pardo-Peña, D., Álvarez-Martínez, D., &amp; Escobar, J. W. (2024). A GRASP algorithm for the bus crew scheduling problem. International Journal of Industrial Engineering Computations, 15, 443-456.</a:t>
            </a:r>
            <a:endParaRPr sz="950"/>
          </a:p>
          <a:p>
            <a:pPr algn="l">
              <a:spcAft>
                <a:spcPts val="400"/>
              </a:spcAft>
            </a:pPr>
            <a:r>
              <a:rPr sz="950" b="0" i="0">
                <a:solidFill>
                  <a:srgbClr val="1F2937"/>
                </a:solidFill>
                <a:latin typeface="Arial"/>
              </a:rPr>
              <a:t>[7] Árgilán, V. S., &amp; Békési, J. (2025). Optimizing bus driver scheduling: A set covering approach for reducing transportation costs. Applied System Innovation, 8(5), 122.</a:t>
            </a:r>
            <a:endParaRPr sz="950"/>
          </a:p>
          <a:p>
            <a:pPr algn="l">
              <a:spcAft>
                <a:spcPts val="400"/>
              </a:spcAft>
            </a:pPr>
            <a:r>
              <a:rPr sz="950" b="0" i="0">
                <a:solidFill>
                  <a:srgbClr val="1F2937"/>
                </a:solidFill>
                <a:latin typeface="Arial"/>
              </a:rPr>
              <a:t>[8] Deepa, L., Pinjari, A. R., Nirmale, S. K., Srinivasan, K. K., &amp; Rambha, T. (2022). A direct demand model for bus transit ridership in Bengaluru, India. Transportation Research Part A: Policy and Practice, 163, 126-147.</a:t>
            </a:r>
            <a:endParaRPr sz="950"/>
          </a:p>
          <a:p>
            <a:pPr algn="l">
              <a:spcAft>
                <a:spcPts val="400"/>
              </a:spcAft>
            </a:pPr>
            <a:r>
              <a:rPr sz="950" b="0" i="0">
                <a:solidFill>
                  <a:srgbClr val="1F2937"/>
                </a:solidFill>
                <a:latin typeface="Arial"/>
              </a:rPr>
              <a:t>[9] Deepa, L., Pinjari, A. R., Nirmale, S. K., Biswas, M., &amp; Srinivasan, K. K. (2023). The adverse impact of headway variability on bus transit ridership: Evidence from Bengaluru, India. Transport Policy, 141, 343-356.</a:t>
            </a:r>
            <a:endParaRPr sz="950"/>
          </a:p>
          <a:p>
            <a:pPr algn="l">
              <a:spcAft>
                <a:spcPts val="400"/>
              </a:spcAft>
            </a:pPr>
            <a:r>
              <a:rPr sz="950" b="0" i="0">
                <a:solidFill>
                  <a:srgbClr val="1F2937"/>
                </a:solidFill>
                <a:latin typeface="Arial"/>
              </a:rPr>
              <a:t>[10] Singh, N., &amp; Kumar, K. (2022). A review of bus arrival time prediction using artificial intelligence. WIREs Data Mining and Knowledge Discovery, 12(4), e1457.</a:t>
            </a:r>
            <a:endParaRPr sz="950"/>
          </a:p>
          <a:p>
            <a:pPr algn="l">
              <a:spcAft>
                <a:spcPts val="400"/>
              </a:spcAft>
            </a:pPr>
            <a:r>
              <a:rPr sz="950" b="0" i="0">
                <a:solidFill>
                  <a:srgbClr val="1F2937"/>
                </a:solidFill>
                <a:latin typeface="Arial"/>
              </a:rPr>
              <a:t>[11] Ji, Z., Lee, N., Frieske, R., Yu, T., Su, D., Xu, Y., Ishii, E., Bang, Y. J., Madotto, A., &amp; Fung, P. (2023). Survey of hallucination in natural language generation. ACM Computing Surveys, 55(12), 1-38.</a:t>
            </a:r>
            <a:endParaRPr sz="950"/>
          </a:p>
          <a:p>
            <a:pPr algn="l">
              <a:spcAft>
                <a:spcPts val="400"/>
              </a:spcAft>
            </a:pPr>
            <a:r>
              <a:rPr sz="950" b="0" i="0">
                <a:solidFill>
                  <a:srgbClr val="1F2937"/>
                </a:solidFill>
                <a:latin typeface="Arial"/>
              </a:rPr>
              <a:t>[12] Halder, T., &amp; Jayadev, A. (2025). Gender, welfare, and mobility: Impact of Shakti scheme on BMTC transport transformation [Report]. Azim Premji University.</a:t>
            </a:r>
            <a:endParaRPr sz="950"/>
          </a:p>
          <a:p>
            <a:pPr algn="l">
              <a:spcAft>
                <a:spcPts val="400"/>
              </a:spcAft>
            </a:pPr>
            <a:r>
              <a:rPr sz="950" b="0" i="0">
                <a:solidFill>
                  <a:srgbClr val="1F2937"/>
                </a:solidFill>
                <a:latin typeface="Arial"/>
              </a:rPr>
              <a:t>[13] United Nations. (n.d.). The 17 Sustainable Development Goals. https://sdgs.un.org/goals</a:t>
            </a:r>
            <a:endParaRPr sz="950"/>
          </a:p>
          <a:p>
            <a:pPr algn="l">
              <a:spcAft>
                <a:spcPts val="400"/>
              </a:spcAft>
            </a:pPr>
            <a:r>
              <a:rPr sz="950" b="0" i="0">
                <a:solidFill>
                  <a:srgbClr val="1F2937"/>
                </a:solidFill>
                <a:latin typeface="Arial"/>
              </a:rPr>
              <a:t>[14] Namma BMTC 2.0 [Mobile app]. (2026). Google Play. https://play.google.com/store/apps/details?id=com.bmtc.bmtcavls.two</a:t>
            </a:r>
            <a:endParaRPr sz="950"/>
          </a:p>
          <a:p>
            <a:pPr algn="l">
              <a:spcAft>
                <a:spcPts val="400"/>
              </a:spcAft>
            </a:pPr>
            <a:r>
              <a:rPr sz="950" b="0" i="0">
                <a:solidFill>
                  <a:srgbClr val="1F2937"/>
                </a:solidFill>
                <a:latin typeface="Arial"/>
              </a:rPr>
              <a:t>[15] Asianet Newsable. (2026). Bengaluru: BMTC launches Namma BMTC 2.0 app, one NCMC card for bus and Metro. https://newsable.asianetnews.com/karnataka-news/bengaluru-bmtc-launches-namma-bmtc-2-0-app-one-ncmc-card-for-bus-and-metro-articleshow-3gc1xnb</a:t>
            </a:r>
            <a:endParaRPr sz="950"/>
          </a:p>
          <a:p>
            <a:pPr algn="l">
              <a:spcAft>
                <a:spcPts val="400"/>
              </a:spcAft>
            </a:pPr>
            <a:r>
              <a:rPr sz="950" b="0" i="0">
                <a:solidFill>
                  <a:srgbClr val="1F2937"/>
                </a:solidFill>
                <a:latin typeface="Arial"/>
              </a:rPr>
              <a:t>[16] Moovit. (n.d.). BMTC, Bengaluru: Bus schedules, routes &amp; updates. https://moovitapp.com/index/en/public_transit-lines-Bengaluru-3620-3781867</a:t>
            </a:r>
            <a:endParaRPr sz="950"/>
          </a:p>
          <a:p>
            <a:pPr algn="l">
              <a:spcAft>
                <a:spcPts val="400"/>
              </a:spcAft>
            </a:pPr>
            <a:r>
              <a:rPr sz="950" b="0" i="0">
                <a:solidFill>
                  <a:srgbClr val="1F2937"/>
                </a:solidFill>
                <a:latin typeface="Arial"/>
              </a:rPr>
              <a:t>[17] Chalo. (n.d.). Cities and products. https://chalo.com/cities</a:t>
            </a:r>
            <a:endParaRPr sz="950"/>
          </a:p>
          <a:p>
            <a:pPr algn="l">
              <a:spcAft>
                <a:spcPts val="400"/>
              </a:spcAft>
            </a:pPr>
            <a:r>
              <a:rPr sz="950" b="0" i="0">
                <a:solidFill>
                  <a:srgbClr val="1F2937"/>
                </a:solidFill>
                <a:latin typeface="Arial"/>
              </a:rPr>
              <a:t>[18] Mobility Database. (n.d.). Bangalore Metropolitan Transport Corporation (BMTC) GTFS Schedule feed (mdb-2595). https://mobilitydatabase.org/feeds/gtfs/mdb-2595</a:t>
            </a:r>
            <a:endParaRPr sz="950"/>
          </a:p>
          <a:p>
            <a:pPr algn="l">
              <a:spcAft>
                <a:spcPts val="400"/>
              </a:spcAft>
            </a:pPr>
            <a:r>
              <a:rPr sz="950" b="0" i="0">
                <a:solidFill>
                  <a:srgbClr val="1F2937"/>
                </a:solidFill>
                <a:latin typeface="Arial"/>
              </a:rPr>
              <a:t>[19] Sustainable Bus. (2025, September 8). One in five buses in Bangalore, India, now electric as BMTC fleet surpasses 7,000 units. https://www.sustainable-bus.com/news/bangalore-buses-one-fifth-fleet-7000/</a:t>
            </a:r>
            <a:endParaRPr sz="95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