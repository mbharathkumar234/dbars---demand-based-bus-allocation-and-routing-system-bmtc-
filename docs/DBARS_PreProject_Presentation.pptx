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bleStyles1.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1.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69" r:id="rId20"/>
  </p:sldIdLst>
  <p:sldSz cy="6858000" cx="9906000"/>
  <p:notesSz cx="6761150" cy="9942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2D200454-40CA-4A62-9FC3-DE9A4176ACB9}">
      <p15:notesGuideLst>
        <p15:guide id="1" orient="horz" pos="3132">
          <p15:clr>
            <a:srgbClr val="A4A3A4"/>
          </p15:clr>
        </p15:guide>
        <p15:guide id="2" pos="2130">
          <p15:clr>
            <a:srgbClr val="A4A3A4"/>
          </p15:clr>
        </p15:guide>
      </p15:notes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9B3D1C26-BEBA-40EB-B880-04AE644533D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tcStyle>
        <a:tcBdr/>
      </a:tcStyle>
    </a:neCell>
    <a:nwCell>
      <a:tcTxStyle b="off" i="off"/>
      <a:tcStyle>
        <a:tcBdr/>
      </a:tcStyle>
    </a:nwCell>
  </a:tblStyle>
  <a:tblStyle styleId="{9F6D2E3C-A018-442B-BF50-C8C78C53ADB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notesViewPr>
    <p:cSldViewPr snapToGrid="0">
      <p:cViewPr varScale="1">
        <p:scale>
          <a:sx n="100" d="100"/>
          <a:sy n="100" d="100"/>
        </p:scale>
        <p:origin x="0" y="0"/>
      </p:cViewPr>
      <p:guideLst>
        <p:guide pos="3132" orient="horz"/>
        <p:guide pos="213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c:v>
                </c:pt>
              </c:strCache>
            </c:strRef>
          </c:tx>
          <c:spPr>
            <a:solidFill>
              <a:srgbClr val="9CA3AF"/>
            </a:solidFill>
          </c:spPr>
          <c:cat>
            <c:strRef>
              <c:f>Sheet1!$A$2:$A$3</c:f>
              <c:strCache>
                <c:ptCount val="2"/>
                <c:pt idx="0">
                  <c:v>Best option ranked first</c:v>
                </c:pt>
                <c:pt idx="1">
                  <c:v>Within 2 stops of best</c:v>
                </c:pt>
              </c:strCache>
            </c:strRef>
          </c:cat>
          <c:val>
            <c:numRef>
              <c:f>Sheet1!$B$2:$B$3</c:f>
              <c:numCache>
                <c:formatCode>General</c:formatCode>
                <c:ptCount val="2"/>
                <c:pt idx="0">
                  <c:v>0.57</c:v>
                </c:pt>
                <c:pt idx="1">
                  <c:v>0.9</c:v>
                </c:pt>
              </c:numCache>
            </c:numRef>
          </c:val>
        </c:ser>
        <c:ser>
          <c:idx val="1"/>
          <c:order val="1"/>
          <c:tx>
            <c:strRef>
              <c:f>Sheet1!$C$1</c:f>
              <c:strCache>
                <c:ptCount val="1"/>
                <c:pt idx="0">
                  <c:v>After tuning</c:v>
                </c:pt>
              </c:strCache>
            </c:strRef>
          </c:tx>
          <c:spPr>
            <a:solidFill>
              <a:srgbClr val="C00000"/>
            </a:solidFill>
          </c:spPr>
          <c:cat>
            <c:strRef>
              <c:f>Sheet1!$A$2:$A$3</c:f>
              <c:strCache>
                <c:ptCount val="2"/>
                <c:pt idx="0">
                  <c:v>Best option ranked first</c:v>
                </c:pt>
                <c:pt idx="1">
                  <c:v>Within 2 stops of best</c:v>
                </c:pt>
              </c:strCache>
            </c:strRef>
          </c:cat>
          <c:val>
            <c:numRef>
              <c:f>Sheet1!$C$2:$C$3</c:f>
              <c:numCache>
                <c:formatCode>General</c:formatCode>
                <c:ptCount val="2"/>
                <c:pt idx="0">
                  <c:v>0.7167</c:v>
                </c:pt>
                <c:pt idx="1">
                  <c:v>0.9917</c:v>
                </c:pt>
              </c:numCache>
            </c:numRef>
          </c:val>
        </c:ser>
        <c:dLbls>
          <c:numFmt formatCode="0%" sourceLinked="0"/>
          <c:txPr>
            <a:bodyPr/>
            <a:lstStyle/>
            <a:p>
              <a:pPr>
                <a:defRPr sz="1200" b="1">
                  <a:latin typeface="Aria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1"/>
          <c:min val="0.0"/>
        </c:scaling>
        <c:delete val="0"/>
        <c:axPos val="l"/>
        <c:majorGridlines>
          <c:spPr>
            <a:ln>
              <a:solidFill>
                <a:srgbClr val="E5E7EB"/>
              </a:solidFill>
            </a:ln>
          </c:spPr>
        </c:majorGridlines>
        <c:numFmt formatCode="0%" sourceLinked="0"/>
        <c:majorTickMark val="out"/>
        <c:minorTickMark val="none"/>
        <c:tickLblPos val="nextTo"/>
        <c:spPr>
          <a:ln>
            <a:noFill/>
          </a:ln>
        </c:spPr>
        <c:txPr>
          <a:bodyPr/>
          <a:lstStyle/>
          <a:p>
            <a:pPr>
              <a:defRPr sz="1000">
                <a:latin typeface="Arial"/>
              </a:defRPr>
            </a:pPr>
          </a:p>
        </c:txPr>
        <c:crossAx val="-2068027336"/>
        <c:crosses val="autoZero"/>
        <c:majorUnit val="0.25"/>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r>
              <a:t>CLOSE (15 seconds). Thank the panel and invite questions. Suggested order of preparation for questions: 1) Where is the AI? (The routing engine has none: classical retrieval and graph search. A separate read-only assistant exists and only 1.8% of its benchmark answers reach an LLM.) 2) How accurate is it? (Coverage 100%, rank quality 71.7%, exact match 19.2%; explain why.) 3) Is tracking real? (No, simulated by default; the code refuses to publish it as real.) 4) Why can't it scale to 10,000 users yet? (Single process with in-memory state; move to Redis first.)</a:t>
            </a:r>
          </a:p>
        </p:txBody>
      </p:sp>
      <p:sp>
        <p:nvSpPr>
          <p:cNvPr id="162" name="Google Shape;162;p15: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OPENING (about 30 seconds). Good morning. Our project is DBARS, the Demand Based Bus Allocation and Routing System, built on BMTC's published bus timetable. In one line: one dataset, three products. A journey planner for commuters, a fleet and crew planner for depot managers, and an open GTFS data feed for the wider ecosystem.</a:t>
            </a:r>
          </a:p>
          <a:p/>
          <a:p>
            <a:r>
              <a:t>Before presenting: fill in student names, registration numbers, batch number and guide details (highlighted in yellow), then remove the highlight.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ROADMAP (20 seconds). We follow the standard pre-project format: introduction, literature survey and gaps, problem statement, objectives and methodology. Because the platform already exists as a working prototype, we add three short evidence slides (architecture, product walkthrough, results), a slide on value for BMTC, and an honest limitations and roadmap slide before the conclusion.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INTRODUCTION (1 minute). Domain: urban public transport, specifically BMTC in Bengaluru. Why it matters: buses are the mass-mobility service, and BMTC operates over 6,000 buses (Deepa et al., 2023). General issue: commuter apps and operator planning are disconnected; the timetable was not available as an API or a GTFS feed, so we built everything from the published timetable file (6,737 route-directions, 3,940 bus numbers, 4,883 stops). Why now: after Shakti launched in June 2023, ridership surged and then stabilised; an Azim Premji University report analysed 28.9 million trips over 27 months. Demand-aware planning and exact accounting of free rides matter more than ever.</a:t>
            </a:r>
          </a:p>
          <a:p/>
          <a:p>
            <a:r>
              <a:t>Source for the four numbers: dataset profile in backend/artifacts/metrics.json; '44 depots' comes from the depot list used by the blocking engine.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LITERATURE SURVEY, part 1 (1 minute). Twelve sources, eleven peer-reviewed journal articles and one university report, all 2020 to 2025. Say: 'We surveyed three themes: journey planning and GTFS, vehicle and crew scheduling, and Bengaluru-specific demand and policy.'</a:t>
            </a:r>
          </a:p>
          <a:p/>
          <a:p>
            <a:r>
              <a:t>Key contrast to state aloud: [1] ULTRA optimises the passenger side only. [4], [5] and [6] optimise the operator side, but on small instances (six lines, up to 30 trips, up to 595 shifts) and separately from any commuter tool. DBARS computes both from one dataset.</a:t>
            </a:r>
          </a:p>
          <a:p/>
          <a:p>
            <a:r>
              <a:t>If asked why exact methods were not used: exact MILP results in [5] are reported on instances of up to 30 trips, while our timetable has thousands of trips, so we use greedy chaining with a hard lower bound (peak concurrent trips) to show how close to minimal the result is.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LITERATURE SURVEY, part 2 (1 minute). Papers [8] and [9] are Bengaluru-specific and use BMTC data: they show that ridership responds to frequency (with diminishing returns) and that irregular headways reduce boardings. [12] documents the Shakti surge. [10] and [11] explain two design choices: honest ETA when live data is missing, and an assistant that only answers from retrieved evidence.</a:t>
            </a:r>
          </a:p>
          <a:p/>
          <a:p>
            <a:r>
              <a:t>Note for panel: [12] is an institutional report, not a journal article; the other eleven are peer-reviewed journal papers published between 2020 and 2025.</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RESEARCH GAPS (1 minute). A research gap is what existing work has not addressed, and it is the bridge to our project. G1: the two sides are studied separately. G2: scheduling papers use small instances; we run the whole network. G3: GTFS studies start from an existing feed, but BMTC data was a spreadsheet, so we generate the feed and mark interpolated times. G4: demand studies are offline; nobody feeds commuter demand into depot decisions.</a:t>
            </a:r>
          </a:p>
          <a:p/>
          <a:p>
            <a:r>
              <a:t>Caution: these are gaps in the twelve papers we surveyed, not a claim about all literature. If challenged, say 'in the surveyed work'.</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PROBLEM STATEMENT (45 seconds). Read the statement, then point to the three tiles: the commuter's question, the operator's question and the ecosystem's question. Then explain the title: 'Demand Based Bus Allocation' is the voting loop from commuters to depot recommendations, and 'Routing System' is the journey planner.</a:t>
            </a:r>
          </a:p>
          <a:p/>
          <a:p>
            <a:r>
              <a:t>Facts: 3,940 bus numbers and 4,883 stops come from backend/artifacts/metrics.json (dataset_profile). The claim that no open feed was available is from the project documentation: 'No BMTC API is called, because none is available.'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OBJECTIVES (1 minute). Four objectives, each starting with an infinitive verb and each with a measurable success criterion taken from the project itself.</a:t>
            </a:r>
          </a:p>
          <a:p/>
          <a:p>
            <a:r>
              <a:t>1) Develop: journey planner. The thresholds 0.70, 0.92 come from scripts/verify_accuracy_plan.py, which CI runs on a fixed seed.</a:t>
            </a:r>
          </a:p>
          <a:p>
            <a:r>
              <a:t>2) Establish: fleet and crew planner: 6,849 blocks and 15,636 duties with a hard lower bound of 7,003 crew pieces.</a:t>
            </a:r>
          </a:p>
          <a:p>
            <a:r>
              <a:t>3) Analyse: demand loop plus money handling: fare_value_inr versus fare_collected_inr for Shakti.</a:t>
            </a:r>
          </a:p>
          <a:p>
            <a:r>
              <a:t>4) Publish and evaluate: GTFS 3,713 routes, 47,295 trips, 1,459,066 stop_times; 430 backend tests.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METHODOLOGY (2 minutes). Read as objective, how, why.</a:t>
            </a:r>
          </a:p>
          <a:p/>
          <a:p>
            <a:r>
              <a:t>1) Search: for every route and every ordered pair of stops (i before j) we store the route, giving 655,438 pairs. Direct journeys are a dictionary lookup. Transfers intersect the routes serving each end but reject any changeover more than 1.2 km apart, because Bengaluru reuses stop names (two Avalahallis are 28.6 km apart). Anchored resolution fixed a route map that drew 69.4 km for a 19.2 km journey.</a:t>
            </a:r>
          </a:p>
          <a:p>
            <a:r>
              <a:t>2) Operations: greedy blocking is provably optimal without an idle cap; the concurrency bound is the hard floor. Crew pairing was quadratic (36 s) and is now 1.6 s.</a:t>
            </a:r>
          </a:p>
          <a:p>
            <a:r>
              <a:t>3) Demand and money: four fraud heuristics; Shakti keeps fare_value_inr and fare_collected_inr separate.</a:t>
            </a:r>
          </a:p>
          <a:p>
            <a:r>
              <a:t>4) Open data: the GTFS builder marks every interpolated stop time timepoint=0.</a:t>
            </a:r>
          </a:p>
          <a:p/>
          <a:p>
            <a:r>
              <a:t>Why not machine learning? The routing engine has no LLM or neural network. It is classical information retrieval and graph search, benchmarked against three baseline rankers. Say this clearly: a professor will ask 'where is the AI?'</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ARCHITECTURE (1 minute 30 seconds). Four layers with a one-way dependency rule: API (HTTP only) calls services (business rules, the only place MongoDB is touched), which call engines (pure computation over CSV files) and data.</a:t>
            </a:r>
          </a:p>
          <a:p/>
          <a:p>
            <a:r>
              <a:t>The key design decision: engines read files, not the database. At start-up the predictor is trained before init_db() is even attempted, and init_db() cannot raise. So if MongoDB is down, people can still find their bus; only logins and tickets stop.</a:t>
            </a:r>
          </a:p>
          <a:p/>
          <a:p>
            <a:r>
              <a:t>The AI layer is additive and read-only. Only 1.8% of benchmark answers actually invoke a language model; the rest are hand-written agents over retrieved evidence. Do not call it LLM-powered.</a:t>
            </a:r>
          </a:p>
          <a:p/>
          <a:p>
            <a:r>
              <a:t>Facts: 14 routers; 78 route decorators counted in the code, and the project documentation lists 82 endpoints, so we say 80+. 17 MongoDB collections. Stack versions from backend/requirements.txt and frontend/package.json.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PRODUCT WALKTHROUGH (1 minute, or run a live demo). Insert four screenshots from the running app, or switch to a live demo.</a:t>
            </a:r>
          </a:p>
          <a:p/>
          <a:p>
            <a:r>
              <a:t>1) /predict: type Majestic and Marathahalli; the app returns bus 335-G with stops, distance, fare and a map. 2) /depot: the fleet blocking and crew plan. 3) /tickets: a signed QR ticket; a Shakti ticket costs the passenger zero but records the full fare value. 4) /track: positions carry an is_live flag and are simulated by default; say so out loud.</a:t>
            </a:r>
          </a:p>
          <a:p/>
          <a:p>
            <a:r>
              <a:t>The page routes are from frontend/src/pages: PredictPage, DepotDashboard, Tickets, LiveTracking.</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(2 minutes). Lead with the honest framing; it wins credibility with a panel.</a:t>
            </a:r>
          </a:p>
          <a:p/>
          <a:p>
            <a:r>
              <a:t>Say: 'The original benchmark demanded the exact route each test sample was drawn from, on pairs where a median of 22 buses are all correct. I measured its ceiling near 0.16, so it could not discriminate. Replacing it with relevance-set scoring shows the search always returns a valid route, but I report that as coverage, not accuracy, because the validity test reads the same index the search uses. The metric that could actually fail is whether the best valid route ranks first: 57% at baseline, 72% after tuning.'</a:t>
            </a:r>
          </a:p>
          <a:p/>
          <a:p>
            <a:r>
              <a:t>Numbers: best_option_rate 0.57 to 0.7167, within_2_stops 0.90 to 0.9917, mean percentile rank 0.14 to 0.0437, ndcg@5 0.982, coverage 1.0, N = 120 (backend/artifacts/metrics.json and docs). Old exact-match: 0.1917 / 0.3167 / 0.40. GTFS build time: the README says about 11 s and the saved build report (2026-08-10) records 15.97 s, so the slide says 11 to 16 s.</a:t>
            </a:r>
          </a:p>
          <a:p/>
          <a:p>
            <a:r>
              <a:t>Fleet and crew figures are MODELLED under stated assumptions, not measured BMTC rosters: 6,849 blocks, 21,453 crew pieces into 15,636 duties, hard lower bound 7,003 pieces, 37.2% split duties, 15 unstaffable blocks reported by name.</a:t>
            </a:r>
          </a:p>
          <a:p/>
          <a:p>
            <a:r>
              <a:t>Likely question: 'BMTC has about 6,000 buses; you say 6,849?' Answer: the figure is the modelled minimum for the published timetable under our assumptions (speed, layover, interlining rules) and it is a comparison target for a pilot, not a claim about BMTC's actual fleet.</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SDGs (45 seconds). Primary goal is SDG 11, target 11.2 on affordable, accessible and sustainable transport, with attention to women among vulnerable groups. Supporting goals: SDG 9 (reliable, resilient infrastructure), SDG 5 (target 5.b, enabling technology for women's empowerment, via Shakti-aware ticketing) and SDG 16 (target 16.6, accountable and transparent institutions, via the audit log and honest data labelling).</a:t>
            </a:r>
          </a:p>
          <a:p/>
          <a:p>
            <a:r>
              <a:t>Be modest on SDG 5: the project supports the free-travel entitlement digitally; it does not verify eligibility (eligibility is self-declared in the prototype).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EXPECTED OUTCOMES (1 minute). Four categories as the template requires: functional, performance, practical impact, and extension.</a:t>
            </a:r>
          </a:p>
          <a:p/>
          <a:p>
            <a:r>
              <a:t>Performance targets are the real acceptance thresholds in scripts/verify_accuracy_plan.py (21 criteria; CI fails if the headline metric is ever set back to a coverage metric). Measured values in brackets come from the latest run: best_option_rate 0.7167, within_2_stops 0.9917, mean_percentile_rank 0.0437, coverage 1.0, p90 latency 1.19 s after tuning (1.52 s before).</a:t>
            </a:r>
          </a:p>
          <a:p/>
          <a:p>
            <a:r>
              <a:t>The 2.28 crew-to-bus ratio is a modelled result; the 2.0 to 2.5 range for real transport undertakings is quoted in the project documentation.</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VALUE FOR BMTC (1 minute 30 seconds). This is the pitch slide. Open with the one-line contrast, which comes from the project overview: consumer apps answer the rider's question; nobody answers the operator's question from the same data.</a:t>
            </a:r>
          </a:p>
          <a:p/>
          <a:p>
            <a:r>
              <a:t>Three audiences: commuters (journey planning, four languages plus SMS), depot managers and HQ (fleet, crew, dispatch, waybills, Shakti claim, audit), and the ecosystem (GTFS). Stress trust features: cash variance is reported and never silently corrected; simulated vehicle positions are never published as real.</a:t>
            </a:r>
          </a:p>
          <a:p/>
          <a:p>
            <a:r>
              <a:t>The pilot is a PROPOSAL. Say so. Ask BMTC for three things: one depot's actual rosters for comparison, access to a vehicle-location feed, and a few routes for a conductor pilot.</a:t>
            </a:r>
          </a:p>
          <a:p/>
          <a:p>
            <a:r>
              <a:t>Do not quote rupee savings: the project contains no measured savings figure, and inventing one would not survive a question.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GANTT CHART (30 seconds). The 16-week plan groups the work into six phases that mirror the real module structure of the codebase: data and survey; journey engine (app/ml/predictor.py); operations engines (blocking.py, crew.py); platform services (auth, votes, tickets, waybills); open data and interface (app/gtfs, tracking, React); evaluation, assistant and release (tests, CI, deployment).</a:t>
            </a:r>
          </a:p>
          <a:p/>
          <a:p>
            <a:r>
              <a:t>This is a forward plan as agreed for the template. If a panel member notes that the prototype already exists, say: 'The prototype was built in an earlier phase; this plan covers the structured project work to harden, evaluate and pilot it.' The repository history shows the initial commit on 18 August 2026 and the ranking and AI-layer work in early September 2026.</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LIMITATIONS AND ROADMAP (1 minute). Volunteer these before a panel member finds them; it shows engineering maturity.</a:t>
            </a:r>
          </a:p>
          <a:p/>
          <a:p>
            <a:r>
              <a:t>From the project's own defence documents: tracking is simulated by default; fleet and crew are modelled; no payment gateway; Shakti eligibility unverified; single-process; zero frontend tests.</a:t>
            </a:r>
          </a:p>
          <a:p/>
          <a:p>
            <a:r>
              <a:t>Detail to keep for questions (not on the slide): the documentation lists POST /train as unauthenticated and expensive, no token revocation (logout is client-side), tokens in localStorage, no login throttle, no database transactions (a crash mid sign-off could leave a waybill inconsistent), and a 1.6 MB frontend bundle. Recommended first fix: gate POST /train behind the admin role, a one-line change. Please confirm whether it is already fixed before the presentation.</a:t>
            </a:r>
          </a:p>
          <a:p/>
          <a:p>
            <a:r>
              <a:t>Also volunteer what did not work: sentence embeddings (all-MiniLM-L6-v2) gave no improvement (4/10 vs 5/10 alone, 8/10 both with expansion) at 80x load time and 25x memory, so they were reverted.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CONCLUSION (45 seconds). Answer the template's four questions: what problem, why relevant, what outcome, why feasible. Feasibility is evidenced by the working prototype: line counts were measured from the repository (about 24,300 lines of Python under backend/app and about 9,700 lines of TypeScript under frontend/src), 430 backend tests, and three deployment targets (Docker Compose, Render, Vercel) plus a Capacitor Android shell.</a:t>
            </a:r>
          </a:p>
          <a:p/>
          <a:p>
            <a:r>
              <a:t>Close on the one-line idea: both sides of the same question, from one dataset.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REFERENCES. Twelve literature sources plus the UN SDG site. Eleven are peer-reviewed journal articles (2020 to 2025) and one is a university report. Each was verified against the publisher or indexing record: title, authors, journal, volume and year.</a:t>
            </a:r>
          </a:p>
          <a:p/>
          <a:p>
            <a:r>
              <a:t>The project data itself (BMTC published timetable, stop coordinates, fare table, Namma Metro network) is in the dataset folder of the repository and is not a literature reference.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7"/>
          <p:cNvSpPr txBox="1">
            <a:spLocks noGrp="1"/>
          </p:cNvSpPr>
          <p:nvPr>
            <p:ph type="ctrTitle"/>
          </p:nvPr>
        </p:nvSpPr>
        <p:spPr>
          <a:xfrm>
            <a:off x="742950" y="2130426"/>
            <a:ext cx="84201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7"/>
          <p:cNvSpPr txBox="1">
            <a:spLocks noGrp="1"/>
          </p:cNvSpPr>
          <p:nvPr>
            <p:ph type="subTitle" idx="1"/>
          </p:nvPr>
        </p:nvSpPr>
        <p:spPr>
          <a:xfrm>
            <a:off x="1485900" y="3886200"/>
            <a:ext cx="69342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1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1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18"/>
          <p:cNvSpPr txBox="1">
            <a:spLocks noGrp="1"/>
          </p:cNvSpPr>
          <p:nvPr>
            <p:ph type="body" idx="1"/>
          </p:nvPr>
        </p:nvSpPr>
        <p:spPr>
          <a:xfrm>
            <a:off x="495300" y="1600201"/>
            <a:ext cx="89154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18"/>
          <p:cNvSpPr txBox="1">
            <a:spLocks noGrp="1"/>
          </p:cNvSpPr>
          <p:nvPr>
            <p:ph type="dt" idx="10"/>
          </p:nvPr>
        </p:nvSpPr>
        <p:spPr>
          <a:xfrm>
            <a:off x="519336" y="6308727"/>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8"/>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8"/>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28" name="Google Shape;28;p18"/>
          <p:cNvSpPr/>
          <p:nvPr/>
        </p:nvSpPr>
        <p:spPr>
          <a:xfrm>
            <a:off x="200472" y="6721476"/>
            <a:ext cx="294828" cy="91900"/>
          </a:xfrm>
          <a:prstGeom prst="rec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 name="Google Shape;29;p18"/>
          <p:cNvPicPr preferRelativeResize="0"/>
          <p:nvPr/>
        </p:nvPicPr>
        <p:blipFill rotWithShape="1">
          <a:blip r:embed="rId2">
            <a:alphaModFix/>
          </a:blip>
          <a:srcRect/>
          <a:stretch/>
        </p:blipFill>
        <p:spPr>
          <a:xfrm>
            <a:off x="272480" y="6705906"/>
            <a:ext cx="2416616" cy="1520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9"/>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19"/>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19"/>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9"/>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20"/>
          <p:cNvSpPr txBox="1">
            <a:spLocks noGrp="1"/>
          </p:cNvSpPr>
          <p:nvPr>
            <p:ph type="title"/>
          </p:nvPr>
        </p:nvSpPr>
        <p:spPr>
          <a:xfrm>
            <a:off x="782506" y="4406901"/>
            <a:ext cx="84201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7" name="Google Shape;37;p20"/>
          <p:cNvSpPr txBox="1">
            <a:spLocks noGrp="1"/>
          </p:cNvSpPr>
          <p:nvPr>
            <p:ph type="body" idx="1"/>
          </p:nvPr>
        </p:nvSpPr>
        <p:spPr>
          <a:xfrm>
            <a:off x="782506" y="2906713"/>
            <a:ext cx="84201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8" name="Google Shape;38;p20"/>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0"/>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20"/>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1"/>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21"/>
          <p:cNvSpPr txBox="1">
            <a:spLocks noGrp="1"/>
          </p:cNvSpPr>
          <p:nvPr>
            <p:ph type="body" idx="1"/>
          </p:nvPr>
        </p:nvSpPr>
        <p:spPr>
          <a:xfrm>
            <a:off x="49530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21"/>
          <p:cNvSpPr txBox="1">
            <a:spLocks noGrp="1"/>
          </p:cNvSpPr>
          <p:nvPr>
            <p:ph type="body" idx="2"/>
          </p:nvPr>
        </p:nvSpPr>
        <p:spPr>
          <a:xfrm>
            <a:off x="503555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21"/>
          <p:cNvSpPr txBox="1">
            <a:spLocks noGrp="1"/>
          </p:cNvSpPr>
          <p:nvPr>
            <p:ph type="dt" idx="10"/>
          </p:nvPr>
        </p:nvSpPr>
        <p:spPr>
          <a:xfrm>
            <a:off x="1280592" y="6356351"/>
            <a:ext cx="26575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21"/>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1"/>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2"/>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22"/>
          <p:cNvSpPr txBox="1">
            <a:spLocks noGrp="1"/>
          </p:cNvSpPr>
          <p:nvPr>
            <p:ph type="body" idx="1"/>
          </p:nvPr>
        </p:nvSpPr>
        <p:spPr>
          <a:xfrm>
            <a:off x="495300" y="1535113"/>
            <a:ext cx="437687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22"/>
          <p:cNvSpPr txBox="1">
            <a:spLocks noGrp="1"/>
          </p:cNvSpPr>
          <p:nvPr>
            <p:ph type="body" idx="2"/>
          </p:nvPr>
        </p:nvSpPr>
        <p:spPr>
          <a:xfrm>
            <a:off x="495300" y="2174875"/>
            <a:ext cx="437687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2" name="Google Shape;52;p22"/>
          <p:cNvSpPr txBox="1">
            <a:spLocks noGrp="1"/>
          </p:cNvSpPr>
          <p:nvPr>
            <p:ph type="body" idx="3"/>
          </p:nvPr>
        </p:nvSpPr>
        <p:spPr>
          <a:xfrm>
            <a:off x="5032111" y="1535113"/>
            <a:ext cx="437859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3" name="Google Shape;53;p22"/>
          <p:cNvSpPr txBox="1">
            <a:spLocks noGrp="1"/>
          </p:cNvSpPr>
          <p:nvPr>
            <p:ph type="body" idx="4"/>
          </p:nvPr>
        </p:nvSpPr>
        <p:spPr>
          <a:xfrm>
            <a:off x="5032111" y="2174875"/>
            <a:ext cx="437859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4" name="Google Shape;54;p22"/>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2"/>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2"/>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7"/>
        <p:cNvGrpSpPr/>
        <p:nvPr/>
      </p:nvGrpSpPr>
      <p:grpSpPr>
        <a:xfrm>
          <a:off x="0" y="0"/>
          <a:ext cx="0" cy="0"/>
          <a:chOff x="0" y="0"/>
          <a:chExt cx="0" cy="0"/>
        </a:xfrm>
      </p:grpSpPr>
      <p:sp>
        <p:nvSpPr>
          <p:cNvPr id="58" name="Google Shape;58;p23"/>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23"/>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p23"/>
          <p:cNvSpPr txBox="1"/>
          <p:nvPr/>
        </p:nvSpPr>
        <p:spPr>
          <a:xfrm>
            <a:off x="0"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61" name="Google Shape;61;p23"/>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23"/>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24"/>
          <p:cNvSpPr txBox="1">
            <a:spLocks noGrp="1"/>
          </p:cNvSpPr>
          <p:nvPr>
            <p:ph type="title"/>
          </p:nvPr>
        </p:nvSpPr>
        <p:spPr>
          <a:xfrm>
            <a:off x="495300" y="273050"/>
            <a:ext cx="3259006"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4"/>
          <p:cNvSpPr txBox="1">
            <a:spLocks noGrp="1"/>
          </p:cNvSpPr>
          <p:nvPr>
            <p:ph type="body" idx="1"/>
          </p:nvPr>
        </p:nvSpPr>
        <p:spPr>
          <a:xfrm>
            <a:off x="3872971" y="273051"/>
            <a:ext cx="5537729"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4"/>
          <p:cNvSpPr txBox="1">
            <a:spLocks noGrp="1"/>
          </p:cNvSpPr>
          <p:nvPr>
            <p:ph type="body" idx="2"/>
          </p:nvPr>
        </p:nvSpPr>
        <p:spPr>
          <a:xfrm>
            <a:off x="495300" y="1435101"/>
            <a:ext cx="3259006"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7" name="Google Shape;67;p24"/>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4"/>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4"/>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a:off x="1941645" y="4800600"/>
            <a:ext cx="59436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2" name="Google Shape;72;p25"/>
          <p:cNvSpPr>
            <a:spLocks noGrp="1"/>
          </p:cNvSpPr>
          <p:nvPr>
            <p:ph type="pic" idx="2"/>
          </p:nvPr>
        </p:nvSpPr>
        <p:spPr>
          <a:xfrm>
            <a:off x="1941645" y="612775"/>
            <a:ext cx="5943600" cy="4114800"/>
          </a:xfrm>
          <a:prstGeom prst="rect">
            <a:avLst/>
          </a:prstGeom>
          <a:noFill/>
          <a:ln>
            <a:noFill/>
          </a:ln>
        </p:spPr>
      </p:sp>
      <p:sp>
        <p:nvSpPr>
          <p:cNvPr id="73" name="Google Shape;73;p25"/>
          <p:cNvSpPr txBox="1">
            <a:spLocks noGrp="1"/>
          </p:cNvSpPr>
          <p:nvPr>
            <p:ph type="body" idx="1"/>
          </p:nvPr>
        </p:nvSpPr>
        <p:spPr>
          <a:xfrm>
            <a:off x="1941645" y="5367338"/>
            <a:ext cx="59436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4" name="Google Shape;74;p25"/>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25"/>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25"/>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6"/>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9" name="Google Shape;79;p26"/>
          <p:cNvSpPr txBox="1">
            <a:spLocks noGrp="1"/>
          </p:cNvSpPr>
          <p:nvPr>
            <p:ph type="body" idx="1"/>
          </p:nvPr>
        </p:nvSpPr>
        <p:spPr>
          <a:xfrm rot="5400000">
            <a:off x="2690018" y="-594518"/>
            <a:ext cx="4525963" cy="8915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0" name="Google Shape;80;p26"/>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26"/>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26"/>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27"/>
          <p:cNvSpPr txBox="1">
            <a:spLocks noGrp="1"/>
          </p:cNvSpPr>
          <p:nvPr>
            <p:ph type="title"/>
          </p:nvPr>
        </p:nvSpPr>
        <p:spPr>
          <a:xfrm rot="5400000">
            <a:off x="5370512" y="2085976"/>
            <a:ext cx="5851525" cy="22288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5" name="Google Shape;85;p27"/>
          <p:cNvSpPr txBox="1">
            <a:spLocks noGrp="1"/>
          </p:cNvSpPr>
          <p:nvPr>
            <p:ph type="body" idx="1"/>
          </p:nvPr>
        </p:nvSpPr>
        <p:spPr>
          <a:xfrm rot="5400000">
            <a:off x="830262" y="-60323"/>
            <a:ext cx="5851525" cy="652145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Google Shape;86;p2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2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16"/>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 name="Google Shape;12;p16"/>
          <p:cNvSpPr txBox="1"/>
          <p:nvPr/>
        </p:nvSpPr>
        <p:spPr>
          <a:xfrm>
            <a:off x="6633"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13" name="Google Shape;13;p16"/>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6"/>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pic>
        <p:nvPicPr>
          <p:cNvPr id="15" name="Google Shape;15;p16" descr="C:\Users\Paramesh\Desktop\Logo\Logo.png"/>
          <p:cNvPicPr preferRelativeResize="0"/>
          <p:nvPr/>
        </p:nvPicPr>
        <p:blipFill rotWithShape="1">
          <a:blip r:embed="rId13">
            <a:alphaModFix/>
          </a:blip>
          <a:srcRect/>
          <a:stretch/>
        </p:blipFill>
        <p:spPr>
          <a:xfrm>
            <a:off x="128464" y="6337321"/>
            <a:ext cx="262890" cy="342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noGrp="1"/>
          </p:cNvSpPr>
          <p:nvPr>
            <p:ph type="subTitle" idx="1"/>
          </p:nvPr>
        </p:nvSpPr>
        <p:spPr>
          <a:xfrm>
            <a:off x="409816" y="4491395"/>
            <a:ext cx="4509589" cy="198930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rPr>
              <a:t>Team Details</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Name1: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Name2: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Name3: Reg. No.</a:t>
            </a:r>
          </a:p>
          <a:p>
            <a:pPr lvl="0" algn="l">
              <a:spcBef>
                <a:spcPts val="600"/>
              </a:spcBef>
              <a:buClrTx/>
              <a:buSzTx/>
              <a:defRPr/>
            </a:pPr>
            <a:r>
              <a:rPr lang="en-US" sz="1800" b="1" dirty="0">
                <a:solidFill>
                  <a:schemeClr val="tx1"/>
                </a:solidFill>
                <a:highlight>
                  <a:srgbClr val="FFFF00"/>
                </a:highlight>
                <a:latin typeface="Book Antiqua" pitchFamily="18" charset="0"/>
              </a:rPr>
              <a:t>Student Name4: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schemeClr val="tx1"/>
              </a:solidFill>
              <a:effectLst/>
              <a:uLnTx/>
              <a:uFillTx/>
              <a:latin typeface="Book Antiqua"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endParaRPr>
          </a:p>
        </p:txBody>
      </p:sp>
      <p:sp>
        <p:nvSpPr>
          <p:cNvPr id="5" name="Title 4"/>
          <p:cNvSpPr txBox="1">
            <a:spLocks noGrp="1"/>
          </p:cNvSpPr>
          <p:nvPr>
            <p:ph type="ctrTitle"/>
          </p:nvPr>
        </p:nvSpPr>
        <p:spPr>
          <a:xfrm>
            <a:off x="914400" y="1742502"/>
            <a:ext cx="8403771" cy="830956"/>
          </a:xfrm>
          <a:prstGeom prst="rect">
            <a:avLst/>
          </a:prstGeom>
          <a:noFill/>
        </p:spPr>
        <p:txBody>
          <a:bodyPr wrap="square" rtlCol="0">
            <a:spAutoFit/>
          </a:bodyPr>
          <a:lstStyle/>
          <a:p>
            <a:pPr algn="ctr"/>
            <a:r>
              <a:rPr lang="en-US" sz="2400" b="1" dirty="0">
                <a:solidFill>
                  <a:schemeClr val="tx1"/>
                </a:solidFill>
              </a:rPr>
              <a:t>Faculty of Engineering and Technology</a:t>
            </a:r>
          </a:p>
          <a:p>
            <a:pPr algn="ctr"/>
            <a:r>
              <a:rPr lang="en-US" sz="2400" b="1" dirty="0">
                <a:solidFill>
                  <a:schemeClr val="tx1"/>
                </a:solidFill>
              </a:rPr>
              <a:t>Department of Computer Science and Engineering</a:t>
            </a:r>
          </a:p>
        </p:txBody>
      </p:sp>
      <p:sp>
        <p:nvSpPr>
          <p:cNvPr id="6" name="Text Box 9"/>
          <p:cNvSpPr txBox="1">
            <a:spLocks noChangeArrowheads="1"/>
          </p:cNvSpPr>
          <p:nvPr/>
        </p:nvSpPr>
        <p:spPr bwMode="auto">
          <a:xfrm>
            <a:off x="4919404" y="4491395"/>
            <a:ext cx="4610394" cy="1815882"/>
          </a:xfrm>
          <a:prstGeom prst="rect">
            <a:avLst/>
          </a:prstGeom>
          <a:noFill/>
          <a:ln w="9525">
            <a:noFill/>
            <a:miter lim="800000"/>
            <a:headEnd/>
            <a:tailEnd/>
          </a:ln>
        </p:spPr>
        <p:txBody>
          <a:bodyPr wrap="square">
            <a:spAutoFit/>
          </a:bodyPr>
          <a:lstStyle/>
          <a:p>
            <a:pPr>
              <a:spcBef>
                <a:spcPct val="20000"/>
              </a:spcBef>
              <a:buClrTx/>
            </a:pPr>
            <a:r>
              <a:rPr lang="en-US" sz="2000" b="1" kern="1200" dirty="0">
                <a:solidFill>
                  <a:schemeClr val="tx1"/>
                </a:solidFill>
                <a:latin typeface="Bookman Old Style" pitchFamily="18" charset="0"/>
                <a:ea typeface="+mn-ea"/>
                <a:cs typeface="+mn-cs"/>
              </a:rPr>
              <a:t>Guide</a:t>
            </a:r>
          </a:p>
          <a:p>
            <a:pPr>
              <a:spcBef>
                <a:spcPts val="600"/>
              </a:spcBef>
              <a:buClrTx/>
              <a:buFontTx/>
              <a:buNone/>
            </a:pPr>
            <a:r>
              <a:rPr lang="en-US" sz="2000" b="1" kern="1200" dirty="0">
                <a:solidFill>
                  <a:schemeClr val="tx1"/>
                </a:solidFill>
                <a:highlight>
                  <a:srgbClr val="FFFF00"/>
                </a:highlight>
                <a:latin typeface="Bookman Old Style" pitchFamily="18" charset="0"/>
                <a:ea typeface="+mn-ea"/>
                <a:cs typeface="+mn-cs"/>
              </a:rPr>
              <a:t>Dr./Mr./Ms. Faculty Name</a:t>
            </a:r>
          </a:p>
          <a:p>
            <a:pPr>
              <a:spcBef>
                <a:spcPts val="600"/>
              </a:spcBef>
              <a:buClrTx/>
              <a:buFontTx/>
              <a:buNone/>
            </a:pPr>
            <a:r>
              <a:rPr lang="en-US" sz="1600" kern="1200" dirty="0">
                <a:solidFill>
                  <a:schemeClr val="tx1"/>
                </a:solidFill>
                <a:highlight>
                  <a:srgbClr val="FFFF00"/>
                </a:highlight>
                <a:latin typeface="Bookman Old Style" pitchFamily="18" charset="0"/>
                <a:ea typeface="+mn-ea"/>
                <a:cs typeface="+mn-cs"/>
              </a:rPr>
              <a:t>Professor/Assoc. Professor/Asst. Professor</a:t>
            </a:r>
          </a:p>
          <a:p>
            <a:pPr>
              <a:spcBef>
                <a:spcPts val="600"/>
              </a:spcBef>
              <a:buClrTx/>
              <a:buFontTx/>
              <a:buNone/>
            </a:pPr>
            <a:r>
              <a:rPr lang="en-US" sz="1600" kern="1200" dirty="0">
                <a:solidFill>
                  <a:schemeClr val="tx1"/>
                </a:solidFill>
                <a:latin typeface="Bookman Old Style" pitchFamily="18" charset="0"/>
                <a:ea typeface="+mn-ea"/>
                <a:cs typeface="+mn-cs"/>
              </a:rPr>
              <a:t>Dept. of CSE, MSRUAS, Bengaluru</a:t>
            </a:r>
          </a:p>
          <a:p>
            <a:pPr>
              <a:spcBef>
                <a:spcPts val="600"/>
              </a:spcBef>
              <a:buClrTx/>
              <a:buFontTx/>
              <a:buNone/>
            </a:pPr>
            <a:endParaRPr lang="en-US" sz="2000" kern="1200" dirty="0">
              <a:solidFill>
                <a:schemeClr val="tx1"/>
              </a:solidFill>
              <a:latin typeface="Bookman Old Style" pitchFamily="18" charset="0"/>
              <a:ea typeface="+mn-ea"/>
              <a:cs typeface="+mn-cs"/>
            </a:endParaRPr>
          </a:p>
        </p:txBody>
      </p:sp>
      <p:sp>
        <p:nvSpPr>
          <p:cNvPr id="7" name="Google Shape;93;p1"/>
          <p:cNvSpPr txBox="1">
            <a:spLocks/>
          </p:cNvSpPr>
          <p:nvPr/>
        </p:nvSpPr>
        <p:spPr>
          <a:xfrm>
            <a:off x="548640" y="2697480"/>
            <a:ext cx="8805672" cy="1600200"/>
          </a:xfrm>
          <a:prstGeom prst="rect">
            <a:avLst/>
          </a:prstGeom>
          <a:noFill/>
          <a:ln>
            <a:noFill/>
          </a:ln>
        </p:spPr>
        <p:txBody>
          <a:bodyPr spcFirstLastPara="1" vert="horz" wrap="square" lIns="91425" tIns="45700" rIns="91425" bIns="45700" rtlCol="0" anchor="ctr" anchorCtr="0">
            <a:noAutofit/>
          </a:bodyPr>
          <a:lstStyle>
            <a:lvl1pPr algn="ctr" defTabSz="742950" rtl="0" eaLnBrk="1" latinLnBrk="0" hangingPunct="1">
              <a:lnSpc>
                <a:spcPct val="90000"/>
              </a:lnSpc>
              <a:spcBef>
                <a:spcPct val="0"/>
              </a:spcBef>
              <a:buNone/>
              <a:defRPr sz="3900" kern="1200">
                <a:solidFill>
                  <a:schemeClr val="tx1"/>
                </a:solidFill>
                <a:latin typeface="+mj-lt"/>
                <a:ea typeface="+mj-ea"/>
                <a:cs typeface="+mj-cs"/>
              </a:defRPr>
            </a:lvl1pPr>
          </a:lstStyle>
          <a:p>
            <a:pPr>
              <a:lnSpc>
                <a:spcPct val="100000"/>
              </a:lnSpc>
              <a:spcBef>
                <a:spcPts val="600"/>
              </a:spcBef>
              <a:buClr>
                <a:srgbClr val="FF0000"/>
              </a:buClr>
              <a:buSzPts val="3200"/>
              <a:buFontTx/>
            </a:pPr>
            <a:r>
              <a:rPr lang="en-US" sz="2400" b="1" dirty="0"/>
              <a:t>Pre-Project Presentation</a:t>
            </a:r>
            <a:br>
              <a:rPr lang="en-US" sz="2400" b="1" dirty="0"/>
            </a:br>
            <a:r>
              <a:rPr lang="en-US" sz="2200" b="1" dirty="0">
                <a:solidFill>
                  <a:srgbClr val="FF0000"/>
                </a:solidFill>
              </a:rPr>
              <a:t>DBARS: Demand Based Bus Allocation &amp; Routing System</a:t>
            </a:r>
          </a:p>
          <a:p>
            <a:pPr>
              <a:lnSpc>
                <a:spcPct val="100000"/>
              </a:lnSpc>
              <a:spcBef>
                <a:spcPts val="600"/>
              </a:spcBef>
              <a:buClr>
                <a:srgbClr val="FF0000"/>
              </a:buClr>
              <a:buSzPts val="3200"/>
              <a:buFontTx/>
            </a:pPr>
            <a:r>
              <a:rPr lang="en-US" sz="1400" b="0" dirty="0" i="1">
                <a:solidFill>
                  <a:srgbClr val="4B5563"/>
                </a:solidFill>
              </a:rPr>
              <a:t>One BMTC timetable, three products: find the bus  |  plan the fleet  |  open the data</a:t>
            </a:r>
          </a:p>
          <a:p>
            <a:pPr>
              <a:lnSpc>
                <a:spcPct val="100000"/>
              </a:lnSpc>
              <a:spcBef>
                <a:spcPts val="600"/>
              </a:spcBef>
              <a:buClr>
                <a:srgbClr val="FF0000"/>
              </a:buClr>
              <a:buSzPts val="3200"/>
              <a:buFontTx/>
            </a:pPr>
            <a:r>
              <a:rPr lang="en-US" sz="1600" b="1" dirty="0">
                <a:solidFill>
                  <a:srgbClr val="FF0000"/>
                </a:solidFill>
                <a:highlight>
                  <a:srgbClr val="FFFF00"/>
                </a:highlight>
              </a:rPr>
              <a:t>Project Batch No.: &lt;&lt;to be filled&gt;&gt;</a:t>
            </a:r>
            <a:br>
              <a:rPr lang="en-US" sz="2400" b="1" dirty="0">
                <a:solidFill>
                  <a:srgbClr val="FF0000"/>
                </a:solidFill>
              </a:rPr>
            </a:br>
            <a:endParaRPr lang="en-US" sz="2400" b="1" dirty="0">
              <a:solidFill>
                <a:srgbClr val="FF0000"/>
              </a:solidFill>
            </a:endParaRPr>
          </a:p>
        </p:txBody>
      </p:sp>
      <p:pic>
        <p:nvPicPr>
          <p:cNvPr id="9" name="Picture 8">
            <a:extLst>
              <a:ext uri="{FF2B5EF4-FFF2-40B4-BE49-F238E27FC236}">
                <a16:creationId xmlns:a16="http://schemas.microsoft.com/office/drawing/2014/main" id="{ED9AE390-1EBF-06F6-7AA0-D50F7D61EA96}"/>
              </a:ext>
            </a:extLst>
          </p:cNvPr>
          <p:cNvPicPr>
            <a:picLocks noChangeAspect="1"/>
          </p:cNvPicPr>
          <p:nvPr/>
        </p:nvPicPr>
        <p:blipFill>
          <a:blip r:embed="rId2"/>
          <a:stretch>
            <a:fillRect/>
          </a:stretch>
        </p:blipFill>
        <p:spPr>
          <a:xfrm>
            <a:off x="3066380" y="406143"/>
            <a:ext cx="3310210" cy="1155033"/>
          </a:xfrm>
          <a:prstGeom prst="rect">
            <a:avLst/>
          </a:prstGeom>
        </p:spPr>
      </p:pic>
    </p:spTree>
    <p:extLst>
      <p:ext uri="{BB962C8B-B14F-4D97-AF65-F5344CB8AC3E}">
        <p14:creationId xmlns:p14="http://schemas.microsoft.com/office/powerpoint/2010/main" val="138772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a:spLocks noGrp="1"/>
          </p:cNvSpPr>
          <p:nvPr>
            <p:ph type="ctrTitle"/>
          </p:nvPr>
        </p:nvSpPr>
        <p:spPr>
          <a:xfrm>
            <a:off x="742950" y="2103120"/>
            <a:ext cx="8420100" cy="118872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2"/>
              </a:buClr>
              <a:buSzPts val="4000"/>
              <a:buFont typeface="Calibri"/>
              <a:buNone/>
            </a:pPr>
            <a:r>
              <a:rPr lang="en-US" sz="4000" b="1">
                <a:solidFill>
                  <a:schemeClr val="dk2"/>
                </a:solidFill>
                <a:latin typeface="Calibri"/>
                <a:ea typeface="Calibri"/>
                <a:cs typeface="Calibri"/>
                <a:sym typeface="Calibri"/>
              </a:rPr>
              <a:t>Thank You</a:t>
            </a:r>
            <a:endParaRPr sz="4000" b="1">
              <a:solidFill>
                <a:schemeClr val="dk2"/>
              </a:solidFill>
              <a:latin typeface="Calibri"/>
              <a:ea typeface="Calibri"/>
              <a:cs typeface="Calibri"/>
              <a:sym typeface="Calibri"/>
            </a:endParaRPr>
          </a:p>
        </p:txBody>
      </p:sp>
      <p:pic>
        <p:nvPicPr>
          <p:cNvPr id="165" name="Google Shape;165;p15"/>
          <p:cNvPicPr preferRelativeResize="0"/>
          <p:nvPr/>
        </p:nvPicPr>
        <p:blipFill rotWithShape="1">
          <a:blip r:embed="rId3">
            <a:alphaModFix/>
          </a:blip>
          <a:srcRect/>
          <a:stretch/>
        </p:blipFill>
        <p:spPr>
          <a:xfrm>
            <a:off x="200472" y="6714622"/>
            <a:ext cx="2416616" cy="152094"/>
          </a:xfrm>
          <a:prstGeom prst="rect">
            <a:avLst/>
          </a:prstGeom>
          <a:noFill/>
          <a:ln>
            <a:noFill/>
          </a:ln>
        </p:spPr>
      </p:pic>
      <p:sp>
        <p:nvSpPr>
          <p:cNvPr id="166" name="TextBox 165"/>
          <p:cNvSpPr txBox="1"/>
          <p:nvPr/>
        </p:nvSpPr>
        <p:spPr>
          <a:xfrm>
            <a:off x="548640" y="3291840"/>
            <a:ext cx="8805672" cy="457200"/>
          </a:xfrm>
          <a:prstGeom prst="rect">
            <a:avLst/>
          </a:prstGeom>
          <a:noFill/>
        </p:spPr>
        <p:txBody>
          <a:bodyPr wrap="square" anchor="t" lIns="73152" rIns="73152"/>
          <a:lstStyle/>
          <a:p>
            <a:pPr algn="ctr"/>
            <a:r>
              <a:rPr sz="2200" b="1" i="0">
                <a:solidFill>
                  <a:srgbClr val="C00000"/>
                </a:solidFill>
                <a:latin typeface="Arial"/>
              </a:rPr>
              <a:t>Questions and Discussion</a:t>
            </a:r>
            <a:endParaRPr sz="2200"/>
          </a:p>
        </p:txBody>
      </p:sp>
      <p:sp>
        <p:nvSpPr>
          <p:cNvPr id="167" name="TextBox 166"/>
          <p:cNvSpPr txBox="1"/>
          <p:nvPr/>
        </p:nvSpPr>
        <p:spPr>
          <a:xfrm>
            <a:off x="548640" y="3931920"/>
            <a:ext cx="8805672" cy="457200"/>
          </a:xfrm>
          <a:prstGeom prst="rect">
            <a:avLst/>
          </a:prstGeom>
          <a:noFill/>
        </p:spPr>
        <p:txBody>
          <a:bodyPr wrap="square" anchor="t" lIns="73152" rIns="73152"/>
          <a:lstStyle/>
          <a:p>
            <a:pPr algn="ctr"/>
            <a:r>
              <a:rPr sz="1600" b="1" i="0">
                <a:solidFill>
                  <a:srgbClr val="1F2937"/>
                </a:solidFill>
                <a:latin typeface="Arial"/>
              </a:rPr>
              <a:t>DBARS: Demand Based Bus Allocation &amp; Routing System</a:t>
            </a:r>
            <a:endParaRPr sz="1600"/>
          </a:p>
        </p:txBody>
      </p:sp>
      <p:sp>
        <p:nvSpPr>
          <p:cNvPr id="168" name="TextBox 167"/>
          <p:cNvSpPr txBox="1"/>
          <p:nvPr/>
        </p:nvSpPr>
        <p:spPr>
          <a:xfrm>
            <a:off x="548640" y="4389120"/>
            <a:ext cx="8805672" cy="457200"/>
          </a:xfrm>
          <a:prstGeom prst="rect">
            <a:avLst/>
          </a:prstGeom>
          <a:noFill/>
        </p:spPr>
        <p:txBody>
          <a:bodyPr wrap="square" anchor="t" lIns="73152" rIns="73152"/>
          <a:lstStyle/>
          <a:p>
            <a:pPr algn="ctr"/>
            <a:r>
              <a:rPr sz="1400" b="0" i="1">
                <a:solidFill>
                  <a:srgbClr val="4B5563"/>
                </a:solidFill>
                <a:latin typeface="Arial"/>
              </a:rPr>
              <a:t>One timetable. Three products. Both sides of the same question.</a:t>
            </a:r>
            <a:endParaRPr sz="1400"/>
          </a:p>
        </p:txBody>
      </p:sp>
      <p:sp>
        <p:nvSpPr>
          <p:cNvPr id="169" name="Rounded Rectangle 168"/>
          <p:cNvSpPr/>
          <p:nvPr/>
        </p:nvSpPr>
        <p:spPr>
          <a:xfrm>
            <a:off x="1234440"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Find the bus</a:t>
            </a:r>
            <a:endParaRPr sz="1400"/>
          </a:p>
        </p:txBody>
      </p:sp>
      <p:sp>
        <p:nvSpPr>
          <p:cNvPr id="170" name="Rounded Rectangle 169"/>
          <p:cNvSpPr/>
          <p:nvPr/>
        </p:nvSpPr>
        <p:spPr>
          <a:xfrm>
            <a:off x="3749039"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Plan the fleet</a:t>
            </a:r>
            <a:endParaRPr sz="1400"/>
          </a:p>
        </p:txBody>
      </p:sp>
      <p:sp>
        <p:nvSpPr>
          <p:cNvPr id="171" name="Rounded Rectangle 170"/>
          <p:cNvSpPr/>
          <p:nvPr/>
        </p:nvSpPr>
        <p:spPr>
          <a:xfrm>
            <a:off x="6263640"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Open the data</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Outline</a:t>
            </a:r>
          </a:p>
        </p:txBody>
      </p:sp>
      <p:sp>
        <p:nvSpPr>
          <p:cNvPr id="3" name="Rounded Rectangle 2"/>
          <p:cNvSpPr/>
          <p:nvPr/>
        </p:nvSpPr>
        <p:spPr>
          <a:xfrm>
            <a:off x="548640" y="1143000"/>
            <a:ext cx="4343400" cy="530352"/>
          </a:xfrm>
          <a:prstGeom prst="roundRect">
            <a:avLst>
              <a:gd name="adj" fmla="val 12000"/>
            </a:avLst>
          </a:prstGeom>
          <a:solidFill>
            <a:srgbClr val="F3F4F6"/>
          </a:solidFill>
          <a:ln>
            <a:noFill/>
          </a:ln>
          <a:effectLst/>
        </p:spPr>
        <p:txBody>
          <a:bodyPr rtlCol="0" anchor="ctr"/>
          <a:lstStyle/>
          <a:p>
            <a:pPr algn="ctr"/>
          </a:p>
        </p:txBody>
      </p:sp>
      <p:sp>
        <p:nvSpPr>
          <p:cNvPr id="4" name="Oval 3"/>
          <p:cNvSpPr/>
          <p:nvPr/>
        </p:nvSpPr>
        <p:spPr>
          <a:xfrm>
            <a:off x="640080" y="1216152"/>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5" name="TextBox 4"/>
          <p:cNvSpPr txBox="1"/>
          <p:nvPr/>
        </p:nvSpPr>
        <p:spPr>
          <a:xfrm>
            <a:off x="1143000" y="1143000"/>
            <a:ext cx="3657600" cy="530352"/>
          </a:xfrm>
          <a:prstGeom prst="rect">
            <a:avLst/>
          </a:prstGeom>
          <a:noFill/>
        </p:spPr>
        <p:txBody>
          <a:bodyPr wrap="square" anchor="ctr" lIns="73152" rIns="73152"/>
          <a:lstStyle/>
          <a:p>
            <a:pPr algn="l"/>
            <a:r>
              <a:rPr sz="1400" b="1" i="0">
                <a:solidFill>
                  <a:srgbClr val="1F2937"/>
                </a:solidFill>
                <a:latin typeface="Arial"/>
              </a:rPr>
              <a:t>Introduction</a:t>
            </a:r>
            <a:endParaRPr sz="1400"/>
          </a:p>
        </p:txBody>
      </p:sp>
      <p:sp>
        <p:nvSpPr>
          <p:cNvPr id="6" name="Rounded Rectangle 5"/>
          <p:cNvSpPr/>
          <p:nvPr/>
        </p:nvSpPr>
        <p:spPr>
          <a:xfrm>
            <a:off x="548640" y="1801368"/>
            <a:ext cx="4343400" cy="530352"/>
          </a:xfrm>
          <a:prstGeom prst="roundRect">
            <a:avLst>
              <a:gd name="adj" fmla="val 12000"/>
            </a:avLst>
          </a:prstGeom>
          <a:solidFill>
            <a:srgbClr val="F3F4F6"/>
          </a:solidFill>
          <a:ln>
            <a:noFill/>
          </a:ln>
          <a:effectLst/>
        </p:spPr>
        <p:txBody>
          <a:bodyPr rtlCol="0" anchor="ctr"/>
          <a:lstStyle/>
          <a:p>
            <a:pPr algn="ctr"/>
          </a:p>
        </p:txBody>
      </p:sp>
      <p:sp>
        <p:nvSpPr>
          <p:cNvPr id="7" name="Oval 6"/>
          <p:cNvSpPr/>
          <p:nvPr/>
        </p:nvSpPr>
        <p:spPr>
          <a:xfrm>
            <a:off x="640080" y="1874519"/>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8" name="TextBox 7"/>
          <p:cNvSpPr txBox="1"/>
          <p:nvPr/>
        </p:nvSpPr>
        <p:spPr>
          <a:xfrm>
            <a:off x="1143000" y="1801368"/>
            <a:ext cx="3657600" cy="530352"/>
          </a:xfrm>
          <a:prstGeom prst="rect">
            <a:avLst/>
          </a:prstGeom>
          <a:noFill/>
        </p:spPr>
        <p:txBody>
          <a:bodyPr wrap="square" anchor="ctr" lIns="73152" rIns="73152"/>
          <a:lstStyle/>
          <a:p>
            <a:pPr algn="l"/>
            <a:r>
              <a:rPr sz="1400" b="1" i="0">
                <a:solidFill>
                  <a:srgbClr val="1F2937"/>
                </a:solidFill>
                <a:latin typeface="Arial"/>
              </a:rPr>
              <a:t>Literature Survey and Research Gaps</a:t>
            </a:r>
            <a:endParaRPr sz="1400"/>
          </a:p>
        </p:txBody>
      </p:sp>
      <p:sp>
        <p:nvSpPr>
          <p:cNvPr id="9" name="Rounded Rectangle 8"/>
          <p:cNvSpPr/>
          <p:nvPr/>
        </p:nvSpPr>
        <p:spPr>
          <a:xfrm>
            <a:off x="548640" y="2459736"/>
            <a:ext cx="4343400" cy="530352"/>
          </a:xfrm>
          <a:prstGeom prst="roundRect">
            <a:avLst>
              <a:gd name="adj" fmla="val 12000"/>
            </a:avLst>
          </a:prstGeom>
          <a:solidFill>
            <a:srgbClr val="F3F4F6"/>
          </a:solidFill>
          <a:ln>
            <a:noFill/>
          </a:ln>
          <a:effectLst/>
        </p:spPr>
        <p:txBody>
          <a:bodyPr rtlCol="0" anchor="ctr"/>
          <a:lstStyle/>
          <a:p>
            <a:pPr algn="ctr"/>
          </a:p>
        </p:txBody>
      </p:sp>
      <p:sp>
        <p:nvSpPr>
          <p:cNvPr id="10" name="Oval 9"/>
          <p:cNvSpPr/>
          <p:nvPr/>
        </p:nvSpPr>
        <p:spPr>
          <a:xfrm>
            <a:off x="640080" y="253288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1" name="TextBox 10"/>
          <p:cNvSpPr txBox="1"/>
          <p:nvPr/>
        </p:nvSpPr>
        <p:spPr>
          <a:xfrm>
            <a:off x="1143000" y="2459736"/>
            <a:ext cx="3657600" cy="530352"/>
          </a:xfrm>
          <a:prstGeom prst="rect">
            <a:avLst/>
          </a:prstGeom>
          <a:noFill/>
        </p:spPr>
        <p:txBody>
          <a:bodyPr wrap="square" anchor="ctr" lIns="73152" rIns="73152"/>
          <a:lstStyle/>
          <a:p>
            <a:pPr algn="l"/>
            <a:r>
              <a:rPr sz="1400" b="1" i="0">
                <a:solidFill>
                  <a:srgbClr val="1F2937"/>
                </a:solidFill>
                <a:latin typeface="Arial"/>
              </a:rPr>
              <a:t>Problem Statement</a:t>
            </a:r>
            <a:endParaRPr sz="1400"/>
          </a:p>
        </p:txBody>
      </p:sp>
      <p:sp>
        <p:nvSpPr>
          <p:cNvPr id="12" name="Rounded Rectangle 11"/>
          <p:cNvSpPr/>
          <p:nvPr/>
        </p:nvSpPr>
        <p:spPr>
          <a:xfrm>
            <a:off x="548640" y="3118104"/>
            <a:ext cx="4343400" cy="530352"/>
          </a:xfrm>
          <a:prstGeom prst="roundRect">
            <a:avLst>
              <a:gd name="adj" fmla="val 12000"/>
            </a:avLst>
          </a:prstGeom>
          <a:solidFill>
            <a:srgbClr val="F3F4F6"/>
          </a:solidFill>
          <a:ln>
            <a:noFill/>
          </a:ln>
          <a:effectLst/>
        </p:spPr>
        <p:txBody>
          <a:bodyPr rtlCol="0" anchor="ctr"/>
          <a:lstStyle/>
          <a:p>
            <a:pPr algn="ctr"/>
          </a:p>
        </p:txBody>
      </p:sp>
      <p:sp>
        <p:nvSpPr>
          <p:cNvPr id="13" name="Oval 12"/>
          <p:cNvSpPr/>
          <p:nvPr/>
        </p:nvSpPr>
        <p:spPr>
          <a:xfrm>
            <a:off x="640080" y="3191256"/>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4</a:t>
            </a:r>
            <a:endParaRPr sz="1300"/>
          </a:p>
        </p:txBody>
      </p:sp>
      <p:sp>
        <p:nvSpPr>
          <p:cNvPr id="14" name="TextBox 13"/>
          <p:cNvSpPr txBox="1"/>
          <p:nvPr/>
        </p:nvSpPr>
        <p:spPr>
          <a:xfrm>
            <a:off x="1143000" y="3118104"/>
            <a:ext cx="3657600" cy="530352"/>
          </a:xfrm>
          <a:prstGeom prst="rect">
            <a:avLst/>
          </a:prstGeom>
          <a:noFill/>
        </p:spPr>
        <p:txBody>
          <a:bodyPr wrap="square" anchor="ctr" lIns="73152" rIns="73152"/>
          <a:lstStyle/>
          <a:p>
            <a:pPr algn="l"/>
            <a:r>
              <a:rPr sz="1400" b="1" i="0">
                <a:solidFill>
                  <a:srgbClr val="1F2937"/>
                </a:solidFill>
                <a:latin typeface="Arial"/>
              </a:rPr>
              <a:t>Objectives</a:t>
            </a:r>
            <a:endParaRPr sz="1400"/>
          </a:p>
        </p:txBody>
      </p:sp>
      <p:sp>
        <p:nvSpPr>
          <p:cNvPr id="15" name="Rounded Rectangle 14"/>
          <p:cNvSpPr/>
          <p:nvPr/>
        </p:nvSpPr>
        <p:spPr>
          <a:xfrm>
            <a:off x="548640" y="3776472"/>
            <a:ext cx="4343400" cy="530352"/>
          </a:xfrm>
          <a:prstGeom prst="roundRect">
            <a:avLst>
              <a:gd name="adj" fmla="val 12000"/>
            </a:avLst>
          </a:prstGeom>
          <a:solidFill>
            <a:srgbClr val="F3F4F6"/>
          </a:solidFill>
          <a:ln>
            <a:noFill/>
          </a:ln>
          <a:effectLst/>
        </p:spPr>
        <p:txBody>
          <a:bodyPr rtlCol="0" anchor="ctr"/>
          <a:lstStyle/>
          <a:p>
            <a:pPr algn="ctr"/>
          </a:p>
        </p:txBody>
      </p:sp>
      <p:sp>
        <p:nvSpPr>
          <p:cNvPr id="16" name="Oval 15"/>
          <p:cNvSpPr/>
          <p:nvPr/>
        </p:nvSpPr>
        <p:spPr>
          <a:xfrm>
            <a:off x="640080" y="3849624"/>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5</a:t>
            </a:r>
            <a:endParaRPr sz="1300"/>
          </a:p>
        </p:txBody>
      </p:sp>
      <p:sp>
        <p:nvSpPr>
          <p:cNvPr id="17" name="TextBox 16"/>
          <p:cNvSpPr txBox="1"/>
          <p:nvPr/>
        </p:nvSpPr>
        <p:spPr>
          <a:xfrm>
            <a:off x="1143000" y="3776472"/>
            <a:ext cx="3657600" cy="530352"/>
          </a:xfrm>
          <a:prstGeom prst="rect">
            <a:avLst/>
          </a:prstGeom>
          <a:noFill/>
        </p:spPr>
        <p:txBody>
          <a:bodyPr wrap="square" anchor="ctr" lIns="73152" rIns="73152"/>
          <a:lstStyle/>
          <a:p>
            <a:pPr algn="l"/>
            <a:r>
              <a:rPr sz="1400" b="1" i="0">
                <a:solidFill>
                  <a:srgbClr val="1F2937"/>
                </a:solidFill>
                <a:latin typeface="Arial"/>
              </a:rPr>
              <a:t>Proposed Methodology</a:t>
            </a:r>
            <a:endParaRPr sz="1400"/>
          </a:p>
        </p:txBody>
      </p:sp>
      <p:sp>
        <p:nvSpPr>
          <p:cNvPr id="18" name="Rounded Rectangle 17"/>
          <p:cNvSpPr/>
          <p:nvPr/>
        </p:nvSpPr>
        <p:spPr>
          <a:xfrm>
            <a:off x="548640" y="4434840"/>
            <a:ext cx="4343400" cy="530352"/>
          </a:xfrm>
          <a:prstGeom prst="roundRect">
            <a:avLst>
              <a:gd name="adj" fmla="val 12000"/>
            </a:avLst>
          </a:prstGeom>
          <a:solidFill>
            <a:srgbClr val="F3F4F6"/>
          </a:solidFill>
          <a:ln>
            <a:noFill/>
          </a:ln>
          <a:effectLst/>
        </p:spPr>
        <p:txBody>
          <a:bodyPr rtlCol="0" anchor="ctr"/>
          <a:lstStyle/>
          <a:p>
            <a:pPr algn="ctr"/>
          </a:p>
        </p:txBody>
      </p:sp>
      <p:sp>
        <p:nvSpPr>
          <p:cNvPr id="19" name="Oval 18"/>
          <p:cNvSpPr/>
          <p:nvPr/>
        </p:nvSpPr>
        <p:spPr>
          <a:xfrm>
            <a:off x="640080" y="4507992"/>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6</a:t>
            </a:r>
            <a:endParaRPr sz="1300"/>
          </a:p>
        </p:txBody>
      </p:sp>
      <p:sp>
        <p:nvSpPr>
          <p:cNvPr id="20" name="TextBox 19"/>
          <p:cNvSpPr txBox="1"/>
          <p:nvPr/>
        </p:nvSpPr>
        <p:spPr>
          <a:xfrm>
            <a:off x="1143000" y="4434840"/>
            <a:ext cx="3657600" cy="530352"/>
          </a:xfrm>
          <a:prstGeom prst="rect">
            <a:avLst/>
          </a:prstGeom>
          <a:noFill/>
        </p:spPr>
        <p:txBody>
          <a:bodyPr wrap="square" anchor="ctr" lIns="73152" rIns="73152"/>
          <a:lstStyle/>
          <a:p>
            <a:pPr algn="l"/>
            <a:r>
              <a:rPr sz="1400" b="1" i="0">
                <a:solidFill>
                  <a:srgbClr val="1F2937"/>
                </a:solidFill>
                <a:latin typeface="Arial"/>
              </a:rPr>
              <a:t>System Architecture and Product Walkthrough</a:t>
            </a:r>
            <a:endParaRPr sz="1400"/>
          </a:p>
        </p:txBody>
      </p:sp>
      <p:sp>
        <p:nvSpPr>
          <p:cNvPr id="21" name="Rounded Rectangle 20"/>
          <p:cNvSpPr/>
          <p:nvPr/>
        </p:nvSpPr>
        <p:spPr>
          <a:xfrm>
            <a:off x="548640" y="5093208"/>
            <a:ext cx="4343400" cy="530352"/>
          </a:xfrm>
          <a:prstGeom prst="roundRect">
            <a:avLst>
              <a:gd name="adj" fmla="val 12000"/>
            </a:avLst>
          </a:prstGeom>
          <a:solidFill>
            <a:srgbClr val="F3F4F6"/>
          </a:solidFill>
          <a:ln>
            <a:noFill/>
          </a:ln>
          <a:effectLst/>
        </p:spPr>
        <p:txBody>
          <a:bodyPr rtlCol="0" anchor="ctr"/>
          <a:lstStyle/>
          <a:p>
            <a:pPr algn="ctr"/>
          </a:p>
        </p:txBody>
      </p:sp>
      <p:sp>
        <p:nvSpPr>
          <p:cNvPr id="22" name="Oval 21"/>
          <p:cNvSpPr/>
          <p:nvPr/>
        </p:nvSpPr>
        <p:spPr>
          <a:xfrm>
            <a:off x="640080" y="5166360"/>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7</a:t>
            </a:r>
            <a:endParaRPr sz="1300"/>
          </a:p>
        </p:txBody>
      </p:sp>
      <p:sp>
        <p:nvSpPr>
          <p:cNvPr id="23" name="TextBox 22"/>
          <p:cNvSpPr txBox="1"/>
          <p:nvPr/>
        </p:nvSpPr>
        <p:spPr>
          <a:xfrm>
            <a:off x="1143000" y="5093208"/>
            <a:ext cx="3657600" cy="530352"/>
          </a:xfrm>
          <a:prstGeom prst="rect">
            <a:avLst/>
          </a:prstGeom>
          <a:noFill/>
        </p:spPr>
        <p:txBody>
          <a:bodyPr wrap="square" anchor="ctr" lIns="73152" rIns="73152"/>
          <a:lstStyle/>
          <a:p>
            <a:pPr algn="l"/>
            <a:r>
              <a:rPr sz="1400" b="1" i="0">
                <a:solidFill>
                  <a:srgbClr val="1F2937"/>
                </a:solidFill>
                <a:latin typeface="Arial"/>
              </a:rPr>
              <a:t>Results and Evidence</a:t>
            </a:r>
            <a:endParaRPr sz="1400"/>
          </a:p>
        </p:txBody>
      </p:sp>
      <p:sp>
        <p:nvSpPr>
          <p:cNvPr id="24" name="Rounded Rectangle 23"/>
          <p:cNvSpPr/>
          <p:nvPr/>
        </p:nvSpPr>
        <p:spPr>
          <a:xfrm>
            <a:off x="5120640" y="1143000"/>
            <a:ext cx="4343400" cy="530352"/>
          </a:xfrm>
          <a:prstGeom prst="roundRect">
            <a:avLst>
              <a:gd name="adj" fmla="val 12000"/>
            </a:avLst>
          </a:prstGeom>
          <a:solidFill>
            <a:srgbClr val="F3F4F6"/>
          </a:solidFill>
          <a:ln>
            <a:noFill/>
          </a:ln>
          <a:effectLst/>
        </p:spPr>
        <p:txBody>
          <a:bodyPr rtlCol="0" anchor="ctr"/>
          <a:lstStyle/>
          <a:p>
            <a:pPr algn="ctr"/>
          </a:p>
        </p:txBody>
      </p:sp>
      <p:sp>
        <p:nvSpPr>
          <p:cNvPr id="25" name="Oval 24"/>
          <p:cNvSpPr/>
          <p:nvPr/>
        </p:nvSpPr>
        <p:spPr>
          <a:xfrm>
            <a:off x="5212079" y="1216152"/>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8</a:t>
            </a:r>
            <a:endParaRPr sz="1300"/>
          </a:p>
        </p:txBody>
      </p:sp>
      <p:sp>
        <p:nvSpPr>
          <p:cNvPr id="26" name="TextBox 25"/>
          <p:cNvSpPr txBox="1"/>
          <p:nvPr/>
        </p:nvSpPr>
        <p:spPr>
          <a:xfrm>
            <a:off x="5715000" y="1143000"/>
            <a:ext cx="3657600" cy="530352"/>
          </a:xfrm>
          <a:prstGeom prst="rect">
            <a:avLst/>
          </a:prstGeom>
          <a:noFill/>
        </p:spPr>
        <p:txBody>
          <a:bodyPr wrap="square" anchor="ctr" lIns="73152" rIns="73152"/>
          <a:lstStyle/>
          <a:p>
            <a:pPr algn="l"/>
            <a:r>
              <a:rPr sz="1400" b="1" i="0">
                <a:solidFill>
                  <a:srgbClr val="1F2937"/>
                </a:solidFill>
                <a:latin typeface="Arial"/>
              </a:rPr>
              <a:t>Sustainable Development Goals</a:t>
            </a:r>
            <a:endParaRPr sz="1400"/>
          </a:p>
        </p:txBody>
      </p:sp>
      <p:sp>
        <p:nvSpPr>
          <p:cNvPr id="27" name="Rounded Rectangle 26"/>
          <p:cNvSpPr/>
          <p:nvPr/>
        </p:nvSpPr>
        <p:spPr>
          <a:xfrm>
            <a:off x="5120640" y="1801368"/>
            <a:ext cx="4343400" cy="530352"/>
          </a:xfrm>
          <a:prstGeom prst="roundRect">
            <a:avLst>
              <a:gd name="adj" fmla="val 12000"/>
            </a:avLst>
          </a:prstGeom>
          <a:solidFill>
            <a:srgbClr val="F3F4F6"/>
          </a:solidFill>
          <a:ln>
            <a:noFill/>
          </a:ln>
          <a:effectLst/>
        </p:spPr>
        <p:txBody>
          <a:bodyPr rtlCol="0" anchor="ctr"/>
          <a:lstStyle/>
          <a:p>
            <a:pPr algn="ctr"/>
          </a:p>
        </p:txBody>
      </p:sp>
      <p:sp>
        <p:nvSpPr>
          <p:cNvPr id="28" name="Oval 27"/>
          <p:cNvSpPr/>
          <p:nvPr/>
        </p:nvSpPr>
        <p:spPr>
          <a:xfrm>
            <a:off x="5212079" y="1874519"/>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9</a:t>
            </a:r>
            <a:endParaRPr sz="1300"/>
          </a:p>
        </p:txBody>
      </p:sp>
      <p:sp>
        <p:nvSpPr>
          <p:cNvPr id="29" name="TextBox 28"/>
          <p:cNvSpPr txBox="1"/>
          <p:nvPr/>
        </p:nvSpPr>
        <p:spPr>
          <a:xfrm>
            <a:off x="5715000" y="1801368"/>
            <a:ext cx="3657600" cy="530352"/>
          </a:xfrm>
          <a:prstGeom prst="rect">
            <a:avLst/>
          </a:prstGeom>
          <a:noFill/>
        </p:spPr>
        <p:txBody>
          <a:bodyPr wrap="square" anchor="ctr" lIns="73152" rIns="73152"/>
          <a:lstStyle/>
          <a:p>
            <a:pPr algn="l"/>
            <a:r>
              <a:rPr sz="1400" b="1" i="0">
                <a:solidFill>
                  <a:srgbClr val="1F2937"/>
                </a:solidFill>
                <a:latin typeface="Arial"/>
              </a:rPr>
              <a:t>Expected Outcomes</a:t>
            </a:r>
            <a:endParaRPr sz="1400"/>
          </a:p>
        </p:txBody>
      </p:sp>
      <p:sp>
        <p:nvSpPr>
          <p:cNvPr id="30" name="Rounded Rectangle 29"/>
          <p:cNvSpPr/>
          <p:nvPr/>
        </p:nvSpPr>
        <p:spPr>
          <a:xfrm>
            <a:off x="5120640" y="2459736"/>
            <a:ext cx="4343400" cy="530352"/>
          </a:xfrm>
          <a:prstGeom prst="roundRect">
            <a:avLst>
              <a:gd name="adj" fmla="val 12000"/>
            </a:avLst>
          </a:prstGeom>
          <a:solidFill>
            <a:srgbClr val="F3F4F6"/>
          </a:solidFill>
          <a:ln>
            <a:noFill/>
          </a:ln>
          <a:effectLst/>
        </p:spPr>
        <p:txBody>
          <a:bodyPr rtlCol="0" anchor="ctr"/>
          <a:lstStyle/>
          <a:p>
            <a:pPr algn="ctr"/>
          </a:p>
        </p:txBody>
      </p:sp>
      <p:sp>
        <p:nvSpPr>
          <p:cNvPr id="31" name="Oval 30"/>
          <p:cNvSpPr/>
          <p:nvPr/>
        </p:nvSpPr>
        <p:spPr>
          <a:xfrm>
            <a:off x="5212079" y="253288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10</a:t>
            </a:r>
            <a:endParaRPr sz="1300"/>
          </a:p>
        </p:txBody>
      </p:sp>
      <p:sp>
        <p:nvSpPr>
          <p:cNvPr id="32" name="TextBox 31"/>
          <p:cNvSpPr txBox="1"/>
          <p:nvPr/>
        </p:nvSpPr>
        <p:spPr>
          <a:xfrm>
            <a:off x="5715000" y="2459736"/>
            <a:ext cx="3657600" cy="530352"/>
          </a:xfrm>
          <a:prstGeom prst="rect">
            <a:avLst/>
          </a:prstGeom>
          <a:noFill/>
        </p:spPr>
        <p:txBody>
          <a:bodyPr wrap="square" anchor="ctr" lIns="73152" rIns="73152"/>
          <a:lstStyle/>
          <a:p>
            <a:pPr algn="l"/>
            <a:r>
              <a:rPr sz="1400" b="1" i="0">
                <a:solidFill>
                  <a:srgbClr val="1F2937"/>
                </a:solidFill>
                <a:latin typeface="Arial"/>
              </a:rPr>
              <a:t>Value for BMTC</a:t>
            </a:r>
            <a:endParaRPr sz="1400"/>
          </a:p>
        </p:txBody>
      </p:sp>
      <p:sp>
        <p:nvSpPr>
          <p:cNvPr id="33" name="Rounded Rectangle 32"/>
          <p:cNvSpPr/>
          <p:nvPr/>
        </p:nvSpPr>
        <p:spPr>
          <a:xfrm>
            <a:off x="5120640" y="3118104"/>
            <a:ext cx="4343400" cy="530352"/>
          </a:xfrm>
          <a:prstGeom prst="roundRect">
            <a:avLst>
              <a:gd name="adj" fmla="val 12000"/>
            </a:avLst>
          </a:prstGeom>
          <a:solidFill>
            <a:srgbClr val="F3F4F6"/>
          </a:solidFill>
          <a:ln>
            <a:noFill/>
          </a:ln>
          <a:effectLst/>
        </p:spPr>
        <p:txBody>
          <a:bodyPr rtlCol="0" anchor="ctr"/>
          <a:lstStyle/>
          <a:p>
            <a:pPr algn="ctr"/>
          </a:p>
        </p:txBody>
      </p:sp>
      <p:sp>
        <p:nvSpPr>
          <p:cNvPr id="34" name="Oval 33"/>
          <p:cNvSpPr/>
          <p:nvPr/>
        </p:nvSpPr>
        <p:spPr>
          <a:xfrm>
            <a:off x="5212079" y="3191256"/>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11</a:t>
            </a:r>
            <a:endParaRPr sz="1300"/>
          </a:p>
        </p:txBody>
      </p:sp>
      <p:sp>
        <p:nvSpPr>
          <p:cNvPr id="35" name="TextBox 34"/>
          <p:cNvSpPr txBox="1"/>
          <p:nvPr/>
        </p:nvSpPr>
        <p:spPr>
          <a:xfrm>
            <a:off x="5715000" y="3118104"/>
            <a:ext cx="3657600" cy="530352"/>
          </a:xfrm>
          <a:prstGeom prst="rect">
            <a:avLst/>
          </a:prstGeom>
          <a:noFill/>
        </p:spPr>
        <p:txBody>
          <a:bodyPr wrap="square" anchor="ctr" lIns="73152" rIns="73152"/>
          <a:lstStyle/>
          <a:p>
            <a:pPr algn="l"/>
            <a:r>
              <a:rPr sz="1400" b="1" i="0">
                <a:solidFill>
                  <a:srgbClr val="1F2937"/>
                </a:solidFill>
                <a:latin typeface="Arial"/>
              </a:rPr>
              <a:t>Gantt Chart for Work Plan</a:t>
            </a:r>
            <a:endParaRPr sz="1400"/>
          </a:p>
        </p:txBody>
      </p:sp>
      <p:sp>
        <p:nvSpPr>
          <p:cNvPr id="36" name="Rounded Rectangle 35"/>
          <p:cNvSpPr/>
          <p:nvPr/>
        </p:nvSpPr>
        <p:spPr>
          <a:xfrm>
            <a:off x="5120640" y="3776472"/>
            <a:ext cx="4343400" cy="530352"/>
          </a:xfrm>
          <a:prstGeom prst="roundRect">
            <a:avLst>
              <a:gd name="adj" fmla="val 12000"/>
            </a:avLst>
          </a:prstGeom>
          <a:solidFill>
            <a:srgbClr val="F3F4F6"/>
          </a:solidFill>
          <a:ln>
            <a:noFill/>
          </a:ln>
          <a:effectLst/>
        </p:spPr>
        <p:txBody>
          <a:bodyPr rtlCol="0" anchor="ctr"/>
          <a:lstStyle/>
          <a:p>
            <a:pPr algn="ctr"/>
          </a:p>
        </p:txBody>
      </p:sp>
      <p:sp>
        <p:nvSpPr>
          <p:cNvPr id="37" name="Oval 36"/>
          <p:cNvSpPr/>
          <p:nvPr/>
        </p:nvSpPr>
        <p:spPr>
          <a:xfrm>
            <a:off x="5212079" y="3849624"/>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12</a:t>
            </a:r>
            <a:endParaRPr sz="1300"/>
          </a:p>
        </p:txBody>
      </p:sp>
      <p:sp>
        <p:nvSpPr>
          <p:cNvPr id="38" name="TextBox 37"/>
          <p:cNvSpPr txBox="1"/>
          <p:nvPr/>
        </p:nvSpPr>
        <p:spPr>
          <a:xfrm>
            <a:off x="5715000" y="3776472"/>
            <a:ext cx="3657600" cy="530352"/>
          </a:xfrm>
          <a:prstGeom prst="rect">
            <a:avLst/>
          </a:prstGeom>
          <a:noFill/>
        </p:spPr>
        <p:txBody>
          <a:bodyPr wrap="square" anchor="ctr" lIns="73152" rIns="73152"/>
          <a:lstStyle/>
          <a:p>
            <a:pPr algn="l"/>
            <a:r>
              <a:rPr sz="1400" b="1" i="0">
                <a:solidFill>
                  <a:srgbClr val="1F2937"/>
                </a:solidFill>
                <a:latin typeface="Arial"/>
              </a:rPr>
              <a:t>Limitations and Roadmap</a:t>
            </a:r>
            <a:endParaRPr sz="1400"/>
          </a:p>
        </p:txBody>
      </p:sp>
      <p:sp>
        <p:nvSpPr>
          <p:cNvPr id="39" name="Rounded Rectangle 38"/>
          <p:cNvSpPr/>
          <p:nvPr/>
        </p:nvSpPr>
        <p:spPr>
          <a:xfrm>
            <a:off x="5120640" y="4434840"/>
            <a:ext cx="4343400" cy="530352"/>
          </a:xfrm>
          <a:prstGeom prst="roundRect">
            <a:avLst>
              <a:gd name="adj" fmla="val 12000"/>
            </a:avLst>
          </a:prstGeom>
          <a:solidFill>
            <a:srgbClr val="F3F4F6"/>
          </a:solidFill>
          <a:ln>
            <a:noFill/>
          </a:ln>
          <a:effectLst/>
        </p:spPr>
        <p:txBody>
          <a:bodyPr rtlCol="0" anchor="ctr"/>
          <a:lstStyle/>
          <a:p>
            <a:pPr algn="ctr"/>
          </a:p>
        </p:txBody>
      </p:sp>
      <p:sp>
        <p:nvSpPr>
          <p:cNvPr id="40" name="Oval 39"/>
          <p:cNvSpPr/>
          <p:nvPr/>
        </p:nvSpPr>
        <p:spPr>
          <a:xfrm>
            <a:off x="5212079" y="4507992"/>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13</a:t>
            </a:r>
            <a:endParaRPr sz="1300"/>
          </a:p>
        </p:txBody>
      </p:sp>
      <p:sp>
        <p:nvSpPr>
          <p:cNvPr id="41" name="TextBox 40"/>
          <p:cNvSpPr txBox="1"/>
          <p:nvPr/>
        </p:nvSpPr>
        <p:spPr>
          <a:xfrm>
            <a:off x="5715000" y="4434840"/>
            <a:ext cx="3657600" cy="530352"/>
          </a:xfrm>
          <a:prstGeom prst="rect">
            <a:avLst/>
          </a:prstGeom>
          <a:noFill/>
        </p:spPr>
        <p:txBody>
          <a:bodyPr wrap="square" anchor="ctr" lIns="73152" rIns="73152"/>
          <a:lstStyle/>
          <a:p>
            <a:pPr algn="l"/>
            <a:r>
              <a:rPr sz="1400" b="1" i="0">
                <a:solidFill>
                  <a:srgbClr val="1F2937"/>
                </a:solidFill>
                <a:latin typeface="Arial"/>
              </a:rPr>
              <a:t>Conclusion</a:t>
            </a:r>
            <a:endParaRPr sz="1400"/>
          </a:p>
        </p:txBody>
      </p:sp>
      <p:sp>
        <p:nvSpPr>
          <p:cNvPr id="42" name="Rounded Rectangle 41"/>
          <p:cNvSpPr/>
          <p:nvPr/>
        </p:nvSpPr>
        <p:spPr>
          <a:xfrm>
            <a:off x="5120640" y="5093208"/>
            <a:ext cx="4343400" cy="530352"/>
          </a:xfrm>
          <a:prstGeom prst="roundRect">
            <a:avLst>
              <a:gd name="adj" fmla="val 12000"/>
            </a:avLst>
          </a:prstGeom>
          <a:solidFill>
            <a:srgbClr val="F3F4F6"/>
          </a:solidFill>
          <a:ln>
            <a:noFill/>
          </a:ln>
          <a:effectLst/>
        </p:spPr>
        <p:txBody>
          <a:bodyPr rtlCol="0" anchor="ctr"/>
          <a:lstStyle/>
          <a:p>
            <a:pPr algn="ctr"/>
          </a:p>
        </p:txBody>
      </p:sp>
      <p:sp>
        <p:nvSpPr>
          <p:cNvPr id="43" name="Oval 42"/>
          <p:cNvSpPr/>
          <p:nvPr/>
        </p:nvSpPr>
        <p:spPr>
          <a:xfrm>
            <a:off x="5212079" y="5166360"/>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14</a:t>
            </a:r>
            <a:endParaRPr sz="1300"/>
          </a:p>
        </p:txBody>
      </p:sp>
      <p:sp>
        <p:nvSpPr>
          <p:cNvPr id="44" name="TextBox 43"/>
          <p:cNvSpPr txBox="1"/>
          <p:nvPr/>
        </p:nvSpPr>
        <p:spPr>
          <a:xfrm>
            <a:off x="5715000" y="5093208"/>
            <a:ext cx="3657600" cy="530352"/>
          </a:xfrm>
          <a:prstGeom prst="rect">
            <a:avLst/>
          </a:prstGeom>
          <a:noFill/>
        </p:spPr>
        <p:txBody>
          <a:bodyPr wrap="square" anchor="ctr" lIns="73152" rIns="73152"/>
          <a:lstStyle/>
          <a:p>
            <a:pPr algn="l"/>
            <a:r>
              <a:rPr sz="1400" b="1" i="0">
                <a:solidFill>
                  <a:srgbClr val="1F2937"/>
                </a:solidFill>
                <a:latin typeface="Arial"/>
              </a:rPr>
              <a:t>References</a:t>
            </a:r>
            <a:endParaRPr sz="1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Introduction</a:t>
            </a:r>
          </a:p>
        </p:txBody>
      </p:sp>
      <p:sp>
        <p:nvSpPr>
          <p:cNvPr id="3" name="Rounded Rectangle 2"/>
          <p:cNvSpPr/>
          <p:nvPr/>
        </p:nvSpPr>
        <p:spPr>
          <a:xfrm>
            <a:off x="457200" y="914400"/>
            <a:ext cx="4434840" cy="1600200"/>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5" name="TextBox 4"/>
          <p:cNvSpPr txBox="1"/>
          <p:nvPr/>
        </p:nvSpPr>
        <p:spPr>
          <a:xfrm>
            <a:off x="1051560" y="1033271"/>
            <a:ext cx="3703320" cy="365760"/>
          </a:xfrm>
          <a:prstGeom prst="rect">
            <a:avLst/>
          </a:prstGeom>
          <a:noFill/>
        </p:spPr>
        <p:txBody>
          <a:bodyPr wrap="square" anchor="ctr" lIns="73152" rIns="73152"/>
          <a:lstStyle/>
          <a:p>
            <a:pPr algn="l"/>
            <a:r>
              <a:rPr sz="1500" b="1" i="0">
                <a:solidFill>
                  <a:srgbClr val="C00000"/>
                </a:solidFill>
                <a:latin typeface="Arial"/>
              </a:rPr>
              <a:t>The domain</a:t>
            </a:r>
            <a:endParaRPr sz="1500"/>
          </a:p>
        </p:txBody>
      </p:sp>
      <p:sp>
        <p:nvSpPr>
          <p:cNvPr id="6" name="TextBox 5"/>
          <p:cNvSpPr txBox="1"/>
          <p:nvPr/>
        </p:nvSpPr>
        <p:spPr>
          <a:xfrm>
            <a:off x="566928" y="1463040"/>
            <a:ext cx="4215383" cy="1005840"/>
          </a:xfrm>
          <a:prstGeom prst="rect">
            <a:avLst/>
          </a:prstGeom>
          <a:noFill/>
        </p:spPr>
        <p:txBody>
          <a:bodyPr wrap="square" anchor="t" lIns="73152" rIns="73152"/>
          <a:lstStyle/>
          <a:p>
            <a:pPr algn="l"/>
            <a:r>
              <a:rPr sz="1200" b="0" i="0">
                <a:solidFill>
                  <a:srgbClr val="1F2937"/>
                </a:solidFill>
                <a:latin typeface="Arial"/>
              </a:rPr>
              <a:t>Urban public transport: Bengaluru's city bus network run by BMTC, which operates 6,000+ buses (Deepa et al., 2023). We work on BMTC's published timetable: 6,737 route-directions, 3,940 bus numbers and 4,883 stops.</a:t>
            </a:r>
            <a:endParaRPr sz="1200"/>
          </a:p>
        </p:txBody>
      </p:sp>
      <p:sp>
        <p:nvSpPr>
          <p:cNvPr id="7" name="Rounded Rectangle 6"/>
          <p:cNvSpPr/>
          <p:nvPr/>
        </p:nvSpPr>
        <p:spPr>
          <a:xfrm>
            <a:off x="5010912" y="914400"/>
            <a:ext cx="4434840" cy="1600200"/>
          </a:xfrm>
          <a:prstGeom prst="roundRect">
            <a:avLst>
              <a:gd name="adj" fmla="val 5000"/>
            </a:avLst>
          </a:prstGeom>
          <a:solidFill>
            <a:srgbClr val="F3F4F6"/>
          </a:solidFill>
          <a:ln>
            <a:noFill/>
          </a:ln>
          <a:effectLst/>
        </p:spPr>
        <p:txBody>
          <a:bodyPr rtlCol="0" anchor="ctr"/>
          <a:lstStyle/>
          <a:p>
            <a:pPr algn="ctr"/>
          </a:p>
        </p:txBody>
      </p:sp>
      <p:sp>
        <p:nvSpPr>
          <p:cNvPr id="8" name="Oval 7"/>
          <p:cNvSpPr/>
          <p:nvPr/>
        </p:nvSpPr>
        <p:spPr>
          <a:xfrm>
            <a:off x="5148072"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9" name="TextBox 8"/>
          <p:cNvSpPr txBox="1"/>
          <p:nvPr/>
        </p:nvSpPr>
        <p:spPr>
          <a:xfrm>
            <a:off x="5605272" y="1033271"/>
            <a:ext cx="3703320" cy="365760"/>
          </a:xfrm>
          <a:prstGeom prst="rect">
            <a:avLst/>
          </a:prstGeom>
          <a:noFill/>
        </p:spPr>
        <p:txBody>
          <a:bodyPr wrap="square" anchor="ctr" lIns="73152" rIns="73152"/>
          <a:lstStyle/>
          <a:p>
            <a:pPr algn="l"/>
            <a:r>
              <a:rPr sz="1500" b="1" i="0">
                <a:solidFill>
                  <a:srgbClr val="C00000"/>
                </a:solidFill>
                <a:latin typeface="Arial"/>
              </a:rPr>
              <a:t>Why it matters</a:t>
            </a:r>
            <a:endParaRPr sz="1500"/>
          </a:p>
        </p:txBody>
      </p:sp>
      <p:sp>
        <p:nvSpPr>
          <p:cNvPr id="10" name="TextBox 9"/>
          <p:cNvSpPr txBox="1"/>
          <p:nvPr/>
        </p:nvSpPr>
        <p:spPr>
          <a:xfrm>
            <a:off x="5120640" y="1463040"/>
            <a:ext cx="4215383" cy="1005840"/>
          </a:xfrm>
          <a:prstGeom prst="rect">
            <a:avLst/>
          </a:prstGeom>
          <a:noFill/>
        </p:spPr>
        <p:txBody>
          <a:bodyPr wrap="square" anchor="t" lIns="73152" rIns="73152"/>
          <a:lstStyle/>
          <a:p>
            <a:pPr algn="l"/>
            <a:r>
              <a:rPr sz="1200" b="0" i="0">
                <a:solidFill>
                  <a:srgbClr val="1F2937"/>
                </a:solidFill>
                <a:latin typeface="Arial"/>
              </a:rPr>
              <a:t>Buses are the everyday mass-mobility service of a fast-growing city. Riders need to find and pay for the right bus; the operator needs to size its fleet and crew. Both depend on accurate, connected data.</a:t>
            </a:r>
            <a:endParaRPr sz="1200"/>
          </a:p>
        </p:txBody>
      </p:sp>
      <p:sp>
        <p:nvSpPr>
          <p:cNvPr id="11" name="Rounded Rectangle 10"/>
          <p:cNvSpPr/>
          <p:nvPr/>
        </p:nvSpPr>
        <p:spPr>
          <a:xfrm>
            <a:off x="457200" y="2633472"/>
            <a:ext cx="4434840" cy="1600200"/>
          </a:xfrm>
          <a:prstGeom prst="roundRect">
            <a:avLst>
              <a:gd name="adj" fmla="val 5000"/>
            </a:avLst>
          </a:prstGeom>
          <a:solidFill>
            <a:srgbClr val="F3F4F6"/>
          </a:solidFill>
          <a:ln>
            <a:noFill/>
          </a:ln>
          <a:effectLst/>
        </p:spPr>
        <p:txBody>
          <a:bodyPr rtlCol="0" anchor="ctr"/>
          <a:lstStyle/>
          <a:p>
            <a:pPr algn="ctr"/>
          </a:p>
        </p:txBody>
      </p:sp>
      <p:sp>
        <p:nvSpPr>
          <p:cNvPr id="12" name="Oval 11"/>
          <p:cNvSpPr/>
          <p:nvPr/>
        </p:nvSpPr>
        <p:spPr>
          <a:xfrm>
            <a:off x="594360" y="275234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3" name="TextBox 12"/>
          <p:cNvSpPr txBox="1"/>
          <p:nvPr/>
        </p:nvSpPr>
        <p:spPr>
          <a:xfrm>
            <a:off x="1051560" y="2752344"/>
            <a:ext cx="3703320" cy="365760"/>
          </a:xfrm>
          <a:prstGeom prst="rect">
            <a:avLst/>
          </a:prstGeom>
          <a:noFill/>
        </p:spPr>
        <p:txBody>
          <a:bodyPr wrap="square" anchor="ctr" lIns="73152" rIns="73152"/>
          <a:lstStyle/>
          <a:p>
            <a:pPr algn="l"/>
            <a:r>
              <a:rPr sz="1500" b="1" i="0">
                <a:solidFill>
                  <a:srgbClr val="C00000"/>
                </a:solidFill>
                <a:latin typeface="Arial"/>
              </a:rPr>
              <a:t>The general issue</a:t>
            </a:r>
            <a:endParaRPr sz="1500"/>
          </a:p>
        </p:txBody>
      </p:sp>
      <p:sp>
        <p:nvSpPr>
          <p:cNvPr id="14" name="TextBox 13"/>
          <p:cNvSpPr txBox="1"/>
          <p:nvPr/>
        </p:nvSpPr>
        <p:spPr>
          <a:xfrm>
            <a:off x="566928" y="3182112"/>
            <a:ext cx="4215383" cy="1005840"/>
          </a:xfrm>
          <a:prstGeom prst="rect">
            <a:avLst/>
          </a:prstGeom>
          <a:noFill/>
        </p:spPr>
        <p:txBody>
          <a:bodyPr wrap="square" anchor="t" lIns="73152" rIns="73152"/>
          <a:lstStyle/>
          <a:p>
            <a:pPr algn="l"/>
            <a:r>
              <a:rPr sz="1200" b="0" i="0">
                <a:solidFill>
                  <a:srgbClr val="1F2937"/>
                </a:solidFill>
                <a:latin typeface="Arial"/>
              </a:rPr>
              <a:t>Apps tell commuters which bus to catch, but nothing tells the operator how many buses and crew a timetable needs. No BMTC API or standard open (GTFS) feed was available to build on.</a:t>
            </a:r>
            <a:endParaRPr sz="1200"/>
          </a:p>
        </p:txBody>
      </p:sp>
      <p:sp>
        <p:nvSpPr>
          <p:cNvPr id="15" name="Rounded Rectangle 14"/>
          <p:cNvSpPr/>
          <p:nvPr/>
        </p:nvSpPr>
        <p:spPr>
          <a:xfrm>
            <a:off x="5010912" y="2633472"/>
            <a:ext cx="4434840" cy="1600200"/>
          </a:xfrm>
          <a:prstGeom prst="roundRect">
            <a:avLst>
              <a:gd name="adj" fmla="val 5000"/>
            </a:avLst>
          </a:prstGeom>
          <a:solidFill>
            <a:srgbClr val="F3F4F6"/>
          </a:solidFill>
          <a:ln>
            <a:noFill/>
          </a:ln>
          <a:effectLst/>
        </p:spPr>
        <p:txBody>
          <a:bodyPr rtlCol="0" anchor="ctr"/>
          <a:lstStyle/>
          <a:p>
            <a:pPr algn="ctr"/>
          </a:p>
        </p:txBody>
      </p:sp>
      <p:sp>
        <p:nvSpPr>
          <p:cNvPr id="16" name="Oval 15"/>
          <p:cNvSpPr/>
          <p:nvPr/>
        </p:nvSpPr>
        <p:spPr>
          <a:xfrm>
            <a:off x="5148072" y="275234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4</a:t>
            </a:r>
            <a:endParaRPr sz="1300"/>
          </a:p>
        </p:txBody>
      </p:sp>
      <p:sp>
        <p:nvSpPr>
          <p:cNvPr id="17" name="TextBox 16"/>
          <p:cNvSpPr txBox="1"/>
          <p:nvPr/>
        </p:nvSpPr>
        <p:spPr>
          <a:xfrm>
            <a:off x="5605272" y="2752344"/>
            <a:ext cx="3703320" cy="365760"/>
          </a:xfrm>
          <a:prstGeom prst="rect">
            <a:avLst/>
          </a:prstGeom>
          <a:noFill/>
        </p:spPr>
        <p:txBody>
          <a:bodyPr wrap="square" anchor="ctr" lIns="73152" rIns="73152"/>
          <a:lstStyle/>
          <a:p>
            <a:pPr algn="l"/>
            <a:r>
              <a:rPr sz="1500" b="1" i="0">
                <a:solidFill>
                  <a:srgbClr val="C00000"/>
                </a:solidFill>
                <a:latin typeface="Arial"/>
              </a:rPr>
              <a:t>Why it is relevant today</a:t>
            </a:r>
            <a:endParaRPr sz="1500"/>
          </a:p>
        </p:txBody>
      </p:sp>
      <p:sp>
        <p:nvSpPr>
          <p:cNvPr id="18" name="TextBox 17"/>
          <p:cNvSpPr txBox="1"/>
          <p:nvPr/>
        </p:nvSpPr>
        <p:spPr>
          <a:xfrm>
            <a:off x="5120640" y="3182112"/>
            <a:ext cx="4215383" cy="1005840"/>
          </a:xfrm>
          <a:prstGeom prst="rect">
            <a:avLst/>
          </a:prstGeom>
          <a:noFill/>
        </p:spPr>
        <p:txBody>
          <a:bodyPr wrap="square" anchor="t" lIns="73152" rIns="73152"/>
          <a:lstStyle/>
          <a:p>
            <a:pPr algn="l"/>
            <a:r>
              <a:rPr sz="1200" b="0" i="0">
                <a:solidFill>
                  <a:srgbClr val="1F2937"/>
                </a:solidFill>
                <a:latin typeface="Arial"/>
              </a:rPr>
              <a:t>Karnataka's Shakti free-travel scheme (June 2023) reshaped ridership: 28.9 million trips were analysed over 27 months (Halder &amp; Jayadev, 2025). Demand-aware planning and exact reimbursement tracking are now urgent.</a:t>
            </a:r>
            <a:endParaRPr sz="1200"/>
          </a:p>
        </p:txBody>
      </p:sp>
      <p:sp>
        <p:nvSpPr>
          <p:cNvPr id="19" name="Rounded Rectangle 18"/>
          <p:cNvSpPr/>
          <p:nvPr/>
        </p:nvSpPr>
        <p:spPr>
          <a:xfrm>
            <a:off x="457200"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0" name="TextBox 19"/>
          <p:cNvSpPr txBox="1"/>
          <p:nvPr/>
        </p:nvSpPr>
        <p:spPr>
          <a:xfrm>
            <a:off x="457200" y="4526280"/>
            <a:ext cx="2148840" cy="502920"/>
          </a:xfrm>
          <a:prstGeom prst="rect">
            <a:avLst/>
          </a:prstGeom>
          <a:noFill/>
        </p:spPr>
        <p:txBody>
          <a:bodyPr wrap="square" anchor="ctr" lIns="73152" rIns="73152"/>
          <a:lstStyle/>
          <a:p>
            <a:pPr algn="ctr"/>
            <a:r>
              <a:rPr sz="2600" b="1" i="0">
                <a:solidFill>
                  <a:srgbClr val="C00000"/>
                </a:solidFill>
                <a:latin typeface="Arial"/>
              </a:rPr>
              <a:t>6,737</a:t>
            </a:r>
            <a:endParaRPr sz="2600"/>
          </a:p>
        </p:txBody>
      </p:sp>
      <p:sp>
        <p:nvSpPr>
          <p:cNvPr id="21" name="TextBox 20"/>
          <p:cNvSpPr txBox="1"/>
          <p:nvPr/>
        </p:nvSpPr>
        <p:spPr>
          <a:xfrm>
            <a:off x="457200" y="5010912"/>
            <a:ext cx="2148840" cy="292608"/>
          </a:xfrm>
          <a:prstGeom prst="rect">
            <a:avLst/>
          </a:prstGeom>
          <a:noFill/>
        </p:spPr>
        <p:txBody>
          <a:bodyPr wrap="square" anchor="t" lIns="73152" rIns="73152"/>
          <a:lstStyle/>
          <a:p>
            <a:pPr algn="ctr"/>
            <a:r>
              <a:rPr sz="1100" b="0" i="0">
                <a:solidFill>
                  <a:srgbClr val="4B5563"/>
                </a:solidFill>
                <a:latin typeface="Arial"/>
              </a:rPr>
              <a:t>route-directions</a:t>
            </a:r>
            <a:endParaRPr sz="1100"/>
          </a:p>
        </p:txBody>
      </p:sp>
      <p:sp>
        <p:nvSpPr>
          <p:cNvPr id="22" name="Rounded Rectangle 21"/>
          <p:cNvSpPr/>
          <p:nvPr/>
        </p:nvSpPr>
        <p:spPr>
          <a:xfrm>
            <a:off x="2736799"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3" name="TextBox 22"/>
          <p:cNvSpPr txBox="1"/>
          <p:nvPr/>
        </p:nvSpPr>
        <p:spPr>
          <a:xfrm>
            <a:off x="2736799" y="4526280"/>
            <a:ext cx="2148840" cy="502920"/>
          </a:xfrm>
          <a:prstGeom prst="rect">
            <a:avLst/>
          </a:prstGeom>
          <a:noFill/>
        </p:spPr>
        <p:txBody>
          <a:bodyPr wrap="square" anchor="ctr" lIns="73152" rIns="73152"/>
          <a:lstStyle/>
          <a:p>
            <a:pPr algn="ctr"/>
            <a:r>
              <a:rPr sz="2600" b="1" i="0">
                <a:solidFill>
                  <a:srgbClr val="C00000"/>
                </a:solidFill>
                <a:latin typeface="Arial"/>
              </a:rPr>
              <a:t>3,940</a:t>
            </a:r>
            <a:endParaRPr sz="2600"/>
          </a:p>
        </p:txBody>
      </p:sp>
      <p:sp>
        <p:nvSpPr>
          <p:cNvPr id="24" name="TextBox 23"/>
          <p:cNvSpPr txBox="1"/>
          <p:nvPr/>
        </p:nvSpPr>
        <p:spPr>
          <a:xfrm>
            <a:off x="2736799" y="5010912"/>
            <a:ext cx="2148840" cy="292608"/>
          </a:xfrm>
          <a:prstGeom prst="rect">
            <a:avLst/>
          </a:prstGeom>
          <a:noFill/>
        </p:spPr>
        <p:txBody>
          <a:bodyPr wrap="square" anchor="t" lIns="73152" rIns="73152"/>
          <a:lstStyle/>
          <a:p>
            <a:pPr algn="ctr"/>
            <a:r>
              <a:rPr sz="1100" b="0" i="0">
                <a:solidFill>
                  <a:srgbClr val="4B5563"/>
                </a:solidFill>
                <a:latin typeface="Arial"/>
              </a:rPr>
              <a:t>bus numbers</a:t>
            </a:r>
            <a:endParaRPr sz="1100"/>
          </a:p>
        </p:txBody>
      </p:sp>
      <p:sp>
        <p:nvSpPr>
          <p:cNvPr id="25" name="Rounded Rectangle 24"/>
          <p:cNvSpPr/>
          <p:nvPr/>
        </p:nvSpPr>
        <p:spPr>
          <a:xfrm>
            <a:off x="5016398"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6" name="TextBox 25"/>
          <p:cNvSpPr txBox="1"/>
          <p:nvPr/>
        </p:nvSpPr>
        <p:spPr>
          <a:xfrm>
            <a:off x="5016398" y="4526280"/>
            <a:ext cx="2148840" cy="502920"/>
          </a:xfrm>
          <a:prstGeom prst="rect">
            <a:avLst/>
          </a:prstGeom>
          <a:noFill/>
        </p:spPr>
        <p:txBody>
          <a:bodyPr wrap="square" anchor="ctr" lIns="73152" rIns="73152"/>
          <a:lstStyle/>
          <a:p>
            <a:pPr algn="ctr"/>
            <a:r>
              <a:rPr sz="2600" b="1" i="0">
                <a:solidFill>
                  <a:srgbClr val="C00000"/>
                </a:solidFill>
                <a:latin typeface="Arial"/>
              </a:rPr>
              <a:t>4,883</a:t>
            </a:r>
            <a:endParaRPr sz="2600"/>
          </a:p>
        </p:txBody>
      </p:sp>
      <p:sp>
        <p:nvSpPr>
          <p:cNvPr id="27" name="TextBox 26"/>
          <p:cNvSpPr txBox="1"/>
          <p:nvPr/>
        </p:nvSpPr>
        <p:spPr>
          <a:xfrm>
            <a:off x="5016398" y="5010912"/>
            <a:ext cx="2148840" cy="292608"/>
          </a:xfrm>
          <a:prstGeom prst="rect">
            <a:avLst/>
          </a:prstGeom>
          <a:noFill/>
        </p:spPr>
        <p:txBody>
          <a:bodyPr wrap="square" anchor="t" lIns="73152" rIns="73152"/>
          <a:lstStyle/>
          <a:p>
            <a:pPr algn="ctr"/>
            <a:r>
              <a:rPr sz="1100" b="0" i="0">
                <a:solidFill>
                  <a:srgbClr val="4B5563"/>
                </a:solidFill>
                <a:latin typeface="Arial"/>
              </a:rPr>
              <a:t>bus stops</a:t>
            </a:r>
            <a:endParaRPr sz="1100"/>
          </a:p>
        </p:txBody>
      </p:sp>
      <p:sp>
        <p:nvSpPr>
          <p:cNvPr id="28" name="Rounded Rectangle 27"/>
          <p:cNvSpPr/>
          <p:nvPr/>
        </p:nvSpPr>
        <p:spPr>
          <a:xfrm>
            <a:off x="7295997"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9" name="TextBox 28"/>
          <p:cNvSpPr txBox="1"/>
          <p:nvPr/>
        </p:nvSpPr>
        <p:spPr>
          <a:xfrm>
            <a:off x="7295997" y="4526280"/>
            <a:ext cx="2148840" cy="502920"/>
          </a:xfrm>
          <a:prstGeom prst="rect">
            <a:avLst/>
          </a:prstGeom>
          <a:noFill/>
        </p:spPr>
        <p:txBody>
          <a:bodyPr wrap="square" anchor="ctr" lIns="73152" rIns="73152"/>
          <a:lstStyle/>
          <a:p>
            <a:pPr algn="ctr"/>
            <a:r>
              <a:rPr sz="2600" b="1" i="0">
                <a:solidFill>
                  <a:srgbClr val="C00000"/>
                </a:solidFill>
                <a:latin typeface="Arial"/>
              </a:rPr>
              <a:t>44</a:t>
            </a:r>
            <a:endParaRPr sz="2600"/>
          </a:p>
        </p:txBody>
      </p:sp>
      <p:sp>
        <p:nvSpPr>
          <p:cNvPr id="30" name="TextBox 29"/>
          <p:cNvSpPr txBox="1"/>
          <p:nvPr/>
        </p:nvSpPr>
        <p:spPr>
          <a:xfrm>
            <a:off x="7295997" y="5010912"/>
            <a:ext cx="2148840" cy="292608"/>
          </a:xfrm>
          <a:prstGeom prst="rect">
            <a:avLst/>
          </a:prstGeom>
          <a:noFill/>
        </p:spPr>
        <p:txBody>
          <a:bodyPr wrap="square" anchor="t" lIns="73152" rIns="73152"/>
          <a:lstStyle/>
          <a:p>
            <a:pPr algn="ctr"/>
            <a:r>
              <a:rPr sz="1100" b="0" i="0">
                <a:solidFill>
                  <a:srgbClr val="4B5563"/>
                </a:solidFill>
                <a:latin typeface="Arial"/>
              </a:rPr>
              <a:t>depots planned</a:t>
            </a:r>
            <a:endParaRPr sz="1100"/>
          </a:p>
        </p:txBody>
      </p:sp>
      <p:sp>
        <p:nvSpPr>
          <p:cNvPr id="31" name="Rounded Rectangle 30"/>
          <p:cNvSpPr/>
          <p:nvPr/>
        </p:nvSpPr>
        <p:spPr>
          <a:xfrm>
            <a:off x="457200" y="5486400"/>
            <a:ext cx="8988552" cy="749808"/>
          </a:xfrm>
          <a:prstGeom prst="roundRect">
            <a:avLst>
              <a:gd name="adj" fmla="val 10000"/>
            </a:avLst>
          </a:prstGeom>
          <a:solidFill>
            <a:srgbClr val="E6F4EA"/>
          </a:solidFill>
          <a:ln>
            <a:noFill/>
          </a:ln>
          <a:effectLst/>
        </p:spPr>
        <p:txBody>
          <a:bodyPr rtlCol="0" anchor="ctr" wrap="square" lIns="182880" rIns="182880"/>
          <a:lstStyle/>
          <a:p>
            <a:pPr algn="ctr"/>
            <a:r>
              <a:rPr sz="1250" b="1" i="0">
                <a:solidFill>
                  <a:srgbClr val="0B8A3E"/>
                </a:solidFill>
                <a:latin typeface="Arial"/>
              </a:rPr>
              <a:t>DBARS turns one published BMTC timetable into three products: a journey planner for commuters, a fleet and crew planner for depots, and an open GTFS feed for everyone else.</a:t>
            </a:r>
            <a:endParaRPr sz="125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(1/2)</a:t>
            </a:r>
          </a:p>
        </p:txBody>
      </p:sp>
      <p:graphicFrame>
        <p:nvGraphicFramePr>
          <p:cNvPr id="3" name="Table 2"/>
          <p:cNvGraphicFramePr>
            <a:graphicFrameLocks noGrp="1"/>
          </p:cNvGraphicFramePr>
          <p:nvPr/>
        </p:nvGraphicFramePr>
        <p:xfrm>
          <a:off x="457200" y="914400"/>
          <a:ext cx="8988552" cy="4700016"/>
        </p:xfrm>
        <a:graphic>
          <a:graphicData uri="http://schemas.openxmlformats.org/drawingml/2006/table">
            <a:tbl>
              <a:tblPr firstRow="0" bandRow="0">
                <a:tableStyleId>{2D5ABB26-0587-4C30-8999-92F81FD0307C}</a:tableStyleId>
              </a:tblPr>
              <a:tblGrid>
                <a:gridCol w="365760"/>
                <a:gridCol w="2240280"/>
                <a:gridCol w="1691640"/>
                <a:gridCol w="1371600"/>
                <a:gridCol w="1600200"/>
                <a:gridCol w="1719072"/>
              </a:tblGrid>
              <a:tr h="310896">
                <a:tc>
                  <a:txBody>
                    <a:bodyPr wrap="square" anchor="ctr" lIns="45720" tIns="27432" rIns="45720" bIns="27432"/>
                    <a:lstStyle/>
                    <a:p>
                      <a:pPr algn="ctr"/>
                      <a:r>
                        <a:rPr sz="1050" b="1" i="0">
                          <a:solidFill>
                            <a:srgbClr val="FFFFFF"/>
                          </a:solidFill>
                          <a:latin typeface="Arial"/>
                        </a:rPr>
                        <a:t>Ref.</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Title and Year</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Methodology</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Dataset</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Limitations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Observations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31520">
                <a:tc>
                  <a:txBody>
                    <a:bodyPr wrap="square" anchor="t" lIns="45720" tIns="27432" rIns="45720" bIns="27432"/>
                    <a:lstStyle/>
                    <a:p>
                      <a:pPr algn="ctr"/>
                      <a:r>
                        <a:rPr sz="950" b="1" i="0">
                          <a:solidFill>
                            <a:srgbClr val="1F2937"/>
                          </a:solidFill>
                          <a:latin typeface="Arial"/>
                        </a:rPr>
                        <a:t>[1]</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ULTRA: Unlimited transfers for efficient multimodal journey planning</a:t>
                      </a:r>
                      <a:endParaRPr sz="950"/>
                    </a:p>
                    <a:p>
                      <a:pPr algn="l"/>
                      <a:r>
                        <a:rPr sz="950" b="0" i="0">
                          <a:solidFill>
                            <a:srgbClr val="1F2937"/>
                          </a:solidFill>
                          <a:latin typeface="Arial"/>
                        </a:rPr>
                        <a:t>Baum et al., Transportation Science,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Preprocessing computes transfer shortcuts; Pareto-optimal journeys on arrival time and number of trips; ~10x faster than prior approaches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Public-transit networks combined with secondary modes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Passenger-side objective only; no fleet or crew planning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Transfers drive journey cost: DBARS limits changes and rejects unwalkable interchanges (over 1.2 km)</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Analyzing transit systems using GTFS by generating spatiotemporal transit networks</a:t>
                      </a:r>
                      <a:endParaRPr sz="950"/>
                    </a:p>
                    <a:p>
                      <a:pPr algn="l"/>
                      <a:r>
                        <a:rPr sz="950" b="0" i="0">
                          <a:solidFill>
                            <a:srgbClr val="1F2937"/>
                          </a:solidFill>
                          <a:latin typeface="Arial"/>
                        </a:rPr>
                        <a:t>Liu et al., Information,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GTFS2STN converts GTFS to spatiotemporal networks; Dijkstra shortest paths; before/after statistical tests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WeGo Transit (Nashville) GTFS, 2019 to 2024; checked against Google Maps (MAPE within 12%)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Circular walk buffers; cannot merge several feeds; memory-heavy; no demand side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GTFS is the standard analysis input; DBARS also generates it (3,713 routes, 47,295 trips)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Visualizing public transit system operation with GTFS data: Calgary, Canada</a:t>
                      </a:r>
                      <a:endParaRPr sz="950"/>
                    </a:p>
                    <a:p>
                      <a:pPr algn="l"/>
                      <a:r>
                        <a:rPr sz="950" b="0" i="0">
                          <a:solidFill>
                            <a:srgbClr val="1F2937"/>
                          </a:solidFill>
                          <a:latin typeface="Arial"/>
                        </a:rPr>
                        <a:t>Prommaharaj et al., Heliyon, 2020</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PubtraVis: six interactive visualisation modules; cosine similarity and X-means clustering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Calgary Transit static GTFS, Apr to Jun 2016 (755 MB, 8 CSV files)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Static GTFS only, no real-time data; ease of use needs work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Analysis and visualisation for planners; no journey search or fleet sizing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[4]</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Multi-depot vehicle scheduling with multiple vehicle types on overlapped bus routes</a:t>
                      </a:r>
                      <a:endParaRPr sz="950"/>
                    </a:p>
                    <a:p>
                      <a:pPr algn="l"/>
                      <a:r>
                        <a:rPr sz="950" b="0" i="0">
                          <a:solidFill>
                            <a:srgbClr val="1F2937"/>
                          </a:solidFill>
                          <a:latin typeface="Arial"/>
                        </a:rPr>
                        <a:t>Shang et al., Expert Systems with Applications,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Bi-objective integer programming; capacity-constrained incremental assignment; Pareto solutions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Beijing: about 1.18 million bus-card swipes on six congested lines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Mixed vehicle types give irregular departures; regional use needs multi-operator coordination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Validated on six lines; DBARS runs the whole timetable across 44 depots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An exact approach for the multi-depot electric bus scheduling problem with time windows</a:t>
                      </a:r>
                      <a:endParaRPr sz="950"/>
                    </a:p>
                    <a:p>
                      <a:pPr algn="l"/>
                      <a:r>
                        <a:rPr sz="950" b="0" i="0">
                          <a:solidFill>
                            <a:srgbClr val="1F2937"/>
                          </a:solidFill>
                          <a:latin typeface="Arial"/>
                        </a:rPr>
                        <a:t>Gkiotsalitis et al., European J. of Operational Research,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Mixed-integer linear programme with valid inequalities and charging-capacity constraints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Benchmark instances (Carpaneto et al., 1989) plus a toy network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Exact method tested on instances of up to 30 trips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Exact solvers do not reach a city timetable; DBARS uses greedy chaining with a provable lower bound</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[6]</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GRASP algorithm for the bus crew scheduling problem</a:t>
                      </a:r>
                      <a:endParaRPr sz="950"/>
                    </a:p>
                    <a:p>
                      <a:pPr algn="l"/>
                      <a:r>
                        <a:rPr sz="950" b="0" i="0">
                          <a:solidFill>
                            <a:srgbClr val="1F2937"/>
                          </a:solidFill>
                          <a:latin typeface="Arial"/>
                        </a:rPr>
                        <a:t>Pardo-Pena et al., Int. J. of Industrial Eng. Computations, 2024</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GRASP metaheuristic: constructive step, repair and local search (INSERT, SWAP)</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Musliu (2006) instances of 42 to 595 shifts; real data from operator INTEGRA S.A.</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One instance stayed infeasible; results depend on tuning; satisfaction model is simple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Crew studied apart from vehicle blocks; DBARS cuts duties directly from blocks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(2/2)</a:t>
            </a:r>
          </a:p>
        </p:txBody>
      </p:sp>
      <p:graphicFrame>
        <p:nvGraphicFramePr>
          <p:cNvPr id="3" name="Table 2"/>
          <p:cNvGraphicFramePr>
            <a:graphicFrameLocks noGrp="1"/>
          </p:cNvGraphicFramePr>
          <p:nvPr/>
        </p:nvGraphicFramePr>
        <p:xfrm>
          <a:off x="457200" y="914400"/>
          <a:ext cx="8988552" cy="4700016"/>
        </p:xfrm>
        <a:graphic>
          <a:graphicData uri="http://schemas.openxmlformats.org/drawingml/2006/table">
            <a:tbl>
              <a:tblPr firstRow="0" bandRow="0">
                <a:tableStyleId>{2D5ABB26-0587-4C30-8999-92F81FD0307C}</a:tableStyleId>
              </a:tblPr>
              <a:tblGrid>
                <a:gridCol w="365760"/>
                <a:gridCol w="2240280"/>
                <a:gridCol w="1691640"/>
                <a:gridCol w="1371600"/>
                <a:gridCol w="1600200"/>
                <a:gridCol w="1719072"/>
              </a:tblGrid>
              <a:tr h="310896">
                <a:tc>
                  <a:txBody>
                    <a:bodyPr wrap="square" anchor="ctr" lIns="45720" tIns="27432" rIns="45720" bIns="27432"/>
                    <a:lstStyle/>
                    <a:p>
                      <a:pPr algn="ctr"/>
                      <a:r>
                        <a:rPr sz="1050" b="1" i="0">
                          <a:solidFill>
                            <a:srgbClr val="FFFFFF"/>
                          </a:solidFill>
                          <a:latin typeface="Arial"/>
                        </a:rPr>
                        <a:t>Ref.</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Title and Year</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Methodology</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Dataset</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Limitations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Observations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31520">
                <a:tc>
                  <a:txBody>
                    <a:bodyPr wrap="square" anchor="t" lIns="45720" tIns="27432" rIns="45720" bIns="27432"/>
                    <a:lstStyle/>
                    <a:p>
                      <a:pPr algn="ctr"/>
                      <a:r>
                        <a:rPr sz="950" b="1" i="0">
                          <a:solidFill>
                            <a:srgbClr val="1F2937"/>
                          </a:solidFill>
                          <a:latin typeface="Arial"/>
                        </a:rPr>
                        <a:t>[7]</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Optimizing bus driver scheduling: a set covering approach for reducing transportation costs</a:t>
                      </a:r>
                      <a:endParaRPr sz="950"/>
                    </a:p>
                    <a:p>
                      <a:pPr algn="l"/>
                      <a:r>
                        <a:rPr sz="950" b="0" i="0">
                          <a:solidFill>
                            <a:srgbClr val="1F2937"/>
                          </a:solidFill>
                          <a:latin typeface="Arial"/>
                        </a:rPr>
                        <a:t>Argilan &amp; Bekesi, Applied System Innovation,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Set covering with column generation and heuristics; time-space network; label-setting for shortest paths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Benchmarks A200 (200 trips, 2 depots) and A400, plus real operational data</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Integrated models simplify driving rules due to problem size; local rules need special checks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Crew rules are the hard part: DBARS models spread-over, driving-time and break limits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[8]</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direct demand model for bus transit ridership in Bengaluru, India</a:t>
                      </a:r>
                      <a:endParaRPr sz="950"/>
                    </a:p>
                    <a:p>
                      <a:pPr algn="l"/>
                      <a:r>
                        <a:rPr sz="950" b="0" i="0">
                          <a:solidFill>
                            <a:srgbClr val="1F2937"/>
                          </a:solidFill>
                          <a:latin typeface="Arial"/>
                        </a:rPr>
                        <a:t>Deepa et al., Transportation Research Part A, 2022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Stop-route demand model; Voronoi catchments; two-stage residual inclusion; piecewise frequency effect</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boardings at fare-stage clusters, morning peak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Needs fare-stage level data, not individual stops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Ridership gains flatten at high frequency: supports demand-based, not blanket, allocation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[9]</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The adverse impact of headway variability on bus transit ridership: Bengaluru</a:t>
                      </a:r>
                      <a:endParaRPr sz="950"/>
                    </a:p>
                    <a:p>
                      <a:pPr algn="l"/>
                      <a:r>
                        <a:rPr sz="950" b="0" i="0">
                          <a:solidFill>
                            <a:srgbClr val="1F2937"/>
                          </a:solidFill>
                          <a:latin typeface="Arial"/>
                        </a:rPr>
                        <a:t>Deepa et al., Transport Policy,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Direct demand models at route and stop level; two-stage residual inclusion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BMTC demand and supply data (over 6,000 buses)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Single city; limits generalisation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Irregular headways cut boardings: DBARS reports schedule adherence and ETA confidence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[10]</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review of bus arrival time prediction using artificial intelligence</a:t>
                      </a:r>
                      <a:endParaRPr sz="950"/>
                    </a:p>
                    <a:p>
                      <a:pPr algn="l"/>
                      <a:r>
                        <a:rPr sz="950" b="0" i="0">
                          <a:solidFill>
                            <a:srgbClr val="1F2937"/>
                          </a:solidFill>
                          <a:latin typeface="Arial"/>
                        </a:rPr>
                        <a:t>Singh &amp; Kumar, WIREs Data Mining and Knowledge Discovery, 2022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Systematic review of AI-based arrival-time prediction models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Review of published studies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Identifies research gaps and future directions; review only</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live positions are unavailable: DBARS ships route-following ETA and flags simulated data</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[11]</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Survey of hallucination in natural language generation</a:t>
                      </a:r>
                      <a:endParaRPr sz="950"/>
                    </a:p>
                    <a:p>
                      <a:pPr algn="l"/>
                      <a:r>
                        <a:rPr sz="950" b="0" i="0">
                          <a:solidFill>
                            <a:srgbClr val="1F2937"/>
                          </a:solidFill>
                          <a:latin typeface="Arial"/>
                        </a:rPr>
                        <a:t>Ji et al., ACM Computing Surveys,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Survey of hallucination metrics and mitigation across NLG tasks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Survey (summarisation, dialogue, QA, and more)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General NLG; not specific to transport or operations assistants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Motivates DBARS's read-only assistant that answers from retrieved evidence with citations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[12]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Gender, welfare, and mobility: impact of the Shakti scheme on BMTC (report)</a:t>
                      </a:r>
                      <a:endParaRPr sz="950"/>
                    </a:p>
                    <a:p>
                      <a:pPr algn="l"/>
                      <a:r>
                        <a:rPr sz="950" b="0" i="0">
                          <a:solidFill>
                            <a:srgbClr val="1F2937"/>
                          </a:solidFill>
                          <a:latin typeface="Arial"/>
                        </a:rPr>
                        <a:t>Halder &amp; Jayadev, Azim Premji University,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Pre/post analysis of the scheme over 27 months (Jan 2023 to Mar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ridership: 28.9 million trips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only; ridership focus, no operator tooling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Free rides must still be counted: DBARS stores fare value and fare collected separately</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Gaps in Existing Work</a:t>
            </a:r>
          </a:p>
        </p:txBody>
      </p:sp>
      <p:sp>
        <p:nvSpPr>
          <p:cNvPr id="3" name="Rounded Rectangle 2"/>
          <p:cNvSpPr/>
          <p:nvPr/>
        </p:nvSpPr>
        <p:spPr>
          <a:xfrm>
            <a:off x="457200" y="914400"/>
            <a:ext cx="8988552" cy="969264"/>
          </a:xfrm>
          <a:prstGeom prst="roundRect">
            <a:avLst>
              <a:gd name="adj" fmla="val 6000"/>
            </a:avLst>
          </a:prstGeom>
          <a:solidFill>
            <a:srgbClr val="F3F4F6"/>
          </a:solidFill>
          <a:ln>
            <a:noFill/>
          </a:ln>
          <a:effectLst/>
        </p:spPr>
        <p:txBody>
          <a:bodyPr rtlCol="0" anchor="ctr"/>
          <a:lstStyle/>
          <a:p>
            <a:pPr algn="ctr"/>
          </a:p>
        </p:txBody>
      </p:sp>
      <p:sp>
        <p:nvSpPr>
          <p:cNvPr id="4" name="Rounded Rectangle 3"/>
          <p:cNvSpPr/>
          <p:nvPr/>
        </p:nvSpPr>
        <p:spPr>
          <a:xfrm>
            <a:off x="566928" y="1097280"/>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G1</a:t>
            </a:r>
            <a:endParaRPr sz="1600"/>
          </a:p>
        </p:txBody>
      </p:sp>
      <p:sp>
        <p:nvSpPr>
          <p:cNvPr id="5" name="TextBox 4"/>
          <p:cNvSpPr txBox="1"/>
          <p:nvPr/>
        </p:nvSpPr>
        <p:spPr>
          <a:xfrm>
            <a:off x="1371600" y="960120"/>
            <a:ext cx="7955279" cy="310896"/>
          </a:xfrm>
          <a:prstGeom prst="rect">
            <a:avLst/>
          </a:prstGeom>
          <a:noFill/>
        </p:spPr>
        <p:txBody>
          <a:bodyPr wrap="square" anchor="ctr" lIns="73152" rIns="73152"/>
          <a:lstStyle/>
          <a:p>
            <a:pPr algn="l"/>
            <a:r>
              <a:rPr sz="1400" b="1" i="0">
                <a:solidFill>
                  <a:srgbClr val="C00000"/>
                </a:solidFill>
                <a:latin typeface="Arial"/>
              </a:rPr>
              <a:t>Passenger and operator sides are studied separately</a:t>
            </a:r>
            <a:endParaRPr sz="1400"/>
          </a:p>
        </p:txBody>
      </p:sp>
      <p:sp>
        <p:nvSpPr>
          <p:cNvPr id="6" name="TextBox 5"/>
          <p:cNvSpPr txBox="1"/>
          <p:nvPr/>
        </p:nvSpPr>
        <p:spPr>
          <a:xfrm>
            <a:off x="1371600" y="1280160"/>
            <a:ext cx="7955279" cy="585216"/>
          </a:xfrm>
          <a:prstGeom prst="rect">
            <a:avLst/>
          </a:prstGeom>
          <a:noFill/>
        </p:spPr>
        <p:txBody>
          <a:bodyPr wrap="square" anchor="t" lIns="73152" rIns="73152"/>
          <a:lstStyle/>
          <a:p>
            <a:pPr algn="l"/>
            <a:r>
              <a:rPr sz="1200" b="0" i="0">
                <a:solidFill>
                  <a:srgbClr val="1F2937"/>
                </a:solidFill>
                <a:latin typeface="Arial"/>
              </a:rPr>
              <a:t>Journey-planning work optimises the rider's trip [1]; scheduling work optimises buses or crews [4-7]. None of the surveyed papers derives a commuter search, a fleet size and a crew roster from one dataset.</a:t>
            </a:r>
            <a:endParaRPr sz="1200"/>
          </a:p>
        </p:txBody>
      </p:sp>
      <p:sp>
        <p:nvSpPr>
          <p:cNvPr id="7" name="Rounded Rectangle 6"/>
          <p:cNvSpPr/>
          <p:nvPr/>
        </p:nvSpPr>
        <p:spPr>
          <a:xfrm>
            <a:off x="457200" y="1975104"/>
            <a:ext cx="8988552" cy="969264"/>
          </a:xfrm>
          <a:prstGeom prst="roundRect">
            <a:avLst>
              <a:gd name="adj" fmla="val 6000"/>
            </a:avLst>
          </a:prstGeom>
          <a:solidFill>
            <a:srgbClr val="F3F4F6"/>
          </a:solidFill>
          <a:ln>
            <a:noFill/>
          </a:ln>
          <a:effectLst/>
        </p:spPr>
        <p:txBody>
          <a:bodyPr rtlCol="0" anchor="ctr"/>
          <a:lstStyle/>
          <a:p>
            <a:pPr algn="ctr"/>
          </a:p>
        </p:txBody>
      </p:sp>
      <p:sp>
        <p:nvSpPr>
          <p:cNvPr id="8" name="Rounded Rectangle 7"/>
          <p:cNvSpPr/>
          <p:nvPr/>
        </p:nvSpPr>
        <p:spPr>
          <a:xfrm>
            <a:off x="566928" y="2157984"/>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G2</a:t>
            </a:r>
            <a:endParaRPr sz="1600"/>
          </a:p>
        </p:txBody>
      </p:sp>
      <p:sp>
        <p:nvSpPr>
          <p:cNvPr id="9" name="TextBox 8"/>
          <p:cNvSpPr txBox="1"/>
          <p:nvPr/>
        </p:nvSpPr>
        <p:spPr>
          <a:xfrm>
            <a:off x="1371600" y="2020824"/>
            <a:ext cx="7955279" cy="310896"/>
          </a:xfrm>
          <a:prstGeom prst="rect">
            <a:avLst/>
          </a:prstGeom>
          <a:noFill/>
        </p:spPr>
        <p:txBody>
          <a:bodyPr wrap="square" anchor="ctr" lIns="73152" rIns="73152"/>
          <a:lstStyle/>
          <a:p>
            <a:pPr algn="l"/>
            <a:r>
              <a:rPr sz="1400" b="1" i="0">
                <a:solidFill>
                  <a:srgbClr val="C00000"/>
                </a:solidFill>
                <a:latin typeface="Arial"/>
              </a:rPr>
              <a:t>Scheduling methods are validated on small instances</a:t>
            </a:r>
            <a:endParaRPr sz="1400"/>
          </a:p>
        </p:txBody>
      </p:sp>
      <p:sp>
        <p:nvSpPr>
          <p:cNvPr id="10" name="TextBox 9"/>
          <p:cNvSpPr txBox="1"/>
          <p:nvPr/>
        </p:nvSpPr>
        <p:spPr>
          <a:xfrm>
            <a:off x="1371600" y="2340864"/>
            <a:ext cx="7955279" cy="585216"/>
          </a:xfrm>
          <a:prstGeom prst="rect">
            <a:avLst/>
          </a:prstGeom>
          <a:noFill/>
        </p:spPr>
        <p:txBody>
          <a:bodyPr wrap="square" anchor="t" lIns="73152" rIns="73152"/>
          <a:lstStyle/>
          <a:p>
            <a:pPr algn="l"/>
            <a:r>
              <a:rPr sz="1200" b="0" i="0">
                <a:solidFill>
                  <a:srgbClr val="1F2937"/>
                </a:solidFill>
                <a:latin typeface="Arial"/>
              </a:rPr>
              <a:t>Reported tests: six bus lines [4], up to 30 trips [5], 42 to 595 shifts [6], 200 to 400 trips [7]. A full metropolitan timetable (6,737 route-directions, 44 depots) is not covered.</a:t>
            </a:r>
            <a:endParaRPr sz="1200"/>
          </a:p>
        </p:txBody>
      </p:sp>
      <p:sp>
        <p:nvSpPr>
          <p:cNvPr id="11" name="Rounded Rectangle 10"/>
          <p:cNvSpPr/>
          <p:nvPr/>
        </p:nvSpPr>
        <p:spPr>
          <a:xfrm>
            <a:off x="457200" y="3035808"/>
            <a:ext cx="8988552" cy="969264"/>
          </a:xfrm>
          <a:prstGeom prst="roundRect">
            <a:avLst>
              <a:gd name="adj" fmla="val 6000"/>
            </a:avLst>
          </a:prstGeom>
          <a:solidFill>
            <a:srgbClr val="F3F4F6"/>
          </a:solidFill>
          <a:ln>
            <a:noFill/>
          </a:ln>
          <a:effectLst/>
        </p:spPr>
        <p:txBody>
          <a:bodyPr rtlCol="0" anchor="ctr"/>
          <a:lstStyle/>
          <a:p>
            <a:pPr algn="ctr"/>
          </a:p>
        </p:txBody>
      </p:sp>
      <p:sp>
        <p:nvSpPr>
          <p:cNvPr id="12" name="Rounded Rectangle 11"/>
          <p:cNvSpPr/>
          <p:nvPr/>
        </p:nvSpPr>
        <p:spPr>
          <a:xfrm>
            <a:off x="566928" y="3218688"/>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G3</a:t>
            </a:r>
            <a:endParaRPr sz="1600"/>
          </a:p>
        </p:txBody>
      </p:sp>
      <p:sp>
        <p:nvSpPr>
          <p:cNvPr id="13" name="TextBox 12"/>
          <p:cNvSpPr txBox="1"/>
          <p:nvPr/>
        </p:nvSpPr>
        <p:spPr>
          <a:xfrm>
            <a:off x="1371600" y="3081528"/>
            <a:ext cx="7955279" cy="310896"/>
          </a:xfrm>
          <a:prstGeom prst="rect">
            <a:avLst/>
          </a:prstGeom>
          <a:noFill/>
        </p:spPr>
        <p:txBody>
          <a:bodyPr wrap="square" anchor="ctr" lIns="73152" rIns="73152"/>
          <a:lstStyle/>
          <a:p>
            <a:pPr algn="l"/>
            <a:r>
              <a:rPr sz="1400" b="1" i="0">
                <a:solidFill>
                  <a:srgbClr val="C00000"/>
                </a:solidFill>
                <a:latin typeface="Arial"/>
              </a:rPr>
              <a:t>Open-data tools assume a GTFS feed already exists</a:t>
            </a:r>
            <a:endParaRPr sz="1400"/>
          </a:p>
        </p:txBody>
      </p:sp>
      <p:sp>
        <p:nvSpPr>
          <p:cNvPr id="14" name="TextBox 13"/>
          <p:cNvSpPr txBox="1"/>
          <p:nvPr/>
        </p:nvSpPr>
        <p:spPr>
          <a:xfrm>
            <a:off x="1371600" y="3401568"/>
            <a:ext cx="7955279" cy="585216"/>
          </a:xfrm>
          <a:prstGeom prst="rect">
            <a:avLst/>
          </a:prstGeom>
          <a:noFill/>
        </p:spPr>
        <p:txBody>
          <a:bodyPr wrap="square" anchor="t" lIns="73152" rIns="73152"/>
          <a:lstStyle/>
          <a:p>
            <a:pPr algn="l"/>
            <a:r>
              <a:rPr sz="1200" b="0" i="0">
                <a:solidFill>
                  <a:srgbClr val="1F2937"/>
                </a:solidFill>
                <a:latin typeface="Arial"/>
              </a:rPr>
              <a:t>GTFS studies [2, 3] start from a published feed. For BMTC the timetable is a spreadsheet, so a generator is needed, with interpolated times clearly marked.</a:t>
            </a:r>
            <a:endParaRPr sz="1200"/>
          </a:p>
        </p:txBody>
      </p:sp>
      <p:sp>
        <p:nvSpPr>
          <p:cNvPr id="15" name="Rounded Rectangle 14"/>
          <p:cNvSpPr/>
          <p:nvPr/>
        </p:nvSpPr>
        <p:spPr>
          <a:xfrm>
            <a:off x="457200" y="4096512"/>
            <a:ext cx="8988552" cy="969264"/>
          </a:xfrm>
          <a:prstGeom prst="roundRect">
            <a:avLst>
              <a:gd name="adj" fmla="val 6000"/>
            </a:avLst>
          </a:prstGeom>
          <a:solidFill>
            <a:srgbClr val="F3F4F6"/>
          </a:solidFill>
          <a:ln>
            <a:noFill/>
          </a:ln>
          <a:effectLst/>
        </p:spPr>
        <p:txBody>
          <a:bodyPr rtlCol="0" anchor="ctr"/>
          <a:lstStyle/>
          <a:p>
            <a:pPr algn="ctr"/>
          </a:p>
        </p:txBody>
      </p:sp>
      <p:sp>
        <p:nvSpPr>
          <p:cNvPr id="16" name="Rounded Rectangle 15"/>
          <p:cNvSpPr/>
          <p:nvPr/>
        </p:nvSpPr>
        <p:spPr>
          <a:xfrm>
            <a:off x="566928" y="4279392"/>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G4</a:t>
            </a:r>
            <a:endParaRPr sz="1600"/>
          </a:p>
        </p:txBody>
      </p:sp>
      <p:sp>
        <p:nvSpPr>
          <p:cNvPr id="17" name="TextBox 16"/>
          <p:cNvSpPr txBox="1"/>
          <p:nvPr/>
        </p:nvSpPr>
        <p:spPr>
          <a:xfrm>
            <a:off x="1371600" y="4142232"/>
            <a:ext cx="7955279" cy="310896"/>
          </a:xfrm>
          <a:prstGeom prst="rect">
            <a:avLst/>
          </a:prstGeom>
          <a:noFill/>
        </p:spPr>
        <p:txBody>
          <a:bodyPr wrap="square" anchor="ctr" lIns="73152" rIns="73152"/>
          <a:lstStyle/>
          <a:p>
            <a:pPr algn="l"/>
            <a:r>
              <a:rPr sz="1400" b="1" i="0">
                <a:solidFill>
                  <a:srgbClr val="C00000"/>
                </a:solidFill>
                <a:latin typeface="Arial"/>
              </a:rPr>
              <a:t>Demand knowledge does not reach dispatch decisions</a:t>
            </a:r>
            <a:endParaRPr sz="1400"/>
          </a:p>
        </p:txBody>
      </p:sp>
      <p:sp>
        <p:nvSpPr>
          <p:cNvPr id="18" name="TextBox 17"/>
          <p:cNvSpPr txBox="1"/>
          <p:nvPr/>
        </p:nvSpPr>
        <p:spPr>
          <a:xfrm>
            <a:off x="1371600" y="4462272"/>
            <a:ext cx="7955279" cy="585216"/>
          </a:xfrm>
          <a:prstGeom prst="rect">
            <a:avLst/>
          </a:prstGeom>
          <a:noFill/>
        </p:spPr>
        <p:txBody>
          <a:bodyPr wrap="square" anchor="t" lIns="73152" rIns="73152"/>
          <a:lstStyle/>
          <a:p>
            <a:pPr algn="l"/>
            <a:r>
              <a:rPr sz="1200" b="0" i="0">
                <a:solidFill>
                  <a:srgbClr val="1F2937"/>
                </a:solidFill>
                <a:latin typeface="Arial"/>
              </a:rPr>
              <a:t>BMTC demand studies [8, 9] are offline statistical models. No surveyed work lets commuters express unmet demand and turns it into ranked recommendations for a depot manager.</a:t>
            </a:r>
            <a:endParaRPr sz="1200"/>
          </a:p>
        </p:txBody>
      </p:sp>
      <p:sp>
        <p:nvSpPr>
          <p:cNvPr id="19" name="Rounded Rectangle 18"/>
          <p:cNvSpPr/>
          <p:nvPr/>
        </p:nvSpPr>
        <p:spPr>
          <a:xfrm>
            <a:off x="457200" y="5175504"/>
            <a:ext cx="8988552" cy="658368"/>
          </a:xfrm>
          <a:prstGeom prst="roundRect">
            <a:avLst>
              <a:gd name="adj" fmla="val 10000"/>
            </a:avLst>
          </a:prstGeom>
          <a:solidFill>
            <a:srgbClr val="1F2937"/>
          </a:solidFill>
          <a:ln>
            <a:noFill/>
          </a:ln>
          <a:effectLst/>
        </p:spPr>
        <p:txBody>
          <a:bodyPr rtlCol="0" anchor="ctr" wrap="square" lIns="228600" rIns="228600"/>
          <a:lstStyle/>
          <a:p>
            <a:pPr algn="l"/>
            <a:r>
              <a:rPr sz="1300" b="1" i="0">
                <a:solidFill>
                  <a:srgbClr val="FFC9C9"/>
                </a:solidFill>
                <a:latin typeface="Arial"/>
              </a:rPr>
              <a:t>Bridge to our project: </a:t>
            </a:r>
            <a:r>
              <a:rPr sz="1300" b="0" i="0">
                <a:solidFill>
                  <a:srgbClr val="FFFFFF"/>
                </a:solidFill>
                <a:latin typeface="Arial"/>
              </a:rPr>
              <a:t>DBARS answers both sides of the same question from one BMTC dataset, publishes it as GTFS, and closes the loop from commuter demand to depot dispatch.</a:t>
            </a:r>
            <a:endParaRPr sz="13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Proposed Work / Problem Statement</a:t>
            </a:r>
          </a:p>
        </p:txBody>
      </p:sp>
      <p:sp>
        <p:nvSpPr>
          <p:cNvPr id="3" name="Rounded Rectangle 2"/>
          <p:cNvSpPr/>
          <p:nvPr/>
        </p:nvSpPr>
        <p:spPr>
          <a:xfrm>
            <a:off x="457200" y="914400"/>
            <a:ext cx="8988552" cy="2011680"/>
          </a:xfrm>
          <a:prstGeom prst="roundRect">
            <a:avLst>
              <a:gd name="adj" fmla="val 5000"/>
            </a:avLst>
          </a:prstGeom>
          <a:solidFill>
            <a:srgbClr val="E6F4EA"/>
          </a:solidFill>
          <a:ln>
            <a:noFill/>
          </a:ln>
          <a:effectLst/>
        </p:spPr>
        <p:txBody>
          <a:bodyPr rtlCol="0" anchor="ctr" wrap="square" lIns="274320" tIns="91440" rIns="274320" bIns="91440"/>
          <a:lstStyle/>
          <a:p>
            <a:pPr algn="l">
              <a:spcAft>
                <a:spcPts val="600"/>
              </a:spcAft>
            </a:pPr>
            <a:r>
              <a:rPr sz="1400" b="0" i="0">
                <a:solidFill>
                  <a:srgbClr val="1F2937"/>
                </a:solidFill>
                <a:latin typeface="Arial"/>
              </a:rPr>
              <a:t>Bengaluru's bus network, with 3,940 bus numbers serving 4,883 stops, is hard to navigate, and the software around it solves only one side of the problem. Commuter apps say which bus to catch, but nothing tells the operator how many buses and crew a timetable needs, and no standard open feed exists for other planners to use.</a:t>
            </a:r>
            <a:endParaRPr sz="1400"/>
          </a:p>
          <a:p>
            <a:pPr algn="l"/>
            <a:r>
              <a:rPr sz="1400" b="0" i="0">
                <a:solidFill>
                  <a:srgbClr val="1F2937"/>
                </a:solidFill>
                <a:latin typeface="Arial"/>
              </a:rPr>
              <a:t>There is therefore a need for one data-driven platform that answers both sides from a single BMTC dataset: journey search with transfers, minimum fleet and crew planning, demand-to-dispatch feedback and GTFS open data, while stating clearly what is modelled and what is measured.</a:t>
            </a:r>
            <a:endParaRPr sz="1400"/>
          </a:p>
        </p:txBody>
      </p:sp>
      <p:sp>
        <p:nvSpPr>
          <p:cNvPr id="4" name="Rounded Rectangle 3"/>
          <p:cNvSpPr/>
          <p:nvPr/>
        </p:nvSpPr>
        <p:spPr>
          <a:xfrm>
            <a:off x="457200"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5" name="Oval 4"/>
          <p:cNvSpPr/>
          <p:nvPr/>
        </p:nvSpPr>
        <p:spPr>
          <a:xfrm>
            <a:off x="621792"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6" name="TextBox 5"/>
          <p:cNvSpPr txBox="1"/>
          <p:nvPr/>
        </p:nvSpPr>
        <p:spPr>
          <a:xfrm>
            <a:off x="1097280" y="3255264"/>
            <a:ext cx="2185415" cy="365760"/>
          </a:xfrm>
          <a:prstGeom prst="rect">
            <a:avLst/>
          </a:prstGeom>
          <a:noFill/>
        </p:spPr>
        <p:txBody>
          <a:bodyPr wrap="square" anchor="ctr" lIns="73152" rIns="73152"/>
          <a:lstStyle/>
          <a:p>
            <a:pPr algn="l"/>
            <a:r>
              <a:rPr sz="1500" b="1" i="0">
                <a:solidFill>
                  <a:srgbClr val="C00000"/>
                </a:solidFill>
                <a:latin typeface="Arial"/>
              </a:rPr>
              <a:t>Commuters</a:t>
            </a:r>
            <a:endParaRPr sz="1500"/>
          </a:p>
        </p:txBody>
      </p:sp>
      <p:sp>
        <p:nvSpPr>
          <p:cNvPr id="7" name="TextBox 6"/>
          <p:cNvSpPr txBox="1"/>
          <p:nvPr/>
        </p:nvSpPr>
        <p:spPr>
          <a:xfrm>
            <a:off x="594360" y="3749039"/>
            <a:ext cx="2642616" cy="1325880"/>
          </a:xfrm>
          <a:prstGeom prst="rect">
            <a:avLst/>
          </a:prstGeom>
          <a:noFill/>
        </p:spPr>
        <p:txBody>
          <a:bodyPr wrap="square" anchor="t" lIns="73152" rIns="73152"/>
          <a:lstStyle/>
          <a:p>
            <a:pPr algn="l"/>
            <a:r>
              <a:rPr sz="1350" b="0" i="0">
                <a:solidFill>
                  <a:srgbClr val="1F2937"/>
                </a:solidFill>
                <a:latin typeface="Arial"/>
              </a:rPr>
              <a:t>Which of 3,940 buses goes from A to B, especially when a change is needed?</a:t>
            </a:r>
            <a:endParaRPr sz="1350"/>
          </a:p>
        </p:txBody>
      </p:sp>
      <p:sp>
        <p:nvSpPr>
          <p:cNvPr id="8" name="Rounded Rectangle 7"/>
          <p:cNvSpPr/>
          <p:nvPr/>
        </p:nvSpPr>
        <p:spPr>
          <a:xfrm>
            <a:off x="3493008"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9" name="Oval 8"/>
          <p:cNvSpPr/>
          <p:nvPr/>
        </p:nvSpPr>
        <p:spPr>
          <a:xfrm>
            <a:off x="3657600"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10" name="TextBox 9"/>
          <p:cNvSpPr txBox="1"/>
          <p:nvPr/>
        </p:nvSpPr>
        <p:spPr>
          <a:xfrm>
            <a:off x="4133087" y="3255264"/>
            <a:ext cx="2185415" cy="365760"/>
          </a:xfrm>
          <a:prstGeom prst="rect">
            <a:avLst/>
          </a:prstGeom>
          <a:noFill/>
        </p:spPr>
        <p:txBody>
          <a:bodyPr wrap="square" anchor="ctr" lIns="73152" rIns="73152"/>
          <a:lstStyle/>
          <a:p>
            <a:pPr algn="l"/>
            <a:r>
              <a:rPr sz="1500" b="1" i="0">
                <a:solidFill>
                  <a:srgbClr val="C00000"/>
                </a:solidFill>
                <a:latin typeface="Arial"/>
              </a:rPr>
              <a:t>Operator</a:t>
            </a:r>
            <a:endParaRPr sz="1500"/>
          </a:p>
        </p:txBody>
      </p:sp>
      <p:sp>
        <p:nvSpPr>
          <p:cNvPr id="11" name="TextBox 10"/>
          <p:cNvSpPr txBox="1"/>
          <p:nvPr/>
        </p:nvSpPr>
        <p:spPr>
          <a:xfrm>
            <a:off x="3630168" y="3749039"/>
            <a:ext cx="2642616" cy="1325880"/>
          </a:xfrm>
          <a:prstGeom prst="rect">
            <a:avLst/>
          </a:prstGeom>
          <a:noFill/>
        </p:spPr>
        <p:txBody>
          <a:bodyPr wrap="square" anchor="t" lIns="73152" rIns="73152"/>
          <a:lstStyle/>
          <a:p>
            <a:pPr algn="l"/>
            <a:r>
              <a:rPr sz="1350" b="0" i="0">
                <a:solidFill>
                  <a:srgbClr val="1F2937"/>
                </a:solidFill>
                <a:latin typeface="Arial"/>
              </a:rPr>
              <a:t>How many buses, empty kilometres and crew duties does this timetable really need?</a:t>
            </a:r>
            <a:endParaRPr sz="1350"/>
          </a:p>
        </p:txBody>
      </p:sp>
      <p:sp>
        <p:nvSpPr>
          <p:cNvPr id="12" name="Rounded Rectangle 11"/>
          <p:cNvSpPr/>
          <p:nvPr/>
        </p:nvSpPr>
        <p:spPr>
          <a:xfrm>
            <a:off x="6528816"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13" name="Oval 12"/>
          <p:cNvSpPr/>
          <p:nvPr/>
        </p:nvSpPr>
        <p:spPr>
          <a:xfrm>
            <a:off x="6693407"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4" name="TextBox 13"/>
          <p:cNvSpPr txBox="1"/>
          <p:nvPr/>
        </p:nvSpPr>
        <p:spPr>
          <a:xfrm>
            <a:off x="7168896" y="3255264"/>
            <a:ext cx="2185415" cy="365760"/>
          </a:xfrm>
          <a:prstGeom prst="rect">
            <a:avLst/>
          </a:prstGeom>
          <a:noFill/>
        </p:spPr>
        <p:txBody>
          <a:bodyPr wrap="square" anchor="ctr" lIns="73152" rIns="73152"/>
          <a:lstStyle/>
          <a:p>
            <a:pPr algn="l"/>
            <a:r>
              <a:rPr sz="1500" b="1" i="0">
                <a:solidFill>
                  <a:srgbClr val="C00000"/>
                </a:solidFill>
                <a:latin typeface="Arial"/>
              </a:rPr>
              <a:t>Ecosystem</a:t>
            </a:r>
            <a:endParaRPr sz="1500"/>
          </a:p>
        </p:txBody>
      </p:sp>
      <p:sp>
        <p:nvSpPr>
          <p:cNvPr id="15" name="TextBox 14"/>
          <p:cNvSpPr txBox="1"/>
          <p:nvPr/>
        </p:nvSpPr>
        <p:spPr>
          <a:xfrm>
            <a:off x="6665976" y="3749039"/>
            <a:ext cx="2642616" cy="1325880"/>
          </a:xfrm>
          <a:prstGeom prst="rect">
            <a:avLst/>
          </a:prstGeom>
          <a:noFill/>
        </p:spPr>
        <p:txBody>
          <a:bodyPr wrap="square" anchor="t" lIns="73152" rIns="73152"/>
          <a:lstStyle/>
          <a:p>
            <a:pPr algn="l"/>
            <a:r>
              <a:rPr sz="1350" b="0" i="0">
                <a:solidFill>
                  <a:srgbClr val="1F2937"/>
                </a:solidFill>
                <a:latin typeface="Arial"/>
              </a:rPr>
              <a:t>Third-party journey planners are only as good as their data. No standard BMTC feed was available.</a:t>
            </a:r>
            <a:endParaRPr sz="1350"/>
          </a:p>
        </p:txBody>
      </p:sp>
      <p:sp>
        <p:nvSpPr>
          <p:cNvPr id="16" name="Rounded Rectangle 15"/>
          <p:cNvSpPr/>
          <p:nvPr/>
        </p:nvSpPr>
        <p:spPr>
          <a:xfrm>
            <a:off x="457200" y="5303520"/>
            <a:ext cx="8988552" cy="914400"/>
          </a:xfrm>
          <a:prstGeom prst="roundRect">
            <a:avLst>
              <a:gd name="adj" fmla="val 8000"/>
            </a:avLst>
          </a:prstGeom>
          <a:solidFill>
            <a:srgbClr val="FFFFFF"/>
          </a:solidFill>
          <a:ln w="15875">
            <a:solidFill>
              <a:srgbClr val="C00000"/>
            </a:solidFill>
          </a:ln>
          <a:effectLst/>
        </p:spPr>
        <p:txBody>
          <a:bodyPr rtlCol="0" anchor="ctr" wrap="square" lIns="228600" rIns="228600"/>
          <a:lstStyle/>
          <a:p>
            <a:pPr algn="l"/>
            <a:r>
              <a:rPr sz="1300" b="1" i="0">
                <a:solidFill>
                  <a:srgbClr val="C00000"/>
                </a:solidFill>
                <a:latin typeface="Arial"/>
              </a:rPr>
              <a:t>Title expanded: </a:t>
            </a:r>
            <a:r>
              <a:rPr sz="1300" b="0" i="0">
                <a:solidFill>
                  <a:srgbClr val="1F2937"/>
                </a:solidFill>
                <a:latin typeface="Arial"/>
              </a:rPr>
              <a:t>Demand Based Bus Allocation = commuter demand becomes an operator decision. Routing System = the journey planner built on the same data.</a:t>
            </a:r>
            <a:endParaRPr sz="13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Objectives</a:t>
            </a:r>
          </a:p>
        </p:txBody>
      </p:sp>
      <p:sp>
        <p:nvSpPr>
          <p:cNvPr id="3" name="Rounded Rectangle 2"/>
          <p:cNvSpPr/>
          <p:nvPr/>
        </p:nvSpPr>
        <p:spPr>
          <a:xfrm>
            <a:off x="457200" y="914400"/>
            <a:ext cx="8988552" cy="1261872"/>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42416"/>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1</a:t>
            </a:r>
            <a:endParaRPr sz="1600"/>
          </a:p>
        </p:txBody>
      </p:sp>
      <p:sp>
        <p:nvSpPr>
          <p:cNvPr id="5" name="TextBox 4"/>
          <p:cNvSpPr txBox="1"/>
          <p:nvPr/>
        </p:nvSpPr>
        <p:spPr>
          <a:xfrm>
            <a:off x="1234440" y="987552"/>
            <a:ext cx="8092440" cy="603504"/>
          </a:xfrm>
          <a:prstGeom prst="rect">
            <a:avLst/>
          </a:prstGeom>
          <a:noFill/>
        </p:spPr>
        <p:txBody>
          <a:bodyPr wrap="square" anchor="ctr" lIns="73152" rIns="73152"/>
          <a:lstStyle/>
          <a:p>
            <a:pPr algn="l"/>
            <a:r>
              <a:rPr sz="1400" b="1" i="0">
                <a:solidFill>
                  <a:srgbClr val="C00000"/>
                </a:solidFill>
                <a:latin typeface="Arial"/>
              </a:rPr>
              <a:t>To develop </a:t>
            </a:r>
            <a:r>
              <a:rPr sz="1400" b="0" i="0">
                <a:solidFill>
                  <a:srgbClr val="1F2937"/>
                </a:solidFill>
                <a:latin typeface="Arial"/>
              </a:rPr>
              <a:t>a journey planner for direct, one-change and two-change bus journeys between any two of 4,883 stops.</a:t>
            </a:r>
            <a:endParaRPr sz="1400"/>
          </a:p>
        </p:txBody>
      </p:sp>
      <p:sp>
        <p:nvSpPr>
          <p:cNvPr id="6" name="TextBox 5"/>
          <p:cNvSpPr txBox="1"/>
          <p:nvPr/>
        </p:nvSpPr>
        <p:spPr>
          <a:xfrm>
            <a:off x="1234440" y="1591056"/>
            <a:ext cx="8092440" cy="566928"/>
          </a:xfrm>
          <a:prstGeom prst="rect">
            <a:avLst/>
          </a:prstGeom>
          <a:noFill/>
        </p:spPr>
        <p:txBody>
          <a:bodyPr wrap="square" anchor="t" lIns="73152" rIns="73152"/>
          <a:lstStyle/>
          <a:p>
            <a:pPr algn="l"/>
            <a:r>
              <a:rPr sz="1150" b="0" i="1">
                <a:solidFill>
                  <a:srgbClr val="4B5563"/>
                </a:solidFill>
                <a:latin typeface="Arial"/>
              </a:rPr>
              <a:t>Success measure: best-option rate at least 0.70 (measured 0.7167); within 2 stops of best at least 0.92 (measured 0.9917); about 1 second per query.</a:t>
            </a:r>
            <a:endParaRPr sz="1150"/>
          </a:p>
        </p:txBody>
      </p:sp>
      <p:sp>
        <p:nvSpPr>
          <p:cNvPr id="7" name="Rounded Rectangle 6"/>
          <p:cNvSpPr/>
          <p:nvPr/>
        </p:nvSpPr>
        <p:spPr>
          <a:xfrm>
            <a:off x="457200" y="2258568"/>
            <a:ext cx="8988552" cy="1261872"/>
          </a:xfrm>
          <a:prstGeom prst="roundRect">
            <a:avLst>
              <a:gd name="adj" fmla="val 5000"/>
            </a:avLst>
          </a:prstGeom>
          <a:solidFill>
            <a:srgbClr val="F3F4F6"/>
          </a:solidFill>
          <a:ln>
            <a:noFill/>
          </a:ln>
          <a:effectLst/>
        </p:spPr>
        <p:txBody>
          <a:bodyPr rtlCol="0" anchor="ctr"/>
          <a:lstStyle/>
          <a:p>
            <a:pPr algn="ctr"/>
          </a:p>
        </p:txBody>
      </p:sp>
      <p:sp>
        <p:nvSpPr>
          <p:cNvPr id="8" name="Oval 7"/>
          <p:cNvSpPr/>
          <p:nvPr/>
        </p:nvSpPr>
        <p:spPr>
          <a:xfrm>
            <a:off x="594360" y="2386584"/>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2</a:t>
            </a:r>
            <a:endParaRPr sz="1600"/>
          </a:p>
        </p:txBody>
      </p:sp>
      <p:sp>
        <p:nvSpPr>
          <p:cNvPr id="9" name="TextBox 8"/>
          <p:cNvSpPr txBox="1"/>
          <p:nvPr/>
        </p:nvSpPr>
        <p:spPr>
          <a:xfrm>
            <a:off x="1234440" y="2331720"/>
            <a:ext cx="8092440" cy="603504"/>
          </a:xfrm>
          <a:prstGeom prst="rect">
            <a:avLst/>
          </a:prstGeom>
          <a:noFill/>
        </p:spPr>
        <p:txBody>
          <a:bodyPr wrap="square" anchor="ctr" lIns="73152" rIns="73152"/>
          <a:lstStyle/>
          <a:p>
            <a:pPr algn="l"/>
            <a:r>
              <a:rPr sz="1400" b="1" i="0">
                <a:solidFill>
                  <a:srgbClr val="C00000"/>
                </a:solidFill>
                <a:latin typeface="Arial"/>
              </a:rPr>
              <a:t>To establish </a:t>
            </a:r>
            <a:r>
              <a:rPr sz="1400" b="0" i="0">
                <a:solidFill>
                  <a:srgbClr val="1F2937"/>
                </a:solidFill>
                <a:latin typeface="Arial"/>
              </a:rPr>
              <a:t>an operations planner that computes the minimum fleet, dead kilometres and crew duties a timetable needs.</a:t>
            </a:r>
            <a:endParaRPr sz="1400"/>
          </a:p>
        </p:txBody>
      </p:sp>
      <p:sp>
        <p:nvSpPr>
          <p:cNvPr id="10" name="TextBox 9"/>
          <p:cNvSpPr txBox="1"/>
          <p:nvPr/>
        </p:nvSpPr>
        <p:spPr>
          <a:xfrm>
            <a:off x="1234440" y="2935224"/>
            <a:ext cx="8092440" cy="566928"/>
          </a:xfrm>
          <a:prstGeom prst="rect">
            <a:avLst/>
          </a:prstGeom>
          <a:noFill/>
        </p:spPr>
        <p:txBody>
          <a:bodyPr wrap="square" anchor="t" lIns="73152" rIns="73152"/>
          <a:lstStyle/>
          <a:p>
            <a:pPr algn="l"/>
            <a:r>
              <a:rPr sz="1150" b="0" i="1">
                <a:solidFill>
                  <a:srgbClr val="4B5563"/>
                </a:solidFill>
                <a:latin typeface="Arial"/>
              </a:rPr>
              <a:t>Success measure: 6,849 vehicle blocks and 15,636 crew duties, each reported with its lower bound and stated assumptions.</a:t>
            </a:r>
            <a:endParaRPr sz="1150"/>
          </a:p>
        </p:txBody>
      </p:sp>
      <p:sp>
        <p:nvSpPr>
          <p:cNvPr id="11" name="Rounded Rectangle 10"/>
          <p:cNvSpPr/>
          <p:nvPr/>
        </p:nvSpPr>
        <p:spPr>
          <a:xfrm>
            <a:off x="457200" y="3602735"/>
            <a:ext cx="8988552" cy="1261872"/>
          </a:xfrm>
          <a:prstGeom prst="roundRect">
            <a:avLst>
              <a:gd name="adj" fmla="val 5000"/>
            </a:avLst>
          </a:prstGeom>
          <a:solidFill>
            <a:srgbClr val="F3F4F6"/>
          </a:solidFill>
          <a:ln>
            <a:noFill/>
          </a:ln>
          <a:effectLst/>
        </p:spPr>
        <p:txBody>
          <a:bodyPr rtlCol="0" anchor="ctr"/>
          <a:lstStyle/>
          <a:p>
            <a:pPr algn="ctr"/>
          </a:p>
        </p:txBody>
      </p:sp>
      <p:sp>
        <p:nvSpPr>
          <p:cNvPr id="12" name="Oval 11"/>
          <p:cNvSpPr/>
          <p:nvPr/>
        </p:nvSpPr>
        <p:spPr>
          <a:xfrm>
            <a:off x="594360" y="3730751"/>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3</a:t>
            </a:r>
            <a:endParaRPr sz="1600"/>
          </a:p>
        </p:txBody>
      </p:sp>
      <p:sp>
        <p:nvSpPr>
          <p:cNvPr id="13" name="TextBox 12"/>
          <p:cNvSpPr txBox="1"/>
          <p:nvPr/>
        </p:nvSpPr>
        <p:spPr>
          <a:xfrm>
            <a:off x="1234440" y="3675887"/>
            <a:ext cx="8092440" cy="603504"/>
          </a:xfrm>
          <a:prstGeom prst="rect">
            <a:avLst/>
          </a:prstGeom>
          <a:noFill/>
        </p:spPr>
        <p:txBody>
          <a:bodyPr wrap="square" anchor="ctr" lIns="73152" rIns="73152"/>
          <a:lstStyle/>
          <a:p>
            <a:pPr algn="l"/>
            <a:r>
              <a:rPr sz="1400" b="1" i="0">
                <a:solidFill>
                  <a:srgbClr val="C00000"/>
                </a:solidFill>
                <a:latin typeface="Arial"/>
              </a:rPr>
              <a:t>To analyse </a:t>
            </a:r>
            <a:r>
              <a:rPr sz="1400" b="0" i="0">
                <a:solidFill>
                  <a:srgbClr val="1F2937"/>
                </a:solidFill>
                <a:latin typeface="Arial"/>
              </a:rPr>
              <a:t>commuter demand and turn it into action: fraud-checked votes become ranked depot dispatch recommendations, with e-tickets, Shakti and cash tracked correctly.</a:t>
            </a:r>
            <a:endParaRPr sz="1400"/>
          </a:p>
        </p:txBody>
      </p:sp>
      <p:sp>
        <p:nvSpPr>
          <p:cNvPr id="14" name="TextBox 13"/>
          <p:cNvSpPr txBox="1"/>
          <p:nvPr/>
        </p:nvSpPr>
        <p:spPr>
          <a:xfrm>
            <a:off x="1234440" y="4279392"/>
            <a:ext cx="8092440" cy="566928"/>
          </a:xfrm>
          <a:prstGeom prst="rect">
            <a:avLst/>
          </a:prstGeom>
          <a:noFill/>
        </p:spPr>
        <p:txBody>
          <a:bodyPr wrap="square" anchor="t" lIns="73152" rIns="73152"/>
          <a:lstStyle/>
          <a:p>
            <a:pPr algn="l"/>
            <a:r>
              <a:rPr sz="1150" b="0" i="1">
                <a:solidFill>
                  <a:srgbClr val="4B5563"/>
                </a:solidFill>
                <a:latin typeface="Arial"/>
              </a:rPr>
              <a:t>Success measure: every voted pair resolves to a real bus; free rides keep their fare value; offline sales never double-count.</a:t>
            </a:r>
            <a:endParaRPr sz="1150"/>
          </a:p>
        </p:txBody>
      </p:sp>
      <p:sp>
        <p:nvSpPr>
          <p:cNvPr id="15" name="Rounded Rectangle 14"/>
          <p:cNvSpPr/>
          <p:nvPr/>
        </p:nvSpPr>
        <p:spPr>
          <a:xfrm>
            <a:off x="457200" y="4946903"/>
            <a:ext cx="8988552" cy="1261872"/>
          </a:xfrm>
          <a:prstGeom prst="roundRect">
            <a:avLst>
              <a:gd name="adj" fmla="val 5000"/>
            </a:avLst>
          </a:prstGeom>
          <a:solidFill>
            <a:srgbClr val="F3F4F6"/>
          </a:solidFill>
          <a:ln>
            <a:noFill/>
          </a:ln>
          <a:effectLst/>
        </p:spPr>
        <p:txBody>
          <a:bodyPr rtlCol="0" anchor="ctr"/>
          <a:lstStyle/>
          <a:p>
            <a:pPr algn="ctr"/>
          </a:p>
        </p:txBody>
      </p:sp>
      <p:sp>
        <p:nvSpPr>
          <p:cNvPr id="16" name="Oval 15"/>
          <p:cNvSpPr/>
          <p:nvPr/>
        </p:nvSpPr>
        <p:spPr>
          <a:xfrm>
            <a:off x="594360" y="5074919"/>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4</a:t>
            </a:r>
            <a:endParaRPr sz="1600"/>
          </a:p>
        </p:txBody>
      </p:sp>
      <p:sp>
        <p:nvSpPr>
          <p:cNvPr id="17" name="TextBox 16"/>
          <p:cNvSpPr txBox="1"/>
          <p:nvPr/>
        </p:nvSpPr>
        <p:spPr>
          <a:xfrm>
            <a:off x="1234440" y="5020055"/>
            <a:ext cx="8092440" cy="603504"/>
          </a:xfrm>
          <a:prstGeom prst="rect">
            <a:avLst/>
          </a:prstGeom>
          <a:noFill/>
        </p:spPr>
        <p:txBody>
          <a:bodyPr wrap="square" anchor="ctr" lIns="73152" rIns="73152"/>
          <a:lstStyle/>
          <a:p>
            <a:pPr algn="l"/>
            <a:r>
              <a:rPr sz="1400" b="1" i="0">
                <a:solidFill>
                  <a:srgbClr val="C00000"/>
                </a:solidFill>
                <a:latin typeface="Arial"/>
              </a:rPr>
              <a:t>To publish </a:t>
            </a:r>
            <a:r>
              <a:rPr sz="1400" b="0" i="0">
                <a:solidFill>
                  <a:srgbClr val="1F2937"/>
                </a:solidFill>
                <a:latin typeface="Arial"/>
              </a:rPr>
              <a:t>the network as open GTFS data and evaluate the whole system with honest, reproducible metrics.</a:t>
            </a:r>
            <a:endParaRPr sz="1400"/>
          </a:p>
        </p:txBody>
      </p:sp>
      <p:sp>
        <p:nvSpPr>
          <p:cNvPr id="18" name="TextBox 17"/>
          <p:cNvSpPr txBox="1"/>
          <p:nvPr/>
        </p:nvSpPr>
        <p:spPr>
          <a:xfrm>
            <a:off x="1234440" y="5623559"/>
            <a:ext cx="8092440" cy="566928"/>
          </a:xfrm>
          <a:prstGeom prst="rect">
            <a:avLst/>
          </a:prstGeom>
          <a:noFill/>
        </p:spPr>
        <p:txBody>
          <a:bodyPr wrap="square" anchor="t" lIns="73152" rIns="73152"/>
          <a:lstStyle/>
          <a:p>
            <a:pPr algn="l"/>
            <a:r>
              <a:rPr sz="1150" b="0" i="1">
                <a:solidFill>
                  <a:srgbClr val="4B5563"/>
                </a:solidFill>
                <a:latin typeface="Arial"/>
              </a:rPr>
              <a:t>Success measure: 3,713-route GTFS feed built in 11 to 16 s; 430 automated tests and an accuracy gate run in CI.</a:t>
            </a:r>
            <a:endParaRPr sz="115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Methods / Proposed Methodology</a:t>
            </a:r>
          </a:p>
        </p:txBody>
      </p:sp>
      <p:graphicFrame>
        <p:nvGraphicFramePr>
          <p:cNvPr id="3" name="Table 2"/>
          <p:cNvGraphicFramePr>
            <a:graphicFrameLocks noGrp="1"/>
          </p:cNvGraphicFramePr>
          <p:nvPr/>
        </p:nvGraphicFramePr>
        <p:xfrm>
          <a:off x="457200" y="914400"/>
          <a:ext cx="8988552" cy="5358384"/>
        </p:xfrm>
        <a:graphic>
          <a:graphicData uri="http://schemas.openxmlformats.org/drawingml/2006/table">
            <a:tbl>
              <a:tblPr firstRow="0" bandRow="0">
                <a:tableStyleId>{2D5ABB26-0587-4C30-8999-92F81FD0307C}</a:tableStyleId>
              </a:tblPr>
              <a:tblGrid>
                <a:gridCol w="1417320"/>
                <a:gridCol w="4663440"/>
                <a:gridCol w="2907792"/>
              </a:tblGrid>
              <a:tr h="329184">
                <a:tc>
                  <a:txBody>
                    <a:bodyPr wrap="square" anchor="ctr" lIns="73152" tIns="36576" rIns="73152" bIns="36576"/>
                    <a:lstStyle/>
                    <a:p>
                      <a:pPr algn="l"/>
                      <a:r>
                        <a:rPr sz="1200" b="1" i="0">
                          <a:solidFill>
                            <a:srgbClr val="FFFFFF"/>
                          </a:solidFill>
                          <a:latin typeface="Arial"/>
                        </a:rPr>
                        <a:t>Objective</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How we achieve it (method)</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Why this method</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1371600">
                <a:tc>
                  <a:txBody>
                    <a:bodyPr wrap="square" anchor="ctr" lIns="73152" tIns="36576" rIns="73152" bIns="36576"/>
                    <a:lstStyle/>
                    <a:p>
                      <a:pPr algn="l"/>
                      <a:r>
                        <a:rPr sz="1100" b="1" i="0">
                          <a:solidFill>
                            <a:srgbClr val="C00000"/>
                          </a:solidFill>
                          <a:latin typeface="Arial"/>
                        </a:rPr>
                        <a:t>1  Journey planner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Clean and alias stop names (Majestic = Kempegowda Bus Station), then fuzzy-match</a:t>
                      </a:r>
                      <a:endParaRPr sz="1100"/>
                    </a:p>
                    <a:p>
                      <a:pPr algn="l" marL="164592" indent="-164592">
                        <a:buClr>
                          <a:srgbClr val="C00000"/>
                        </a:buClr>
                        <a:buFont typeface="Arial"/>
                        <a:buChar char="•"/>
                      </a:pPr>
                      <a:r>
                        <a:rPr sz="1100" b="0" i="0">
                          <a:solidFill>
                            <a:srgbClr val="1F2937"/>
                          </a:solidFill>
                          <a:latin typeface="Arial"/>
                        </a:rPr>
                        <a:t>Ordered stop-pair index: 655,438 pairs over 3,946,744 route segments</a:t>
                      </a:r>
                      <a:endParaRPr sz="1100"/>
                    </a:p>
                    <a:p>
                      <a:pPr algn="l" marL="164592" indent="-164592">
                        <a:buClr>
                          <a:srgbClr val="C00000"/>
                        </a:buClr>
                        <a:buFont typeface="Arial"/>
                        <a:buChar char="•"/>
                      </a:pPr>
                      <a:r>
                        <a:rPr sz="1100" b="0" i="0">
                          <a:solidFill>
                            <a:srgbClr val="1F2937"/>
                          </a:solidFill>
                          <a:latin typeface="Arial"/>
                        </a:rPr>
                        <a:t>Transfers via shared stops; reject changes over 1.2 km apart; anchored stop resolution</a:t>
                      </a:r>
                      <a:endParaRPr sz="1100"/>
                    </a:p>
                    <a:p>
                      <a:pPr algn="l" marL="164592" indent="-164592">
                        <a:buClr>
                          <a:srgbClr val="C00000"/>
                        </a:buClr>
                        <a:buFont typeface="Arial"/>
                        <a:buChar char="•"/>
                      </a:pPr>
                      <a:r>
                        <a:rPr sz="1100" b="0" i="0">
                          <a:solidFill>
                            <a:srgbClr val="1F2937"/>
                          </a:solidFill>
                          <a:latin typeface="Arial"/>
                        </a:rPr>
                        <a:t>Rank by stop span, trip frequency and span penalty</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Direction matters, so a direct trip is one dictionary lookup. The dataset is a route catalogue with no labels, so a search index beats a classifier.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1143000">
                <a:tc>
                  <a:txBody>
                    <a:bodyPr wrap="square" anchor="ctr" lIns="73152" tIns="36576" rIns="73152" bIns="36576"/>
                    <a:lstStyle/>
                    <a:p>
                      <a:pPr algn="l"/>
                      <a:r>
                        <a:rPr sz="1100" b="1" i="0">
                          <a:solidFill>
                            <a:srgbClr val="C00000"/>
                          </a:solidFill>
                          <a:latin typeface="Arial"/>
                        </a:rPr>
                        <a:t>2  Operations planner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Vehicle blocking: greedy chaining plus a peak-concurrency lower bound</a:t>
                      </a:r>
                      <a:endParaRPr sz="1100"/>
                    </a:p>
                    <a:p>
                      <a:pPr algn="l" marL="164592" indent="-164592">
                        <a:buClr>
                          <a:srgbClr val="C00000"/>
                        </a:buClr>
                        <a:buFont typeface="Arial"/>
                        <a:buChar char="•"/>
                      </a:pPr>
                      <a:r>
                        <a:rPr sz="1100" b="0" i="0">
                          <a:solidFill>
                            <a:srgbClr val="1F2937"/>
                          </a:solidFill>
                          <a:latin typeface="Arial"/>
                        </a:rPr>
                        <a:t>Crew: dynamic programme cuts legal pieces; bounded greedy pairing (36 s down to 1.6 s)</a:t>
                      </a:r>
                      <a:endParaRPr sz="1100"/>
                    </a:p>
                    <a:p>
                      <a:pPr algn="l" marL="164592" indent="-164592">
                        <a:buClr>
                          <a:srgbClr val="C00000"/>
                        </a:buClr>
                        <a:buFont typeface="Arial"/>
                        <a:buChar char="•"/>
                      </a:pPr>
                      <a:r>
                        <a:rPr sz="1100" b="0" i="0">
                          <a:solidFill>
                            <a:srgbClr val="1F2937"/>
                          </a:solidFill>
                          <a:latin typeface="Arial"/>
                        </a:rPr>
                        <a:t>Assumptions held in parameter objects and echoed in every response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A hard lower bound shows whether the fleet number is provably minimal. Blocks alone are not enough: a plan is only real if crews can staff it.</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1371600">
                <a:tc>
                  <a:txBody>
                    <a:bodyPr wrap="square" anchor="ctr" lIns="73152" tIns="36576" rIns="73152" bIns="36576"/>
                    <a:lstStyle/>
                    <a:p>
                      <a:pPr algn="l"/>
                      <a:r>
                        <a:rPr sz="1100" b="1" i="0">
                          <a:solidFill>
                            <a:srgbClr val="C00000"/>
                          </a:solidFill>
                          <a:latin typeface="Arial"/>
                        </a:rPr>
                        <a:t>3  Demand, tickets, money</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Votes pass 4 fraud checks, are grouped by origin-destination, resolved to real buses, ranked HIGH/MEDIUM/LOW</a:t>
                      </a:r>
                      <a:endParaRPr sz="1100"/>
                    </a:p>
                    <a:p>
                      <a:pPr algn="l" marL="164592" indent="-164592">
                        <a:buClr>
                          <a:srgbClr val="C00000"/>
                        </a:buClr>
                        <a:buFont typeface="Arial"/>
                        <a:buChar char="•"/>
                      </a:pPr>
                      <a:r>
                        <a:rPr sz="1100" b="0" i="0">
                          <a:solidFill>
                            <a:srgbClr val="1F2937"/>
                          </a:solidFill>
                          <a:latin typeface="Arial"/>
                        </a:rPr>
                        <a:t>Server-side fares from the stage table; signed QR tickets; Shakti stores value and collected fare</a:t>
                      </a:r>
                      <a:endParaRPr sz="1100"/>
                    </a:p>
                    <a:p>
                      <a:pPr algn="l" marL="164592" indent="-164592">
                        <a:buClr>
                          <a:srgbClr val="C00000"/>
                        </a:buClr>
                        <a:buFont typeface="Arial"/>
                        <a:buChar char="•"/>
                      </a:pPr>
                      <a:r>
                        <a:rPr sz="1100" b="0" i="0">
                          <a:solidFill>
                            <a:srgbClr val="1F2937"/>
                          </a:solidFill>
                          <a:latin typeface="Arial"/>
                        </a:rPr>
                        <a:t>Offline sales: client UUID plus unique index gives idempotent sync</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Closes the loop from passengers to depots. Buses lose signal, so offline must be the default path and replays must never double-count revenue.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1143000">
                <a:tc>
                  <a:txBody>
                    <a:bodyPr wrap="square" anchor="ctr" lIns="73152" tIns="36576" rIns="73152" bIns="36576"/>
                    <a:lstStyle/>
                    <a:p>
                      <a:pPr algn="l"/>
                      <a:r>
                        <a:rPr sz="1100" b="1" i="0">
                          <a:solidFill>
                            <a:srgbClr val="C00000"/>
                          </a:solidFill>
                          <a:latin typeface="Arial"/>
                        </a:rPr>
                        <a:t>4  Open data and evaluation</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Stream 1.46 M stop_times into a GTFS zip; flag interpolated times; GTFS-Realtime alerts</a:t>
                      </a:r>
                      <a:endParaRPr sz="1100"/>
                    </a:p>
                    <a:p>
                      <a:pPr algn="l" marL="164592" indent="-164592">
                        <a:buClr>
                          <a:srgbClr val="C00000"/>
                        </a:buClr>
                        <a:buFont typeface="Arial"/>
                        <a:buChar char="•"/>
                      </a:pPr>
                      <a:r>
                        <a:rPr sz="1100" b="0" i="0">
                          <a:solidFill>
                            <a:srgbClr val="1F2937"/>
                          </a:solidFill>
                          <a:latin typeface="Arial"/>
                        </a:rPr>
                        <a:t>Simulated positions carry is_live=False; live endpoint returns 503 instead</a:t>
                      </a:r>
                      <a:endParaRPr sz="1100"/>
                    </a:p>
                    <a:p>
                      <a:pPr algn="l" marL="164592" indent="-164592">
                        <a:buClr>
                          <a:srgbClr val="C00000"/>
                        </a:buClr>
                        <a:buFont typeface="Arial"/>
                        <a:buChar char="•"/>
                      </a:pPr>
                      <a:r>
                        <a:rPr sz="1100" b="0" i="0">
                          <a:solidFill>
                            <a:srgbClr val="1F2937"/>
                          </a:solidFill>
                          <a:latin typeface="Arial"/>
                        </a:rPr>
                        <a:t>Benchmark 4 rankers; headline metric is rank quality, not coverage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Standard formats let any app reuse the timetable. Honest labelling and a metric that can fail keep results defensible.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System Architecture</a:t>
            </a:r>
          </a:p>
        </p:txBody>
      </p:sp>
      <p:sp>
        <p:nvSpPr>
          <p:cNvPr id="3" name="Rounded Rectangle 2"/>
          <p:cNvSpPr/>
          <p:nvPr/>
        </p:nvSpPr>
        <p:spPr>
          <a:xfrm>
            <a:off x="45720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Commuter</a:t>
            </a:r>
            <a:endParaRPr sz="1100"/>
          </a:p>
        </p:txBody>
      </p:sp>
      <p:sp>
        <p:nvSpPr>
          <p:cNvPr id="4" name="Rounded Rectangle 3"/>
          <p:cNvSpPr/>
          <p:nvPr/>
        </p:nvSpPr>
        <p:spPr>
          <a:xfrm>
            <a:off x="208026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Conductor</a:t>
            </a:r>
            <a:endParaRPr sz="1100"/>
          </a:p>
        </p:txBody>
      </p:sp>
      <p:sp>
        <p:nvSpPr>
          <p:cNvPr id="5" name="Rounded Rectangle 4"/>
          <p:cNvSpPr/>
          <p:nvPr/>
        </p:nvSpPr>
        <p:spPr>
          <a:xfrm>
            <a:off x="370332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Depot manager</a:t>
            </a:r>
            <a:endParaRPr sz="1100"/>
          </a:p>
        </p:txBody>
      </p:sp>
      <p:sp>
        <p:nvSpPr>
          <p:cNvPr id="6" name="Rounded Rectangle 5"/>
          <p:cNvSpPr/>
          <p:nvPr/>
        </p:nvSpPr>
        <p:spPr>
          <a:xfrm>
            <a:off x="532638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Admin</a:t>
            </a:r>
            <a:endParaRPr sz="1100"/>
          </a:p>
        </p:txBody>
      </p:sp>
      <p:sp>
        <p:nvSpPr>
          <p:cNvPr id="7" name="Down Arrow 6"/>
          <p:cNvSpPr/>
          <p:nvPr/>
        </p:nvSpPr>
        <p:spPr>
          <a:xfrm>
            <a:off x="3520440" y="1298448"/>
            <a:ext cx="274320" cy="182880"/>
          </a:xfrm>
          <a:prstGeom prst="downArrow">
            <a:avLst/>
          </a:prstGeom>
          <a:solidFill>
            <a:srgbClr val="4B5563"/>
          </a:solidFill>
          <a:ln>
            <a:noFill/>
          </a:ln>
          <a:effectLst/>
        </p:spPr>
        <p:txBody>
          <a:bodyPr rtlCol="0" anchor="ctr"/>
          <a:lstStyle/>
          <a:p>
            <a:pPr algn="ctr"/>
          </a:p>
        </p:txBody>
      </p:sp>
      <p:sp>
        <p:nvSpPr>
          <p:cNvPr id="8" name="Rounded Rectangle 7"/>
          <p:cNvSpPr/>
          <p:nvPr/>
        </p:nvSpPr>
        <p:spPr>
          <a:xfrm>
            <a:off x="457200" y="1499616"/>
            <a:ext cx="6400800" cy="713232"/>
          </a:xfrm>
          <a:prstGeom prst="roundRect">
            <a:avLst>
              <a:gd name="adj" fmla="val 7000"/>
            </a:avLst>
          </a:prstGeom>
          <a:solidFill>
            <a:srgbClr val="F3F4F6"/>
          </a:solidFill>
          <a:ln>
            <a:noFill/>
          </a:ln>
          <a:effectLst/>
        </p:spPr>
        <p:txBody>
          <a:bodyPr rtlCol="0" anchor="ctr"/>
          <a:lstStyle/>
          <a:p>
            <a:pPr algn="ctr"/>
          </a:p>
        </p:txBody>
      </p:sp>
      <p:sp>
        <p:nvSpPr>
          <p:cNvPr id="9" name="TextBox 8"/>
          <p:cNvSpPr txBox="1"/>
          <p:nvPr/>
        </p:nvSpPr>
        <p:spPr>
          <a:xfrm>
            <a:off x="566928" y="1545336"/>
            <a:ext cx="6181344" cy="274320"/>
          </a:xfrm>
          <a:prstGeom prst="rect">
            <a:avLst/>
          </a:prstGeom>
          <a:noFill/>
        </p:spPr>
        <p:txBody>
          <a:bodyPr wrap="square" anchor="t" lIns="73152" rIns="73152"/>
          <a:lstStyle/>
          <a:p>
            <a:pPr algn="l"/>
            <a:r>
              <a:rPr sz="1200" b="1" i="0">
                <a:solidFill>
                  <a:srgbClr val="C00000"/>
                </a:solidFill>
                <a:latin typeface="Arial"/>
              </a:rPr>
              <a:t>Frontend: React 19 + TypeScript SPA</a:t>
            </a:r>
            <a:endParaRPr sz="1200"/>
          </a:p>
        </p:txBody>
      </p:sp>
      <p:sp>
        <p:nvSpPr>
          <p:cNvPr id="10" name="TextBox 9"/>
          <p:cNvSpPr txBox="1"/>
          <p:nvPr/>
        </p:nvSpPr>
        <p:spPr>
          <a:xfrm>
            <a:off x="566928" y="1828800"/>
            <a:ext cx="6181344" cy="347472"/>
          </a:xfrm>
          <a:prstGeom prst="rect">
            <a:avLst/>
          </a:prstGeom>
          <a:noFill/>
        </p:spPr>
        <p:txBody>
          <a:bodyPr wrap="square" anchor="t" lIns="73152" rIns="73152"/>
          <a:lstStyle/>
          <a:p>
            <a:pPr algn="l"/>
            <a:r>
              <a:rPr sz="1100" b="0" i="0">
                <a:solidFill>
                  <a:srgbClr val="1F2937"/>
                </a:solidFill>
                <a:latin typeface="Arial"/>
              </a:rPr>
              <a:t>Vite, Tailwind, Leaflet maps, Recharts; English, Kannada, Hindi, Telugu; Capacitor Android shell</a:t>
            </a:r>
            <a:endParaRPr sz="1100"/>
          </a:p>
        </p:txBody>
      </p:sp>
      <p:sp>
        <p:nvSpPr>
          <p:cNvPr id="11" name="Down Arrow 10"/>
          <p:cNvSpPr/>
          <p:nvPr/>
        </p:nvSpPr>
        <p:spPr>
          <a:xfrm>
            <a:off x="3520440" y="2231136"/>
            <a:ext cx="274320" cy="182880"/>
          </a:xfrm>
          <a:prstGeom prst="downArrow">
            <a:avLst/>
          </a:prstGeom>
          <a:solidFill>
            <a:srgbClr val="4B5563"/>
          </a:solidFill>
          <a:ln>
            <a:noFill/>
          </a:ln>
          <a:effectLst/>
        </p:spPr>
        <p:txBody>
          <a:bodyPr rtlCol="0" anchor="ctr"/>
          <a:lstStyle/>
          <a:p>
            <a:pPr algn="ctr"/>
          </a:p>
        </p:txBody>
      </p:sp>
      <p:sp>
        <p:nvSpPr>
          <p:cNvPr id="12" name="Rounded Rectangle 11"/>
          <p:cNvSpPr/>
          <p:nvPr/>
        </p:nvSpPr>
        <p:spPr>
          <a:xfrm>
            <a:off x="457200" y="2432304"/>
            <a:ext cx="6400800" cy="713232"/>
          </a:xfrm>
          <a:prstGeom prst="roundRect">
            <a:avLst>
              <a:gd name="adj" fmla="val 7000"/>
            </a:avLst>
          </a:prstGeom>
          <a:solidFill>
            <a:srgbClr val="F3F4F6"/>
          </a:solidFill>
          <a:ln>
            <a:noFill/>
          </a:ln>
          <a:effectLst/>
        </p:spPr>
        <p:txBody>
          <a:bodyPr rtlCol="0" anchor="ctr"/>
          <a:lstStyle/>
          <a:p>
            <a:pPr algn="ctr"/>
          </a:p>
        </p:txBody>
      </p:sp>
      <p:sp>
        <p:nvSpPr>
          <p:cNvPr id="13" name="TextBox 12"/>
          <p:cNvSpPr txBox="1"/>
          <p:nvPr/>
        </p:nvSpPr>
        <p:spPr>
          <a:xfrm>
            <a:off x="566928" y="2478024"/>
            <a:ext cx="6181344" cy="274320"/>
          </a:xfrm>
          <a:prstGeom prst="rect">
            <a:avLst/>
          </a:prstGeom>
          <a:noFill/>
        </p:spPr>
        <p:txBody>
          <a:bodyPr wrap="square" anchor="t" lIns="73152" rIns="73152"/>
          <a:lstStyle/>
          <a:p>
            <a:pPr algn="l"/>
            <a:r>
              <a:rPr sz="1200" b="1" i="0">
                <a:solidFill>
                  <a:srgbClr val="C00000"/>
                </a:solidFill>
                <a:latin typeface="Arial"/>
              </a:rPr>
              <a:t>API layer: FastAPI, 14 routers, 80+ endpoints</a:t>
            </a:r>
            <a:endParaRPr sz="1200"/>
          </a:p>
        </p:txBody>
      </p:sp>
      <p:sp>
        <p:nvSpPr>
          <p:cNvPr id="14" name="TextBox 13"/>
          <p:cNvSpPr txBox="1"/>
          <p:nvPr/>
        </p:nvSpPr>
        <p:spPr>
          <a:xfrm>
            <a:off x="566928" y="2761488"/>
            <a:ext cx="6181344" cy="347472"/>
          </a:xfrm>
          <a:prstGeom prst="rect">
            <a:avLst/>
          </a:prstGeom>
          <a:noFill/>
        </p:spPr>
        <p:txBody>
          <a:bodyPr wrap="square" anchor="t" lIns="73152" rIns="73152"/>
          <a:lstStyle/>
          <a:p>
            <a:pPr algn="l"/>
            <a:r>
              <a:rPr sz="1100" b="0" i="0">
                <a:solidFill>
                  <a:srgbClr val="1F2937"/>
                </a:solidFill>
                <a:latin typeface="Arial"/>
              </a:rPr>
              <a:t>HTTP only: signed tokens, role-based access, Pydantic validation, 120 requests/min rate limit</a:t>
            </a:r>
            <a:endParaRPr sz="1100"/>
          </a:p>
        </p:txBody>
      </p:sp>
      <p:sp>
        <p:nvSpPr>
          <p:cNvPr id="15" name="Down Arrow 14"/>
          <p:cNvSpPr/>
          <p:nvPr/>
        </p:nvSpPr>
        <p:spPr>
          <a:xfrm>
            <a:off x="3520440" y="3163824"/>
            <a:ext cx="274320" cy="182880"/>
          </a:xfrm>
          <a:prstGeom prst="downArrow">
            <a:avLst/>
          </a:prstGeom>
          <a:solidFill>
            <a:srgbClr val="4B5563"/>
          </a:solidFill>
          <a:ln>
            <a:noFill/>
          </a:ln>
          <a:effectLst/>
        </p:spPr>
        <p:txBody>
          <a:bodyPr rtlCol="0" anchor="ctr"/>
          <a:lstStyle/>
          <a:p>
            <a:pPr algn="ctr"/>
          </a:p>
        </p:txBody>
      </p:sp>
      <p:sp>
        <p:nvSpPr>
          <p:cNvPr id="16" name="Rounded Rectangle 15"/>
          <p:cNvSpPr/>
          <p:nvPr/>
        </p:nvSpPr>
        <p:spPr>
          <a:xfrm>
            <a:off x="457200" y="3364992"/>
            <a:ext cx="6400800" cy="713232"/>
          </a:xfrm>
          <a:prstGeom prst="roundRect">
            <a:avLst>
              <a:gd name="adj" fmla="val 7000"/>
            </a:avLst>
          </a:prstGeom>
          <a:solidFill>
            <a:srgbClr val="F3F4F6"/>
          </a:solidFill>
          <a:ln>
            <a:noFill/>
          </a:ln>
          <a:effectLst/>
        </p:spPr>
        <p:txBody>
          <a:bodyPr rtlCol="0" anchor="ctr"/>
          <a:lstStyle/>
          <a:p>
            <a:pPr algn="ctr"/>
          </a:p>
        </p:txBody>
      </p:sp>
      <p:sp>
        <p:nvSpPr>
          <p:cNvPr id="17" name="TextBox 16"/>
          <p:cNvSpPr txBox="1"/>
          <p:nvPr/>
        </p:nvSpPr>
        <p:spPr>
          <a:xfrm>
            <a:off x="566928" y="3410712"/>
            <a:ext cx="6181344" cy="274320"/>
          </a:xfrm>
          <a:prstGeom prst="rect">
            <a:avLst/>
          </a:prstGeom>
          <a:noFill/>
        </p:spPr>
        <p:txBody>
          <a:bodyPr wrap="square" anchor="t" lIns="73152" rIns="73152"/>
          <a:lstStyle/>
          <a:p>
            <a:pPr algn="l"/>
            <a:r>
              <a:rPr sz="1200" b="1" i="0">
                <a:solidFill>
                  <a:srgbClr val="C00000"/>
                </a:solidFill>
                <a:latin typeface="Arial"/>
              </a:rPr>
              <a:t>Service layer: business rules</a:t>
            </a:r>
            <a:endParaRPr sz="1200"/>
          </a:p>
        </p:txBody>
      </p:sp>
      <p:sp>
        <p:nvSpPr>
          <p:cNvPr id="18" name="TextBox 17"/>
          <p:cNvSpPr txBox="1"/>
          <p:nvPr/>
        </p:nvSpPr>
        <p:spPr>
          <a:xfrm>
            <a:off x="566928" y="3694176"/>
            <a:ext cx="6181344" cy="347472"/>
          </a:xfrm>
          <a:prstGeom prst="rect">
            <a:avLst/>
          </a:prstGeom>
          <a:noFill/>
        </p:spPr>
        <p:txBody>
          <a:bodyPr wrap="square" anchor="t" lIns="73152" rIns="73152"/>
          <a:lstStyle/>
          <a:p>
            <a:pPr algn="l"/>
            <a:r>
              <a:rPr sz="1100" b="0" i="0">
                <a:solidFill>
                  <a:srgbClr val="1F2937"/>
                </a:solidFill>
                <a:latin typeface="Arial"/>
              </a:rPr>
              <a:t>The only layer that touches MongoDB: votes, tickets, waybills, passes, alerts, audit log</a:t>
            </a:r>
            <a:endParaRPr sz="1100"/>
          </a:p>
        </p:txBody>
      </p:sp>
      <p:sp>
        <p:nvSpPr>
          <p:cNvPr id="19" name="Down Arrow 18"/>
          <p:cNvSpPr/>
          <p:nvPr/>
        </p:nvSpPr>
        <p:spPr>
          <a:xfrm>
            <a:off x="2011680" y="4096512"/>
            <a:ext cx="274320" cy="182880"/>
          </a:xfrm>
          <a:prstGeom prst="downArrow">
            <a:avLst/>
          </a:prstGeom>
          <a:solidFill>
            <a:srgbClr val="4B5563"/>
          </a:solidFill>
          <a:ln>
            <a:noFill/>
          </a:ln>
          <a:effectLst/>
        </p:spPr>
        <p:txBody>
          <a:bodyPr rtlCol="0" anchor="ctr"/>
          <a:lstStyle/>
          <a:p>
            <a:pPr algn="ctr"/>
          </a:p>
        </p:txBody>
      </p:sp>
      <p:sp>
        <p:nvSpPr>
          <p:cNvPr id="20" name="Down Arrow 19"/>
          <p:cNvSpPr/>
          <p:nvPr/>
        </p:nvSpPr>
        <p:spPr>
          <a:xfrm>
            <a:off x="5120640" y="4096512"/>
            <a:ext cx="274320" cy="182880"/>
          </a:xfrm>
          <a:prstGeom prst="downArrow">
            <a:avLst/>
          </a:prstGeom>
          <a:solidFill>
            <a:srgbClr val="4B5563"/>
          </a:solidFill>
          <a:ln>
            <a:noFill/>
          </a:ln>
          <a:effectLst/>
        </p:spPr>
        <p:txBody>
          <a:bodyPr rtlCol="0" anchor="ctr"/>
          <a:lstStyle/>
          <a:p>
            <a:pPr algn="ctr"/>
          </a:p>
        </p:txBody>
      </p:sp>
      <p:sp>
        <p:nvSpPr>
          <p:cNvPr id="21" name="Rounded Rectangle 20"/>
          <p:cNvSpPr/>
          <p:nvPr/>
        </p:nvSpPr>
        <p:spPr>
          <a:xfrm>
            <a:off x="457200" y="4297680"/>
            <a:ext cx="3108960" cy="1234440"/>
          </a:xfrm>
          <a:prstGeom prst="roundRect">
            <a:avLst>
              <a:gd name="adj" fmla="val 7000"/>
            </a:avLst>
          </a:prstGeom>
          <a:solidFill>
            <a:srgbClr val="E6F4EA"/>
          </a:solidFill>
          <a:ln>
            <a:noFill/>
          </a:ln>
          <a:effectLst/>
        </p:spPr>
        <p:txBody>
          <a:bodyPr rtlCol="0" anchor="ctr"/>
          <a:lstStyle/>
          <a:p>
            <a:pPr algn="ctr"/>
          </a:p>
        </p:txBody>
      </p:sp>
      <p:sp>
        <p:nvSpPr>
          <p:cNvPr id="22" name="TextBox 21"/>
          <p:cNvSpPr txBox="1"/>
          <p:nvPr/>
        </p:nvSpPr>
        <p:spPr>
          <a:xfrm>
            <a:off x="566928" y="4343400"/>
            <a:ext cx="2889504" cy="274320"/>
          </a:xfrm>
          <a:prstGeom prst="rect">
            <a:avLst/>
          </a:prstGeom>
          <a:noFill/>
        </p:spPr>
        <p:txBody>
          <a:bodyPr wrap="square" anchor="t" lIns="73152" rIns="73152"/>
          <a:lstStyle/>
          <a:p>
            <a:pPr algn="l"/>
            <a:r>
              <a:rPr sz="1200" b="1" i="0">
                <a:solidFill>
                  <a:srgbClr val="0B8A3E"/>
                </a:solidFill>
                <a:latin typeface="Arial"/>
              </a:rPr>
              <a:t>Engine layer (files, no DB)</a:t>
            </a:r>
            <a:endParaRPr sz="1200"/>
          </a:p>
        </p:txBody>
      </p:sp>
      <p:sp>
        <p:nvSpPr>
          <p:cNvPr id="23" name="TextBox 22"/>
          <p:cNvSpPr txBox="1"/>
          <p:nvPr/>
        </p:nvSpPr>
        <p:spPr>
          <a:xfrm>
            <a:off x="566928" y="4626864"/>
            <a:ext cx="2889504" cy="868680"/>
          </a:xfrm>
          <a:prstGeom prst="rect">
            <a:avLst/>
          </a:prstGeom>
          <a:noFill/>
        </p:spPr>
        <p:txBody>
          <a:bodyPr wrap="square" anchor="t" lIns="73152" rIns="73152"/>
          <a:lstStyle/>
          <a:p>
            <a:pPr algn="l"/>
            <a:r>
              <a:rPr sz="1100" b="0" i="0">
                <a:solidFill>
                  <a:srgbClr val="1F2937"/>
                </a:solidFill>
                <a:latin typeface="Arial"/>
              </a:rPr>
              <a:t>Predictor with ordered stop-pair index, vehicle blocking, crew duties, GTFS builder, vehicle tracking</a:t>
            </a:r>
            <a:endParaRPr sz="1100"/>
          </a:p>
        </p:txBody>
      </p:sp>
      <p:sp>
        <p:nvSpPr>
          <p:cNvPr id="24" name="Rounded Rectangle 23"/>
          <p:cNvSpPr/>
          <p:nvPr/>
        </p:nvSpPr>
        <p:spPr>
          <a:xfrm>
            <a:off x="3749039" y="4297680"/>
            <a:ext cx="3108960" cy="1234440"/>
          </a:xfrm>
          <a:prstGeom prst="roundRect">
            <a:avLst>
              <a:gd name="adj" fmla="val 7000"/>
            </a:avLst>
          </a:prstGeom>
          <a:solidFill>
            <a:srgbClr val="F3F4F6"/>
          </a:solidFill>
          <a:ln>
            <a:noFill/>
          </a:ln>
          <a:effectLst/>
        </p:spPr>
        <p:txBody>
          <a:bodyPr rtlCol="0" anchor="ctr"/>
          <a:lstStyle/>
          <a:p>
            <a:pPr algn="ctr"/>
          </a:p>
        </p:txBody>
      </p:sp>
      <p:sp>
        <p:nvSpPr>
          <p:cNvPr id="25" name="TextBox 24"/>
          <p:cNvSpPr txBox="1"/>
          <p:nvPr/>
        </p:nvSpPr>
        <p:spPr>
          <a:xfrm>
            <a:off x="3858768" y="4343400"/>
            <a:ext cx="2889504" cy="274320"/>
          </a:xfrm>
          <a:prstGeom prst="rect">
            <a:avLst/>
          </a:prstGeom>
          <a:noFill/>
        </p:spPr>
        <p:txBody>
          <a:bodyPr wrap="square" anchor="t" lIns="73152" rIns="73152"/>
          <a:lstStyle/>
          <a:p>
            <a:pPr algn="l"/>
            <a:r>
              <a:rPr sz="1200" b="1" i="0">
                <a:solidFill>
                  <a:srgbClr val="C00000"/>
                </a:solidFill>
                <a:latin typeface="Arial"/>
              </a:rPr>
              <a:t>Data layer</a:t>
            </a:r>
            <a:endParaRPr sz="1200"/>
          </a:p>
        </p:txBody>
      </p:sp>
      <p:sp>
        <p:nvSpPr>
          <p:cNvPr id="26" name="TextBox 25"/>
          <p:cNvSpPr txBox="1"/>
          <p:nvPr/>
        </p:nvSpPr>
        <p:spPr>
          <a:xfrm>
            <a:off x="3858768" y="4626864"/>
            <a:ext cx="2889504" cy="868680"/>
          </a:xfrm>
          <a:prstGeom prst="rect">
            <a:avLst/>
          </a:prstGeom>
          <a:noFill/>
        </p:spPr>
        <p:txBody>
          <a:bodyPr wrap="square" anchor="t" lIns="73152" rIns="73152"/>
          <a:lstStyle/>
          <a:p>
            <a:pPr algn="l"/>
            <a:r>
              <a:rPr sz="1100" b="0" i="0">
                <a:solidFill>
                  <a:srgbClr val="1F2937"/>
                </a:solidFill>
                <a:latin typeface="Arial"/>
              </a:rPr>
              <a:t>MongoDB, 17 collections (optional). CSV files: 6,737 route-directions, stop coordinates, fares, metro network</a:t>
            </a:r>
            <a:endParaRPr sz="1100"/>
          </a:p>
        </p:txBody>
      </p:sp>
      <p:sp>
        <p:nvSpPr>
          <p:cNvPr id="27" name="Rounded Rectangle 26"/>
          <p:cNvSpPr/>
          <p:nvPr/>
        </p:nvSpPr>
        <p:spPr>
          <a:xfrm>
            <a:off x="7086600" y="914400"/>
            <a:ext cx="2359152" cy="3163824"/>
          </a:xfrm>
          <a:prstGeom prst="roundRect">
            <a:avLst>
              <a:gd name="adj" fmla="val 5000"/>
            </a:avLst>
          </a:prstGeom>
          <a:solidFill>
            <a:srgbClr val="FFF4E5"/>
          </a:solidFill>
          <a:ln>
            <a:noFill/>
          </a:ln>
          <a:effectLst/>
        </p:spPr>
        <p:txBody>
          <a:bodyPr rtlCol="0" anchor="ctr"/>
          <a:lstStyle/>
          <a:p>
            <a:pPr algn="ctr"/>
          </a:p>
        </p:txBody>
      </p:sp>
      <p:sp>
        <p:nvSpPr>
          <p:cNvPr id="28" name="TextBox 27"/>
          <p:cNvSpPr txBox="1"/>
          <p:nvPr/>
        </p:nvSpPr>
        <p:spPr>
          <a:xfrm>
            <a:off x="7196328" y="969264"/>
            <a:ext cx="2157984" cy="502920"/>
          </a:xfrm>
          <a:prstGeom prst="rect">
            <a:avLst/>
          </a:prstGeom>
          <a:noFill/>
        </p:spPr>
        <p:txBody>
          <a:bodyPr wrap="square" anchor="t" lIns="73152" rIns="73152"/>
          <a:lstStyle/>
          <a:p>
            <a:pPr algn="l"/>
            <a:r>
              <a:rPr sz="1200" b="1" i="0">
                <a:solidFill>
                  <a:srgbClr val="B45309"/>
                </a:solidFill>
                <a:latin typeface="Arial"/>
              </a:rPr>
              <a:t>AI Intelligence Layer</a:t>
            </a:r>
            <a:endParaRPr sz="1200"/>
          </a:p>
          <a:p>
            <a:pPr algn="l"/>
            <a:r>
              <a:rPr sz="1000" b="0" i="0">
                <a:solidFill>
                  <a:srgbClr val="B45309"/>
                </a:solidFill>
                <a:latin typeface="Arial"/>
              </a:rPr>
              <a:t>additive and read-only</a:t>
            </a:r>
            <a:endParaRPr sz="1000"/>
          </a:p>
        </p:txBody>
      </p:sp>
      <p:sp>
        <p:nvSpPr>
          <p:cNvPr id="29" name="TextBox 28"/>
          <p:cNvSpPr txBox="1"/>
          <p:nvPr/>
        </p:nvSpPr>
        <p:spPr>
          <a:xfrm>
            <a:off x="7196328" y="1536192"/>
            <a:ext cx="2157984" cy="2514600"/>
          </a:xfrm>
          <a:prstGeom prst="rect">
            <a:avLst/>
          </a:prstGeom>
          <a:noFill/>
        </p:spPr>
        <p:txBody>
          <a:bodyPr wrap="square" anchor="t" lIns="73152" rIns="73152"/>
          <a:lstStyle/>
          <a:p>
            <a:pPr algn="l" marL="164592" indent="-164592">
              <a:spcAft>
                <a:spcPts val="400"/>
              </a:spcAft>
              <a:buClr>
                <a:srgbClr val="C00000"/>
              </a:buClr>
              <a:buFont typeface="Arial"/>
              <a:buChar char="•"/>
            </a:pPr>
            <a:r>
              <a:rPr sz="1150" b="0" i="0">
                <a:solidFill>
                  <a:srgbClr val="1F2937"/>
                </a:solidFill>
                <a:latin typeface="Arial"/>
              </a:rPr>
              <a:t>Code and documentation retrieval: BM25 fused with vectors</a:t>
            </a:r>
            <a:endParaRPr sz="1150"/>
          </a:p>
          <a:p>
            <a:pPr algn="l" marL="164592" indent="-164592">
              <a:spcAft>
                <a:spcPts val="400"/>
              </a:spcAft>
              <a:buClr>
                <a:srgbClr val="C00000"/>
              </a:buClr>
              <a:buFont typeface="Arial"/>
              <a:buChar char="•"/>
            </a:pPr>
            <a:r>
              <a:rPr sz="1150" b="0" i="0">
                <a:solidFill>
                  <a:srgbClr val="1F2937"/>
                </a:solidFill>
                <a:latin typeface="Arial"/>
              </a:rPr>
              <a:t>8 read-only tools, role-gated at one chokepoint</a:t>
            </a:r>
            <a:endParaRPr sz="1150"/>
          </a:p>
          <a:p>
            <a:pPr algn="l" marL="164592" indent="-164592">
              <a:spcAft>
                <a:spcPts val="400"/>
              </a:spcAft>
              <a:buClr>
                <a:srgbClr val="C00000"/>
              </a:buClr>
              <a:buFont typeface="Arial"/>
              <a:buChar char="•"/>
            </a:pPr>
            <a:r>
              <a:rPr sz="1150" b="0" i="0">
                <a:solidFill>
                  <a:srgbClr val="1F2937"/>
                </a:solidFill>
                <a:latin typeface="Arial"/>
              </a:rPr>
              <a:t>Agents: codebase, operations, travel</a:t>
            </a:r>
            <a:endParaRPr sz="1150"/>
          </a:p>
          <a:p>
            <a:pPr algn="l" marL="164592" indent="-164592">
              <a:buClr>
                <a:srgbClr val="C00000"/>
              </a:buClr>
              <a:buFont typeface="Arial"/>
              <a:buChar char="•"/>
            </a:pPr>
            <a:r>
              <a:rPr sz="1150" b="0" i="0">
                <a:solidFill>
                  <a:srgbClr val="1F2937"/>
                </a:solidFill>
                <a:latin typeface="Arial"/>
              </a:rPr>
              <a:t>Answers cite file and line; 26 of 26 codebase questions answered from correct source</a:t>
            </a:r>
            <a:endParaRPr sz="1150"/>
          </a:p>
        </p:txBody>
      </p:sp>
      <p:sp>
        <p:nvSpPr>
          <p:cNvPr id="30" name="Rounded Rectangle 29"/>
          <p:cNvSpPr/>
          <p:nvPr/>
        </p:nvSpPr>
        <p:spPr>
          <a:xfrm>
            <a:off x="7086600" y="4261104"/>
            <a:ext cx="2359152" cy="1271016"/>
          </a:xfrm>
          <a:prstGeom prst="roundRect">
            <a:avLst>
              <a:gd name="adj" fmla="val 6000"/>
            </a:avLst>
          </a:prstGeom>
          <a:solidFill>
            <a:srgbClr val="C00000"/>
          </a:solidFill>
          <a:ln>
            <a:noFill/>
          </a:ln>
          <a:effectLst/>
        </p:spPr>
        <p:txBody>
          <a:bodyPr rtlCol="0" anchor="ctr" wrap="square" lIns="109728" tIns="54864" rIns="109728" bIns="54864"/>
          <a:lstStyle/>
          <a:p>
            <a:pPr algn="l">
              <a:spcAft>
                <a:spcPts val="200"/>
              </a:spcAft>
            </a:pPr>
            <a:r>
              <a:rPr sz="1100" b="1" i="0">
                <a:solidFill>
                  <a:srgbClr val="FFC9C9"/>
                </a:solidFill>
                <a:latin typeface="Arial"/>
              </a:rPr>
              <a:t>Key decision</a:t>
            </a:r>
            <a:endParaRPr sz="1100"/>
          </a:p>
          <a:p>
            <a:pPr algn="l"/>
            <a:r>
              <a:rPr sz="1100" b="0" i="0">
                <a:solidFill>
                  <a:srgbClr val="FFFFFF"/>
                </a:solidFill>
                <a:latin typeface="Arial"/>
              </a:rPr>
              <a:t>Engines read files, not the database. Route search, fleet, crew and GTFS survive a DB outage.</a:t>
            </a:r>
            <a:endParaRPr sz="1100"/>
          </a:p>
        </p:txBody>
      </p:sp>
      <p:sp>
        <p:nvSpPr>
          <p:cNvPr id="31" name="Rounded Rectangle 30"/>
          <p:cNvSpPr/>
          <p:nvPr/>
        </p:nvSpPr>
        <p:spPr>
          <a:xfrm>
            <a:off x="457200" y="5687568"/>
            <a:ext cx="8988552" cy="548640"/>
          </a:xfrm>
          <a:prstGeom prst="roundRect">
            <a:avLst>
              <a:gd name="adj" fmla="val 10000"/>
            </a:avLst>
          </a:prstGeom>
          <a:solidFill>
            <a:srgbClr val="FFFFFF"/>
          </a:solidFill>
          <a:ln w="9525">
            <a:solidFill>
              <a:srgbClr val="D1D5DB"/>
            </a:solidFill>
          </a:ln>
          <a:effectLst/>
        </p:spPr>
        <p:txBody>
          <a:bodyPr rtlCol="0" anchor="ctr" wrap="square" lIns="182880" tIns="27432" rIns="182880" bIns="27432"/>
          <a:lstStyle/>
          <a:p>
            <a:pPr algn="l"/>
            <a:r>
              <a:rPr sz="1050" b="1" i="0">
                <a:solidFill>
                  <a:srgbClr val="C00000"/>
                </a:solidFill>
                <a:latin typeface="Arial"/>
              </a:rPr>
              <a:t>Stack: </a:t>
            </a:r>
            <a:r>
              <a:rPr sz="1050" b="0" i="0">
                <a:solidFill>
                  <a:srgbClr val="1F2937"/>
                </a:solidFill>
                <a:latin typeface="Arial"/>
              </a:rPr>
              <a:t>Python 3.12, FastAPI 0.115, Pydantic 2, MongoDB (Motor) | React 19, TypeScript 5.7, Vite 6 | Docker Compose, Nginx, Render, Vercel, GitHub Actions CI</a:t>
            </a:r>
            <a:endParaRPr sz="105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Product Walkthrough</a:t>
            </a:r>
          </a:p>
        </p:txBody>
      </p:sp>
      <p:sp>
        <p:nvSpPr>
          <p:cNvPr id="3" name="Rounded Rectangle 2"/>
          <p:cNvSpPr/>
          <p:nvPr/>
        </p:nvSpPr>
        <p:spPr>
          <a:xfrm>
            <a:off x="457200" y="914400"/>
            <a:ext cx="4434840" cy="2432304"/>
          </a:xfrm>
          <a:prstGeom prst="roundRect">
            <a:avLst>
              <a:gd name="adj" fmla="val 4000"/>
            </a:avLst>
          </a:prstGeom>
          <a:solidFill>
            <a:srgbClr val="F3F4F6"/>
          </a:solidFill>
          <a:ln>
            <a:noFill/>
          </a:ln>
          <a:effectLst/>
        </p:spPr>
        <p:txBody>
          <a:bodyPr rtlCol="0" anchor="ctr"/>
          <a:lstStyle/>
          <a:p>
            <a:pPr algn="ctr"/>
          </a:p>
        </p:txBody>
      </p:sp>
      <p:sp>
        <p:nvSpPr>
          <p:cNvPr id="4" name="Rounded Rectangle 3"/>
          <p:cNvSpPr/>
          <p:nvPr/>
        </p:nvSpPr>
        <p:spPr>
          <a:xfrm>
            <a:off x="566928" y="1024128"/>
            <a:ext cx="4215383" cy="1481328"/>
          </a:xfrm>
          <a:prstGeom prst="roundRect">
            <a:avLst>
              <a:gd name="adj" fmla="val 3000"/>
            </a:avLst>
          </a:prstGeom>
          <a:solidFill>
            <a:srgbClr val="FFFFFF"/>
          </a:solidFill>
          <a:ln w="15875">
            <a:solidFill>
              <a:srgbClr val="9CA3AF"/>
            </a:solidFill>
            <a:prstDash val="dash"/>
          </a:ln>
          <a:effectLst/>
        </p:spPr>
        <p:txBody>
          <a:bodyPr rtlCol="0" anchor="ctr" wrap="square" lIns="73152" rIns="73152"/>
          <a:lstStyle/>
          <a:p>
            <a:pPr algn="ctr"/>
            <a:r>
              <a:rPr sz="1300" b="1" i="0">
                <a:solidFill>
                  <a:srgbClr val="4B5563"/>
                </a:solidFill>
                <a:latin typeface="Arial"/>
              </a:rPr>
              <a:t>[ Screenshot placeholder ]</a:t>
            </a:r>
            <a:endParaRPr sz="1300"/>
          </a:p>
          <a:p>
            <a:pPr algn="ctr"/>
            <a:r>
              <a:rPr sz="1050" b="0" i="0">
                <a:solidFill>
                  <a:srgbClr val="4B5563"/>
                </a:solidFill>
                <a:latin typeface="Arial"/>
              </a:rPr>
              <a:t>Replace this box with a screenshot of the page</a:t>
            </a:r>
            <a:endParaRPr sz="1050"/>
          </a:p>
        </p:txBody>
      </p:sp>
      <p:sp>
        <p:nvSpPr>
          <p:cNvPr id="5" name="TextBox 4"/>
          <p:cNvSpPr txBox="1"/>
          <p:nvPr/>
        </p:nvSpPr>
        <p:spPr>
          <a:xfrm>
            <a:off x="566928" y="2542032"/>
            <a:ext cx="4215383" cy="274320"/>
          </a:xfrm>
          <a:prstGeom prst="rect">
            <a:avLst/>
          </a:prstGeom>
          <a:noFill/>
        </p:spPr>
        <p:txBody>
          <a:bodyPr wrap="square" anchor="t" lIns="73152" rIns="73152"/>
          <a:lstStyle/>
          <a:p>
            <a:pPr algn="l"/>
            <a:r>
              <a:rPr sz="1300" b="1" i="0">
                <a:solidFill>
                  <a:srgbClr val="C00000"/>
                </a:solidFill>
                <a:latin typeface="Arial"/>
              </a:rPr>
              <a:t>Journey search  (/predict)</a:t>
            </a:r>
            <a:endParaRPr sz="1300"/>
          </a:p>
        </p:txBody>
      </p:sp>
      <p:sp>
        <p:nvSpPr>
          <p:cNvPr id="6" name="TextBox 5"/>
          <p:cNvSpPr txBox="1"/>
          <p:nvPr/>
        </p:nvSpPr>
        <p:spPr>
          <a:xfrm>
            <a:off x="566928" y="2798064"/>
            <a:ext cx="4215383" cy="530352"/>
          </a:xfrm>
          <a:prstGeom prst="rect">
            <a:avLst/>
          </a:prstGeom>
          <a:noFill/>
        </p:spPr>
        <p:txBody>
          <a:bodyPr wrap="square" anchor="t" lIns="73152" rIns="73152"/>
          <a:lstStyle/>
          <a:p>
            <a:pPr algn="l"/>
            <a:r>
              <a:rPr sz="1100" b="0" i="0">
                <a:solidFill>
                  <a:srgbClr val="1F2937"/>
                </a:solidFill>
                <a:latin typeface="Arial"/>
              </a:rPr>
              <a:t>Majestic to Marathahalli returns bus 335-G with stop sequence, distance, fare, route map and Metro interchange.</a:t>
            </a:r>
            <a:endParaRPr sz="1100"/>
          </a:p>
        </p:txBody>
      </p:sp>
      <p:sp>
        <p:nvSpPr>
          <p:cNvPr id="7" name="Rounded Rectangle 6"/>
          <p:cNvSpPr/>
          <p:nvPr/>
        </p:nvSpPr>
        <p:spPr>
          <a:xfrm>
            <a:off x="5010912" y="914400"/>
            <a:ext cx="4434840" cy="2432304"/>
          </a:xfrm>
          <a:prstGeom prst="roundRect">
            <a:avLst>
              <a:gd name="adj" fmla="val 4000"/>
            </a:avLst>
          </a:prstGeom>
          <a:solidFill>
            <a:srgbClr val="F3F4F6"/>
          </a:solidFill>
          <a:ln>
            <a:noFill/>
          </a:ln>
          <a:effectLst/>
        </p:spPr>
        <p:txBody>
          <a:bodyPr rtlCol="0" anchor="ctr"/>
          <a:lstStyle/>
          <a:p>
            <a:pPr algn="ctr"/>
          </a:p>
        </p:txBody>
      </p:sp>
      <p:sp>
        <p:nvSpPr>
          <p:cNvPr id="8" name="Rounded Rectangle 7"/>
          <p:cNvSpPr/>
          <p:nvPr/>
        </p:nvSpPr>
        <p:spPr>
          <a:xfrm>
            <a:off x="5120640" y="1024128"/>
            <a:ext cx="4215383" cy="1481328"/>
          </a:xfrm>
          <a:prstGeom prst="roundRect">
            <a:avLst>
              <a:gd name="adj" fmla="val 3000"/>
            </a:avLst>
          </a:prstGeom>
          <a:solidFill>
            <a:srgbClr val="FFFFFF"/>
          </a:solidFill>
          <a:ln w="15875">
            <a:solidFill>
              <a:srgbClr val="9CA3AF"/>
            </a:solidFill>
            <a:prstDash val="dash"/>
          </a:ln>
          <a:effectLst/>
        </p:spPr>
        <p:txBody>
          <a:bodyPr rtlCol="0" anchor="ctr" wrap="square" lIns="73152" rIns="73152"/>
          <a:lstStyle/>
          <a:p>
            <a:pPr algn="ctr"/>
            <a:r>
              <a:rPr sz="1300" b="1" i="0">
                <a:solidFill>
                  <a:srgbClr val="4B5563"/>
                </a:solidFill>
                <a:latin typeface="Arial"/>
              </a:rPr>
              <a:t>[ Screenshot placeholder ]</a:t>
            </a:r>
            <a:endParaRPr sz="1300"/>
          </a:p>
          <a:p>
            <a:pPr algn="ctr"/>
            <a:r>
              <a:rPr sz="1050" b="0" i="0">
                <a:solidFill>
                  <a:srgbClr val="4B5563"/>
                </a:solidFill>
                <a:latin typeface="Arial"/>
              </a:rPr>
              <a:t>Replace this box with a screenshot of the page</a:t>
            </a:r>
            <a:endParaRPr sz="1050"/>
          </a:p>
        </p:txBody>
      </p:sp>
      <p:sp>
        <p:nvSpPr>
          <p:cNvPr id="9" name="TextBox 8"/>
          <p:cNvSpPr txBox="1"/>
          <p:nvPr/>
        </p:nvSpPr>
        <p:spPr>
          <a:xfrm>
            <a:off x="5120640" y="2542032"/>
            <a:ext cx="4215383" cy="274320"/>
          </a:xfrm>
          <a:prstGeom prst="rect">
            <a:avLst/>
          </a:prstGeom>
          <a:noFill/>
        </p:spPr>
        <p:txBody>
          <a:bodyPr wrap="square" anchor="t" lIns="73152" rIns="73152"/>
          <a:lstStyle/>
          <a:p>
            <a:pPr algn="l"/>
            <a:r>
              <a:rPr sz="1300" b="1" i="0">
                <a:solidFill>
                  <a:srgbClr val="C00000"/>
                </a:solidFill>
                <a:latin typeface="Arial"/>
              </a:rPr>
              <a:t>Depot fleet and crew plan  (/depot)</a:t>
            </a:r>
            <a:endParaRPr sz="1300"/>
          </a:p>
        </p:txBody>
      </p:sp>
      <p:sp>
        <p:nvSpPr>
          <p:cNvPr id="10" name="TextBox 9"/>
          <p:cNvSpPr txBox="1"/>
          <p:nvPr/>
        </p:nvSpPr>
        <p:spPr>
          <a:xfrm>
            <a:off x="5120640" y="2798064"/>
            <a:ext cx="4215383" cy="530352"/>
          </a:xfrm>
          <a:prstGeom prst="rect">
            <a:avLst/>
          </a:prstGeom>
          <a:noFill/>
        </p:spPr>
        <p:txBody>
          <a:bodyPr wrap="square" anchor="t" lIns="73152" rIns="73152"/>
          <a:lstStyle/>
          <a:p>
            <a:pPr algn="l"/>
            <a:r>
              <a:rPr sz="1100" b="0" i="0">
                <a:solidFill>
                  <a:srgbClr val="1F2937"/>
                </a:solidFill>
                <a:latin typeface="Arial"/>
              </a:rPr>
              <a:t>Minimum buses, dead kilometres and crew duties per depot, with a what-if scenario console.</a:t>
            </a:r>
            <a:endParaRPr sz="1100"/>
          </a:p>
        </p:txBody>
      </p:sp>
      <p:sp>
        <p:nvSpPr>
          <p:cNvPr id="11" name="Rounded Rectangle 10"/>
          <p:cNvSpPr/>
          <p:nvPr/>
        </p:nvSpPr>
        <p:spPr>
          <a:xfrm>
            <a:off x="457200" y="3456432"/>
            <a:ext cx="4434840" cy="2432304"/>
          </a:xfrm>
          <a:prstGeom prst="roundRect">
            <a:avLst>
              <a:gd name="adj" fmla="val 4000"/>
            </a:avLst>
          </a:prstGeom>
          <a:solidFill>
            <a:srgbClr val="F3F4F6"/>
          </a:solidFill>
          <a:ln>
            <a:noFill/>
          </a:ln>
          <a:effectLst/>
        </p:spPr>
        <p:txBody>
          <a:bodyPr rtlCol="0" anchor="ctr"/>
          <a:lstStyle/>
          <a:p>
            <a:pPr algn="ctr"/>
          </a:p>
        </p:txBody>
      </p:sp>
      <p:sp>
        <p:nvSpPr>
          <p:cNvPr id="12" name="Rounded Rectangle 11"/>
          <p:cNvSpPr/>
          <p:nvPr/>
        </p:nvSpPr>
        <p:spPr>
          <a:xfrm>
            <a:off x="566928" y="3566160"/>
            <a:ext cx="4215383" cy="1481328"/>
          </a:xfrm>
          <a:prstGeom prst="roundRect">
            <a:avLst>
              <a:gd name="adj" fmla="val 3000"/>
            </a:avLst>
          </a:prstGeom>
          <a:solidFill>
            <a:srgbClr val="FFFFFF"/>
          </a:solidFill>
          <a:ln w="15875">
            <a:solidFill>
              <a:srgbClr val="9CA3AF"/>
            </a:solidFill>
            <a:prstDash val="dash"/>
          </a:ln>
          <a:effectLst/>
        </p:spPr>
        <p:txBody>
          <a:bodyPr rtlCol="0" anchor="ctr" wrap="square" lIns="73152" rIns="73152"/>
          <a:lstStyle/>
          <a:p>
            <a:pPr algn="ctr"/>
            <a:r>
              <a:rPr sz="1300" b="1" i="0">
                <a:solidFill>
                  <a:srgbClr val="4B5563"/>
                </a:solidFill>
                <a:latin typeface="Arial"/>
              </a:rPr>
              <a:t>[ Screenshot placeholder ]</a:t>
            </a:r>
            <a:endParaRPr sz="1300"/>
          </a:p>
          <a:p>
            <a:pPr algn="ctr"/>
            <a:r>
              <a:rPr sz="1050" b="0" i="0">
                <a:solidFill>
                  <a:srgbClr val="4B5563"/>
                </a:solidFill>
                <a:latin typeface="Arial"/>
              </a:rPr>
              <a:t>Replace this box with a screenshot of the page</a:t>
            </a:r>
            <a:endParaRPr sz="1050"/>
          </a:p>
        </p:txBody>
      </p:sp>
      <p:sp>
        <p:nvSpPr>
          <p:cNvPr id="13" name="TextBox 12"/>
          <p:cNvSpPr txBox="1"/>
          <p:nvPr/>
        </p:nvSpPr>
        <p:spPr>
          <a:xfrm>
            <a:off x="566928" y="5084064"/>
            <a:ext cx="4215383" cy="274320"/>
          </a:xfrm>
          <a:prstGeom prst="rect">
            <a:avLst/>
          </a:prstGeom>
          <a:noFill/>
        </p:spPr>
        <p:txBody>
          <a:bodyPr wrap="square" anchor="t" lIns="73152" rIns="73152"/>
          <a:lstStyle/>
          <a:p>
            <a:pPr algn="l"/>
            <a:r>
              <a:rPr sz="1300" b="1" i="0">
                <a:solidFill>
                  <a:srgbClr val="C00000"/>
                </a:solidFill>
                <a:latin typeface="Arial"/>
              </a:rPr>
              <a:t>E-ticket and Shakti  (/tickets)</a:t>
            </a:r>
            <a:endParaRPr sz="1300"/>
          </a:p>
        </p:txBody>
      </p:sp>
      <p:sp>
        <p:nvSpPr>
          <p:cNvPr id="14" name="TextBox 13"/>
          <p:cNvSpPr txBox="1"/>
          <p:nvPr/>
        </p:nvSpPr>
        <p:spPr>
          <a:xfrm>
            <a:off x="566928" y="5340096"/>
            <a:ext cx="4215383" cy="530352"/>
          </a:xfrm>
          <a:prstGeom prst="rect">
            <a:avLst/>
          </a:prstGeom>
          <a:noFill/>
        </p:spPr>
        <p:txBody>
          <a:bodyPr wrap="square" anchor="t" lIns="73152" rIns="73152"/>
          <a:lstStyle/>
          <a:p>
            <a:pPr algn="l"/>
            <a:r>
              <a:rPr sz="1100" b="0" i="0">
                <a:solidFill>
                  <a:srgbClr val="1F2937"/>
                </a:solidFill>
                <a:latin typeface="Arial"/>
              </a:rPr>
              <a:t>Signed QR ticket with a 6-character code; Shakti tickets show zero fare while the full fare value is recorded.</a:t>
            </a:r>
            <a:endParaRPr sz="1100"/>
          </a:p>
        </p:txBody>
      </p:sp>
      <p:sp>
        <p:nvSpPr>
          <p:cNvPr id="15" name="Rounded Rectangle 14"/>
          <p:cNvSpPr/>
          <p:nvPr/>
        </p:nvSpPr>
        <p:spPr>
          <a:xfrm>
            <a:off x="5010912" y="3456432"/>
            <a:ext cx="4434840" cy="2432304"/>
          </a:xfrm>
          <a:prstGeom prst="roundRect">
            <a:avLst>
              <a:gd name="adj" fmla="val 4000"/>
            </a:avLst>
          </a:prstGeom>
          <a:solidFill>
            <a:srgbClr val="F3F4F6"/>
          </a:solidFill>
          <a:ln>
            <a:noFill/>
          </a:ln>
          <a:effectLst/>
        </p:spPr>
        <p:txBody>
          <a:bodyPr rtlCol="0" anchor="ctr"/>
          <a:lstStyle/>
          <a:p>
            <a:pPr algn="ctr"/>
          </a:p>
        </p:txBody>
      </p:sp>
      <p:sp>
        <p:nvSpPr>
          <p:cNvPr id="16" name="Rounded Rectangle 15"/>
          <p:cNvSpPr/>
          <p:nvPr/>
        </p:nvSpPr>
        <p:spPr>
          <a:xfrm>
            <a:off x="5120640" y="3566160"/>
            <a:ext cx="4215383" cy="1481328"/>
          </a:xfrm>
          <a:prstGeom prst="roundRect">
            <a:avLst>
              <a:gd name="adj" fmla="val 3000"/>
            </a:avLst>
          </a:prstGeom>
          <a:solidFill>
            <a:srgbClr val="FFFFFF"/>
          </a:solidFill>
          <a:ln w="15875">
            <a:solidFill>
              <a:srgbClr val="9CA3AF"/>
            </a:solidFill>
            <a:prstDash val="dash"/>
          </a:ln>
          <a:effectLst/>
        </p:spPr>
        <p:txBody>
          <a:bodyPr rtlCol="0" anchor="ctr" wrap="square" lIns="73152" rIns="73152"/>
          <a:lstStyle/>
          <a:p>
            <a:pPr algn="ctr"/>
            <a:r>
              <a:rPr sz="1300" b="1" i="0">
                <a:solidFill>
                  <a:srgbClr val="4B5563"/>
                </a:solidFill>
                <a:latin typeface="Arial"/>
              </a:rPr>
              <a:t>[ Screenshot placeholder ]</a:t>
            </a:r>
            <a:endParaRPr sz="1300"/>
          </a:p>
          <a:p>
            <a:pPr algn="ctr"/>
            <a:r>
              <a:rPr sz="1050" b="0" i="0">
                <a:solidFill>
                  <a:srgbClr val="4B5563"/>
                </a:solidFill>
                <a:latin typeface="Arial"/>
              </a:rPr>
              <a:t>Replace this box with a screenshot of the page</a:t>
            </a:r>
            <a:endParaRPr sz="1050"/>
          </a:p>
        </p:txBody>
      </p:sp>
      <p:sp>
        <p:nvSpPr>
          <p:cNvPr id="17" name="TextBox 16"/>
          <p:cNvSpPr txBox="1"/>
          <p:nvPr/>
        </p:nvSpPr>
        <p:spPr>
          <a:xfrm>
            <a:off x="5120640" y="5084064"/>
            <a:ext cx="4215383" cy="274320"/>
          </a:xfrm>
          <a:prstGeom prst="rect">
            <a:avLst/>
          </a:prstGeom>
          <a:noFill/>
        </p:spPr>
        <p:txBody>
          <a:bodyPr wrap="square" anchor="t" lIns="73152" rIns="73152"/>
          <a:lstStyle/>
          <a:p>
            <a:pPr algn="l"/>
            <a:r>
              <a:rPr sz="1300" b="1" i="0">
                <a:solidFill>
                  <a:srgbClr val="C00000"/>
                </a:solidFill>
                <a:latin typeface="Arial"/>
              </a:rPr>
              <a:t>Live tracking  (/track)</a:t>
            </a:r>
            <a:endParaRPr sz="1300"/>
          </a:p>
        </p:txBody>
      </p:sp>
      <p:sp>
        <p:nvSpPr>
          <p:cNvPr id="18" name="TextBox 17"/>
          <p:cNvSpPr txBox="1"/>
          <p:nvPr/>
        </p:nvSpPr>
        <p:spPr>
          <a:xfrm>
            <a:off x="5120640" y="5340096"/>
            <a:ext cx="4215383" cy="530352"/>
          </a:xfrm>
          <a:prstGeom prst="rect">
            <a:avLst/>
          </a:prstGeom>
          <a:noFill/>
        </p:spPr>
        <p:txBody>
          <a:bodyPr wrap="square" anchor="t" lIns="73152" rIns="73152"/>
          <a:lstStyle/>
          <a:p>
            <a:pPr algn="l"/>
            <a:r>
              <a:rPr sz="1100" b="0" i="0">
                <a:solidFill>
                  <a:srgbClr val="1F2937"/>
                </a:solidFill>
                <a:latin typeface="Arial"/>
              </a:rPr>
              <a:t>Bus positions carry an is_live flag; the screen states clearly when positions are simulated.</a:t>
            </a:r>
            <a:endParaRPr sz="1100"/>
          </a:p>
        </p:txBody>
      </p:sp>
      <p:sp>
        <p:nvSpPr>
          <p:cNvPr id="19" name="TextBox 18"/>
          <p:cNvSpPr txBox="1"/>
          <p:nvPr/>
        </p:nvSpPr>
        <p:spPr>
          <a:xfrm>
            <a:off x="457200" y="5971032"/>
            <a:ext cx="8988552" cy="274320"/>
          </a:xfrm>
          <a:prstGeom prst="rect">
            <a:avLst/>
          </a:prstGeom>
          <a:noFill/>
        </p:spPr>
        <p:txBody>
          <a:bodyPr wrap="square" anchor="t" lIns="73152" rIns="73152"/>
          <a:lstStyle/>
          <a:p>
            <a:pPr algn="l"/>
            <a:r>
              <a:rPr sz="950" b="0" i="1">
                <a:solidFill>
                  <a:srgbClr val="4B5563"/>
                </a:solidFill>
                <a:latin typeface="Arial"/>
              </a:rPr>
              <a:t>Presenter tip: capture each page at 1600 px wide, crop to the app content, and delete this note after inserting.</a:t>
            </a:r>
            <a:endParaRPr sz="95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Results and Evidence</a:t>
            </a:r>
          </a:p>
        </p:txBody>
      </p:sp>
      <p:sp>
        <p:nvSpPr>
          <p:cNvPr id="3" name="TextBox 2"/>
          <p:cNvSpPr txBox="1"/>
          <p:nvPr/>
        </p:nvSpPr>
        <p:spPr>
          <a:xfrm>
            <a:off x="457200" y="896112"/>
            <a:ext cx="4754880" cy="292608"/>
          </a:xfrm>
          <a:prstGeom prst="rect">
            <a:avLst/>
          </a:prstGeom>
          <a:noFill/>
        </p:spPr>
        <p:txBody>
          <a:bodyPr wrap="square" anchor="t" lIns="73152" rIns="73152"/>
          <a:lstStyle/>
          <a:p>
            <a:pPr algn="l"/>
            <a:r>
              <a:rPr sz="1200" b="1" i="0">
                <a:solidFill>
                  <a:srgbClr val="1F2937"/>
                </a:solidFill>
                <a:latin typeface="Arial"/>
              </a:rPr>
              <a:t>Rank quality: baseline vs after tuning (120 test pairs)</a:t>
            </a:r>
            <a:endParaRPr sz="1200"/>
          </a:p>
        </p:txBody>
      </p:sp>
      <p:graphicFrame>
        <p:nvGraphicFramePr>
          <p:cNvPr id="4" name="Chart 3"/>
          <p:cNvGraphicFramePr>
            <a:graphicFrameLocks noGrp="1"/>
          </p:cNvGraphicFramePr>
          <p:nvPr/>
        </p:nvGraphicFramePr>
        <p:xfrm>
          <a:off x="457200" y="1188720"/>
          <a:ext cx="4754880" cy="2788920"/>
        </p:xfrm>
        <a:graphic>
          <a:graphicData uri="http://schemas.openxmlformats.org/drawingml/2006/chart">
            <c:chart xmlns:c="http://schemas.openxmlformats.org/drawingml/2006/chart" r:id="rId2"/>
          </a:graphicData>
        </a:graphic>
      </p:graphicFrame>
      <p:sp>
        <p:nvSpPr>
          <p:cNvPr id="5" name="TextBox 4"/>
          <p:cNvSpPr txBox="1"/>
          <p:nvPr/>
        </p:nvSpPr>
        <p:spPr>
          <a:xfrm>
            <a:off x="457200" y="4005072"/>
            <a:ext cx="4754880" cy="457200"/>
          </a:xfrm>
          <a:prstGeom prst="rect">
            <a:avLst/>
          </a:prstGeom>
          <a:noFill/>
        </p:spPr>
        <p:txBody>
          <a:bodyPr wrap="square" anchor="t" lIns="73152" rIns="73152"/>
          <a:lstStyle/>
          <a:p>
            <a:pPr algn="l"/>
            <a:r>
              <a:rPr sz="1050" b="0" i="0">
                <a:solidFill>
                  <a:srgbClr val="4B5563"/>
                </a:solidFill>
                <a:latin typeface="Arial"/>
              </a:rPr>
              <a:t>Mean percentile rank 0.14 to 0.044 (lower is better); nDCG@5 = 0.982.</a:t>
            </a:r>
            <a:endParaRPr sz="1050"/>
          </a:p>
        </p:txBody>
      </p:sp>
      <p:sp>
        <p:nvSpPr>
          <p:cNvPr id="6" name="Rounded Rectangle 5"/>
          <p:cNvSpPr/>
          <p:nvPr/>
        </p:nvSpPr>
        <p:spPr>
          <a:xfrm>
            <a:off x="5440680" y="914400"/>
            <a:ext cx="1993392" cy="1481328"/>
          </a:xfrm>
          <a:prstGeom prst="roundRect">
            <a:avLst>
              <a:gd name="adj" fmla="val 6000"/>
            </a:avLst>
          </a:prstGeom>
          <a:solidFill>
            <a:srgbClr val="F3F4F6"/>
          </a:solidFill>
          <a:ln>
            <a:noFill/>
          </a:ln>
          <a:effectLst/>
        </p:spPr>
        <p:txBody>
          <a:bodyPr rtlCol="0" anchor="ctr"/>
          <a:lstStyle/>
          <a:p>
            <a:pPr algn="ctr"/>
          </a:p>
        </p:txBody>
      </p:sp>
      <p:sp>
        <p:nvSpPr>
          <p:cNvPr id="7" name="TextBox 6"/>
          <p:cNvSpPr txBox="1"/>
          <p:nvPr/>
        </p:nvSpPr>
        <p:spPr>
          <a:xfrm>
            <a:off x="5440680" y="1005840"/>
            <a:ext cx="1993392" cy="594360"/>
          </a:xfrm>
          <a:prstGeom prst="rect">
            <a:avLst/>
          </a:prstGeom>
          <a:noFill/>
        </p:spPr>
        <p:txBody>
          <a:bodyPr wrap="square" anchor="ctr" lIns="73152" rIns="73152"/>
          <a:lstStyle/>
          <a:p>
            <a:pPr algn="ctr"/>
            <a:r>
              <a:rPr sz="2800" b="1" i="0">
                <a:solidFill>
                  <a:srgbClr val="C00000"/>
                </a:solidFill>
                <a:latin typeface="Arial"/>
              </a:rPr>
              <a:t>6,849</a:t>
            </a:r>
            <a:endParaRPr sz="2800"/>
          </a:p>
        </p:txBody>
      </p:sp>
      <p:sp>
        <p:nvSpPr>
          <p:cNvPr id="8" name="TextBox 7"/>
          <p:cNvSpPr txBox="1"/>
          <p:nvPr/>
        </p:nvSpPr>
        <p:spPr>
          <a:xfrm>
            <a:off x="5532120" y="1627632"/>
            <a:ext cx="1810512" cy="731520"/>
          </a:xfrm>
          <a:prstGeom prst="rect">
            <a:avLst/>
          </a:prstGeom>
          <a:noFill/>
        </p:spPr>
        <p:txBody>
          <a:bodyPr wrap="square" anchor="t" lIns="73152" rIns="73152"/>
          <a:lstStyle/>
          <a:p>
            <a:pPr algn="ctr"/>
            <a:r>
              <a:rPr sz="1100" b="0" i="0">
                <a:solidFill>
                  <a:srgbClr val="1F2937"/>
                </a:solidFill>
                <a:latin typeface="Arial"/>
              </a:rPr>
              <a:t>buses in the modelled fleet plan across 44 depots</a:t>
            </a:r>
            <a:endParaRPr sz="1100"/>
          </a:p>
        </p:txBody>
      </p:sp>
      <p:sp>
        <p:nvSpPr>
          <p:cNvPr id="9" name="Rounded Rectangle 8"/>
          <p:cNvSpPr/>
          <p:nvPr/>
        </p:nvSpPr>
        <p:spPr>
          <a:xfrm>
            <a:off x="7452360" y="914400"/>
            <a:ext cx="1993392" cy="1481328"/>
          </a:xfrm>
          <a:prstGeom prst="roundRect">
            <a:avLst>
              <a:gd name="adj" fmla="val 6000"/>
            </a:avLst>
          </a:prstGeom>
          <a:solidFill>
            <a:srgbClr val="F3F4F6"/>
          </a:solidFill>
          <a:ln>
            <a:noFill/>
          </a:ln>
          <a:effectLst/>
        </p:spPr>
        <p:txBody>
          <a:bodyPr rtlCol="0" anchor="ctr"/>
          <a:lstStyle/>
          <a:p>
            <a:pPr algn="ctr"/>
          </a:p>
        </p:txBody>
      </p:sp>
      <p:sp>
        <p:nvSpPr>
          <p:cNvPr id="10" name="TextBox 9"/>
          <p:cNvSpPr txBox="1"/>
          <p:nvPr/>
        </p:nvSpPr>
        <p:spPr>
          <a:xfrm>
            <a:off x="7452360" y="1005840"/>
            <a:ext cx="1993392" cy="594360"/>
          </a:xfrm>
          <a:prstGeom prst="rect">
            <a:avLst/>
          </a:prstGeom>
          <a:noFill/>
        </p:spPr>
        <p:txBody>
          <a:bodyPr wrap="square" anchor="ctr" lIns="73152" rIns="73152"/>
          <a:lstStyle/>
          <a:p>
            <a:pPr algn="ctr"/>
            <a:r>
              <a:rPr sz="2800" b="1" i="0">
                <a:solidFill>
                  <a:srgbClr val="C00000"/>
                </a:solidFill>
                <a:latin typeface="Arial"/>
              </a:rPr>
              <a:t>15,636</a:t>
            </a:r>
            <a:endParaRPr sz="2800"/>
          </a:p>
        </p:txBody>
      </p:sp>
      <p:sp>
        <p:nvSpPr>
          <p:cNvPr id="11" name="TextBox 10"/>
          <p:cNvSpPr txBox="1"/>
          <p:nvPr/>
        </p:nvSpPr>
        <p:spPr>
          <a:xfrm>
            <a:off x="7543800" y="1627632"/>
            <a:ext cx="1810512" cy="731520"/>
          </a:xfrm>
          <a:prstGeom prst="rect">
            <a:avLst/>
          </a:prstGeom>
          <a:noFill/>
        </p:spPr>
        <p:txBody>
          <a:bodyPr wrap="square" anchor="t" lIns="73152" rIns="73152"/>
          <a:lstStyle/>
          <a:p>
            <a:pPr algn="ctr"/>
            <a:r>
              <a:rPr sz="1100" b="0" i="0">
                <a:solidFill>
                  <a:srgbClr val="1F2937"/>
                </a:solidFill>
                <a:latin typeface="Arial"/>
              </a:rPr>
              <a:t>daily crew duties; 2.28 duties per bus</a:t>
            </a:r>
            <a:endParaRPr sz="1100"/>
          </a:p>
        </p:txBody>
      </p:sp>
      <p:sp>
        <p:nvSpPr>
          <p:cNvPr id="12" name="Rounded Rectangle 11"/>
          <p:cNvSpPr/>
          <p:nvPr/>
        </p:nvSpPr>
        <p:spPr>
          <a:xfrm>
            <a:off x="5440680" y="2487168"/>
            <a:ext cx="1993392" cy="1481328"/>
          </a:xfrm>
          <a:prstGeom prst="roundRect">
            <a:avLst>
              <a:gd name="adj" fmla="val 6000"/>
            </a:avLst>
          </a:prstGeom>
          <a:solidFill>
            <a:srgbClr val="F3F4F6"/>
          </a:solidFill>
          <a:ln>
            <a:noFill/>
          </a:ln>
          <a:effectLst/>
        </p:spPr>
        <p:txBody>
          <a:bodyPr rtlCol="0" anchor="ctr"/>
          <a:lstStyle/>
          <a:p>
            <a:pPr algn="ctr"/>
          </a:p>
        </p:txBody>
      </p:sp>
      <p:sp>
        <p:nvSpPr>
          <p:cNvPr id="13" name="TextBox 12"/>
          <p:cNvSpPr txBox="1"/>
          <p:nvPr/>
        </p:nvSpPr>
        <p:spPr>
          <a:xfrm>
            <a:off x="5440680" y="2578608"/>
            <a:ext cx="1993392" cy="594360"/>
          </a:xfrm>
          <a:prstGeom prst="rect">
            <a:avLst/>
          </a:prstGeom>
          <a:noFill/>
        </p:spPr>
        <p:txBody>
          <a:bodyPr wrap="square" anchor="ctr" lIns="73152" rIns="73152"/>
          <a:lstStyle/>
          <a:p>
            <a:pPr algn="ctr"/>
            <a:r>
              <a:rPr sz="2800" b="1" i="0">
                <a:solidFill>
                  <a:srgbClr val="C00000"/>
                </a:solidFill>
                <a:latin typeface="Arial"/>
              </a:rPr>
              <a:t>1.46 M</a:t>
            </a:r>
            <a:endParaRPr sz="2800"/>
          </a:p>
        </p:txBody>
      </p:sp>
      <p:sp>
        <p:nvSpPr>
          <p:cNvPr id="14" name="TextBox 13"/>
          <p:cNvSpPr txBox="1"/>
          <p:nvPr/>
        </p:nvSpPr>
        <p:spPr>
          <a:xfrm>
            <a:off x="5532120" y="3200400"/>
            <a:ext cx="1810512" cy="731520"/>
          </a:xfrm>
          <a:prstGeom prst="rect">
            <a:avLst/>
          </a:prstGeom>
          <a:noFill/>
        </p:spPr>
        <p:txBody>
          <a:bodyPr wrap="square" anchor="t" lIns="73152" rIns="73152"/>
          <a:lstStyle/>
          <a:p>
            <a:pPr algn="ctr"/>
            <a:r>
              <a:rPr sz="1100" b="0" i="0">
                <a:solidFill>
                  <a:srgbClr val="1F2937"/>
                </a:solidFill>
                <a:latin typeface="Arial"/>
              </a:rPr>
              <a:t>GTFS stop_times, 47,295 trips, built in 11 to 16 s</a:t>
            </a:r>
            <a:endParaRPr sz="1100"/>
          </a:p>
        </p:txBody>
      </p:sp>
      <p:sp>
        <p:nvSpPr>
          <p:cNvPr id="15" name="Rounded Rectangle 14"/>
          <p:cNvSpPr/>
          <p:nvPr/>
        </p:nvSpPr>
        <p:spPr>
          <a:xfrm>
            <a:off x="7452360" y="2487168"/>
            <a:ext cx="1993392" cy="1481328"/>
          </a:xfrm>
          <a:prstGeom prst="roundRect">
            <a:avLst>
              <a:gd name="adj" fmla="val 6000"/>
            </a:avLst>
          </a:prstGeom>
          <a:solidFill>
            <a:srgbClr val="F3F4F6"/>
          </a:solidFill>
          <a:ln>
            <a:noFill/>
          </a:ln>
          <a:effectLst/>
        </p:spPr>
        <p:txBody>
          <a:bodyPr rtlCol="0" anchor="ctr"/>
          <a:lstStyle/>
          <a:p>
            <a:pPr algn="ctr"/>
          </a:p>
        </p:txBody>
      </p:sp>
      <p:sp>
        <p:nvSpPr>
          <p:cNvPr id="16" name="TextBox 15"/>
          <p:cNvSpPr txBox="1"/>
          <p:nvPr/>
        </p:nvSpPr>
        <p:spPr>
          <a:xfrm>
            <a:off x="7452360" y="2578608"/>
            <a:ext cx="1993392" cy="594360"/>
          </a:xfrm>
          <a:prstGeom prst="rect">
            <a:avLst/>
          </a:prstGeom>
          <a:noFill/>
        </p:spPr>
        <p:txBody>
          <a:bodyPr wrap="square" anchor="ctr" lIns="73152" rIns="73152"/>
          <a:lstStyle/>
          <a:p>
            <a:pPr algn="ctr"/>
            <a:r>
              <a:rPr sz="2800" b="1" i="0">
                <a:solidFill>
                  <a:srgbClr val="C00000"/>
                </a:solidFill>
                <a:latin typeface="Arial"/>
              </a:rPr>
              <a:t>430</a:t>
            </a:r>
            <a:endParaRPr sz="2800"/>
          </a:p>
        </p:txBody>
      </p:sp>
      <p:sp>
        <p:nvSpPr>
          <p:cNvPr id="17" name="TextBox 16"/>
          <p:cNvSpPr txBox="1"/>
          <p:nvPr/>
        </p:nvSpPr>
        <p:spPr>
          <a:xfrm>
            <a:off x="7543800" y="3200400"/>
            <a:ext cx="1810512" cy="731520"/>
          </a:xfrm>
          <a:prstGeom prst="rect">
            <a:avLst/>
          </a:prstGeom>
          <a:noFill/>
        </p:spPr>
        <p:txBody>
          <a:bodyPr wrap="square" anchor="t" lIns="73152" rIns="73152"/>
          <a:lstStyle/>
          <a:p>
            <a:pPr algn="ctr"/>
            <a:r>
              <a:rPr sz="1100" b="0" i="0">
                <a:solidFill>
                  <a:srgbClr val="1F2937"/>
                </a:solidFill>
                <a:latin typeface="Arial"/>
              </a:rPr>
              <a:t>automated backend tests, plus an accuracy gate in CI</a:t>
            </a:r>
            <a:endParaRPr sz="1100"/>
          </a:p>
        </p:txBody>
      </p:sp>
      <p:sp>
        <p:nvSpPr>
          <p:cNvPr id="18" name="Rounded Rectangle 17"/>
          <p:cNvSpPr/>
          <p:nvPr/>
        </p:nvSpPr>
        <p:spPr>
          <a:xfrm>
            <a:off x="457200" y="4526280"/>
            <a:ext cx="8988552" cy="1709928"/>
          </a:xfrm>
          <a:prstGeom prst="roundRect">
            <a:avLst>
              <a:gd name="adj" fmla="val 5000"/>
            </a:avLst>
          </a:prstGeom>
          <a:solidFill>
            <a:srgbClr val="FFF4E5"/>
          </a:solidFill>
          <a:ln>
            <a:noFill/>
          </a:ln>
          <a:effectLst/>
        </p:spPr>
        <p:txBody>
          <a:bodyPr rtlCol="0" anchor="ctr"/>
          <a:lstStyle/>
          <a:p>
            <a:pPr algn="ctr"/>
          </a:p>
        </p:txBody>
      </p:sp>
      <p:sp>
        <p:nvSpPr>
          <p:cNvPr id="19" name="TextBox 18"/>
          <p:cNvSpPr txBox="1"/>
          <p:nvPr/>
        </p:nvSpPr>
        <p:spPr>
          <a:xfrm>
            <a:off x="594360" y="4572000"/>
            <a:ext cx="8686800" cy="292608"/>
          </a:xfrm>
          <a:prstGeom prst="rect">
            <a:avLst/>
          </a:prstGeom>
          <a:noFill/>
        </p:spPr>
        <p:txBody>
          <a:bodyPr wrap="square" anchor="t" lIns="73152" rIns="73152"/>
          <a:lstStyle/>
          <a:p>
            <a:pPr algn="l"/>
            <a:r>
              <a:rPr sz="1200" b="1" i="0">
                <a:solidFill>
                  <a:srgbClr val="B45309"/>
                </a:solidFill>
                <a:latin typeface="Arial"/>
              </a:rPr>
              <a:t>How to read the accuracy numbers (reported honestly)</a:t>
            </a:r>
            <a:endParaRPr sz="1200"/>
          </a:p>
        </p:txBody>
      </p:sp>
      <p:sp>
        <p:nvSpPr>
          <p:cNvPr id="20" name="TextBox 19"/>
          <p:cNvSpPr txBox="1"/>
          <p:nvPr/>
        </p:nvSpPr>
        <p:spPr>
          <a:xfrm>
            <a:off x="594360" y="4864608"/>
            <a:ext cx="8732520" cy="1371600"/>
          </a:xfrm>
          <a:prstGeom prst="rect">
            <a:avLst/>
          </a:prstGeom>
          <a:noFill/>
        </p:spPr>
        <p:txBody>
          <a:bodyPr wrap="square" anchor="t" lIns="73152" rIns="73152"/>
          <a:lstStyle/>
          <a:p>
            <a:pPr algn="l" marL="164592" indent="-164592">
              <a:spcAft>
                <a:spcPts val="300"/>
              </a:spcAft>
              <a:buClr>
                <a:srgbClr val="C00000"/>
              </a:buClr>
              <a:buFont typeface="Arial"/>
              <a:buChar char="•"/>
            </a:pPr>
            <a:r>
              <a:rPr sz="1150" b="1" i="0">
                <a:solidFill>
                  <a:srgbClr val="1F2937"/>
                </a:solidFill>
                <a:latin typeface="Arial"/>
              </a:rPr>
              <a:t>Coverage is 100%, but that is not accuracy: </a:t>
            </a:r>
            <a:r>
              <a:rPr sz="1150" b="0" i="0">
                <a:solidFill>
                  <a:srgbClr val="1F2937"/>
                </a:solidFill>
                <a:latin typeface="Arial"/>
              </a:rPr>
              <a:t>the validity test reads the same index the search uses, so the search always finds a valid bus.</a:t>
            </a:r>
            <a:endParaRPr sz="1150"/>
          </a:p>
          <a:p>
            <a:pPr algn="l" marL="164592" indent="-164592">
              <a:spcAft>
                <a:spcPts val="300"/>
              </a:spcAft>
              <a:buClr>
                <a:srgbClr val="C00000"/>
              </a:buClr>
              <a:buFont typeface="Arial"/>
              <a:buChar char="•"/>
            </a:pPr>
            <a:r>
              <a:rPr sz="1150" b="1" i="0">
                <a:solidFill>
                  <a:srgbClr val="1F2937"/>
                </a:solidFill>
                <a:latin typeface="Arial"/>
              </a:rPr>
              <a:t>Exact-route match is 19.2% top-1 </a:t>
            </a:r>
            <a:r>
              <a:rPr sz="1150" b="0" i="0">
                <a:solidFill>
                  <a:srgbClr val="1F2937"/>
                </a:solidFill>
                <a:latin typeface="Arial"/>
              </a:rPr>
              <a:t>(31.7% top-3, 40% top-5), but a median of 22 buses are correct for each pair, so that old benchmark could not discriminate.</a:t>
            </a:r>
            <a:endParaRPr sz="1150"/>
          </a:p>
          <a:p>
            <a:pPr algn="l" marL="164592" indent="-164592">
              <a:buClr>
                <a:srgbClr val="C00000"/>
              </a:buClr>
              <a:buFont typeface="Arial"/>
              <a:buChar char="•"/>
            </a:pPr>
            <a:r>
              <a:rPr sz="1150" b="1" i="0">
                <a:solidFill>
                  <a:srgbClr val="1F2937"/>
                </a:solidFill>
                <a:latin typeface="Arial"/>
              </a:rPr>
              <a:t>Rank quality is the headline because it can fail: </a:t>
            </a:r>
            <a:r>
              <a:rPr sz="1150" b="0" i="0">
                <a:solidFill>
                  <a:srgbClr val="1F2937"/>
                </a:solidFill>
                <a:latin typeface="Arial"/>
              </a:rPr>
              <a:t>best-option rate rose from 0.57 to 0.7167 after weighting stop span and trip frequency.</a:t>
            </a:r>
            <a:endParaRPr sz="115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400" b="1" i="0">
                <a:solidFill>
                  <a:srgbClr val="FF0000"/>
                </a:solidFill>
                <a:latin typeface="Arial"/>
              </a:rPr>
              <a:t>Sustainable Development Goals Aligned to the Project</a:t>
            </a:r>
          </a:p>
        </p:txBody>
      </p:sp>
      <p:sp>
        <p:nvSpPr>
          <p:cNvPr id="3" name="Rounded Rectangle 2"/>
          <p:cNvSpPr/>
          <p:nvPr/>
        </p:nvSpPr>
        <p:spPr>
          <a:xfrm>
            <a:off x="457200" y="914400"/>
            <a:ext cx="8988552" cy="1161288"/>
          </a:xfrm>
          <a:prstGeom prst="roundRect">
            <a:avLst>
              <a:gd name="adj" fmla="val 5000"/>
            </a:avLst>
          </a:prstGeom>
          <a:solidFill>
            <a:srgbClr val="F3F4F6"/>
          </a:solidFill>
          <a:ln>
            <a:noFill/>
          </a:ln>
          <a:effectLst/>
        </p:spPr>
        <p:txBody>
          <a:bodyPr rtlCol="0" anchor="ctr"/>
          <a:lstStyle/>
          <a:p>
            <a:pPr algn="ctr"/>
          </a:p>
        </p:txBody>
      </p:sp>
      <p:sp>
        <p:nvSpPr>
          <p:cNvPr id="4" name="Rounded Rectangle 3"/>
          <p:cNvSpPr/>
          <p:nvPr/>
        </p:nvSpPr>
        <p:spPr>
          <a:xfrm>
            <a:off x="566928" y="1024128"/>
            <a:ext cx="1600200" cy="941832"/>
          </a:xfrm>
          <a:prstGeom prst="roundRect">
            <a:avLst>
              <a:gd name="adj" fmla="val 6000"/>
            </a:avLst>
          </a:prstGeom>
          <a:solidFill>
            <a:srgbClr val="FD9D24"/>
          </a:solidFill>
          <a:ln>
            <a:noFill/>
          </a:ln>
          <a:effectLst/>
        </p:spPr>
        <p:txBody>
          <a:bodyPr rtlCol="0" anchor="ctr" wrap="square" lIns="73152" tIns="36576" rIns="73152" bIns="36576"/>
          <a:lstStyle/>
          <a:p>
            <a:pPr algn="ctr"/>
            <a:r>
              <a:rPr sz="2000" b="1" i="0">
                <a:solidFill>
                  <a:srgbClr val="1F2937"/>
                </a:solidFill>
                <a:latin typeface="Arial"/>
              </a:rPr>
              <a:t>SDG 11</a:t>
            </a:r>
            <a:endParaRPr sz="2000"/>
          </a:p>
          <a:p>
            <a:pPr algn="ctr"/>
            <a:r>
              <a:rPr sz="900" b="1" i="0">
                <a:solidFill>
                  <a:srgbClr val="1F2937"/>
                </a:solidFill>
                <a:latin typeface="Arial"/>
              </a:rPr>
              <a:t>Sustainable Cities and Communities</a:t>
            </a:r>
            <a:endParaRPr sz="900"/>
          </a:p>
        </p:txBody>
      </p:sp>
      <p:sp>
        <p:nvSpPr>
          <p:cNvPr id="5" name="TextBox 4"/>
          <p:cNvSpPr txBox="1"/>
          <p:nvPr/>
        </p:nvSpPr>
        <p:spPr>
          <a:xfrm>
            <a:off x="2286000" y="969264"/>
            <a:ext cx="7040880" cy="457200"/>
          </a:xfrm>
          <a:prstGeom prst="rect">
            <a:avLst/>
          </a:prstGeom>
          <a:noFill/>
        </p:spPr>
        <p:txBody>
          <a:bodyPr wrap="square" anchor="ctr" lIns="73152" rIns="73152"/>
          <a:lstStyle/>
          <a:p>
            <a:pPr algn="l"/>
            <a:r>
              <a:rPr sz="1100" b="1" i="0">
                <a:solidFill>
                  <a:srgbClr val="C00000"/>
                </a:solidFill>
                <a:latin typeface="Arial"/>
              </a:rPr>
              <a:t>Target 11.2: safe, affordable, accessible and sustainable transport systems for all, notably by expanding public transport.</a:t>
            </a:r>
            <a:endParaRPr sz="1100"/>
          </a:p>
        </p:txBody>
      </p:sp>
      <p:sp>
        <p:nvSpPr>
          <p:cNvPr id="6" name="TextBox 5"/>
          <p:cNvSpPr txBox="1"/>
          <p:nvPr/>
        </p:nvSpPr>
        <p:spPr>
          <a:xfrm>
            <a:off x="2286000" y="1444752"/>
            <a:ext cx="7040880" cy="621792"/>
          </a:xfrm>
          <a:prstGeom prst="rect">
            <a:avLst/>
          </a:prstGeom>
          <a:noFill/>
        </p:spPr>
        <p:txBody>
          <a:bodyPr wrap="square" anchor="t" lIns="73152" rIns="73152"/>
          <a:lstStyle/>
          <a:p>
            <a:pPr algn="l"/>
            <a:r>
              <a:rPr sz="1200" b="0" i="0">
                <a:solidFill>
                  <a:srgbClr val="1F2937"/>
                </a:solidFill>
                <a:latin typeface="Arial"/>
              </a:rPr>
              <a:t>DBARS makes the bus network easier to use: journey search with transfers, four interface languages, an SMS channel for feature phones and Metro interchange information.</a:t>
            </a:r>
            <a:endParaRPr sz="1200"/>
          </a:p>
        </p:txBody>
      </p:sp>
      <p:sp>
        <p:nvSpPr>
          <p:cNvPr id="7" name="Rounded Rectangle 6"/>
          <p:cNvSpPr/>
          <p:nvPr/>
        </p:nvSpPr>
        <p:spPr>
          <a:xfrm>
            <a:off x="457200" y="2167128"/>
            <a:ext cx="8988552" cy="1161288"/>
          </a:xfrm>
          <a:prstGeom prst="roundRect">
            <a:avLst>
              <a:gd name="adj" fmla="val 5000"/>
            </a:avLst>
          </a:prstGeom>
          <a:solidFill>
            <a:srgbClr val="F3F4F6"/>
          </a:solidFill>
          <a:ln>
            <a:noFill/>
          </a:ln>
          <a:effectLst/>
        </p:spPr>
        <p:txBody>
          <a:bodyPr rtlCol="0" anchor="ctr"/>
          <a:lstStyle/>
          <a:p>
            <a:pPr algn="ctr"/>
          </a:p>
        </p:txBody>
      </p:sp>
      <p:sp>
        <p:nvSpPr>
          <p:cNvPr id="8" name="Rounded Rectangle 7"/>
          <p:cNvSpPr/>
          <p:nvPr/>
        </p:nvSpPr>
        <p:spPr>
          <a:xfrm>
            <a:off x="566928" y="2276856"/>
            <a:ext cx="1600200" cy="941832"/>
          </a:xfrm>
          <a:prstGeom prst="roundRect">
            <a:avLst>
              <a:gd name="adj" fmla="val 6000"/>
            </a:avLst>
          </a:prstGeom>
          <a:solidFill>
            <a:srgbClr val="F36D25"/>
          </a:solidFill>
          <a:ln>
            <a:noFill/>
          </a:ln>
          <a:effectLst/>
        </p:spPr>
        <p:txBody>
          <a:bodyPr rtlCol="0" anchor="ctr" wrap="square" lIns="73152" tIns="36576" rIns="73152" bIns="36576"/>
          <a:lstStyle/>
          <a:p>
            <a:pPr algn="ctr"/>
            <a:r>
              <a:rPr sz="2000" b="1" i="0">
                <a:solidFill>
                  <a:srgbClr val="FFFFFF"/>
                </a:solidFill>
                <a:latin typeface="Arial"/>
              </a:rPr>
              <a:t>SDG 9</a:t>
            </a:r>
            <a:endParaRPr sz="2000"/>
          </a:p>
          <a:p>
            <a:pPr algn="ctr"/>
            <a:r>
              <a:rPr sz="900" b="1" i="0">
                <a:solidFill>
                  <a:srgbClr val="FFFFFF"/>
                </a:solidFill>
                <a:latin typeface="Arial"/>
              </a:rPr>
              <a:t>Industry, Innovation and Infrastructure</a:t>
            </a:r>
            <a:endParaRPr sz="900"/>
          </a:p>
        </p:txBody>
      </p:sp>
      <p:sp>
        <p:nvSpPr>
          <p:cNvPr id="9" name="TextBox 8"/>
          <p:cNvSpPr txBox="1"/>
          <p:nvPr/>
        </p:nvSpPr>
        <p:spPr>
          <a:xfrm>
            <a:off x="2286000" y="2221992"/>
            <a:ext cx="7040880" cy="457200"/>
          </a:xfrm>
          <a:prstGeom prst="rect">
            <a:avLst/>
          </a:prstGeom>
          <a:noFill/>
        </p:spPr>
        <p:txBody>
          <a:bodyPr wrap="square" anchor="ctr" lIns="73152" rIns="73152"/>
          <a:lstStyle/>
          <a:p>
            <a:pPr algn="l"/>
            <a:r>
              <a:rPr sz="1100" b="1" i="0">
                <a:solidFill>
                  <a:srgbClr val="C00000"/>
                </a:solidFill>
                <a:latin typeface="Arial"/>
              </a:rPr>
              <a:t>Target 9.1: quality, reliable, sustainable and resilient infrastructure with affordable and equitable access.</a:t>
            </a:r>
            <a:endParaRPr sz="1100"/>
          </a:p>
        </p:txBody>
      </p:sp>
      <p:sp>
        <p:nvSpPr>
          <p:cNvPr id="10" name="TextBox 9"/>
          <p:cNvSpPr txBox="1"/>
          <p:nvPr/>
        </p:nvSpPr>
        <p:spPr>
          <a:xfrm>
            <a:off x="2286000" y="2697480"/>
            <a:ext cx="7040880" cy="621792"/>
          </a:xfrm>
          <a:prstGeom prst="rect">
            <a:avLst/>
          </a:prstGeom>
          <a:noFill/>
        </p:spPr>
        <p:txBody>
          <a:bodyPr wrap="square" anchor="t" lIns="73152" rIns="73152"/>
          <a:lstStyle/>
          <a:p>
            <a:pPr algn="l"/>
            <a:r>
              <a:rPr sz="1200" b="0" i="0">
                <a:solidFill>
                  <a:srgbClr val="1F2937"/>
                </a:solidFill>
                <a:latin typeface="Arial"/>
              </a:rPr>
              <a:t>Fleet and crew planning give the operator data-driven tools for reliable service, and core features keep working during a database outage.</a:t>
            </a:r>
            <a:endParaRPr sz="1200"/>
          </a:p>
        </p:txBody>
      </p:sp>
      <p:sp>
        <p:nvSpPr>
          <p:cNvPr id="11" name="Rounded Rectangle 10"/>
          <p:cNvSpPr/>
          <p:nvPr/>
        </p:nvSpPr>
        <p:spPr>
          <a:xfrm>
            <a:off x="457200" y="3419856"/>
            <a:ext cx="8988552" cy="1161288"/>
          </a:xfrm>
          <a:prstGeom prst="roundRect">
            <a:avLst>
              <a:gd name="adj" fmla="val 5000"/>
            </a:avLst>
          </a:prstGeom>
          <a:solidFill>
            <a:srgbClr val="F3F4F6"/>
          </a:solidFill>
          <a:ln>
            <a:noFill/>
          </a:ln>
          <a:effectLst/>
        </p:spPr>
        <p:txBody>
          <a:bodyPr rtlCol="0" anchor="ctr"/>
          <a:lstStyle/>
          <a:p>
            <a:pPr algn="ctr"/>
          </a:p>
        </p:txBody>
      </p:sp>
      <p:sp>
        <p:nvSpPr>
          <p:cNvPr id="12" name="Rounded Rectangle 11"/>
          <p:cNvSpPr/>
          <p:nvPr/>
        </p:nvSpPr>
        <p:spPr>
          <a:xfrm>
            <a:off x="566928" y="3529584"/>
            <a:ext cx="1600200" cy="941832"/>
          </a:xfrm>
          <a:prstGeom prst="roundRect">
            <a:avLst>
              <a:gd name="adj" fmla="val 6000"/>
            </a:avLst>
          </a:prstGeom>
          <a:solidFill>
            <a:srgbClr val="FF3A21"/>
          </a:solidFill>
          <a:ln>
            <a:noFill/>
          </a:ln>
          <a:effectLst/>
        </p:spPr>
        <p:txBody>
          <a:bodyPr rtlCol="0" anchor="ctr" wrap="square" lIns="73152" tIns="36576" rIns="73152" bIns="36576"/>
          <a:lstStyle/>
          <a:p>
            <a:pPr algn="ctr"/>
            <a:r>
              <a:rPr sz="2000" b="1" i="0">
                <a:solidFill>
                  <a:srgbClr val="FFFFFF"/>
                </a:solidFill>
                <a:latin typeface="Arial"/>
              </a:rPr>
              <a:t>SDG 5</a:t>
            </a:r>
            <a:endParaRPr sz="2000"/>
          </a:p>
          <a:p>
            <a:pPr algn="ctr"/>
            <a:r>
              <a:rPr sz="900" b="1" i="0">
                <a:solidFill>
                  <a:srgbClr val="FFFFFF"/>
                </a:solidFill>
                <a:latin typeface="Arial"/>
              </a:rPr>
              <a:t>Gender Equality</a:t>
            </a:r>
            <a:endParaRPr sz="900"/>
          </a:p>
        </p:txBody>
      </p:sp>
      <p:sp>
        <p:nvSpPr>
          <p:cNvPr id="13" name="TextBox 12"/>
          <p:cNvSpPr txBox="1"/>
          <p:nvPr/>
        </p:nvSpPr>
        <p:spPr>
          <a:xfrm>
            <a:off x="2286000" y="3474720"/>
            <a:ext cx="7040880" cy="457200"/>
          </a:xfrm>
          <a:prstGeom prst="rect">
            <a:avLst/>
          </a:prstGeom>
          <a:noFill/>
        </p:spPr>
        <p:txBody>
          <a:bodyPr wrap="square" anchor="ctr" lIns="73152" rIns="73152"/>
          <a:lstStyle/>
          <a:p>
            <a:pPr algn="l"/>
            <a:r>
              <a:rPr sz="1100" b="1" i="0">
                <a:solidFill>
                  <a:srgbClr val="C00000"/>
                </a:solidFill>
                <a:latin typeface="Arial"/>
              </a:rPr>
              <a:t>Target 5.b: enhance the use of enabling technology to promote the empowerment of women.</a:t>
            </a:r>
            <a:endParaRPr sz="1100"/>
          </a:p>
        </p:txBody>
      </p:sp>
      <p:sp>
        <p:nvSpPr>
          <p:cNvPr id="14" name="TextBox 13"/>
          <p:cNvSpPr txBox="1"/>
          <p:nvPr/>
        </p:nvSpPr>
        <p:spPr>
          <a:xfrm>
            <a:off x="2286000" y="3950208"/>
            <a:ext cx="7040880" cy="621792"/>
          </a:xfrm>
          <a:prstGeom prst="rect">
            <a:avLst/>
          </a:prstGeom>
          <a:noFill/>
        </p:spPr>
        <p:txBody>
          <a:bodyPr wrap="square" anchor="t" lIns="73152" rIns="73152"/>
          <a:lstStyle/>
          <a:p>
            <a:pPr algn="l"/>
            <a:r>
              <a:rPr sz="1200" b="0" i="0">
                <a:solidFill>
                  <a:srgbClr val="1F2937"/>
                </a:solidFill>
                <a:latin typeface="Arial"/>
              </a:rPr>
              <a:t>Shakti-aware digital ticketing issues free tickets with the same QR code and records the full fare value, so women's free travel is supported and counted.</a:t>
            </a:r>
            <a:endParaRPr sz="1200"/>
          </a:p>
        </p:txBody>
      </p:sp>
      <p:sp>
        <p:nvSpPr>
          <p:cNvPr id="15" name="Rounded Rectangle 14"/>
          <p:cNvSpPr/>
          <p:nvPr/>
        </p:nvSpPr>
        <p:spPr>
          <a:xfrm>
            <a:off x="457200" y="4672584"/>
            <a:ext cx="8988552" cy="1161288"/>
          </a:xfrm>
          <a:prstGeom prst="roundRect">
            <a:avLst>
              <a:gd name="adj" fmla="val 5000"/>
            </a:avLst>
          </a:prstGeom>
          <a:solidFill>
            <a:srgbClr val="F3F4F6"/>
          </a:solidFill>
          <a:ln>
            <a:noFill/>
          </a:ln>
          <a:effectLst/>
        </p:spPr>
        <p:txBody>
          <a:bodyPr rtlCol="0" anchor="ctr"/>
          <a:lstStyle/>
          <a:p>
            <a:pPr algn="ctr"/>
          </a:p>
        </p:txBody>
      </p:sp>
      <p:sp>
        <p:nvSpPr>
          <p:cNvPr id="16" name="Rounded Rectangle 15"/>
          <p:cNvSpPr/>
          <p:nvPr/>
        </p:nvSpPr>
        <p:spPr>
          <a:xfrm>
            <a:off x="566928" y="4782312"/>
            <a:ext cx="1600200" cy="941832"/>
          </a:xfrm>
          <a:prstGeom prst="roundRect">
            <a:avLst>
              <a:gd name="adj" fmla="val 6000"/>
            </a:avLst>
          </a:prstGeom>
          <a:solidFill>
            <a:srgbClr val="00689D"/>
          </a:solidFill>
          <a:ln>
            <a:noFill/>
          </a:ln>
          <a:effectLst/>
        </p:spPr>
        <p:txBody>
          <a:bodyPr rtlCol="0" anchor="ctr" wrap="square" lIns="73152" tIns="36576" rIns="73152" bIns="36576"/>
          <a:lstStyle/>
          <a:p>
            <a:pPr algn="ctr"/>
            <a:r>
              <a:rPr sz="2000" b="1" i="0">
                <a:solidFill>
                  <a:srgbClr val="FFFFFF"/>
                </a:solidFill>
                <a:latin typeface="Arial"/>
              </a:rPr>
              <a:t>SDG 16</a:t>
            </a:r>
            <a:endParaRPr sz="2000"/>
          </a:p>
          <a:p>
            <a:pPr algn="ctr"/>
            <a:r>
              <a:rPr sz="900" b="1" i="0">
                <a:solidFill>
                  <a:srgbClr val="FFFFFF"/>
                </a:solidFill>
                <a:latin typeface="Arial"/>
              </a:rPr>
              <a:t>Peace, Justice and Strong Institutions</a:t>
            </a:r>
            <a:endParaRPr sz="900"/>
          </a:p>
        </p:txBody>
      </p:sp>
      <p:sp>
        <p:nvSpPr>
          <p:cNvPr id="17" name="TextBox 16"/>
          <p:cNvSpPr txBox="1"/>
          <p:nvPr/>
        </p:nvSpPr>
        <p:spPr>
          <a:xfrm>
            <a:off x="2286000" y="4727448"/>
            <a:ext cx="7040880" cy="457200"/>
          </a:xfrm>
          <a:prstGeom prst="rect">
            <a:avLst/>
          </a:prstGeom>
          <a:noFill/>
        </p:spPr>
        <p:txBody>
          <a:bodyPr wrap="square" anchor="ctr" lIns="73152" rIns="73152"/>
          <a:lstStyle/>
          <a:p>
            <a:pPr algn="l"/>
            <a:r>
              <a:rPr sz="1100" b="1" i="0">
                <a:solidFill>
                  <a:srgbClr val="C00000"/>
                </a:solidFill>
                <a:latin typeface="Arial"/>
              </a:rPr>
              <a:t>Target 16.6: effective, accountable and transparent institutions.</a:t>
            </a:r>
            <a:endParaRPr sz="1100"/>
          </a:p>
        </p:txBody>
      </p:sp>
      <p:sp>
        <p:nvSpPr>
          <p:cNvPr id="18" name="TextBox 17"/>
          <p:cNvSpPr txBox="1"/>
          <p:nvPr/>
        </p:nvSpPr>
        <p:spPr>
          <a:xfrm>
            <a:off x="2286000" y="5202936"/>
            <a:ext cx="7040880" cy="621792"/>
          </a:xfrm>
          <a:prstGeom prst="rect">
            <a:avLst/>
          </a:prstGeom>
          <a:noFill/>
        </p:spPr>
        <p:txBody>
          <a:bodyPr wrap="square" anchor="t" lIns="73152" rIns="73152"/>
          <a:lstStyle/>
          <a:p>
            <a:pPr algn="l"/>
            <a:r>
              <a:rPr sz="1200" b="0" i="0">
                <a:solidFill>
                  <a:srgbClr val="1F2937"/>
                </a:solidFill>
                <a:latin typeface="Arial"/>
              </a:rPr>
              <a:t>An audit log, cash reconciliation that reports variance instead of hiding it, and a rule that simulated data is never shown as live, all support transparency.</a:t>
            </a:r>
            <a:endParaRPr sz="1200"/>
          </a:p>
        </p:txBody>
      </p:sp>
      <p:sp>
        <p:nvSpPr>
          <p:cNvPr id="19" name="TextBox 18"/>
          <p:cNvSpPr txBox="1"/>
          <p:nvPr/>
        </p:nvSpPr>
        <p:spPr>
          <a:xfrm>
            <a:off x="457200" y="5961888"/>
            <a:ext cx="8988552" cy="274320"/>
          </a:xfrm>
          <a:prstGeom prst="rect">
            <a:avLst/>
          </a:prstGeom>
          <a:noFill/>
        </p:spPr>
        <p:txBody>
          <a:bodyPr wrap="square" anchor="t" lIns="73152" rIns="73152"/>
          <a:lstStyle/>
          <a:p>
            <a:pPr algn="l"/>
            <a:r>
              <a:rPr sz="950" b="0" i="1">
                <a:solidFill>
                  <a:srgbClr val="4B5563"/>
                </a:solidFill>
                <a:latin typeface="Arial"/>
              </a:rPr>
              <a:t>Goals and targets: https://sdgs.un.org/goals (wording checked against the UN site)</a:t>
            </a:r>
            <a:endParaRPr sz="95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Expected Outcomes</a:t>
            </a:r>
          </a:p>
        </p:txBody>
      </p:sp>
      <p:sp>
        <p:nvSpPr>
          <p:cNvPr id="3" name="Rounded Rectangle 2"/>
          <p:cNvSpPr/>
          <p:nvPr/>
        </p:nvSpPr>
        <p:spPr>
          <a:xfrm>
            <a:off x="457200" y="914400"/>
            <a:ext cx="4434840" cy="2606040"/>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A</a:t>
            </a:r>
            <a:endParaRPr sz="1300"/>
          </a:p>
        </p:txBody>
      </p:sp>
      <p:sp>
        <p:nvSpPr>
          <p:cNvPr id="5" name="TextBox 4"/>
          <p:cNvSpPr txBox="1"/>
          <p:nvPr/>
        </p:nvSpPr>
        <p:spPr>
          <a:xfrm>
            <a:off x="1051560" y="987552"/>
            <a:ext cx="3703320" cy="292608"/>
          </a:xfrm>
          <a:prstGeom prst="rect">
            <a:avLst/>
          </a:prstGeom>
          <a:noFill/>
        </p:spPr>
        <p:txBody>
          <a:bodyPr wrap="square" anchor="ctr" lIns="73152" rIns="73152"/>
          <a:lstStyle/>
          <a:p>
            <a:pPr algn="l"/>
            <a:r>
              <a:rPr sz="1500" b="1" i="0">
                <a:solidFill>
                  <a:srgbClr val="C00000"/>
                </a:solidFill>
                <a:latin typeface="Arial"/>
              </a:rPr>
              <a:t>Functional outcome</a:t>
            </a:r>
            <a:endParaRPr sz="1500"/>
          </a:p>
        </p:txBody>
      </p:sp>
      <p:sp>
        <p:nvSpPr>
          <p:cNvPr id="6" name="TextBox 5"/>
          <p:cNvSpPr txBox="1"/>
          <p:nvPr/>
        </p:nvSpPr>
        <p:spPr>
          <a:xfrm>
            <a:off x="1051560" y="1261872"/>
            <a:ext cx="3703320" cy="228600"/>
          </a:xfrm>
          <a:prstGeom prst="rect">
            <a:avLst/>
          </a:prstGeom>
          <a:noFill/>
        </p:spPr>
        <p:txBody>
          <a:bodyPr wrap="square" anchor="t" lIns="73152" rIns="73152"/>
          <a:lstStyle/>
          <a:p>
            <a:pPr algn="l"/>
            <a:r>
              <a:rPr sz="1050" b="0" i="1">
                <a:solidFill>
                  <a:srgbClr val="4B5563"/>
                </a:solidFill>
                <a:latin typeface="Arial"/>
              </a:rPr>
              <a:t>What the system will do</a:t>
            </a:r>
            <a:endParaRPr sz="1050"/>
          </a:p>
        </p:txBody>
      </p:sp>
      <p:sp>
        <p:nvSpPr>
          <p:cNvPr id="7" name="TextBox 6"/>
          <p:cNvSpPr txBox="1"/>
          <p:nvPr/>
        </p:nvSpPr>
        <p:spPr>
          <a:xfrm>
            <a:off x="566928" y="1572768"/>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Direct, one-change and two-change journeys with distance, fare, map and Metro link</a:t>
            </a:r>
            <a:endParaRPr sz="1200"/>
          </a:p>
          <a:p>
            <a:pPr algn="l" marL="164592" indent="-164592">
              <a:spcAft>
                <a:spcPts val="500"/>
              </a:spcAft>
              <a:buClr>
                <a:srgbClr val="C00000"/>
              </a:buClr>
              <a:buFont typeface="Arial"/>
              <a:buChar char="•"/>
            </a:pPr>
            <a:r>
              <a:rPr sz="1200" b="0" i="0">
                <a:solidFill>
                  <a:srgbClr val="1F2937"/>
                </a:solidFill>
                <a:latin typeface="Arial"/>
              </a:rPr>
              <a:t>Fleet, dead-kilometre and crew plans with what-if scenarios</a:t>
            </a:r>
            <a:endParaRPr sz="1200"/>
          </a:p>
          <a:p>
            <a:pPr algn="l" marL="164592" indent="-164592">
              <a:spcAft>
                <a:spcPts val="500"/>
              </a:spcAft>
              <a:buClr>
                <a:srgbClr val="C00000"/>
              </a:buClr>
              <a:buFont typeface="Arial"/>
              <a:buChar char="•"/>
            </a:pPr>
            <a:r>
              <a:rPr sz="1200" b="0" i="0">
                <a:solidFill>
                  <a:srgbClr val="1F2937"/>
                </a:solidFill>
                <a:latin typeface="Arial"/>
              </a:rPr>
              <a:t>Votes to dispatch recommendations; QR e-tickets; offline conductor waybills; Shakti claim report</a:t>
            </a:r>
            <a:endParaRPr sz="1200"/>
          </a:p>
          <a:p>
            <a:pPr algn="l" marL="164592" indent="-164592">
              <a:spcAft>
                <a:spcPts val="500"/>
              </a:spcAft>
              <a:buClr>
                <a:srgbClr val="C00000"/>
              </a:buClr>
              <a:buFont typeface="Arial"/>
              <a:buChar char="•"/>
            </a:pPr>
            <a:r>
              <a:rPr sz="1200" b="0" i="0">
                <a:solidFill>
                  <a:srgbClr val="1F2937"/>
                </a:solidFill>
                <a:latin typeface="Arial"/>
              </a:rPr>
              <a:t>GTFS static feed and GTFS-Realtime service alerts</a:t>
            </a:r>
            <a:endParaRPr sz="1200"/>
          </a:p>
        </p:txBody>
      </p:sp>
      <p:sp>
        <p:nvSpPr>
          <p:cNvPr id="8" name="Rounded Rectangle 7"/>
          <p:cNvSpPr/>
          <p:nvPr/>
        </p:nvSpPr>
        <p:spPr>
          <a:xfrm>
            <a:off x="5010912" y="914400"/>
            <a:ext cx="4434840" cy="2606040"/>
          </a:xfrm>
          <a:prstGeom prst="roundRect">
            <a:avLst>
              <a:gd name="adj" fmla="val 5000"/>
            </a:avLst>
          </a:prstGeom>
          <a:solidFill>
            <a:srgbClr val="F3F4F6"/>
          </a:solidFill>
          <a:ln>
            <a:noFill/>
          </a:ln>
          <a:effectLst/>
        </p:spPr>
        <p:txBody>
          <a:bodyPr rtlCol="0" anchor="ctr"/>
          <a:lstStyle/>
          <a:p>
            <a:pPr algn="ctr"/>
          </a:p>
        </p:txBody>
      </p:sp>
      <p:sp>
        <p:nvSpPr>
          <p:cNvPr id="9" name="Oval 8"/>
          <p:cNvSpPr/>
          <p:nvPr/>
        </p:nvSpPr>
        <p:spPr>
          <a:xfrm>
            <a:off x="5148072"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B</a:t>
            </a:r>
            <a:endParaRPr sz="1300"/>
          </a:p>
        </p:txBody>
      </p:sp>
      <p:sp>
        <p:nvSpPr>
          <p:cNvPr id="10" name="TextBox 9"/>
          <p:cNvSpPr txBox="1"/>
          <p:nvPr/>
        </p:nvSpPr>
        <p:spPr>
          <a:xfrm>
            <a:off x="5605272" y="987552"/>
            <a:ext cx="3703320" cy="292608"/>
          </a:xfrm>
          <a:prstGeom prst="rect">
            <a:avLst/>
          </a:prstGeom>
          <a:noFill/>
        </p:spPr>
        <p:txBody>
          <a:bodyPr wrap="square" anchor="ctr" lIns="73152" rIns="73152"/>
          <a:lstStyle/>
          <a:p>
            <a:pPr algn="l"/>
            <a:r>
              <a:rPr sz="1500" b="1" i="0">
                <a:solidFill>
                  <a:srgbClr val="C00000"/>
                </a:solidFill>
                <a:latin typeface="Arial"/>
              </a:rPr>
              <a:t>Performance outcome</a:t>
            </a:r>
            <a:endParaRPr sz="1500"/>
          </a:p>
        </p:txBody>
      </p:sp>
      <p:sp>
        <p:nvSpPr>
          <p:cNvPr id="11" name="TextBox 10"/>
          <p:cNvSpPr txBox="1"/>
          <p:nvPr/>
        </p:nvSpPr>
        <p:spPr>
          <a:xfrm>
            <a:off x="5605272" y="1261872"/>
            <a:ext cx="3703320" cy="228600"/>
          </a:xfrm>
          <a:prstGeom prst="rect">
            <a:avLst/>
          </a:prstGeom>
          <a:noFill/>
        </p:spPr>
        <p:txBody>
          <a:bodyPr wrap="square" anchor="t" lIns="73152" rIns="73152"/>
          <a:lstStyle/>
          <a:p>
            <a:pPr algn="l"/>
            <a:r>
              <a:rPr sz="1050" b="0" i="1">
                <a:solidFill>
                  <a:srgbClr val="4B5563"/>
                </a:solidFill>
                <a:latin typeface="Arial"/>
              </a:rPr>
              <a:t>Metrics (target, measured so far)</a:t>
            </a:r>
            <a:endParaRPr sz="1050"/>
          </a:p>
        </p:txBody>
      </p:sp>
      <p:sp>
        <p:nvSpPr>
          <p:cNvPr id="12" name="TextBox 11"/>
          <p:cNvSpPr txBox="1"/>
          <p:nvPr/>
        </p:nvSpPr>
        <p:spPr>
          <a:xfrm>
            <a:off x="5120640" y="1572768"/>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Best-option rate: at least 0.70 (0.7167)</a:t>
            </a:r>
            <a:endParaRPr sz="1200"/>
          </a:p>
          <a:p>
            <a:pPr algn="l" marL="164592" indent="-164592">
              <a:spcAft>
                <a:spcPts val="500"/>
              </a:spcAft>
              <a:buClr>
                <a:srgbClr val="C00000"/>
              </a:buClr>
              <a:buFont typeface="Arial"/>
              <a:buChar char="•"/>
            </a:pPr>
            <a:r>
              <a:rPr sz="1200" b="0" i="0">
                <a:solidFill>
                  <a:srgbClr val="1F2937"/>
                </a:solidFill>
                <a:latin typeface="Arial"/>
              </a:rPr>
              <a:t>Within 2 stops of best: at least 0.92 (0.9917); mean percentile rank at most 0.10 (0.0437)</a:t>
            </a:r>
            <a:endParaRPr sz="1200"/>
          </a:p>
          <a:p>
            <a:pPr algn="l" marL="164592" indent="-164592">
              <a:spcAft>
                <a:spcPts val="500"/>
              </a:spcAft>
              <a:buClr>
                <a:srgbClr val="C00000"/>
              </a:buClr>
              <a:buFont typeface="Arial"/>
              <a:buChar char="•"/>
            </a:pPr>
            <a:r>
              <a:rPr sz="1200" b="0" i="0">
                <a:solidFill>
                  <a:srgbClr val="1F2937"/>
                </a:solidFill>
                <a:latin typeface="Arial"/>
              </a:rPr>
              <a:t>Coverage at least 0.95 (1.00); p90 search latency at most 1.6 s (1.19 s)</a:t>
            </a:r>
            <a:endParaRPr sz="1200"/>
          </a:p>
          <a:p>
            <a:pPr algn="l" marL="164592" indent="-164592">
              <a:spcAft>
                <a:spcPts val="500"/>
              </a:spcAft>
              <a:buClr>
                <a:srgbClr val="C00000"/>
              </a:buClr>
              <a:buFont typeface="Arial"/>
              <a:buChar char="•"/>
            </a:pPr>
            <a:r>
              <a:rPr sz="1200" b="0" i="0">
                <a:solidFill>
                  <a:srgbClr val="1F2937"/>
                </a:solidFill>
                <a:latin typeface="Arial"/>
              </a:rPr>
              <a:t>Crew-to-bus ratio 2.28, inside the 2.0 to 2.5 range of real undertakings</a:t>
            </a:r>
            <a:endParaRPr sz="1200"/>
          </a:p>
        </p:txBody>
      </p:sp>
      <p:sp>
        <p:nvSpPr>
          <p:cNvPr id="13" name="Rounded Rectangle 12"/>
          <p:cNvSpPr/>
          <p:nvPr/>
        </p:nvSpPr>
        <p:spPr>
          <a:xfrm>
            <a:off x="457200" y="3639312"/>
            <a:ext cx="4434840" cy="2606040"/>
          </a:xfrm>
          <a:prstGeom prst="roundRect">
            <a:avLst>
              <a:gd name="adj" fmla="val 5000"/>
            </a:avLst>
          </a:prstGeom>
          <a:solidFill>
            <a:srgbClr val="F3F4F6"/>
          </a:solidFill>
          <a:ln>
            <a:noFill/>
          </a:ln>
          <a:effectLst/>
        </p:spPr>
        <p:txBody>
          <a:bodyPr rtlCol="0" anchor="ctr"/>
          <a:lstStyle/>
          <a:p>
            <a:pPr algn="ctr"/>
          </a:p>
        </p:txBody>
      </p:sp>
      <p:sp>
        <p:nvSpPr>
          <p:cNvPr id="14" name="Oval 13"/>
          <p:cNvSpPr/>
          <p:nvPr/>
        </p:nvSpPr>
        <p:spPr>
          <a:xfrm>
            <a:off x="594360" y="375818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C</a:t>
            </a:r>
            <a:endParaRPr sz="1300"/>
          </a:p>
        </p:txBody>
      </p:sp>
      <p:sp>
        <p:nvSpPr>
          <p:cNvPr id="15" name="TextBox 14"/>
          <p:cNvSpPr txBox="1"/>
          <p:nvPr/>
        </p:nvSpPr>
        <p:spPr>
          <a:xfrm>
            <a:off x="1051560" y="3712463"/>
            <a:ext cx="3703320" cy="292608"/>
          </a:xfrm>
          <a:prstGeom prst="rect">
            <a:avLst/>
          </a:prstGeom>
          <a:noFill/>
        </p:spPr>
        <p:txBody>
          <a:bodyPr wrap="square" anchor="ctr" lIns="73152" rIns="73152"/>
          <a:lstStyle/>
          <a:p>
            <a:pPr algn="l"/>
            <a:r>
              <a:rPr sz="1500" b="1" i="0">
                <a:solidFill>
                  <a:srgbClr val="C00000"/>
                </a:solidFill>
                <a:latin typeface="Arial"/>
              </a:rPr>
              <a:t>Practical impact</a:t>
            </a:r>
            <a:endParaRPr sz="1500"/>
          </a:p>
        </p:txBody>
      </p:sp>
      <p:sp>
        <p:nvSpPr>
          <p:cNvPr id="16" name="TextBox 15"/>
          <p:cNvSpPr txBox="1"/>
          <p:nvPr/>
        </p:nvSpPr>
        <p:spPr>
          <a:xfrm>
            <a:off x="1051560" y="3986784"/>
            <a:ext cx="3703320" cy="228600"/>
          </a:xfrm>
          <a:prstGeom prst="rect">
            <a:avLst/>
          </a:prstGeom>
          <a:noFill/>
        </p:spPr>
        <p:txBody>
          <a:bodyPr wrap="square" anchor="t" lIns="73152" rIns="73152"/>
          <a:lstStyle/>
          <a:p>
            <a:pPr algn="l"/>
            <a:r>
              <a:rPr sz="1050" b="0" i="1">
                <a:solidFill>
                  <a:srgbClr val="4B5563"/>
                </a:solidFill>
                <a:latin typeface="Arial"/>
              </a:rPr>
              <a:t>Who benefits</a:t>
            </a:r>
            <a:endParaRPr sz="1050"/>
          </a:p>
        </p:txBody>
      </p:sp>
      <p:sp>
        <p:nvSpPr>
          <p:cNvPr id="17" name="TextBox 16"/>
          <p:cNvSpPr txBox="1"/>
          <p:nvPr/>
        </p:nvSpPr>
        <p:spPr>
          <a:xfrm>
            <a:off x="566928" y="4297680"/>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Commuters: find buses across 4,883 stops in four languages</a:t>
            </a:r>
            <a:endParaRPr sz="1200"/>
          </a:p>
          <a:p>
            <a:pPr algn="l" marL="164592" indent="-164592">
              <a:spcAft>
                <a:spcPts val="500"/>
              </a:spcAft>
              <a:buClr>
                <a:srgbClr val="C00000"/>
              </a:buClr>
              <a:buFont typeface="Arial"/>
              <a:buChar char="•"/>
            </a:pPr>
            <a:r>
              <a:rPr sz="1200" b="0" i="0">
                <a:solidFill>
                  <a:srgbClr val="1F2937"/>
                </a:solidFill>
                <a:latin typeface="Arial"/>
              </a:rPr>
              <a:t>Depot managers: see what a timetable change costs in buses and crew</a:t>
            </a:r>
            <a:endParaRPr sz="1200"/>
          </a:p>
          <a:p>
            <a:pPr algn="l" marL="164592" indent="-164592">
              <a:spcAft>
                <a:spcPts val="500"/>
              </a:spcAft>
              <a:buClr>
                <a:srgbClr val="C00000"/>
              </a:buClr>
              <a:buFont typeface="Arial"/>
              <a:buChar char="•"/>
            </a:pPr>
            <a:r>
              <a:rPr sz="1200" b="0" i="0">
                <a:solidFill>
                  <a:srgbClr val="1F2937"/>
                </a:solidFill>
                <a:latin typeface="Arial"/>
              </a:rPr>
              <a:t>BMTC finance: Shakti reimbursement and cash variance visible per waybill</a:t>
            </a:r>
            <a:endParaRPr sz="1200"/>
          </a:p>
          <a:p>
            <a:pPr algn="l" marL="164592" indent="-164592">
              <a:spcAft>
                <a:spcPts val="500"/>
              </a:spcAft>
              <a:buClr>
                <a:srgbClr val="C00000"/>
              </a:buClr>
              <a:buFont typeface="Arial"/>
              <a:buChar char="•"/>
            </a:pPr>
            <a:r>
              <a:rPr sz="1200" b="0" i="0">
                <a:solidFill>
                  <a:srgbClr val="1F2937"/>
                </a:solidFill>
                <a:latin typeface="Arial"/>
              </a:rPr>
              <a:t>Other apps: reuse the timetable through GTFS</a:t>
            </a:r>
            <a:endParaRPr sz="1200"/>
          </a:p>
        </p:txBody>
      </p:sp>
      <p:sp>
        <p:nvSpPr>
          <p:cNvPr id="18" name="Rounded Rectangle 17"/>
          <p:cNvSpPr/>
          <p:nvPr/>
        </p:nvSpPr>
        <p:spPr>
          <a:xfrm>
            <a:off x="5010912" y="3639312"/>
            <a:ext cx="4434840" cy="2606040"/>
          </a:xfrm>
          <a:prstGeom prst="roundRect">
            <a:avLst>
              <a:gd name="adj" fmla="val 5000"/>
            </a:avLst>
          </a:prstGeom>
          <a:solidFill>
            <a:srgbClr val="F3F4F6"/>
          </a:solidFill>
          <a:ln>
            <a:noFill/>
          </a:ln>
          <a:effectLst/>
        </p:spPr>
        <p:txBody>
          <a:bodyPr rtlCol="0" anchor="ctr"/>
          <a:lstStyle/>
          <a:p>
            <a:pPr algn="ctr"/>
          </a:p>
        </p:txBody>
      </p:sp>
      <p:sp>
        <p:nvSpPr>
          <p:cNvPr id="19" name="Oval 18"/>
          <p:cNvSpPr/>
          <p:nvPr/>
        </p:nvSpPr>
        <p:spPr>
          <a:xfrm>
            <a:off x="5148072" y="375818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D</a:t>
            </a:r>
            <a:endParaRPr sz="1300"/>
          </a:p>
        </p:txBody>
      </p:sp>
      <p:sp>
        <p:nvSpPr>
          <p:cNvPr id="20" name="TextBox 19"/>
          <p:cNvSpPr txBox="1"/>
          <p:nvPr/>
        </p:nvSpPr>
        <p:spPr>
          <a:xfrm>
            <a:off x="5605272" y="3712463"/>
            <a:ext cx="3703320" cy="292608"/>
          </a:xfrm>
          <a:prstGeom prst="rect">
            <a:avLst/>
          </a:prstGeom>
          <a:noFill/>
        </p:spPr>
        <p:txBody>
          <a:bodyPr wrap="square" anchor="ctr" lIns="73152" rIns="73152"/>
          <a:lstStyle/>
          <a:p>
            <a:pPr algn="l"/>
            <a:r>
              <a:rPr sz="1500" b="1" i="0">
                <a:solidFill>
                  <a:srgbClr val="C00000"/>
                </a:solidFill>
                <a:latin typeface="Arial"/>
              </a:rPr>
              <a:t>Extension and research</a:t>
            </a:r>
            <a:endParaRPr sz="1500"/>
          </a:p>
        </p:txBody>
      </p:sp>
      <p:sp>
        <p:nvSpPr>
          <p:cNvPr id="21" name="TextBox 20"/>
          <p:cNvSpPr txBox="1"/>
          <p:nvPr/>
        </p:nvSpPr>
        <p:spPr>
          <a:xfrm>
            <a:off x="5605272" y="3986784"/>
            <a:ext cx="3703320" cy="228600"/>
          </a:xfrm>
          <a:prstGeom prst="rect">
            <a:avLst/>
          </a:prstGeom>
          <a:noFill/>
        </p:spPr>
        <p:txBody>
          <a:bodyPr wrap="square" anchor="t" lIns="73152" rIns="73152"/>
          <a:lstStyle/>
          <a:p>
            <a:pPr algn="l"/>
            <a:r>
              <a:rPr sz="1050" b="0" i="1">
                <a:solidFill>
                  <a:srgbClr val="4B5563"/>
                </a:solidFill>
                <a:latin typeface="Arial"/>
              </a:rPr>
              <a:t>Where it can grow</a:t>
            </a:r>
            <a:endParaRPr sz="1050"/>
          </a:p>
        </p:txBody>
      </p:sp>
      <p:sp>
        <p:nvSpPr>
          <p:cNvPr id="22" name="TextBox 21"/>
          <p:cNvSpPr txBox="1"/>
          <p:nvPr/>
        </p:nvSpPr>
        <p:spPr>
          <a:xfrm>
            <a:off x="5120640" y="4297680"/>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Plug in a real vehicle feed (adapters exist: gtfs_rt, http_json, push)</a:t>
            </a:r>
            <a:endParaRPr sz="1200"/>
          </a:p>
          <a:p>
            <a:pPr algn="l" marL="164592" indent="-164592">
              <a:spcAft>
                <a:spcPts val="500"/>
              </a:spcAft>
              <a:buClr>
                <a:srgbClr val="C00000"/>
              </a:buClr>
              <a:buFont typeface="Arial"/>
              <a:buChar char="•"/>
            </a:pPr>
            <a:r>
              <a:rPr sz="1200" b="0" i="0">
                <a:solidFill>
                  <a:srgbClr val="1F2937"/>
                </a:solidFill>
                <a:latin typeface="Arial"/>
              </a:rPr>
              <a:t>Relevance-set versus rank-quality benchmark method for route recommenders</a:t>
            </a:r>
            <a:endParaRPr sz="1200"/>
          </a:p>
          <a:p>
            <a:pPr algn="l" marL="164592" indent="-164592">
              <a:spcAft>
                <a:spcPts val="500"/>
              </a:spcAft>
              <a:buClr>
                <a:srgbClr val="C00000"/>
              </a:buClr>
              <a:buFont typeface="Arial"/>
              <a:buChar char="•"/>
            </a:pPr>
            <a:r>
              <a:rPr sz="1200" b="0" i="0">
                <a:solidFill>
                  <a:srgbClr val="1F2937"/>
                </a:solidFill>
                <a:latin typeface="Arial"/>
              </a:rPr>
              <a:t>Code-trained embeddings for the assistant; shared state (Redis) for scale</a:t>
            </a:r>
            <a:endParaRPr sz="12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Value for BMTC</a:t>
            </a:r>
          </a:p>
        </p:txBody>
      </p:sp>
      <p:sp>
        <p:nvSpPr>
          <p:cNvPr id="3" name="Rounded Rectangle 2"/>
          <p:cNvSpPr/>
          <p:nvPr/>
        </p:nvSpPr>
        <p:spPr>
          <a:xfrm>
            <a:off x="457200" y="914400"/>
            <a:ext cx="8988552" cy="777240"/>
          </a:xfrm>
          <a:prstGeom prst="roundRect">
            <a:avLst>
              <a:gd name="adj" fmla="val 8000"/>
            </a:avLst>
          </a:prstGeom>
          <a:solidFill>
            <a:srgbClr val="1F2937"/>
          </a:solidFill>
          <a:ln>
            <a:noFill/>
          </a:ln>
          <a:effectLst/>
        </p:spPr>
        <p:txBody>
          <a:bodyPr rtlCol="0" anchor="ctr" wrap="square" lIns="274320" rIns="274320"/>
          <a:lstStyle/>
          <a:p>
            <a:pPr algn="ctr"/>
            <a:r>
              <a:rPr sz="1300" b="1" i="0">
                <a:solidFill>
                  <a:srgbClr val="FFFFFF"/>
                </a:solidFill>
                <a:latin typeface="Arial"/>
              </a:rPr>
              <a:t>Google Maps and Namma BMTC tell riders which bus to catch. Neither tells BMTC how many buses it needs to run that service. DBARS does both, from one dataset.</a:t>
            </a:r>
            <a:endParaRPr sz="1300"/>
          </a:p>
        </p:txBody>
      </p:sp>
      <p:sp>
        <p:nvSpPr>
          <p:cNvPr id="4" name="Rounded Rectangle 3"/>
          <p:cNvSpPr/>
          <p:nvPr/>
        </p:nvSpPr>
        <p:spPr>
          <a:xfrm>
            <a:off x="457200"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5" name="TextBox 4"/>
          <p:cNvSpPr txBox="1"/>
          <p:nvPr/>
        </p:nvSpPr>
        <p:spPr>
          <a:xfrm>
            <a:off x="566928" y="1883664"/>
            <a:ext cx="2697480" cy="329184"/>
          </a:xfrm>
          <a:prstGeom prst="rect">
            <a:avLst/>
          </a:prstGeom>
          <a:noFill/>
        </p:spPr>
        <p:txBody>
          <a:bodyPr wrap="square" anchor="ctr" lIns="73152" rIns="73152"/>
          <a:lstStyle/>
          <a:p>
            <a:pPr algn="l"/>
            <a:r>
              <a:rPr sz="1450" b="1" i="0">
                <a:solidFill>
                  <a:srgbClr val="C00000"/>
                </a:solidFill>
                <a:latin typeface="Arial"/>
              </a:rPr>
              <a:t>Commuters</a:t>
            </a:r>
            <a:endParaRPr sz="1450"/>
          </a:p>
        </p:txBody>
      </p:sp>
      <p:sp>
        <p:nvSpPr>
          <p:cNvPr id="6" name="TextBox 5"/>
          <p:cNvSpPr txBox="1"/>
          <p:nvPr/>
        </p:nvSpPr>
        <p:spPr>
          <a:xfrm>
            <a:off x="548640"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Direct, 1-change and 2-change journeys with fare, distance, map and nearby Metro</a:t>
            </a:r>
            <a:endParaRPr sz="1150"/>
          </a:p>
          <a:p>
            <a:pPr algn="l" marL="164592" indent="-164592">
              <a:spcAft>
                <a:spcPts val="500"/>
              </a:spcAft>
              <a:buClr>
                <a:srgbClr val="C00000"/>
              </a:buClr>
              <a:buFont typeface="Arial"/>
              <a:buChar char="•"/>
            </a:pPr>
            <a:r>
              <a:rPr sz="1150" b="0" i="0">
                <a:solidFill>
                  <a:srgbClr val="1F2937"/>
                </a:solidFill>
                <a:latin typeface="Arial"/>
              </a:rPr>
              <a:t>English, Kannada, Hindi, Telugu, plus SMS for feature phones</a:t>
            </a:r>
            <a:endParaRPr sz="1150"/>
          </a:p>
          <a:p>
            <a:pPr algn="l" marL="164592" indent="-164592">
              <a:spcAft>
                <a:spcPts val="500"/>
              </a:spcAft>
              <a:buClr>
                <a:srgbClr val="C00000"/>
              </a:buClr>
              <a:buFont typeface="Arial"/>
              <a:buChar char="•"/>
            </a:pPr>
            <a:r>
              <a:rPr sz="1150" b="0" i="0">
                <a:solidFill>
                  <a:srgbClr val="1F2937"/>
                </a:solidFill>
                <a:latin typeface="Arial"/>
              </a:rPr>
              <a:t>Vote for routes they wish existed; QR e-tickets; Shakti tickets use the same QR</a:t>
            </a:r>
            <a:endParaRPr sz="1150"/>
          </a:p>
        </p:txBody>
      </p:sp>
      <p:sp>
        <p:nvSpPr>
          <p:cNvPr id="7" name="Rounded Rectangle 6"/>
          <p:cNvSpPr/>
          <p:nvPr/>
        </p:nvSpPr>
        <p:spPr>
          <a:xfrm>
            <a:off x="3493008"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8" name="TextBox 7"/>
          <p:cNvSpPr txBox="1"/>
          <p:nvPr/>
        </p:nvSpPr>
        <p:spPr>
          <a:xfrm>
            <a:off x="3602736" y="1883664"/>
            <a:ext cx="2697480" cy="329184"/>
          </a:xfrm>
          <a:prstGeom prst="rect">
            <a:avLst/>
          </a:prstGeom>
          <a:noFill/>
        </p:spPr>
        <p:txBody>
          <a:bodyPr wrap="square" anchor="ctr" lIns="73152" rIns="73152"/>
          <a:lstStyle/>
          <a:p>
            <a:pPr algn="l"/>
            <a:r>
              <a:rPr sz="1450" b="1" i="0">
                <a:solidFill>
                  <a:srgbClr val="C00000"/>
                </a:solidFill>
                <a:latin typeface="Arial"/>
              </a:rPr>
              <a:t>Depot managers and HQ</a:t>
            </a:r>
            <a:endParaRPr sz="1450"/>
          </a:p>
        </p:txBody>
      </p:sp>
      <p:sp>
        <p:nvSpPr>
          <p:cNvPr id="9" name="TextBox 8"/>
          <p:cNvSpPr txBox="1"/>
          <p:nvPr/>
        </p:nvSpPr>
        <p:spPr>
          <a:xfrm>
            <a:off x="3584448"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Minimum buses, dead kilometres and crew duties; what-if console for timetable changes</a:t>
            </a:r>
            <a:endParaRPr sz="1150"/>
          </a:p>
          <a:p>
            <a:pPr algn="l" marL="164592" indent="-164592">
              <a:spcAft>
                <a:spcPts val="500"/>
              </a:spcAft>
              <a:buClr>
                <a:srgbClr val="C00000"/>
              </a:buClr>
              <a:buFont typeface="Arial"/>
              <a:buChar char="•"/>
            </a:pPr>
            <a:r>
              <a:rPr sz="1150" b="0" i="0">
                <a:solidFill>
                  <a:srgbClr val="1F2937"/>
                </a:solidFill>
                <a:latin typeface="Arial"/>
              </a:rPr>
              <a:t>Votes ranked into HIGH / MEDIUM / LOW dispatch recommendations</a:t>
            </a:r>
            <a:endParaRPr sz="1150"/>
          </a:p>
          <a:p>
            <a:pPr algn="l" marL="164592" indent="-164592">
              <a:spcAft>
                <a:spcPts val="500"/>
              </a:spcAft>
              <a:buClr>
                <a:srgbClr val="C00000"/>
              </a:buClr>
              <a:buFont typeface="Arial"/>
              <a:buChar char="•"/>
            </a:pPr>
            <a:r>
              <a:rPr sz="1150" b="0" i="0">
                <a:solidFill>
                  <a:srgbClr val="1F2937"/>
                </a:solidFill>
                <a:latin typeface="Arial"/>
              </a:rPr>
              <a:t>Waybills, cash variance reported (never auto-corrected), Shakti claim, audit log</a:t>
            </a:r>
            <a:endParaRPr sz="1150"/>
          </a:p>
        </p:txBody>
      </p:sp>
      <p:sp>
        <p:nvSpPr>
          <p:cNvPr id="10" name="Rounded Rectangle 9"/>
          <p:cNvSpPr/>
          <p:nvPr/>
        </p:nvSpPr>
        <p:spPr>
          <a:xfrm>
            <a:off x="6528816"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11" name="TextBox 10"/>
          <p:cNvSpPr txBox="1"/>
          <p:nvPr/>
        </p:nvSpPr>
        <p:spPr>
          <a:xfrm>
            <a:off x="6638544" y="1883664"/>
            <a:ext cx="2697480" cy="329184"/>
          </a:xfrm>
          <a:prstGeom prst="rect">
            <a:avLst/>
          </a:prstGeom>
          <a:noFill/>
        </p:spPr>
        <p:txBody>
          <a:bodyPr wrap="square" anchor="ctr" lIns="73152" rIns="73152"/>
          <a:lstStyle/>
          <a:p>
            <a:pPr algn="l"/>
            <a:r>
              <a:rPr sz="1450" b="1" i="0">
                <a:solidFill>
                  <a:srgbClr val="C00000"/>
                </a:solidFill>
                <a:latin typeface="Arial"/>
              </a:rPr>
              <a:t>Ecosystem</a:t>
            </a:r>
            <a:endParaRPr sz="1450"/>
          </a:p>
        </p:txBody>
      </p:sp>
      <p:sp>
        <p:nvSpPr>
          <p:cNvPr id="12" name="TextBox 11"/>
          <p:cNvSpPr txBox="1"/>
          <p:nvPr/>
        </p:nvSpPr>
        <p:spPr>
          <a:xfrm>
            <a:off x="6620255"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Full GTFS feed (3,713 routes, 47,295 trips): any planner can use the timetable</a:t>
            </a:r>
            <a:endParaRPr sz="1150"/>
          </a:p>
          <a:p>
            <a:pPr algn="l" marL="164592" indent="-164592">
              <a:spcAft>
                <a:spcPts val="500"/>
              </a:spcAft>
              <a:buClr>
                <a:srgbClr val="C00000"/>
              </a:buClr>
              <a:buFont typeface="Arial"/>
              <a:buChar char="•"/>
            </a:pPr>
            <a:r>
              <a:rPr sz="1150" b="0" i="0">
                <a:solidFill>
                  <a:srgbClr val="1F2937"/>
                </a:solidFill>
                <a:latin typeface="Arial"/>
              </a:rPr>
              <a:t>GTFS-Realtime service alerts from real depot alerts</a:t>
            </a:r>
            <a:endParaRPr sz="1150"/>
          </a:p>
          <a:p>
            <a:pPr algn="l" marL="164592" indent="-164592">
              <a:spcAft>
                <a:spcPts val="500"/>
              </a:spcAft>
              <a:buClr>
                <a:srgbClr val="C00000"/>
              </a:buClr>
              <a:buFont typeface="Arial"/>
              <a:buChar char="•"/>
            </a:pPr>
            <a:r>
              <a:rPr sz="1150" b="0" i="0">
                <a:solidFill>
                  <a:srgbClr val="1F2937"/>
                </a:solidFill>
                <a:latin typeface="Arial"/>
              </a:rPr>
              <a:t>Live positions published only from a live feed; simulated data is never labelled real</a:t>
            </a:r>
            <a:endParaRPr sz="1150"/>
          </a:p>
        </p:txBody>
      </p:sp>
      <p:sp>
        <p:nvSpPr>
          <p:cNvPr id="13" name="TextBox 12"/>
          <p:cNvSpPr txBox="1"/>
          <p:nvPr/>
        </p:nvSpPr>
        <p:spPr>
          <a:xfrm>
            <a:off x="457200" y="4315968"/>
            <a:ext cx="8988552" cy="274320"/>
          </a:xfrm>
          <a:prstGeom prst="rect">
            <a:avLst/>
          </a:prstGeom>
          <a:noFill/>
        </p:spPr>
        <p:txBody>
          <a:bodyPr wrap="square" anchor="t" lIns="73152" rIns="73152"/>
          <a:lstStyle/>
          <a:p>
            <a:pPr algn="l"/>
            <a:r>
              <a:rPr sz="1300" b="1" i="0">
                <a:solidFill>
                  <a:srgbClr val="C00000"/>
                </a:solidFill>
                <a:latin typeface="Arial"/>
              </a:rPr>
              <a:t>Proposed pilot (next step, not yet carried out)</a:t>
            </a:r>
            <a:endParaRPr sz="1300"/>
          </a:p>
        </p:txBody>
      </p:sp>
      <p:sp>
        <p:nvSpPr>
          <p:cNvPr id="14" name="Pentagon 13"/>
          <p:cNvSpPr/>
          <p:nvPr/>
        </p:nvSpPr>
        <p:spPr>
          <a:xfrm>
            <a:off x="457200"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15" name="TextBox 14"/>
          <p:cNvSpPr txBox="1"/>
          <p:nvPr/>
        </p:nvSpPr>
        <p:spPr>
          <a:xfrm>
            <a:off x="566928" y="4681728"/>
            <a:ext cx="2368296" cy="329184"/>
          </a:xfrm>
          <a:prstGeom prst="rect">
            <a:avLst/>
          </a:prstGeom>
          <a:noFill/>
        </p:spPr>
        <p:txBody>
          <a:bodyPr wrap="square" anchor="ctr" lIns="73152" rIns="73152"/>
          <a:lstStyle/>
          <a:p>
            <a:pPr algn="l"/>
            <a:r>
              <a:rPr sz="1250" b="1" i="0">
                <a:solidFill>
                  <a:srgbClr val="C00000"/>
                </a:solidFill>
                <a:latin typeface="Arial"/>
              </a:rPr>
              <a:t>1  </a:t>
            </a:r>
            <a:r>
              <a:rPr sz="1250" b="1" i="0">
                <a:solidFill>
                  <a:srgbClr val="1F2937"/>
                </a:solidFill>
                <a:latin typeface="Arial"/>
              </a:rPr>
              <a:t>Validate the plan</a:t>
            </a:r>
            <a:endParaRPr sz="1250"/>
          </a:p>
        </p:txBody>
      </p:sp>
      <p:sp>
        <p:nvSpPr>
          <p:cNvPr id="16" name="TextBox 15"/>
          <p:cNvSpPr txBox="1"/>
          <p:nvPr/>
        </p:nvSpPr>
        <p:spPr>
          <a:xfrm>
            <a:off x="566928" y="5010912"/>
            <a:ext cx="2350008" cy="1188720"/>
          </a:xfrm>
          <a:prstGeom prst="rect">
            <a:avLst/>
          </a:prstGeom>
          <a:noFill/>
        </p:spPr>
        <p:txBody>
          <a:bodyPr wrap="square" anchor="t" lIns="73152" rIns="73152"/>
          <a:lstStyle/>
          <a:p>
            <a:pPr algn="l"/>
            <a:r>
              <a:rPr sz="1150" b="0" i="0">
                <a:solidFill>
                  <a:srgbClr val="1F2937"/>
                </a:solidFill>
                <a:latin typeface="Arial"/>
              </a:rPr>
              <a:t>Load one depot's timetable and compare the modelled blocks and crew duties with the actual rosters.</a:t>
            </a:r>
            <a:endParaRPr sz="1150"/>
          </a:p>
        </p:txBody>
      </p:sp>
      <p:sp>
        <p:nvSpPr>
          <p:cNvPr id="17" name="Pentagon 16"/>
          <p:cNvSpPr/>
          <p:nvPr/>
        </p:nvSpPr>
        <p:spPr>
          <a:xfrm>
            <a:off x="3493008"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18" name="TextBox 17"/>
          <p:cNvSpPr txBox="1"/>
          <p:nvPr/>
        </p:nvSpPr>
        <p:spPr>
          <a:xfrm>
            <a:off x="3602736" y="4681728"/>
            <a:ext cx="2368296" cy="329184"/>
          </a:xfrm>
          <a:prstGeom prst="rect">
            <a:avLst/>
          </a:prstGeom>
          <a:noFill/>
        </p:spPr>
        <p:txBody>
          <a:bodyPr wrap="square" anchor="ctr" lIns="73152" rIns="73152"/>
          <a:lstStyle/>
          <a:p>
            <a:pPr algn="l"/>
            <a:r>
              <a:rPr sz="1250" b="1" i="0">
                <a:solidFill>
                  <a:srgbClr val="C00000"/>
                </a:solidFill>
                <a:latin typeface="Arial"/>
              </a:rPr>
              <a:t>2  </a:t>
            </a:r>
            <a:r>
              <a:rPr sz="1250" b="1" i="0">
                <a:solidFill>
                  <a:srgbClr val="1F2937"/>
                </a:solidFill>
                <a:latin typeface="Arial"/>
              </a:rPr>
              <a:t>Go live</a:t>
            </a:r>
            <a:endParaRPr sz="1250"/>
          </a:p>
        </p:txBody>
      </p:sp>
      <p:sp>
        <p:nvSpPr>
          <p:cNvPr id="19" name="TextBox 18"/>
          <p:cNvSpPr txBox="1"/>
          <p:nvPr/>
        </p:nvSpPr>
        <p:spPr>
          <a:xfrm>
            <a:off x="3602736" y="5010912"/>
            <a:ext cx="2350008" cy="1188720"/>
          </a:xfrm>
          <a:prstGeom prst="rect">
            <a:avLst/>
          </a:prstGeom>
          <a:noFill/>
        </p:spPr>
        <p:txBody>
          <a:bodyPr wrap="square" anchor="t" lIns="73152" rIns="73152"/>
          <a:lstStyle/>
          <a:p>
            <a:pPr algn="l"/>
            <a:r>
              <a:rPr sz="1150" b="0" i="0">
                <a:solidFill>
                  <a:srgbClr val="1F2937"/>
                </a:solidFill>
                <a:latin typeface="Arial"/>
              </a:rPr>
              <a:t>Connect BMTC's vehicle feed through the existing adapter interface (gtfs_rt, http_json or push); no rewrite needed.</a:t>
            </a:r>
            <a:endParaRPr sz="1150"/>
          </a:p>
        </p:txBody>
      </p:sp>
      <p:sp>
        <p:nvSpPr>
          <p:cNvPr id="20" name="Pentagon 19"/>
          <p:cNvSpPr/>
          <p:nvPr/>
        </p:nvSpPr>
        <p:spPr>
          <a:xfrm>
            <a:off x="6528816"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21" name="TextBox 20"/>
          <p:cNvSpPr txBox="1"/>
          <p:nvPr/>
        </p:nvSpPr>
        <p:spPr>
          <a:xfrm>
            <a:off x="6638544" y="4681728"/>
            <a:ext cx="2368296" cy="329184"/>
          </a:xfrm>
          <a:prstGeom prst="rect">
            <a:avLst/>
          </a:prstGeom>
          <a:noFill/>
        </p:spPr>
        <p:txBody>
          <a:bodyPr wrap="square" anchor="ctr" lIns="73152" rIns="73152"/>
          <a:lstStyle/>
          <a:p>
            <a:pPr algn="l"/>
            <a:r>
              <a:rPr sz="1250" b="1" i="0">
                <a:solidFill>
                  <a:srgbClr val="C00000"/>
                </a:solidFill>
                <a:latin typeface="Arial"/>
              </a:rPr>
              <a:t>3  </a:t>
            </a:r>
            <a:r>
              <a:rPr sz="1250" b="1" i="0">
                <a:solidFill>
                  <a:srgbClr val="1F2937"/>
                </a:solidFill>
                <a:latin typeface="Arial"/>
              </a:rPr>
              <a:t>Pilot the money path</a:t>
            </a:r>
            <a:endParaRPr sz="1250"/>
          </a:p>
        </p:txBody>
      </p:sp>
      <p:sp>
        <p:nvSpPr>
          <p:cNvPr id="22" name="TextBox 21"/>
          <p:cNvSpPr txBox="1"/>
          <p:nvPr/>
        </p:nvSpPr>
        <p:spPr>
          <a:xfrm>
            <a:off x="6638544" y="5010912"/>
            <a:ext cx="2350008" cy="1188720"/>
          </a:xfrm>
          <a:prstGeom prst="rect">
            <a:avLst/>
          </a:prstGeom>
          <a:noFill/>
        </p:spPr>
        <p:txBody>
          <a:bodyPr wrap="square" anchor="t" lIns="73152" rIns="73152"/>
          <a:lstStyle/>
          <a:p>
            <a:pPr algn="l"/>
            <a:r>
              <a:rPr sz="1150" b="0" i="0">
                <a:solidFill>
                  <a:srgbClr val="1F2937"/>
                </a:solidFill>
                <a:latin typeface="Arial"/>
              </a:rPr>
              <a:t>Run conductor waybills, offline sync and Shakti claim reports on a few routes.</a:t>
            </a:r>
            <a:endParaRPr sz="115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Gantt Chart</a:t>
            </a:r>
          </a:p>
        </p:txBody>
      </p:sp>
      <p:graphicFrame>
        <p:nvGraphicFramePr>
          <p:cNvPr id="3" name="Table 2"/>
          <p:cNvGraphicFramePr>
            <a:graphicFrameLocks noGrp="1"/>
          </p:cNvGraphicFramePr>
          <p:nvPr/>
        </p:nvGraphicFramePr>
        <p:xfrm>
          <a:off x="457200" y="914400"/>
          <a:ext cx="9006840" cy="4517136"/>
        </p:xfrm>
        <a:graphic>
          <a:graphicData uri="http://schemas.openxmlformats.org/drawingml/2006/table">
            <a:tbl>
              <a:tblPr firstRow="0" bandRow="0">
                <a:tableStyleId>{2D5ABB26-0587-4C30-8999-92F81FD0307C}</a:tableStyleId>
              </a:tblPr>
              <a:tblGrid>
                <a:gridCol w="2971800"/>
                <a:gridCol w="377190"/>
                <a:gridCol w="377190"/>
                <a:gridCol w="377190"/>
                <a:gridCol w="377190"/>
                <a:gridCol w="377190"/>
                <a:gridCol w="377190"/>
                <a:gridCol w="377190"/>
                <a:gridCol w="377190"/>
                <a:gridCol w="377190"/>
                <a:gridCol w="377190"/>
                <a:gridCol w="377190"/>
                <a:gridCol w="377190"/>
                <a:gridCol w="377190"/>
                <a:gridCol w="377190"/>
                <a:gridCol w="377190"/>
                <a:gridCol w="377190"/>
              </a:tblGrid>
              <a:tr h="292608">
                <a:tc gridSpan="17">
                  <a:txBody>
                    <a:bodyPr wrap="square" anchor="ctr" lIns="45720" tIns="18288" rIns="27432" bIns="18288"/>
                    <a:lstStyle/>
                    <a:p>
                      <a:pPr algn="l"/>
                      <a:r>
                        <a:rPr sz="1000" b="1" i="0">
                          <a:solidFill>
                            <a:srgbClr val="FFFFFF"/>
                          </a:solidFill>
                          <a:latin typeface="Arial"/>
                        </a:rPr>
                        <a:t>Project Work (UG) 16 weeks</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274320">
                <a:tc>
                  <a:txBody>
                    <a:bodyPr wrap="square" anchor="ctr" lIns="45720" tIns="18288" rIns="27432" bIns="18288"/>
                    <a:lstStyle/>
                    <a:p>
                      <a:pPr algn="l"/>
                      <a:r>
                        <a:rPr sz="1000" b="1" i="0">
                          <a:solidFill>
                            <a:srgbClr val="FFFFFF"/>
                          </a:solidFill>
                          <a:latin typeface="Arial"/>
                        </a:rPr>
                        <a:t>Week</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2</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3</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4</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5</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6</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7</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8</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9</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10</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11</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12</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13</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14</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15</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16</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329184">
                <a:tc>
                  <a:txBody>
                    <a:bodyPr wrap="square" anchor="ctr" lIns="45720" tIns="18288" rIns="27432" bIns="18288"/>
                    <a:lstStyle/>
                    <a:p>
                      <a:pPr algn="l"/>
                      <a:r>
                        <a:rPr sz="950" b="1" i="0">
                          <a:solidFill>
                            <a:srgbClr val="C00000"/>
                          </a:solidFill>
                          <a:latin typeface="Arial"/>
                        </a:rPr>
                        <a:t>1.1  </a:t>
                      </a:r>
                      <a:r>
                        <a:rPr sz="950" b="0" i="0">
                          <a:solidFill>
                            <a:srgbClr val="1F2937"/>
                          </a:solidFill>
                          <a:latin typeface="Arial"/>
                        </a:rPr>
                        <a:t>Requirements, data collection, literature survey</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2.1  </a:t>
                      </a:r>
                      <a:r>
                        <a:rPr sz="950" b="0" i="0">
                          <a:solidFill>
                            <a:srgbClr val="1F2937"/>
                          </a:solidFill>
                          <a:latin typeface="Arial"/>
                        </a:rPr>
                        <a:t>Stop resolution and ordered stop-pair index</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2.2  </a:t>
                      </a:r>
                      <a:r>
                        <a:rPr sz="950" b="0" i="0">
                          <a:solidFill>
                            <a:srgbClr val="1F2937"/>
                          </a:solidFill>
                          <a:latin typeface="Arial"/>
                        </a:rPr>
                        <a:t>Transfer search, ranking, geometry, Metro, fares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3.1  </a:t>
                      </a:r>
                      <a:r>
                        <a:rPr sz="950" b="0" i="0">
                          <a:solidFill>
                            <a:srgbClr val="1F2937"/>
                          </a:solidFill>
                          <a:latin typeface="Arial"/>
                        </a:rPr>
                        <a:t>Vehicle blocking with lower bound</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3.2  </a:t>
                      </a:r>
                      <a:r>
                        <a:rPr sz="950" b="0" i="0">
                          <a:solidFill>
                            <a:srgbClr val="1F2937"/>
                          </a:solidFill>
                          <a:latin typeface="Arial"/>
                        </a:rPr>
                        <a:t>Crew duties: DP cutting and pairing</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4.1  </a:t>
                      </a:r>
                      <a:r>
                        <a:rPr sz="950" b="0" i="0">
                          <a:solidFill>
                            <a:srgbClr val="1F2937"/>
                          </a:solidFill>
                          <a:latin typeface="Arial"/>
                        </a:rPr>
                        <a:t>API, auth, roles and MongoDB services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4.2  </a:t>
                      </a:r>
                      <a:r>
                        <a:rPr sz="950" b="0" i="0">
                          <a:solidFill>
                            <a:srgbClr val="1F2937"/>
                          </a:solidFill>
                          <a:latin typeface="Arial"/>
                        </a:rPr>
                        <a:t>Demand voting, e-tickets, Shakti, waybills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5.1  </a:t>
                      </a:r>
                      <a:r>
                        <a:rPr sz="950" b="0" i="0">
                          <a:solidFill>
                            <a:srgbClr val="1F2937"/>
                          </a:solidFill>
                          <a:latin typeface="Arial"/>
                        </a:rPr>
                        <a:t>GTFS static, alerts, vehicle-feed adapters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5.2  </a:t>
                      </a:r>
                      <a:r>
                        <a:rPr sz="950" b="0" i="0">
                          <a:solidFill>
                            <a:srgbClr val="1F2937"/>
                          </a:solidFill>
                          <a:latin typeface="Arial"/>
                        </a:rPr>
                        <a:t>React UI, languages and Android shell</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6.1  </a:t>
                      </a:r>
                      <a:r>
                        <a:rPr sz="950" b="0" i="0">
                          <a:solidFill>
                            <a:srgbClr val="1F2937"/>
                          </a:solidFill>
                          <a:latin typeface="Arial"/>
                        </a:rPr>
                        <a:t>Evaluation and rank-quality tuning</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6.2  </a:t>
                      </a:r>
                      <a:r>
                        <a:rPr sz="950" b="0" i="0">
                          <a:solidFill>
                            <a:srgbClr val="1F2937"/>
                          </a:solidFill>
                          <a:latin typeface="Arial"/>
                        </a:rPr>
                        <a:t>Read-only AI assistant (retrieval)</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6.3  </a:t>
                      </a:r>
                      <a:r>
                        <a:rPr sz="950" b="0" i="0">
                          <a:solidFill>
                            <a:srgbClr val="1F2937"/>
                          </a:solidFill>
                          <a:latin typeface="Arial"/>
                        </a:rPr>
                        <a:t>Testing, CI, deployment and report</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bl>
          </a:graphicData>
        </a:graphic>
      </p:graphicFrame>
      <p:sp>
        <p:nvSpPr>
          <p:cNvPr id="4" name="TextBox 3"/>
          <p:cNvSpPr txBox="1"/>
          <p:nvPr/>
        </p:nvSpPr>
        <p:spPr>
          <a:xfrm>
            <a:off x="457200" y="5577840"/>
            <a:ext cx="8988552" cy="658368"/>
          </a:xfrm>
          <a:prstGeom prst="rect">
            <a:avLst/>
          </a:prstGeom>
          <a:noFill/>
        </p:spPr>
        <p:txBody>
          <a:bodyPr wrap="square" anchor="t" lIns="73152" rIns="73152"/>
          <a:lstStyle/>
          <a:p>
            <a:pPr algn="l">
              <a:spcAft>
                <a:spcPts val="300"/>
              </a:spcAft>
            </a:pPr>
            <a:r>
              <a:rPr sz="1100" b="1" i="0">
                <a:solidFill>
                  <a:srgbClr val="C00000"/>
                </a:solidFill>
                <a:latin typeface="Arial"/>
              </a:rPr>
              <a:t>Phases: </a:t>
            </a:r>
            <a:r>
              <a:rPr sz="1100" b="0" i="0">
                <a:solidFill>
                  <a:srgbClr val="1F2937"/>
                </a:solidFill>
                <a:latin typeface="Arial"/>
              </a:rPr>
              <a:t>1 Data and survey | 2 Journey engine | 3 Operations engines | 4 Platform services | 5 Open data and interface | 6 Evaluation, assistant and release</a:t>
            </a:r>
            <a:endParaRPr sz="1100"/>
          </a:p>
          <a:p>
            <a:pPr algn="l"/>
            <a:r>
              <a:rPr sz="1100" b="1" i="0">
                <a:solidFill>
                  <a:srgbClr val="C00000"/>
                </a:solidFill>
                <a:latin typeface="Arial"/>
              </a:rPr>
              <a:t>Suggested review points: </a:t>
            </a:r>
            <a:r>
              <a:rPr sz="1100" b="0" i="0">
                <a:solidFill>
                  <a:srgbClr val="1F2937"/>
                </a:solidFill>
                <a:latin typeface="Arial"/>
              </a:rPr>
              <a:t>week 4 problem and literature | week 8 journey-engine demo | week 12 platform demo | week 16 final evaluation</a:t>
            </a:r>
            <a:endParaRPr sz="11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Honest Limitations and Roadmap</a:t>
            </a:r>
          </a:p>
        </p:txBody>
      </p:sp>
      <p:sp>
        <p:nvSpPr>
          <p:cNvPr id="3" name="Rounded Rectangle 2"/>
          <p:cNvSpPr/>
          <p:nvPr/>
        </p:nvSpPr>
        <p:spPr>
          <a:xfrm>
            <a:off x="457200" y="914400"/>
            <a:ext cx="4434840" cy="4434840"/>
          </a:xfrm>
          <a:prstGeom prst="roundRect">
            <a:avLst>
              <a:gd name="adj" fmla="val 4000"/>
            </a:avLst>
          </a:prstGeom>
          <a:solidFill>
            <a:srgbClr val="FFF4E5"/>
          </a:solidFill>
          <a:ln>
            <a:noFill/>
          </a:ln>
          <a:effectLst/>
        </p:spPr>
        <p:txBody>
          <a:bodyPr rtlCol="0" anchor="ctr"/>
          <a:lstStyle/>
          <a:p>
            <a:pPr algn="ctr"/>
          </a:p>
        </p:txBody>
      </p:sp>
      <p:sp>
        <p:nvSpPr>
          <p:cNvPr id="4" name="TextBox 3"/>
          <p:cNvSpPr txBox="1"/>
          <p:nvPr/>
        </p:nvSpPr>
        <p:spPr>
          <a:xfrm>
            <a:off x="594360" y="969264"/>
            <a:ext cx="4160520" cy="329184"/>
          </a:xfrm>
          <a:prstGeom prst="rect">
            <a:avLst/>
          </a:prstGeom>
          <a:noFill/>
        </p:spPr>
        <p:txBody>
          <a:bodyPr wrap="square" anchor="ctr" lIns="73152" rIns="73152"/>
          <a:lstStyle/>
          <a:p>
            <a:pPr algn="l"/>
            <a:r>
              <a:rPr sz="1300" b="1" i="0">
                <a:solidFill>
                  <a:srgbClr val="B45309"/>
                </a:solidFill>
                <a:latin typeface="Arial"/>
              </a:rPr>
              <a:t>Known limitations (documented in the project)</a:t>
            </a:r>
            <a:endParaRPr sz="1300"/>
          </a:p>
        </p:txBody>
      </p:sp>
      <p:sp>
        <p:nvSpPr>
          <p:cNvPr id="5" name="TextBox 4"/>
          <p:cNvSpPr txBox="1"/>
          <p:nvPr/>
        </p:nvSpPr>
        <p:spPr>
          <a:xfrm>
            <a:off x="594360" y="1371600"/>
            <a:ext cx="4160520" cy="3931920"/>
          </a:xfrm>
          <a:prstGeom prst="rect">
            <a:avLst/>
          </a:prstGeom>
          <a:noFill/>
        </p:spPr>
        <p:txBody>
          <a:bodyPr wrap="square" anchor="t" lIns="73152" rIns="73152"/>
          <a:lstStyle/>
          <a:p>
            <a:pPr algn="l" marL="164592" indent="-164592">
              <a:spcAft>
                <a:spcPts val="900"/>
              </a:spcAft>
              <a:buClr>
                <a:srgbClr val="B45309"/>
              </a:buClr>
              <a:buFont typeface="Arial"/>
              <a:buChar char="•"/>
            </a:pPr>
            <a:r>
              <a:rPr sz="1250" b="1" i="0">
                <a:solidFill>
                  <a:srgbClr val="1F2937"/>
                </a:solidFill>
                <a:latin typeface="Arial"/>
              </a:rPr>
              <a:t>Vehicle positions are simulated by default. </a:t>
            </a:r>
            <a:r>
              <a:rPr sz="1250" b="0" i="0">
                <a:solidFill>
                  <a:srgbClr val="1F2937"/>
                </a:solidFill>
                <a:latin typeface="Arial"/>
              </a:rPr>
              <a:t>No live BMTC feed was available; the realtime endpoint refuses to publish them.</a:t>
            </a:r>
            <a:endParaRPr sz="1250"/>
          </a:p>
          <a:p>
            <a:pPr algn="l" marL="164592" indent="-164592">
              <a:spcAft>
                <a:spcPts val="900"/>
              </a:spcAft>
              <a:buClr>
                <a:srgbClr val="B45309"/>
              </a:buClr>
              <a:buFont typeface="Arial"/>
              <a:buChar char="•"/>
            </a:pPr>
            <a:r>
              <a:rPr sz="1250" b="1" i="0">
                <a:solidFill>
                  <a:srgbClr val="1F2937"/>
                </a:solidFill>
                <a:latin typeface="Arial"/>
              </a:rPr>
              <a:t>Fleet and crew numbers are modelled. </a:t>
            </a:r>
            <a:r>
              <a:rPr sz="1250" b="0" i="0">
                <a:solidFill>
                  <a:srgbClr val="1F2937"/>
                </a:solidFill>
                <a:latin typeface="Arial"/>
              </a:rPr>
              <a:t>Speed, dwell, layover and crew rules are assumptions, echoed in every response.</a:t>
            </a:r>
            <a:endParaRPr sz="1250"/>
          </a:p>
          <a:p>
            <a:pPr algn="l" marL="164592" indent="-164592">
              <a:spcAft>
                <a:spcPts val="900"/>
              </a:spcAft>
              <a:buClr>
                <a:srgbClr val="B45309"/>
              </a:buClr>
              <a:buFont typeface="Arial"/>
              <a:buChar char="•"/>
            </a:pPr>
            <a:r>
              <a:rPr sz="1250" b="1" i="0">
                <a:solidFill>
                  <a:srgbClr val="1F2937"/>
                </a:solidFill>
                <a:latin typeface="Arial"/>
              </a:rPr>
              <a:t>No payment gateway; Shakti eligibility is self-declared </a:t>
            </a:r>
            <a:r>
              <a:rPr sz="1250" b="0" i="0">
                <a:solidFill>
                  <a:srgbClr val="1F2937"/>
                </a:solidFill>
                <a:latin typeface="Arial"/>
              </a:rPr>
              <a:t>(gender recorded on the account, not verified).</a:t>
            </a:r>
            <a:endParaRPr sz="1250"/>
          </a:p>
          <a:p>
            <a:pPr algn="l" marL="164592" indent="-164592">
              <a:spcAft>
                <a:spcPts val="900"/>
              </a:spcAft>
              <a:buClr>
                <a:srgbClr val="B45309"/>
              </a:buClr>
              <a:buFont typeface="Arial"/>
              <a:buChar char="•"/>
            </a:pPr>
            <a:r>
              <a:rPr sz="1250" b="1" i="0">
                <a:solidFill>
                  <a:srgbClr val="1F2937"/>
                </a:solidFill>
                <a:latin typeface="Arial"/>
              </a:rPr>
              <a:t>Journey time is an estimate </a:t>
            </a:r>
            <a:r>
              <a:rPr sz="1250" b="0" i="0">
                <a:solidFill>
                  <a:srgbClr val="1F2937"/>
                </a:solidFill>
                <a:latin typeface="Arial"/>
              </a:rPr>
              <a:t>(distance plus a flat waiting allowance); the two-change search is a heuristic.</a:t>
            </a:r>
            <a:endParaRPr sz="1250"/>
          </a:p>
          <a:p>
            <a:pPr algn="l" marL="164592" indent="-164592">
              <a:spcAft>
                <a:spcPts val="900"/>
              </a:spcAft>
              <a:buClr>
                <a:srgbClr val="B45309"/>
              </a:buClr>
              <a:buFont typeface="Arial"/>
              <a:buChar char="•"/>
            </a:pPr>
            <a:r>
              <a:rPr sz="1250" b="1" i="0">
                <a:solidFill>
                  <a:srgbClr val="1F2937"/>
                </a:solidFill>
                <a:latin typeface="Arial"/>
              </a:rPr>
              <a:t>Single-process design and no frontend tests yet. </a:t>
            </a:r>
            <a:r>
              <a:rPr sz="1250" b="0" i="0">
                <a:solidFill>
                  <a:srgbClr val="1F2937"/>
                </a:solidFill>
                <a:latin typeface="Arial"/>
              </a:rPr>
              <a:t>Rate limiter and caches live in memory.</a:t>
            </a:r>
            <a:endParaRPr sz="1250"/>
          </a:p>
        </p:txBody>
      </p:sp>
      <p:sp>
        <p:nvSpPr>
          <p:cNvPr id="6" name="Rounded Rectangle 5"/>
          <p:cNvSpPr/>
          <p:nvPr/>
        </p:nvSpPr>
        <p:spPr>
          <a:xfrm>
            <a:off x="5010912" y="914400"/>
            <a:ext cx="4434840" cy="4434840"/>
          </a:xfrm>
          <a:prstGeom prst="roundRect">
            <a:avLst>
              <a:gd name="adj" fmla="val 4000"/>
            </a:avLst>
          </a:prstGeom>
          <a:solidFill>
            <a:srgbClr val="E6F4EA"/>
          </a:solidFill>
          <a:ln>
            <a:noFill/>
          </a:ln>
          <a:effectLst/>
        </p:spPr>
        <p:txBody>
          <a:bodyPr rtlCol="0" anchor="ctr"/>
          <a:lstStyle/>
          <a:p>
            <a:pPr algn="ctr"/>
          </a:p>
        </p:txBody>
      </p:sp>
      <p:sp>
        <p:nvSpPr>
          <p:cNvPr id="7" name="TextBox 6"/>
          <p:cNvSpPr txBox="1"/>
          <p:nvPr/>
        </p:nvSpPr>
        <p:spPr>
          <a:xfrm>
            <a:off x="5148072" y="969264"/>
            <a:ext cx="4160520" cy="329184"/>
          </a:xfrm>
          <a:prstGeom prst="rect">
            <a:avLst/>
          </a:prstGeom>
          <a:noFill/>
        </p:spPr>
        <p:txBody>
          <a:bodyPr wrap="square" anchor="ctr" lIns="73152" rIns="73152"/>
          <a:lstStyle/>
          <a:p>
            <a:pPr algn="l"/>
            <a:r>
              <a:rPr sz="1300" b="1" i="0">
                <a:solidFill>
                  <a:srgbClr val="0B8A3E"/>
                </a:solidFill>
                <a:latin typeface="Arial"/>
              </a:rPr>
              <a:t>Roadmap</a:t>
            </a:r>
            <a:endParaRPr sz="1300"/>
          </a:p>
        </p:txBody>
      </p:sp>
      <p:sp>
        <p:nvSpPr>
          <p:cNvPr id="8" name="Oval 7"/>
          <p:cNvSpPr/>
          <p:nvPr/>
        </p:nvSpPr>
        <p:spPr>
          <a:xfrm>
            <a:off x="5148072" y="1591056"/>
            <a:ext cx="310896" cy="310896"/>
          </a:xfrm>
          <a:prstGeom prst="ellipse">
            <a:avLst/>
          </a:prstGeom>
          <a:solidFill>
            <a:srgbClr val="0B8A3E"/>
          </a:solidFill>
          <a:ln>
            <a:noFill/>
          </a:ln>
          <a:effectLst/>
        </p:spPr>
        <p:txBody>
          <a:bodyPr rtlCol="0" anchor="ctr" wrap="none" lIns="0" tIns="0" rIns="0" bIns="0"/>
          <a:lstStyle/>
          <a:p>
            <a:pPr algn="ctr"/>
            <a:r>
              <a:rPr sz="1100" b="1" i="0">
                <a:solidFill>
                  <a:srgbClr val="FFFFFF"/>
                </a:solidFill>
                <a:latin typeface="Arial"/>
              </a:rPr>
              <a:t>1</a:t>
            </a:r>
            <a:endParaRPr sz="1100"/>
          </a:p>
        </p:txBody>
      </p:sp>
      <p:sp>
        <p:nvSpPr>
          <p:cNvPr id="9" name="TextBox 8"/>
          <p:cNvSpPr txBox="1"/>
          <p:nvPr/>
        </p:nvSpPr>
        <p:spPr>
          <a:xfrm>
            <a:off x="5559551" y="1380744"/>
            <a:ext cx="3749039" cy="731520"/>
          </a:xfrm>
          <a:prstGeom prst="rect">
            <a:avLst/>
          </a:prstGeom>
          <a:noFill/>
        </p:spPr>
        <p:txBody>
          <a:bodyPr wrap="square" anchor="ctr" lIns="73152" rIns="73152"/>
          <a:lstStyle/>
          <a:p>
            <a:pPr algn="l"/>
            <a:r>
              <a:rPr sz="1200" b="0" i="0">
                <a:solidFill>
                  <a:srgbClr val="1F2937"/>
                </a:solidFill>
                <a:latin typeface="Arial"/>
              </a:rPr>
              <a:t>Integrate BMTC's live vehicle feed through the existing adapter interface.</a:t>
            </a:r>
            <a:endParaRPr sz="1200"/>
          </a:p>
        </p:txBody>
      </p:sp>
      <p:sp>
        <p:nvSpPr>
          <p:cNvPr id="10" name="Oval 9"/>
          <p:cNvSpPr/>
          <p:nvPr/>
        </p:nvSpPr>
        <p:spPr>
          <a:xfrm>
            <a:off x="5148072" y="2359152"/>
            <a:ext cx="310896" cy="310896"/>
          </a:xfrm>
          <a:prstGeom prst="ellipse">
            <a:avLst/>
          </a:prstGeom>
          <a:solidFill>
            <a:srgbClr val="0B8A3E"/>
          </a:solidFill>
          <a:ln>
            <a:noFill/>
          </a:ln>
          <a:effectLst/>
        </p:spPr>
        <p:txBody>
          <a:bodyPr rtlCol="0" anchor="ctr" wrap="none" lIns="0" tIns="0" rIns="0" bIns="0"/>
          <a:lstStyle/>
          <a:p>
            <a:pPr algn="ctr"/>
            <a:r>
              <a:rPr sz="1100" b="1" i="0">
                <a:solidFill>
                  <a:srgbClr val="FFFFFF"/>
                </a:solidFill>
                <a:latin typeface="Arial"/>
              </a:rPr>
              <a:t>2</a:t>
            </a:r>
            <a:endParaRPr sz="1100"/>
          </a:p>
        </p:txBody>
      </p:sp>
      <p:sp>
        <p:nvSpPr>
          <p:cNvPr id="11" name="TextBox 10"/>
          <p:cNvSpPr txBox="1"/>
          <p:nvPr/>
        </p:nvSpPr>
        <p:spPr>
          <a:xfrm>
            <a:off x="5559551" y="2148840"/>
            <a:ext cx="3749039" cy="731520"/>
          </a:xfrm>
          <a:prstGeom prst="rect">
            <a:avLst/>
          </a:prstGeom>
          <a:noFill/>
        </p:spPr>
        <p:txBody>
          <a:bodyPr wrap="square" anchor="ctr" lIns="73152" rIns="73152"/>
          <a:lstStyle/>
          <a:p>
            <a:pPr algn="l"/>
            <a:r>
              <a:rPr sz="1200" b="0" i="0">
                <a:solidFill>
                  <a:srgbClr val="1F2937"/>
                </a:solidFill>
                <a:latin typeface="Arial"/>
              </a:rPr>
              <a:t>Pilot at one depot: compare modelled blocks and duties with actual rosters.</a:t>
            </a:r>
            <a:endParaRPr sz="1200"/>
          </a:p>
        </p:txBody>
      </p:sp>
      <p:sp>
        <p:nvSpPr>
          <p:cNvPr id="12" name="Oval 11"/>
          <p:cNvSpPr/>
          <p:nvPr/>
        </p:nvSpPr>
        <p:spPr>
          <a:xfrm>
            <a:off x="5148072" y="3127248"/>
            <a:ext cx="310896" cy="310896"/>
          </a:xfrm>
          <a:prstGeom prst="ellipse">
            <a:avLst/>
          </a:prstGeom>
          <a:solidFill>
            <a:srgbClr val="0B8A3E"/>
          </a:solidFill>
          <a:ln>
            <a:noFill/>
          </a:ln>
          <a:effectLst/>
        </p:spPr>
        <p:txBody>
          <a:bodyPr rtlCol="0" anchor="ctr" wrap="none" lIns="0" tIns="0" rIns="0" bIns="0"/>
          <a:lstStyle/>
          <a:p>
            <a:pPr algn="ctr"/>
            <a:r>
              <a:rPr sz="1100" b="1" i="0">
                <a:solidFill>
                  <a:srgbClr val="FFFFFF"/>
                </a:solidFill>
                <a:latin typeface="Arial"/>
              </a:rPr>
              <a:t>3</a:t>
            </a:r>
            <a:endParaRPr sz="1100"/>
          </a:p>
        </p:txBody>
      </p:sp>
      <p:sp>
        <p:nvSpPr>
          <p:cNvPr id="13" name="TextBox 12"/>
          <p:cNvSpPr txBox="1"/>
          <p:nvPr/>
        </p:nvSpPr>
        <p:spPr>
          <a:xfrm>
            <a:off x="5559551" y="2916936"/>
            <a:ext cx="3749039" cy="731520"/>
          </a:xfrm>
          <a:prstGeom prst="rect">
            <a:avLst/>
          </a:prstGeom>
          <a:noFill/>
        </p:spPr>
        <p:txBody>
          <a:bodyPr wrap="square" anchor="ctr" lIns="73152" rIns="73152"/>
          <a:lstStyle/>
          <a:p>
            <a:pPr algn="l"/>
            <a:r>
              <a:rPr sz="1200" b="0" i="0">
                <a:solidFill>
                  <a:srgbClr val="1F2937"/>
                </a:solidFill>
                <a:latin typeface="Arial"/>
              </a:rPr>
              <a:t>Production hardening: token revocation, login throttling, endpoint gating, request-level monitoring.</a:t>
            </a:r>
            <a:endParaRPr sz="1200"/>
          </a:p>
        </p:txBody>
      </p:sp>
      <p:sp>
        <p:nvSpPr>
          <p:cNvPr id="14" name="Oval 13"/>
          <p:cNvSpPr/>
          <p:nvPr/>
        </p:nvSpPr>
        <p:spPr>
          <a:xfrm>
            <a:off x="5148072" y="3895344"/>
            <a:ext cx="310896" cy="310896"/>
          </a:xfrm>
          <a:prstGeom prst="ellipse">
            <a:avLst/>
          </a:prstGeom>
          <a:solidFill>
            <a:srgbClr val="0B8A3E"/>
          </a:solidFill>
          <a:ln>
            <a:noFill/>
          </a:ln>
          <a:effectLst/>
        </p:spPr>
        <p:txBody>
          <a:bodyPr rtlCol="0" anchor="ctr" wrap="none" lIns="0" tIns="0" rIns="0" bIns="0"/>
          <a:lstStyle/>
          <a:p>
            <a:pPr algn="ctr"/>
            <a:r>
              <a:rPr sz="1100" b="1" i="0">
                <a:solidFill>
                  <a:srgbClr val="FFFFFF"/>
                </a:solidFill>
                <a:latin typeface="Arial"/>
              </a:rPr>
              <a:t>4</a:t>
            </a:r>
            <a:endParaRPr sz="1100"/>
          </a:p>
        </p:txBody>
      </p:sp>
      <p:sp>
        <p:nvSpPr>
          <p:cNvPr id="15" name="TextBox 14"/>
          <p:cNvSpPr txBox="1"/>
          <p:nvPr/>
        </p:nvSpPr>
        <p:spPr>
          <a:xfrm>
            <a:off x="5559551" y="3685032"/>
            <a:ext cx="3749039" cy="731520"/>
          </a:xfrm>
          <a:prstGeom prst="rect">
            <a:avLst/>
          </a:prstGeom>
          <a:noFill/>
        </p:spPr>
        <p:txBody>
          <a:bodyPr wrap="square" anchor="ctr" lIns="73152" rIns="73152"/>
          <a:lstStyle/>
          <a:p>
            <a:pPr algn="l"/>
            <a:r>
              <a:rPr sz="1200" b="0" i="0">
                <a:solidFill>
                  <a:srgbClr val="1F2937"/>
                </a:solidFill>
                <a:latin typeface="Arial"/>
              </a:rPr>
              <a:t>Move shared state to Redis for multi-worker scale; add frontend tests, starting with the offline ticket queue.</a:t>
            </a:r>
            <a:endParaRPr sz="1200"/>
          </a:p>
        </p:txBody>
      </p:sp>
      <p:sp>
        <p:nvSpPr>
          <p:cNvPr id="16" name="Oval 15"/>
          <p:cNvSpPr/>
          <p:nvPr/>
        </p:nvSpPr>
        <p:spPr>
          <a:xfrm>
            <a:off x="5148072" y="4663440"/>
            <a:ext cx="310896" cy="310896"/>
          </a:xfrm>
          <a:prstGeom prst="ellipse">
            <a:avLst/>
          </a:prstGeom>
          <a:solidFill>
            <a:srgbClr val="0B8A3E"/>
          </a:solidFill>
          <a:ln>
            <a:noFill/>
          </a:ln>
          <a:effectLst/>
        </p:spPr>
        <p:txBody>
          <a:bodyPr rtlCol="0" anchor="ctr" wrap="none" lIns="0" tIns="0" rIns="0" bIns="0"/>
          <a:lstStyle/>
          <a:p>
            <a:pPr algn="ctr"/>
            <a:r>
              <a:rPr sz="1100" b="1" i="0">
                <a:solidFill>
                  <a:srgbClr val="FFFFFF"/>
                </a:solidFill>
                <a:latin typeface="Arial"/>
              </a:rPr>
              <a:t>5</a:t>
            </a:r>
            <a:endParaRPr sz="1100"/>
          </a:p>
        </p:txBody>
      </p:sp>
      <p:sp>
        <p:nvSpPr>
          <p:cNvPr id="17" name="TextBox 16"/>
          <p:cNvSpPr txBox="1"/>
          <p:nvPr/>
        </p:nvSpPr>
        <p:spPr>
          <a:xfrm>
            <a:off x="5559551" y="4453128"/>
            <a:ext cx="3749039" cy="731520"/>
          </a:xfrm>
          <a:prstGeom prst="rect">
            <a:avLst/>
          </a:prstGeom>
          <a:noFill/>
        </p:spPr>
        <p:txBody>
          <a:bodyPr wrap="square" anchor="ctr" lIns="73152" rIns="73152"/>
          <a:lstStyle/>
          <a:p>
            <a:pPr algn="l"/>
            <a:r>
              <a:rPr sz="1200" b="0" i="0">
                <a:solidFill>
                  <a:srgbClr val="1F2937"/>
                </a:solidFill>
                <a:latin typeface="Arial"/>
              </a:rPr>
              <a:t>Add a payment gateway and identity verification for Shakti.</a:t>
            </a:r>
            <a:endParaRPr sz="1200"/>
          </a:p>
        </p:txBody>
      </p:sp>
      <p:sp>
        <p:nvSpPr>
          <p:cNvPr id="18" name="Rounded Rectangle 17"/>
          <p:cNvSpPr/>
          <p:nvPr/>
        </p:nvSpPr>
        <p:spPr>
          <a:xfrm>
            <a:off x="457200" y="5486400"/>
            <a:ext cx="8988552" cy="731520"/>
          </a:xfrm>
          <a:prstGeom prst="roundRect">
            <a:avLst>
              <a:gd name="adj" fmla="val 10000"/>
            </a:avLst>
          </a:prstGeom>
          <a:solidFill>
            <a:srgbClr val="1F2937"/>
          </a:solidFill>
          <a:ln>
            <a:noFill/>
          </a:ln>
          <a:effectLst/>
        </p:spPr>
        <p:txBody>
          <a:bodyPr rtlCol="0" anchor="ctr" wrap="square" lIns="274320" rIns="274320"/>
          <a:lstStyle/>
          <a:p>
            <a:pPr algn="ctr"/>
            <a:r>
              <a:rPr sz="1300" b="1" i="0">
                <a:solidFill>
                  <a:srgbClr val="FFFFFF"/>
                </a:solidFill>
                <a:latin typeface="Arial"/>
              </a:rPr>
              <a:t>Nothing is dressed up as data we do not have. Every limitation above is documented in the project, not discovered by the audience.</a:t>
            </a:r>
            <a:endParaRPr sz="13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3200" b="1" i="0">
                <a:solidFill>
                  <a:srgbClr val="FF0000"/>
                </a:solidFill>
                <a:latin typeface="Arial"/>
              </a:rPr>
              <a:t>Conclusion</a:t>
            </a:r>
          </a:p>
        </p:txBody>
      </p:sp>
      <p:sp>
        <p:nvSpPr>
          <p:cNvPr id="3" name="Rounded Rectangle 2"/>
          <p:cNvSpPr/>
          <p:nvPr/>
        </p:nvSpPr>
        <p:spPr>
          <a:xfrm>
            <a:off x="457200" y="914400"/>
            <a:ext cx="8988552" cy="1033271"/>
          </a:xfrm>
          <a:prstGeom prst="roundRect">
            <a:avLst>
              <a:gd name="adj" fmla="val 6000"/>
            </a:avLst>
          </a:prstGeom>
          <a:solidFill>
            <a:srgbClr val="F3F4F6"/>
          </a:solidFill>
          <a:ln>
            <a:noFill/>
          </a:ln>
          <a:effectLst/>
        </p:spPr>
        <p:txBody>
          <a:bodyPr rtlCol="0" anchor="ctr"/>
          <a:lstStyle/>
          <a:p>
            <a:pPr algn="ctr"/>
          </a:p>
        </p:txBody>
      </p:sp>
      <p:sp>
        <p:nvSpPr>
          <p:cNvPr id="4" name="Rounded Rectangle 3"/>
          <p:cNvSpPr/>
          <p:nvPr/>
        </p:nvSpPr>
        <p:spPr>
          <a:xfrm>
            <a:off x="566928" y="1033271"/>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Problem addressed</a:t>
            </a:r>
            <a:endParaRPr sz="1250"/>
          </a:p>
        </p:txBody>
      </p:sp>
      <p:sp>
        <p:nvSpPr>
          <p:cNvPr id="5" name="TextBox 4"/>
          <p:cNvSpPr txBox="1"/>
          <p:nvPr/>
        </p:nvSpPr>
        <p:spPr>
          <a:xfrm>
            <a:off x="2606040" y="914400"/>
            <a:ext cx="6720840" cy="1033271"/>
          </a:xfrm>
          <a:prstGeom prst="rect">
            <a:avLst/>
          </a:prstGeom>
          <a:noFill/>
        </p:spPr>
        <p:txBody>
          <a:bodyPr wrap="square" anchor="ctr" lIns="73152" rIns="73152"/>
          <a:lstStyle/>
          <a:p>
            <a:pPr algn="l"/>
            <a:r>
              <a:rPr sz="1300" b="0" i="0">
                <a:solidFill>
                  <a:srgbClr val="1F2937"/>
                </a:solidFill>
                <a:latin typeface="Arial"/>
              </a:rPr>
              <a:t>Commuters cannot easily find which of 3,940 buses to take, and BMTC has no tool that links a commuter search to the fleet and crew a timetable needs.</a:t>
            </a:r>
            <a:endParaRPr sz="1300"/>
          </a:p>
        </p:txBody>
      </p:sp>
      <p:sp>
        <p:nvSpPr>
          <p:cNvPr id="6" name="Rounded Rectangle 5"/>
          <p:cNvSpPr/>
          <p:nvPr/>
        </p:nvSpPr>
        <p:spPr>
          <a:xfrm>
            <a:off x="457200" y="2029967"/>
            <a:ext cx="8988552" cy="1033271"/>
          </a:xfrm>
          <a:prstGeom prst="roundRect">
            <a:avLst>
              <a:gd name="adj" fmla="val 6000"/>
            </a:avLst>
          </a:prstGeom>
          <a:solidFill>
            <a:srgbClr val="F3F4F6"/>
          </a:solidFill>
          <a:ln>
            <a:noFill/>
          </a:ln>
          <a:effectLst/>
        </p:spPr>
        <p:txBody>
          <a:bodyPr rtlCol="0" anchor="ctr"/>
          <a:lstStyle/>
          <a:p>
            <a:pPr algn="ctr"/>
          </a:p>
        </p:txBody>
      </p:sp>
      <p:sp>
        <p:nvSpPr>
          <p:cNvPr id="7" name="Rounded Rectangle 6"/>
          <p:cNvSpPr/>
          <p:nvPr/>
        </p:nvSpPr>
        <p:spPr>
          <a:xfrm>
            <a:off x="566928" y="2148839"/>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Why it is relevant</a:t>
            </a:r>
            <a:endParaRPr sz="1250"/>
          </a:p>
        </p:txBody>
      </p:sp>
      <p:sp>
        <p:nvSpPr>
          <p:cNvPr id="8" name="TextBox 7"/>
          <p:cNvSpPr txBox="1"/>
          <p:nvPr/>
        </p:nvSpPr>
        <p:spPr>
          <a:xfrm>
            <a:off x="2606040" y="2029967"/>
            <a:ext cx="6720840" cy="1033271"/>
          </a:xfrm>
          <a:prstGeom prst="rect">
            <a:avLst/>
          </a:prstGeom>
          <a:noFill/>
        </p:spPr>
        <p:txBody>
          <a:bodyPr wrap="square" anchor="ctr" lIns="73152" rIns="73152"/>
          <a:lstStyle/>
          <a:p>
            <a:pPr algn="l"/>
            <a:r>
              <a:rPr sz="1300" b="0" i="0">
                <a:solidFill>
                  <a:srgbClr val="1F2937"/>
                </a:solidFill>
                <a:latin typeface="Arial"/>
              </a:rPr>
              <a:t>Ridership is rising after Shakti, BMTC runs 6,000+ buses, and demand-aware planning and exact reimbursement tracking are now needed.</a:t>
            </a:r>
            <a:endParaRPr sz="1300"/>
          </a:p>
        </p:txBody>
      </p:sp>
      <p:sp>
        <p:nvSpPr>
          <p:cNvPr id="9" name="Rounded Rectangle 8"/>
          <p:cNvSpPr/>
          <p:nvPr/>
        </p:nvSpPr>
        <p:spPr>
          <a:xfrm>
            <a:off x="457200" y="3145535"/>
            <a:ext cx="8988552" cy="1033271"/>
          </a:xfrm>
          <a:prstGeom prst="roundRect">
            <a:avLst>
              <a:gd name="adj" fmla="val 6000"/>
            </a:avLst>
          </a:prstGeom>
          <a:solidFill>
            <a:srgbClr val="F3F4F6"/>
          </a:solidFill>
          <a:ln>
            <a:noFill/>
          </a:ln>
          <a:effectLst/>
        </p:spPr>
        <p:txBody>
          <a:bodyPr rtlCol="0" anchor="ctr"/>
          <a:lstStyle/>
          <a:p>
            <a:pPr algn="ctr"/>
          </a:p>
        </p:txBody>
      </p:sp>
      <p:sp>
        <p:nvSpPr>
          <p:cNvPr id="10" name="Rounded Rectangle 9"/>
          <p:cNvSpPr/>
          <p:nvPr/>
        </p:nvSpPr>
        <p:spPr>
          <a:xfrm>
            <a:off x="566928" y="3264407"/>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Expected outcome</a:t>
            </a:r>
            <a:endParaRPr sz="1250"/>
          </a:p>
        </p:txBody>
      </p:sp>
      <p:sp>
        <p:nvSpPr>
          <p:cNvPr id="11" name="TextBox 10"/>
          <p:cNvSpPr txBox="1"/>
          <p:nvPr/>
        </p:nvSpPr>
        <p:spPr>
          <a:xfrm>
            <a:off x="2606040" y="3145535"/>
            <a:ext cx="6720840" cy="1033271"/>
          </a:xfrm>
          <a:prstGeom prst="rect">
            <a:avLst/>
          </a:prstGeom>
          <a:noFill/>
        </p:spPr>
        <p:txBody>
          <a:bodyPr wrap="square" anchor="ctr" lIns="73152" rIns="73152"/>
          <a:lstStyle/>
          <a:p>
            <a:pPr algn="l"/>
            <a:r>
              <a:rPr sz="1300" b="0" i="0">
                <a:solidFill>
                  <a:srgbClr val="1F2937"/>
                </a:solidFill>
                <a:latin typeface="Arial"/>
              </a:rPr>
              <a:t>One platform: journey planner, fleet and crew planner, demand-to-dispatch loop and GTFS open data, evaluated with metrics that can fail.</a:t>
            </a:r>
            <a:endParaRPr sz="1300"/>
          </a:p>
        </p:txBody>
      </p:sp>
      <p:sp>
        <p:nvSpPr>
          <p:cNvPr id="12" name="Rounded Rectangle 11"/>
          <p:cNvSpPr/>
          <p:nvPr/>
        </p:nvSpPr>
        <p:spPr>
          <a:xfrm>
            <a:off x="457200" y="4261103"/>
            <a:ext cx="8988552" cy="1033271"/>
          </a:xfrm>
          <a:prstGeom prst="roundRect">
            <a:avLst>
              <a:gd name="adj" fmla="val 6000"/>
            </a:avLst>
          </a:prstGeom>
          <a:solidFill>
            <a:srgbClr val="F3F4F6"/>
          </a:solidFill>
          <a:ln>
            <a:noFill/>
          </a:ln>
          <a:effectLst/>
        </p:spPr>
        <p:txBody>
          <a:bodyPr rtlCol="0" anchor="ctr"/>
          <a:lstStyle/>
          <a:p>
            <a:pPr algn="ctr"/>
          </a:p>
        </p:txBody>
      </p:sp>
      <p:sp>
        <p:nvSpPr>
          <p:cNvPr id="13" name="Rounded Rectangle 12"/>
          <p:cNvSpPr/>
          <p:nvPr/>
        </p:nvSpPr>
        <p:spPr>
          <a:xfrm>
            <a:off x="566928" y="4379975"/>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Why it is feasible</a:t>
            </a:r>
            <a:endParaRPr sz="1250"/>
          </a:p>
        </p:txBody>
      </p:sp>
      <p:sp>
        <p:nvSpPr>
          <p:cNvPr id="14" name="TextBox 13"/>
          <p:cNvSpPr txBox="1"/>
          <p:nvPr/>
        </p:nvSpPr>
        <p:spPr>
          <a:xfrm>
            <a:off x="2606040" y="4261103"/>
            <a:ext cx="6720840" cy="1033271"/>
          </a:xfrm>
          <a:prstGeom prst="rect">
            <a:avLst/>
          </a:prstGeom>
          <a:noFill/>
        </p:spPr>
        <p:txBody>
          <a:bodyPr wrap="square" anchor="ctr" lIns="73152" rIns="73152"/>
          <a:lstStyle/>
          <a:p>
            <a:pPr algn="l"/>
            <a:r>
              <a:rPr sz="1300" b="0" i="0">
                <a:solidFill>
                  <a:srgbClr val="1F2937"/>
                </a:solidFill>
                <a:latin typeface="Arial"/>
              </a:rPr>
              <a:t>A working prototype already runs on BMTC's published data: about 24,000 lines of backend code, 9,700 lines of frontend TypeScript, 430 automated tests in CI, and Docker, Render and Vercel deployment.</a:t>
            </a:r>
            <a:endParaRPr sz="1300"/>
          </a:p>
        </p:txBody>
      </p:sp>
      <p:sp>
        <p:nvSpPr>
          <p:cNvPr id="15" name="Rounded Rectangle 14"/>
          <p:cNvSpPr/>
          <p:nvPr/>
        </p:nvSpPr>
        <p:spPr>
          <a:xfrm>
            <a:off x="457200" y="5394959"/>
            <a:ext cx="8988552" cy="868680"/>
          </a:xfrm>
          <a:prstGeom prst="roundRect">
            <a:avLst>
              <a:gd name="adj" fmla="val 8000"/>
            </a:avLst>
          </a:prstGeom>
          <a:solidFill>
            <a:srgbClr val="E6F4EA"/>
          </a:solidFill>
          <a:ln>
            <a:noFill/>
          </a:ln>
          <a:effectLst/>
        </p:spPr>
        <p:txBody>
          <a:bodyPr rtlCol="0" anchor="ctr" wrap="square" lIns="274320" rIns="274320"/>
          <a:lstStyle/>
          <a:p>
            <a:pPr algn="ctr"/>
            <a:r>
              <a:rPr sz="1250" b="1" i="0">
                <a:solidFill>
                  <a:srgbClr val="0B8A3E"/>
                </a:solidFill>
                <a:latin typeface="Arial"/>
              </a:rPr>
              <a:t>DBARS answers both sides of the same question, which bus to take and how many buses to run, and says plainly what is measured and what is modelled.</a:t>
            </a:r>
            <a:endParaRPr sz="125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3000" b="1" i="0">
                <a:solidFill>
                  <a:srgbClr val="FF0000"/>
                </a:solidFill>
                <a:latin typeface="Arial"/>
              </a:rPr>
              <a:t>References (APA format)</a:t>
            </a:r>
          </a:p>
        </p:txBody>
      </p:sp>
      <p:sp>
        <p:nvSpPr>
          <p:cNvPr id="3" name="TextBox 2"/>
          <p:cNvSpPr txBox="1"/>
          <p:nvPr/>
        </p:nvSpPr>
        <p:spPr>
          <a:xfrm>
            <a:off x="457200" y="914400"/>
            <a:ext cx="8988552" cy="5349240"/>
          </a:xfrm>
          <a:prstGeom prst="rect">
            <a:avLst/>
          </a:prstGeom>
          <a:noFill/>
        </p:spPr>
        <p:txBody>
          <a:bodyPr wrap="square" anchor="t" lIns="73152" rIns="73152"/>
          <a:lstStyle/>
          <a:p>
            <a:pPr algn="l">
              <a:spcAft>
                <a:spcPts val="600"/>
              </a:spcAft>
            </a:pPr>
            <a:r>
              <a:rPr sz="1050" b="0" i="0">
                <a:solidFill>
                  <a:srgbClr val="1F2937"/>
                </a:solidFill>
                <a:latin typeface="Arial"/>
              </a:rPr>
              <a:t>[1] Baum, M., Buchhold, V., Sauer, J., Wagner, D., &amp; Zündorf, T. (2023). ULTRA: Unlimited transfers for efficient multimodal journey planning. Transportation Science, 57(6), 1536-1559. https://doi.org/10.1287/trsc.2022.0198</a:t>
            </a:r>
            <a:endParaRPr sz="1050"/>
          </a:p>
          <a:p>
            <a:pPr algn="l">
              <a:spcAft>
                <a:spcPts val="600"/>
              </a:spcAft>
            </a:pPr>
            <a:r>
              <a:rPr sz="1050" b="0" i="0">
                <a:solidFill>
                  <a:srgbClr val="1F2937"/>
                </a:solidFill>
                <a:latin typeface="Arial"/>
              </a:rPr>
              <a:t>[2] Liu, D., Guo, J., Gu, Y., King, M., Han, L. D., &amp; Brakewood, C. (2025). Analyzing transit systems using General Transit Feed Specification (GTFS) by generating spatiotemporal transit networks. Information, 16(1), 24.</a:t>
            </a:r>
            <a:endParaRPr sz="1050"/>
          </a:p>
          <a:p>
            <a:pPr algn="l">
              <a:spcAft>
                <a:spcPts val="600"/>
              </a:spcAft>
            </a:pPr>
            <a:r>
              <a:rPr sz="1050" b="0" i="0">
                <a:solidFill>
                  <a:srgbClr val="1F2937"/>
                </a:solidFill>
                <a:latin typeface="Arial"/>
              </a:rPr>
              <a:t>[3] Prommaharaj, P., Phithakkitnukoon, S., Demissie, M. G., Kattan, L., &amp; Ratti, C. (2020). Visualizing public transit system operation with GTFS data: A case study of Calgary, Canada. Heliyon, 6(4), e03729.</a:t>
            </a:r>
            <a:endParaRPr sz="1050"/>
          </a:p>
          <a:p>
            <a:pPr algn="l">
              <a:spcAft>
                <a:spcPts val="600"/>
              </a:spcAft>
            </a:pPr>
            <a:r>
              <a:rPr sz="1050" b="0" i="0">
                <a:solidFill>
                  <a:srgbClr val="1F2937"/>
                </a:solidFill>
                <a:latin typeface="Arial"/>
              </a:rPr>
              <a:t>[4] Shang, H., Liu, Y., Wu, W., &amp; Zhao, F. (2023). Multi-depot vehicle scheduling with multiple vehicle types on overlapped bus routes. Expert Systems with Applications, 228, 120352.</a:t>
            </a:r>
            <a:endParaRPr sz="1050"/>
          </a:p>
          <a:p>
            <a:pPr algn="l">
              <a:spcAft>
                <a:spcPts val="600"/>
              </a:spcAft>
            </a:pPr>
            <a:r>
              <a:rPr sz="1050" b="0" i="0">
                <a:solidFill>
                  <a:srgbClr val="1F2937"/>
                </a:solidFill>
                <a:latin typeface="Arial"/>
              </a:rPr>
              <a:t>[5] Gkiotsalitis, K., Iliopoulou, C., &amp; Kepaptsoglou, K. (2023). An exact approach for the multi-depot electric bus scheduling problem with time windows. European Journal of Operational Research, 306(1), 189-206.</a:t>
            </a:r>
            <a:endParaRPr sz="1050"/>
          </a:p>
          <a:p>
            <a:pPr algn="l">
              <a:spcAft>
                <a:spcPts val="600"/>
              </a:spcAft>
            </a:pPr>
            <a:r>
              <a:rPr sz="1050" b="0" i="0">
                <a:solidFill>
                  <a:srgbClr val="1F2937"/>
                </a:solidFill>
                <a:latin typeface="Arial"/>
              </a:rPr>
              <a:t>[6] Pardo-Peña, D., Álvarez-Martínez, D., &amp; Escobar, J. W. (2024). A GRASP algorithm for the bus crew scheduling problem. International Journal of Industrial Engineering Computations, 15, 443-456.</a:t>
            </a:r>
            <a:endParaRPr sz="1050"/>
          </a:p>
          <a:p>
            <a:pPr algn="l">
              <a:spcAft>
                <a:spcPts val="600"/>
              </a:spcAft>
            </a:pPr>
            <a:r>
              <a:rPr sz="1050" b="0" i="0">
                <a:solidFill>
                  <a:srgbClr val="1F2937"/>
                </a:solidFill>
                <a:latin typeface="Arial"/>
              </a:rPr>
              <a:t>[7] Árgilán, V. S., &amp; Békési, J. (2025). Optimizing bus driver scheduling: A set covering approach for reducing transportation costs. Applied System Innovation, 8(5), 122.</a:t>
            </a:r>
            <a:endParaRPr sz="1050"/>
          </a:p>
          <a:p>
            <a:pPr algn="l">
              <a:spcAft>
                <a:spcPts val="600"/>
              </a:spcAft>
            </a:pPr>
            <a:r>
              <a:rPr sz="1050" b="0" i="0">
                <a:solidFill>
                  <a:srgbClr val="1F2937"/>
                </a:solidFill>
                <a:latin typeface="Arial"/>
              </a:rPr>
              <a:t>[8] Deepa, L., Pinjari, A. R., Nirmale, S. K., Srinivasan, K. K., &amp; Rambha, T. (2022). A direct demand model for bus transit ridership in Bengaluru, India. Transportation Research Part A: Policy and Practice, 163, 126-147.</a:t>
            </a:r>
            <a:endParaRPr sz="1050"/>
          </a:p>
          <a:p>
            <a:pPr algn="l">
              <a:spcAft>
                <a:spcPts val="600"/>
              </a:spcAft>
            </a:pPr>
            <a:r>
              <a:rPr sz="1050" b="0" i="0">
                <a:solidFill>
                  <a:srgbClr val="1F2937"/>
                </a:solidFill>
                <a:latin typeface="Arial"/>
              </a:rPr>
              <a:t>[9] Deepa, L., Pinjari, A. R., Nirmale, S. K., Biswas, M., &amp; Srinivasan, K. K. (2023). The adverse impact of headway variability on bus transit ridership: Evidence from Bengaluru, India. Transport Policy, 141, 343-356.</a:t>
            </a:r>
            <a:endParaRPr sz="1050"/>
          </a:p>
          <a:p>
            <a:pPr algn="l">
              <a:spcAft>
                <a:spcPts val="600"/>
              </a:spcAft>
            </a:pPr>
            <a:r>
              <a:rPr sz="1050" b="0" i="0">
                <a:solidFill>
                  <a:srgbClr val="1F2937"/>
                </a:solidFill>
                <a:latin typeface="Arial"/>
              </a:rPr>
              <a:t>[10] Singh, N., &amp; Kumar, K. (2022). A review of bus arrival time prediction using artificial intelligence. WIREs Data Mining and Knowledge Discovery, 12(4), e1457.</a:t>
            </a:r>
            <a:endParaRPr sz="1050"/>
          </a:p>
          <a:p>
            <a:pPr algn="l">
              <a:spcAft>
                <a:spcPts val="600"/>
              </a:spcAft>
            </a:pPr>
            <a:r>
              <a:rPr sz="1050" b="0" i="0">
                <a:solidFill>
                  <a:srgbClr val="1F2937"/>
                </a:solidFill>
                <a:latin typeface="Arial"/>
              </a:rPr>
              <a:t>[11] Ji, Z., Lee, N., Frieske, R., Yu, T., Su, D., Xu, Y., Ishii, E., Bang, Y. J., Madotto, A., &amp; Fung, P. (2023). Survey of hallucination in natural language generation. ACM Computing Surveys, 55(12), 1-38.</a:t>
            </a:r>
            <a:endParaRPr sz="1050"/>
          </a:p>
          <a:p>
            <a:pPr algn="l">
              <a:spcAft>
                <a:spcPts val="600"/>
              </a:spcAft>
            </a:pPr>
            <a:r>
              <a:rPr sz="1050" b="0" i="0">
                <a:solidFill>
                  <a:srgbClr val="1F2937"/>
                </a:solidFill>
                <a:latin typeface="Arial"/>
              </a:rPr>
              <a:t>[12] Halder, T., &amp; Jayadev, A. (2025). Gender, welfare, and mobility: Impact of Shakti scheme on BMTC transport transformation [Report]. Azim Premji University.</a:t>
            </a:r>
            <a:endParaRPr sz="1050"/>
          </a:p>
          <a:p>
            <a:pPr algn="l">
              <a:spcAft>
                <a:spcPts val="600"/>
              </a:spcAft>
            </a:pPr>
            <a:r>
              <a:rPr sz="1050" b="0" i="0">
                <a:solidFill>
                  <a:srgbClr val="1F2937"/>
                </a:solidFill>
                <a:latin typeface="Arial"/>
              </a:rPr>
              <a:t>[13] United Nations. (n.d.). The 17 Sustainable Development Goals. https://sdgs.un.org/goals</a:t>
            </a:r>
            <a:endParaRPr sz="105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