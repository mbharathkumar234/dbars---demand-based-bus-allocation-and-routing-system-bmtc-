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269" r:id="rId22"/>
  </p:sldIdLst>
  <p:sldSz cx="9906000" cy="6858000" type="A4"/>
  <p:notesSz cx="6761163" cy="99425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3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9B3D1C26-BEBA-40EB-B880-04AE644533D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F6D2E3C-A018-442B-BF50-C8C78C53ADB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229" y="4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32"/>
        <p:guide pos="213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29761" y="0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 (30 seconds). Good morning. We are proposing DBARS, the Demand Based Bus Allocation and Routing System, for BMTC. In one line: one published timetable, three products. A journey planner for riders, a fleet and crew planner for depot managers, and open timetable data for other apps.</a:t>
            </a:r>
          </a:p>
          <a:p/>
          <a:p>
            <a:r>
              <a:t>Before presenting: fill in the guide's designation (still highlighted).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CLOSE (15 seconds). Thank the panel and invite questions. Likely questions and honest answers:</a:t>
            </a:r>
          </a:p>
          <a:p>
            <a:r>
              <a:t>1) Where is the AI? The routing engine has none: classical retrieval and graph search. The planned assistant is read-only and cites sources.</a:t>
            </a:r>
          </a:p>
          <a:p>
            <a:r>
              <a:t>2) What is new versus Namma BMTC 2.0, Moovit or Google Maps? They serve riders; DBARS adds the operator side (demand to dispatch, fleet and crew, waybills, reimbursement) and open data, and complements them.</a:t>
            </a:r>
          </a:p>
          <a:p>
            <a:r>
              <a:t>3) How will accuracy be judged? Acceptance targets on slide 15, with a metric that can fail.</a:t>
            </a:r>
          </a:p>
          <a:p>
            <a:r>
              <a:t>4) Will BMTC give data? The pilot asks for one depot's rosters and a vehicle feed; without them the plan still runs on the published timetable.</a:t>
            </a:r>
          </a:p>
          <a:p>
            <a:r>
              <a:t>5) How much have you done already? Answer truthfully. This deck is deliberately about the idea and the plan; do not claim that nothing exists if you have working code, and do not present it as a finished result either.</a:t>
            </a:r>
          </a:p>
        </p:txBody>
      </p:sp>
      <p:sp>
        <p:nvSpPr>
          <p:cNvPr id="162" name="Google Shape;1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OUTLINE (15 seconds). We follow the university's pre-project format. One addition: the problem statement slide also shows what existing apps already offer and what DBARS adds.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INTRODUCTION (1 minute). Domain: BMTC, Bengaluru's city bus operator, with a fleet of over 7,000 buses. Why it matters: buses are the city's mass transport. The issue: rider apps and operator planning are disconnected. Why now: Shakti changed ridership, and tickets and tracking are going digital.</a:t>
            </a:r>
          </a:p>
          <a:p/>
          <a:p>
            <a:r>
              <a:t>The numbers 6,737 route-directions, 4,883 stops and 44 depots describe the published BMTC timetable we will work from. The fleet figure is from Sustainable Bus (September 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LITERATURE SURVEY (1 minute 30 seconds). Ten peer-reviewed journal papers, 2020 to 2025, in three themes: journey planning and open data [1-3], bus and crew scheduling [4-7], and Bengaluru demand studies [8-10].</a:t>
            </a:r>
          </a:p>
          <a:p/>
          <a:p>
            <a:r>
              <a:t>The key contrast: [1] serves only the rider; [4] to [7] serve only the operator, and on small cases (six lines, 30 trips, up to 595 shifts). [8] and [9] use BMTC's own data and show that frequency and regular service drive ridership, which supports allocating buses by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RESEARCH GAPS (1 minute). A gap is what existing work has not addressed. G1: the two sides are studied separately [1] versus [4-7]. G2: scheduling papers use small cases [4-7]. G3: GTFS studies use static feeds [2, 3]. G4: BMTC demand studies are offline models [8, 9].</a:t>
            </a:r>
          </a:p>
          <a:p/>
          <a:p>
            <a:r>
              <a:t>If challenged, say 'in the papers we surveyed', not 'in all research'.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STATEMENT (1 minute). Read the statement. Then be fair to the competition: Namma BMTC 2.0 (launched September 2026), Moovit and Google Maps already do journey planning, tracking and tickets, and DBARS will match those. What makes DBARS different is the right-hand box: operator-side features that the public descriptions of those apps do not mention.</a:t>
            </a:r>
          </a:p>
          <a:p/>
          <a:p>
            <a:r>
              <a:t>Wording: say 'not described in their public features', never 'they do not have it'. A static BMTC timetable feed is already listed publicly; DBARS extends it with alerts and clear labels. DBARS complements Namma BMTC 2.0; it does not replace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OBJECTIVES (1 minute). Four objectives, each starting with an infinitive verb.</a:t>
            </a:r>
          </a:p>
          <a:p/>
          <a:p>
            <a:r>
              <a:t>How each will be judged: 1) the best bus is ranked first in most test cases, and results come back fast; 2) the fleet number is compared with a proven minimum, and every result states its assumptions; 3) every recommendation maps to a real bus route, and free Shakti rides keep their full fare value; 4) the timetable exports in the open GTFS format, and accuracy is judged by a metric that can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METHODOLOGY (2 minutes). Read each row as objective, how, why.</a:t>
            </a:r>
          </a:p>
          <a:p/>
          <a:p>
            <a:r>
              <a:t>1) Routes are indexed in stop order, so the system quickly finds buses going from A to B in the right direction. Transfers need a short walk, because Bengaluru reuses stop names in different areas.</a:t>
            </a:r>
          </a:p>
          <a:p>
            <a:r>
              <a:t>2) Trips are chained into bus schedules. The most trips running at the same moment is a hard floor on the fleet, so we can show how close to minimal we are.</a:t>
            </a:r>
          </a:p>
          <a:p>
            <a:r>
              <a:t>3) Votes are checked for abuse before reaching a depot manager. Conductor sales work offline and are never counted twice.</a:t>
            </a:r>
          </a:p>
          <a:p>
            <a:r>
              <a:t>4) GTFS is the global open standard for timetables.</a:t>
            </a:r>
          </a:p>
          <a:p/>
          <a:p>
            <a:r>
              <a:t>If asked 'where is the AI?': the routing is classical search and ranking, compared against simple baselines. That is a deliberate choice, because the route data has no labels to train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SDGs (45 seconds). Main goal: SDG 11, target 11.2, accessible and affordable public transport. Supporting: SDG 9 (target 9.1, reliable infrastructure), SDG 5 (target 5.b, technology for women's empowerment, through Shakti-aware ticketing) and SDG 16 (target 16.6, transparent institutions).</a:t>
            </a:r>
          </a:p>
          <a:p/>
          <a:p>
            <a:r>
              <a:t>Be modest on SDG 5: DBARS supports and counts the free-travel entitlement; it does not verify eligibility.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OUTCOMES (1 minute). Functional: what the system will do. Performance: how we will judge it. Practical impact: who benefits. Extension: what comes next, including a proposed pilot with BMTC: compare our fleet and crew plan with one depot's real rosters, connect a live bus-location feed, and trial the conductor waybill on a few routes.</a:t>
            </a:r>
          </a:p>
          <a:p/>
          <a:p>
            <a:r>
              <a:t>Do not quote rupee savings; we have no measured figure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GANTT CHART (30 seconds). Nine activities over 16 weeks. The core (journey planner, then fleet and crew planner) comes first; if time runs short, extras slip, not the core. Review points at weeks 4, 8, 12 and 16 let the guide track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CONCLUSION (45 seconds). Answer the template's four questions: problem, relevance, outcome, feasibility. Close with the ask: 'We request approval to proceed with DBARS as our final-year project.'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REFERENCES. [1]-[10] are the peer-reviewed journal papers in the literature survey (2020-2025). [11] is the Shakti ridership report. [12] is the UN SDG site. [13]-[17] are the web sources behind the fleet size and the comparison with existing apps, accessed 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519336" y="6308727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8" name="Google Shape;28;p18"/>
          <p:cNvSpPr/>
          <p:nvPr/>
        </p:nvSpPr>
        <p:spPr>
          <a:xfrm>
            <a:off x="200472" y="6721476"/>
            <a:ext cx="294828" cy="91900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2480" y="6705906"/>
            <a:ext cx="2416616" cy="152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2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dt" idx="10"/>
          </p:nvPr>
        </p:nvSpPr>
        <p:spPr>
          <a:xfrm>
            <a:off x="1280592" y="6356351"/>
            <a:ext cx="2657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/>
          <p:nvPr/>
        </p:nvSpPr>
        <p:spPr>
          <a:xfrm>
            <a:off x="0" y="0"/>
            <a:ext cx="9906000" cy="152400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3"/>
          <p:cNvSpPr/>
          <p:nvPr/>
        </p:nvSpPr>
        <p:spPr>
          <a:xfrm>
            <a:off x="0" y="6705600"/>
            <a:ext cx="99060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3"/>
          <p:cNvSpPr txBox="1"/>
          <p:nvPr/>
        </p:nvSpPr>
        <p:spPr>
          <a:xfrm>
            <a:off x="0" y="6654842"/>
            <a:ext cx="274786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©M. S. Ramaiah University of Applied Sciences</a:t>
            </a: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3"/>
          <p:cNvSpPr/>
          <p:nvPr/>
        </p:nvSpPr>
        <p:spPr>
          <a:xfrm>
            <a:off x="9525000" y="6324600"/>
            <a:ext cx="381000" cy="533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3"/>
          <p:cNvSpPr/>
          <p:nvPr/>
        </p:nvSpPr>
        <p:spPr>
          <a:xfrm>
            <a:off x="9505750" y="6324600"/>
            <a:ext cx="4571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t>‹#›</a:t>
            </a:fld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4"/>
          <p:cNvSpPr txBox="1"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body"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body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25"/>
          <p:cNvSpPr>
            <a:spLocks noGrp="1"/>
          </p:cNvSpPr>
          <p:nvPr>
            <p:ph type="pic" idx="2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 rot="5400000">
            <a:off x="2690018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7"/>
          <p:cNvSpPr txBox="1">
            <a:spLocks noGrp="1"/>
          </p:cNvSpPr>
          <p:nvPr>
            <p:ph type="title"/>
          </p:nvPr>
        </p:nvSpPr>
        <p:spPr>
          <a:xfrm rot="5400000">
            <a:off x="5370512" y="2085976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body" idx="1"/>
          </p:nvPr>
        </p:nvSpPr>
        <p:spPr>
          <a:xfrm rot="5400000">
            <a:off x="830262" y="-60323"/>
            <a:ext cx="5851525" cy="652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0" y="0"/>
            <a:ext cx="9906000" cy="152400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6"/>
          <p:cNvSpPr/>
          <p:nvPr/>
        </p:nvSpPr>
        <p:spPr>
          <a:xfrm>
            <a:off x="0" y="6705600"/>
            <a:ext cx="99060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6"/>
          <p:cNvSpPr txBox="1"/>
          <p:nvPr/>
        </p:nvSpPr>
        <p:spPr>
          <a:xfrm>
            <a:off x="6633" y="6654842"/>
            <a:ext cx="274786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©M. S. Ramaiah University of Applied Sciences</a:t>
            </a: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/>
          <p:nvPr/>
        </p:nvSpPr>
        <p:spPr>
          <a:xfrm>
            <a:off x="9525000" y="6324600"/>
            <a:ext cx="381000" cy="533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6"/>
          <p:cNvSpPr/>
          <p:nvPr/>
        </p:nvSpPr>
        <p:spPr>
          <a:xfrm>
            <a:off x="9505750" y="6324600"/>
            <a:ext cx="4571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t>‹#›</a:t>
            </a:fld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16" descr="C:\Users\Paramesh\Desktop\Logo\Logo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8464" y="6337321"/>
            <a:ext cx="262890" cy="3429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 txBox="1">
            <a:spLocks noGrp="1"/>
          </p:cNvSpPr>
          <p:nvPr>
            <p:ph type="ctrTitle"/>
          </p:nvPr>
        </p:nvSpPr>
        <p:spPr>
          <a:xfrm>
            <a:off x="914400" y="1742502"/>
            <a:ext cx="8403771" cy="830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Faculty of Engineering and Technology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919404" y="4491395"/>
            <a:ext cx="4610394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Tx/>
            </a:pPr>
            <a:r>
              <a:rPr lang="en-US" sz="2000" b="1" kern="1200" dirty="0">
                <a:solidFill>
                  <a:schemeClr val="tx1"/>
                </a:solidFill>
                <a:latin typeface="Bookman Old Style" pitchFamily="18" charset="0"/>
                <a:ea typeface="+mn-ea"/>
                <a:cs typeface="+mn-cs"/>
              </a:rPr>
              <a:t>Guide</a:t>
            </a:r>
          </a:p>
          <a:p>
            <a:pPr>
              <a:spcBef>
                <a:spcPts val="600"/>
              </a:spcBef>
              <a:buClrTx/>
              <a:buFontTx/>
              <a:buNone/>
            </a:pPr>
            <a:r>
              <a:rPr lang="en-US" sz="2000" b="1" kern="1200" dirty="0">
                <a:solidFill>
                  <a:schemeClr val="tx1"/>
                </a:solidFill>
                <a:latin typeface="Bookman Old Style" pitchFamily="18" charset="0"/>
                <a:ea typeface="+mn-ea"/>
                <a:cs typeface="+mn-cs"/>
              </a:rPr>
              <a:t>Ms. Sheethal Raj T.G.   </a:t>
            </a:r>
          </a:p>
          <a:p>
            <a:pPr>
              <a:spcBef>
                <a:spcPts val="600"/>
              </a:spcBef>
              <a:buClrTx/>
              <a:buFontTx/>
              <a:buNone/>
            </a:pPr>
            <a:r>
              <a:rPr lang="en-US" sz="1600" kern="1200" dirty="0">
                <a:solidFill>
                  <a:schemeClr val="tx1"/>
                </a:solidFill>
                <a:highlight>
                  <a:srgbClr val="FFFF00"/>
                </a:highlight>
                <a:latin typeface="Bookman Old Style" pitchFamily="18" charset="0"/>
                <a:ea typeface="+mn-ea"/>
                <a:cs typeface="+mn-cs"/>
              </a:rPr>
              <a:t>Professor/Assoc. Professor/Asst. Professor</a:t>
            </a:r>
          </a:p>
          <a:p>
            <a:pPr>
              <a:spcBef>
                <a:spcPts val="600"/>
              </a:spcBef>
              <a:buClrTx/>
              <a:buFontTx/>
              <a:buNone/>
            </a:pPr>
            <a:r>
              <a:rPr lang="en-US" sz="1600" kern="1200" dirty="0">
                <a:solidFill>
                  <a:schemeClr val="tx1"/>
                </a:solidFill>
                <a:latin typeface="Bookman Old Style" pitchFamily="18" charset="0"/>
                <a:ea typeface="+mn-ea"/>
                <a:cs typeface="+mn-cs"/>
              </a:rPr>
              <a:t>Dept. of CSE, MSRUAS, Bengaluru</a:t>
            </a:r>
          </a:p>
          <a:p>
            <a:pPr>
              <a:spcBef>
                <a:spcPts val="600"/>
              </a:spcBef>
              <a:buClrTx/>
              <a:buFontTx/>
              <a:buNone/>
            </a:pPr>
            <a:endParaRPr lang="en-US" sz="2000" kern="1200" dirty="0">
              <a:solidFill>
                <a:schemeClr val="tx1"/>
              </a:solidFill>
              <a:latin typeface="Bookman Old Style" pitchFamily="18" charset="0"/>
              <a:ea typeface="+mn-ea"/>
              <a:cs typeface="+mn-cs"/>
            </a:endParaRPr>
          </a:p>
        </p:txBody>
      </p:sp>
      <p:sp>
        <p:nvSpPr>
          <p:cNvPr id="7" name="Google Shape;93;p1"/>
          <p:cNvSpPr txBox="1">
            <a:spLocks/>
          </p:cNvSpPr>
          <p:nvPr/>
        </p:nvSpPr>
        <p:spPr>
          <a:xfrm>
            <a:off x="548640" y="2697480"/>
            <a:ext cx="8805672" cy="1600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ctr" defTabSz="7429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ts val="3200"/>
              <a:buFontTx/>
            </a:pPr>
            <a:r>
              <a:rPr lang="en-US" sz="2400" b="1" dirty="0"/>
              <a:t>Pre-Project Presentation</a:t>
            </a:r>
            <a:br>
              <a:rPr lang="en-US" sz="2400" b="1" dirty="0"/>
            </a:br>
            <a:r>
              <a:rPr lang="en-US" sz="2200" b="1" dirty="0">
                <a:solidFill>
                  <a:srgbClr val="FF0000"/>
                </a:solidFill>
              </a:rPr>
              <a:t>DBARS: Demand Based Bus Allocation &amp; Routing System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ts val="3200"/>
              <a:buFontTx/>
            </a:pPr>
            <a:r>
              <a:rPr lang="en-US" sz="1400" b="0" i="1" dirty="0">
                <a:solidFill>
                  <a:srgbClr val="4B5563"/>
                </a:solidFill>
              </a:rPr>
              <a:t>One BMTC timetable, three products: find the bus  |  plan the fleet  |  open the data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ts val="3200"/>
              <a:buFontTx/>
            </a:pPr>
            <a:r>
              <a:rPr lang="en-US" sz="1600" b="1" dirty="0">
                <a:solidFill>
                  <a:srgbClr val="FF0000"/>
                </a:solidFill>
              </a:rPr>
              <a:t>Project Batch No.: 26PB54</a:t>
            </a:r>
            <a:br>
              <a:rPr lang="en-US" sz="2400" b="1" dirty="0">
                <a:solidFill>
                  <a:srgbClr val="FF0000"/>
                </a:solidFill>
              </a:rPr>
            </a:b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9AE390-1EBF-06F6-7AA0-D50F7D61E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380" y="406143"/>
            <a:ext cx="3310210" cy="1155033"/>
          </a:xfrm>
          <a:prstGeom prst="rect">
            <a:avLst/>
          </a:prstGeom>
        </p:spPr>
      </p:pic>
      <p:sp>
        <p:nvSpPr>
          <p:cNvPr id="11" name="object 4">
            <a:extLst>
              <a:ext uri="{FF2B5EF4-FFF2-40B4-BE49-F238E27FC236}">
                <a16:creationId xmlns:a16="http://schemas.microsoft.com/office/drawing/2014/main" id="{4D30523C-8E0C-4AE4-DCF6-713DBB88ABD7}"/>
              </a:ext>
            </a:extLst>
          </p:cNvPr>
          <p:cNvSpPr txBox="1"/>
          <p:nvPr/>
        </p:nvSpPr>
        <p:spPr>
          <a:xfrm>
            <a:off x="670241" y="3801250"/>
            <a:ext cx="1624013" cy="259045"/>
          </a:xfrm>
          <a:prstGeom prst="rect">
            <a:avLst/>
          </a:prstGeom>
          <a:noFill/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80" dirty="0">
                <a:latin typeface="Cambria"/>
                <a:cs typeface="Cambria"/>
              </a:rPr>
              <a:t>Team</a:t>
            </a:r>
            <a:r>
              <a:rPr sz="1600" b="1" spc="114" dirty="0">
                <a:latin typeface="Cambria"/>
                <a:cs typeface="Cambria"/>
              </a:rPr>
              <a:t> </a:t>
            </a:r>
            <a:r>
              <a:rPr sz="1600" b="1" spc="55" dirty="0">
                <a:latin typeface="Cambria"/>
                <a:cs typeface="Cambria"/>
              </a:rPr>
              <a:t>Details</a:t>
            </a:r>
            <a:endParaRPr sz="1600" dirty="0">
              <a:latin typeface="Cambria"/>
              <a:cs typeface="Cambria"/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790514F0-81D8-ABEA-991A-199E635B958E}"/>
              </a:ext>
            </a:extLst>
          </p:cNvPr>
          <p:cNvSpPr txBox="1"/>
          <p:nvPr/>
        </p:nvSpPr>
        <p:spPr>
          <a:xfrm>
            <a:off x="640080" y="5089792"/>
            <a:ext cx="1654175" cy="1809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425"/>
              </a:lnSpc>
            </a:pPr>
            <a:r>
              <a:rPr sz="1200" b="1" dirty="0">
                <a:latin typeface="Palatino Linotype"/>
                <a:cs typeface="Palatino Linotype"/>
              </a:rPr>
              <a:t>Reg.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No.</a:t>
            </a:r>
            <a:r>
              <a:rPr sz="1200" b="1" spc="-35" dirty="0">
                <a:latin typeface="Palatino Linotype"/>
                <a:cs typeface="Palatino Linotype"/>
              </a:rPr>
              <a:t> </a:t>
            </a:r>
            <a:r>
              <a:rPr sz="1200" b="1" spc="-10" dirty="0">
                <a:latin typeface="Palatino Linotype"/>
                <a:cs typeface="Palatino Linotype"/>
              </a:rPr>
              <a:t>23ETCS002077</a:t>
            </a:r>
            <a:endParaRPr sz="1200" dirty="0">
              <a:latin typeface="Palatino Linotype"/>
              <a:cs typeface="Palatino Linotype"/>
            </a:endParaRP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DB8A733E-0EE7-59DF-A6E7-2106856B4DDF}"/>
              </a:ext>
            </a:extLst>
          </p:cNvPr>
          <p:cNvSpPr txBox="1"/>
          <p:nvPr/>
        </p:nvSpPr>
        <p:spPr>
          <a:xfrm>
            <a:off x="640080" y="5388972"/>
            <a:ext cx="2184400" cy="1809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425"/>
              </a:lnSpc>
            </a:pPr>
            <a:r>
              <a:rPr sz="1200" b="1" dirty="0">
                <a:latin typeface="Palatino Linotype"/>
                <a:cs typeface="Palatino Linotype"/>
              </a:rPr>
              <a:t>Student</a:t>
            </a:r>
            <a:r>
              <a:rPr sz="1200" b="1" spc="-3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Name3: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Pavan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b="1" spc="-10" dirty="0">
                <a:latin typeface="Palatino Linotype"/>
                <a:cs typeface="Palatino Linotype"/>
              </a:rPr>
              <a:t>Panchal</a:t>
            </a:r>
            <a:endParaRPr sz="1200" dirty="0">
              <a:latin typeface="Palatino Linotype"/>
              <a:cs typeface="Palatino Linotype"/>
            </a:endParaRPr>
          </a:p>
        </p:txBody>
      </p:sp>
      <p:sp>
        <p:nvSpPr>
          <p:cNvPr id="19" name="object 7">
            <a:extLst>
              <a:ext uri="{FF2B5EF4-FFF2-40B4-BE49-F238E27FC236}">
                <a16:creationId xmlns:a16="http://schemas.microsoft.com/office/drawing/2014/main" id="{3246CEF6-8824-3C4E-38C1-CDE718059575}"/>
              </a:ext>
            </a:extLst>
          </p:cNvPr>
          <p:cNvSpPr txBox="1"/>
          <p:nvPr/>
        </p:nvSpPr>
        <p:spPr>
          <a:xfrm>
            <a:off x="640080" y="5681802"/>
            <a:ext cx="1654175" cy="1809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425"/>
              </a:lnSpc>
            </a:pPr>
            <a:r>
              <a:rPr sz="1200" b="1" dirty="0">
                <a:latin typeface="Palatino Linotype"/>
                <a:cs typeface="Palatino Linotype"/>
              </a:rPr>
              <a:t>Reg.</a:t>
            </a:r>
            <a:r>
              <a:rPr sz="1200" b="1" spc="-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No.</a:t>
            </a:r>
            <a:r>
              <a:rPr sz="1200" b="1" spc="-30" dirty="0">
                <a:latin typeface="Palatino Linotype"/>
                <a:cs typeface="Palatino Linotype"/>
              </a:rPr>
              <a:t> </a:t>
            </a:r>
            <a:r>
              <a:rPr sz="1200" b="1" spc="-10" dirty="0">
                <a:latin typeface="Palatino Linotype"/>
                <a:cs typeface="Palatino Linotype"/>
              </a:rPr>
              <a:t>23ETCS002086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A456E0D1-BF61-7AF1-A211-2CCDF21A737D}"/>
              </a:ext>
            </a:extLst>
          </p:cNvPr>
          <p:cNvSpPr txBox="1"/>
          <p:nvPr/>
        </p:nvSpPr>
        <p:spPr>
          <a:xfrm>
            <a:off x="640080" y="5938977"/>
            <a:ext cx="2184400" cy="1795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425"/>
              </a:lnSpc>
            </a:pPr>
            <a:r>
              <a:rPr sz="1200" b="1" dirty="0">
                <a:latin typeface="Palatino Linotype"/>
                <a:cs typeface="Palatino Linotype"/>
              </a:rPr>
              <a:t>Student</a:t>
            </a:r>
            <a:r>
              <a:rPr sz="1200" b="1" spc="-4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Name4:</a:t>
            </a:r>
            <a:r>
              <a:rPr sz="1200" b="1" spc="-4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Vishrut</a:t>
            </a:r>
            <a:r>
              <a:rPr lang="en-IN" sz="1200" b="1" dirty="0">
                <a:latin typeface="Palatino Linotype"/>
                <a:cs typeface="Palatino Linotype"/>
              </a:rPr>
              <a:t>h</a:t>
            </a:r>
            <a:r>
              <a:rPr sz="1200" b="1" dirty="0">
                <a:latin typeface="Palatino Linotype"/>
                <a:cs typeface="Palatino Linotype"/>
              </a:rPr>
              <a:t>a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spc="-50" dirty="0">
                <a:latin typeface="Palatino Linotype"/>
                <a:cs typeface="Palatino Linotype"/>
              </a:rPr>
              <a:t>T</a:t>
            </a:r>
            <a:endParaRPr sz="1200" dirty="0">
              <a:latin typeface="Palatino Linotype"/>
              <a:cs typeface="Palatino Linotype"/>
            </a:endParaRPr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2D990855-38F0-9227-C958-45EC7C89B873}"/>
              </a:ext>
            </a:extLst>
          </p:cNvPr>
          <p:cNvSpPr/>
          <p:nvPr/>
        </p:nvSpPr>
        <p:spPr>
          <a:xfrm>
            <a:off x="640080" y="6196151"/>
            <a:ext cx="1679575" cy="180975"/>
          </a:xfrm>
          <a:custGeom>
            <a:avLst/>
            <a:gdLst/>
            <a:ahLst/>
            <a:cxnLst/>
            <a:rect l="l" t="t" r="r" b="b"/>
            <a:pathLst>
              <a:path w="1679575" h="180975">
                <a:moveTo>
                  <a:pt x="1679498" y="0"/>
                </a:moveTo>
                <a:lnTo>
                  <a:pt x="1679498" y="0"/>
                </a:lnTo>
                <a:lnTo>
                  <a:pt x="0" y="0"/>
                </a:lnTo>
                <a:lnTo>
                  <a:pt x="0" y="180975"/>
                </a:lnTo>
                <a:lnTo>
                  <a:pt x="1679498" y="180975"/>
                </a:lnTo>
                <a:lnTo>
                  <a:pt x="1679498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6B1EE57B-F91E-2EDE-D33C-F8509D9C805B}"/>
              </a:ext>
            </a:extLst>
          </p:cNvPr>
          <p:cNvSpPr txBox="1"/>
          <p:nvPr/>
        </p:nvSpPr>
        <p:spPr>
          <a:xfrm>
            <a:off x="666115" y="6182359"/>
            <a:ext cx="1669414" cy="208915"/>
          </a:xfrm>
          <a:prstGeom prst="rect">
            <a:avLst/>
          </a:prstGeom>
          <a:noFill/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Palatino Linotype"/>
                <a:cs typeface="Palatino Linotype"/>
              </a:rPr>
              <a:t>Reg.</a:t>
            </a:r>
            <a:r>
              <a:rPr sz="1200" b="1" spc="-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No.</a:t>
            </a:r>
            <a:r>
              <a:rPr sz="1200" b="1" spc="-30" dirty="0">
                <a:latin typeface="Palatino Linotype"/>
                <a:cs typeface="Palatino Linotype"/>
              </a:rPr>
              <a:t> </a:t>
            </a:r>
            <a:r>
              <a:rPr sz="1200" b="1" spc="-10" dirty="0">
                <a:latin typeface="Palatino Linotype"/>
                <a:cs typeface="Palatino Linotype"/>
              </a:rPr>
              <a:t>23ETCS002163</a:t>
            </a:r>
            <a:endParaRPr sz="1200">
              <a:latin typeface="Palatino Linotype"/>
              <a:cs typeface="Palatino Linotype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674F802-F0FA-A14C-ABCC-A3E407483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604539"/>
              </p:ext>
            </p:extLst>
          </p:nvPr>
        </p:nvGraphicFramePr>
        <p:xfrm>
          <a:off x="640080" y="4219029"/>
          <a:ext cx="2587752" cy="476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237">
                  <a:extLst>
                    <a:ext uri="{9D8B030D-6E8A-4147-A177-3AD203B41FA5}">
                      <a16:colId xmlns:a16="http://schemas.microsoft.com/office/drawing/2014/main" val="1896552149"/>
                    </a:ext>
                  </a:extLst>
                </a:gridCol>
                <a:gridCol w="790515">
                  <a:extLst>
                    <a:ext uri="{9D8B030D-6E8A-4147-A177-3AD203B41FA5}">
                      <a16:colId xmlns:a16="http://schemas.microsoft.com/office/drawing/2014/main" val="3039389927"/>
                    </a:ext>
                  </a:extLst>
                </a:gridCol>
              </a:tblGrid>
              <a:tr h="219075">
                <a:tc gridSpan="2">
                  <a:txBody>
                    <a:bodyPr/>
                    <a:lstStyle/>
                    <a:p>
                      <a:pPr marL="635" marR="12065">
                        <a:lnSpc>
                          <a:spcPts val="1415"/>
                        </a:lnSpc>
                      </a:pPr>
                      <a:r>
                        <a:rPr sz="1200" b="1" dirty="0">
                          <a:latin typeface="Palatino Linotype"/>
                          <a:cs typeface="Palatino Linotype"/>
                        </a:rPr>
                        <a:t>Student</a:t>
                      </a:r>
                      <a:r>
                        <a:rPr sz="1200" b="1" spc="-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200" b="1" dirty="0">
                          <a:latin typeface="Palatino Linotype"/>
                          <a:cs typeface="Palatino Linotype"/>
                        </a:rPr>
                        <a:t>Name1:</a:t>
                      </a:r>
                      <a:r>
                        <a:rPr lang="en-IN" sz="1200" b="1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200" b="1" dirty="0">
                          <a:latin typeface="Palatino Linotype"/>
                          <a:cs typeface="Palatino Linotype"/>
                        </a:rPr>
                        <a:t>M</a:t>
                      </a:r>
                      <a:r>
                        <a:rPr sz="1200" b="1" spc="-2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200" b="1" dirty="0">
                          <a:latin typeface="Palatino Linotype"/>
                          <a:cs typeface="Palatino Linotype"/>
                        </a:rPr>
                        <a:t>Bharath</a:t>
                      </a:r>
                      <a:r>
                        <a:rPr sz="1200" b="1" spc="-20" dirty="0">
                          <a:latin typeface="Palatino Linotype"/>
                          <a:cs typeface="Palatino Linotype"/>
                        </a:rPr>
                        <a:t> Kumar</a:t>
                      </a:r>
                      <a:endParaRPr sz="1200" dirty="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B w="76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353708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b="1" dirty="0">
                          <a:latin typeface="Palatino Linotype"/>
                          <a:cs typeface="Palatino Linotype"/>
                        </a:rPr>
                        <a:t>Reg.</a:t>
                      </a:r>
                      <a:r>
                        <a:rPr sz="1200" b="1" spc="-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200" b="1" dirty="0">
                          <a:latin typeface="Palatino Linotype"/>
                          <a:cs typeface="Palatino Linotype"/>
                        </a:rPr>
                        <a:t>No.</a:t>
                      </a:r>
                      <a:r>
                        <a:rPr sz="1200" b="1" spc="-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200" b="1" spc="-10" dirty="0">
                          <a:latin typeface="Palatino Linotype"/>
                          <a:cs typeface="Palatino Linotype"/>
                        </a:rPr>
                        <a:t>23ETCS002066</a:t>
                      </a:r>
                      <a:endParaRPr sz="1200" dirty="0">
                        <a:latin typeface="Palatino Linotype"/>
                        <a:cs typeface="Palatino Linotype"/>
                      </a:endParaRPr>
                    </a:p>
                  </a:txBody>
                  <a:tcPr marL="0" marR="0" marT="34925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794708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75612712-589A-5D27-3C08-C3AF16E6A04A}"/>
              </a:ext>
            </a:extLst>
          </p:cNvPr>
          <p:cNvSpPr txBox="1"/>
          <p:nvPr/>
        </p:nvSpPr>
        <p:spPr>
          <a:xfrm>
            <a:off x="540893" y="4736594"/>
            <a:ext cx="47351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0000"/>
              </a:lnSpc>
              <a:spcBef>
                <a:spcPts val="275"/>
              </a:spcBef>
              <a:buNone/>
            </a:pPr>
            <a:r>
              <a:rPr lang="en-IN" sz="1200" b="1" i="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+mn-ea"/>
                <a:cs typeface="Palatino Linotype" panose="02040502050505030304" pitchFamily="18" charset="0"/>
              </a:rPr>
              <a:t>Student</a:t>
            </a:r>
            <a:r>
              <a:rPr lang="en-IN" sz="1200" b="1" i="0" spc="-4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+mn-ea"/>
                <a:cs typeface="Palatino Linotype" panose="02040502050505030304" pitchFamily="18" charset="0"/>
              </a:rPr>
              <a:t> </a:t>
            </a:r>
            <a:r>
              <a:rPr lang="en-IN" sz="1200" b="1" i="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+mn-ea"/>
                <a:cs typeface="Palatino Linotype" panose="02040502050505030304" pitchFamily="18" charset="0"/>
              </a:rPr>
              <a:t>Name2:</a:t>
            </a:r>
            <a:r>
              <a:rPr lang="en-IN" sz="1200" b="1" i="0" spc="-4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+mn-ea"/>
                <a:cs typeface="Palatino Linotype" panose="02040502050505030304" pitchFamily="18" charset="0"/>
              </a:rPr>
              <a:t> </a:t>
            </a:r>
            <a:r>
              <a:rPr lang="en-IN" sz="1200" b="1" i="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+mn-ea"/>
                <a:cs typeface="Palatino Linotype" panose="02040502050505030304" pitchFamily="18" charset="0"/>
              </a:rPr>
              <a:t>Nagendra</a:t>
            </a:r>
            <a:r>
              <a:rPr lang="en-IN" sz="1200" b="1" i="0" spc="-25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+mn-ea"/>
                <a:cs typeface="Palatino Linotype" panose="02040502050505030304" pitchFamily="18" charset="0"/>
              </a:rPr>
              <a:t> </a:t>
            </a:r>
            <a:r>
              <a:rPr lang="en-IN" sz="1200" b="1" i="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+mn-ea"/>
                <a:cs typeface="Palatino Linotype" panose="02040502050505030304" pitchFamily="18" charset="0"/>
              </a:rPr>
              <a:t>S</a:t>
            </a:r>
            <a:r>
              <a:rPr lang="en-IN" sz="1200" b="1" i="0" spc="-1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+mn-ea"/>
                <a:cs typeface="Palatino Linotype" panose="02040502050505030304" pitchFamily="18" charset="0"/>
              </a:rPr>
              <a:t> </a:t>
            </a:r>
            <a:r>
              <a:rPr lang="en-IN" sz="1200" b="1" i="0" spc="-2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+mn-ea"/>
                <a:cs typeface="Palatino Linotype" panose="02040502050505030304" pitchFamily="18" charset="0"/>
              </a:rPr>
              <a:t>Jadav</a:t>
            </a:r>
            <a:endParaRPr lang="en-IN" sz="1200" b="1" dirty="0">
              <a:effectLst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724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>
            <a:spLocks noGrp="1"/>
          </p:cNvSpPr>
          <p:nvPr>
            <p:ph type="ctrTitle"/>
          </p:nvPr>
        </p:nvSpPr>
        <p:spPr>
          <a:xfrm>
            <a:off x="548640" y="1988820"/>
            <a:ext cx="84201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000" b="1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72" y="6714622"/>
            <a:ext cx="2416616" cy="15209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TextBox 165"/>
          <p:cNvSpPr txBox="1"/>
          <p:nvPr/>
        </p:nvSpPr>
        <p:spPr>
          <a:xfrm>
            <a:off x="548640" y="3291840"/>
            <a:ext cx="8805672" cy="457200"/>
          </a:xfrm>
          <a:prstGeom prst="rect">
            <a:avLst/>
          </a:prstGeom>
          <a:noFill/>
        </p:spPr>
        <p:txBody>
          <a:bodyPr wrap="square" lIns="73152" rIns="73152" anchor="t"/>
          <a:lstStyle/>
          <a:p>
            <a:pPr algn="ctr"/>
            <a:r>
              <a:rPr sz="2200" b="1" i="0">
                <a:solidFill>
                  <a:srgbClr val="C00000"/>
                </a:solidFill>
                <a:latin typeface="Arial"/>
              </a:rPr>
              <a:t>Questions and Discussion</a:t>
            </a:r>
            <a:endParaRPr sz="2200"/>
          </a:p>
        </p:txBody>
      </p:sp>
      <p:sp>
        <p:nvSpPr>
          <p:cNvPr id="167" name="TextBox 166"/>
          <p:cNvSpPr txBox="1"/>
          <p:nvPr/>
        </p:nvSpPr>
        <p:spPr>
          <a:xfrm>
            <a:off x="548640" y="3931920"/>
            <a:ext cx="8805672" cy="457200"/>
          </a:xfrm>
          <a:prstGeom prst="rect">
            <a:avLst/>
          </a:prstGeom>
          <a:noFill/>
        </p:spPr>
        <p:txBody>
          <a:bodyPr wrap="square" lIns="73152" rIns="73152" anchor="t"/>
          <a:lstStyle/>
          <a:p>
            <a:pPr algn="ctr"/>
            <a:r>
              <a:rPr sz="1600" b="1" i="0">
                <a:solidFill>
                  <a:srgbClr val="1F2937"/>
                </a:solidFill>
                <a:latin typeface="Arial"/>
              </a:rPr>
              <a:t>DBARS: Demand Based Bus Allocation &amp; Routing System</a:t>
            </a:r>
            <a:endParaRPr sz="1600"/>
          </a:p>
        </p:txBody>
      </p:sp>
      <p:sp>
        <p:nvSpPr>
          <p:cNvPr id="168" name="TextBox 167"/>
          <p:cNvSpPr txBox="1"/>
          <p:nvPr/>
        </p:nvSpPr>
        <p:spPr>
          <a:xfrm>
            <a:off x="548640" y="4389120"/>
            <a:ext cx="8805672" cy="457200"/>
          </a:xfrm>
          <a:prstGeom prst="rect">
            <a:avLst/>
          </a:prstGeom>
          <a:noFill/>
        </p:spPr>
        <p:txBody>
          <a:bodyPr wrap="square" lIns="73152" rIns="73152" anchor="t"/>
          <a:lstStyle/>
          <a:p>
            <a:pPr algn="ctr"/>
            <a:r>
              <a:rPr sz="1400" b="0" i="1">
                <a:solidFill>
                  <a:srgbClr val="4B5563"/>
                </a:solidFill>
                <a:latin typeface="Arial"/>
              </a:rPr>
              <a:t>One timetable. Three products. Both sides of the same question.</a:t>
            </a:r>
            <a:endParaRPr sz="1400"/>
          </a:p>
        </p:txBody>
      </p:sp>
      <p:sp>
        <p:nvSpPr>
          <p:cNvPr id="169" name="Rounded Rectangle 168"/>
          <p:cNvSpPr/>
          <p:nvPr/>
        </p:nvSpPr>
        <p:spPr>
          <a:xfrm>
            <a:off x="1234440" y="5074920"/>
            <a:ext cx="2331720" cy="502920"/>
          </a:xfrm>
          <a:prstGeom prst="roundRect">
            <a:avLst>
              <a:gd name="adj" fmla="val 4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Find the bus</a:t>
            </a:r>
            <a:endParaRPr sz="1400"/>
          </a:p>
        </p:txBody>
      </p:sp>
      <p:sp>
        <p:nvSpPr>
          <p:cNvPr id="170" name="Rounded Rectangle 169"/>
          <p:cNvSpPr/>
          <p:nvPr/>
        </p:nvSpPr>
        <p:spPr>
          <a:xfrm>
            <a:off x="3749039" y="5074920"/>
            <a:ext cx="2331720" cy="502920"/>
          </a:xfrm>
          <a:prstGeom prst="roundRect">
            <a:avLst>
              <a:gd name="adj" fmla="val 4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Plan the fleet</a:t>
            </a:r>
            <a:endParaRPr sz="1400"/>
          </a:p>
        </p:txBody>
      </p:sp>
      <p:sp>
        <p:nvSpPr>
          <p:cNvPr id="171" name="Rounded Rectangle 170"/>
          <p:cNvSpPr/>
          <p:nvPr/>
        </p:nvSpPr>
        <p:spPr>
          <a:xfrm>
            <a:off x="6263640" y="5074920"/>
            <a:ext cx="2331720" cy="502920"/>
          </a:xfrm>
          <a:prstGeom prst="roundRect">
            <a:avLst>
              <a:gd name="adj" fmla="val 4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Open the data</a:t>
            </a:r>
            <a:endParaRPr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988552" cy="603504"/>
          </a:xfrm>
        </p:spPr>
        <p:txBody>
          <a:bodyPr anchor="ctr" wrap="square"/>
          <a:lstStyle/>
          <a:p>
            <a:pPr algn="ctr"/>
            <a:r>
              <a:rPr sz="2800" b="1" i="0">
                <a:solidFill>
                  <a:srgbClr val="FF0000"/>
                </a:solidFill>
                <a:latin typeface="Arial"/>
              </a:rPr>
              <a:t>Outline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271016"/>
            <a:ext cx="420624" cy="42062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  <a:endParaRPr sz="1400"/>
          </a:p>
        </p:txBody>
      </p:sp>
      <p:sp>
        <p:nvSpPr>
          <p:cNvPr id="4" name="TextBox 3"/>
          <p:cNvSpPr txBox="1"/>
          <p:nvPr/>
        </p:nvSpPr>
        <p:spPr>
          <a:xfrm>
            <a:off x="1389888" y="1234440"/>
            <a:ext cx="3611880" cy="493776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600" b="0" i="0">
                <a:solidFill>
                  <a:srgbClr val="1F2937"/>
                </a:solidFill>
                <a:latin typeface="Arial"/>
              </a:rPr>
              <a:t>Introduction</a:t>
            </a:r>
            <a:endParaRPr sz="1600"/>
          </a:p>
        </p:txBody>
      </p:sp>
      <p:sp>
        <p:nvSpPr>
          <p:cNvPr id="5" name="Oval 4"/>
          <p:cNvSpPr/>
          <p:nvPr/>
        </p:nvSpPr>
        <p:spPr>
          <a:xfrm>
            <a:off x="822960" y="2020824"/>
            <a:ext cx="420624" cy="42062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  <a:endParaRPr sz="1400"/>
          </a:p>
        </p:txBody>
      </p:sp>
      <p:sp>
        <p:nvSpPr>
          <p:cNvPr id="6" name="TextBox 5"/>
          <p:cNvSpPr txBox="1"/>
          <p:nvPr/>
        </p:nvSpPr>
        <p:spPr>
          <a:xfrm>
            <a:off x="1389888" y="1984248"/>
            <a:ext cx="3611880" cy="493776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600" b="0" i="0">
                <a:solidFill>
                  <a:srgbClr val="1F2937"/>
                </a:solidFill>
                <a:latin typeface="Arial"/>
              </a:rPr>
              <a:t>Literature Survey</a:t>
            </a:r>
            <a:endParaRPr sz="1600"/>
          </a:p>
        </p:txBody>
      </p:sp>
      <p:sp>
        <p:nvSpPr>
          <p:cNvPr id="7" name="Oval 6"/>
          <p:cNvSpPr/>
          <p:nvPr/>
        </p:nvSpPr>
        <p:spPr>
          <a:xfrm>
            <a:off x="822960" y="2770632"/>
            <a:ext cx="420624" cy="42062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1389888" y="2734056"/>
            <a:ext cx="3611880" cy="493776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600" b="0" i="0">
                <a:solidFill>
                  <a:srgbClr val="1F2937"/>
                </a:solidFill>
                <a:latin typeface="Arial"/>
              </a:rPr>
              <a:t>Research Gaps</a:t>
            </a:r>
            <a:endParaRPr sz="1600"/>
          </a:p>
        </p:txBody>
      </p:sp>
      <p:sp>
        <p:nvSpPr>
          <p:cNvPr id="9" name="Oval 8"/>
          <p:cNvSpPr/>
          <p:nvPr/>
        </p:nvSpPr>
        <p:spPr>
          <a:xfrm>
            <a:off x="822960" y="3520440"/>
            <a:ext cx="420624" cy="42062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  <a:endParaRPr sz="1400"/>
          </a:p>
        </p:txBody>
      </p:sp>
      <p:sp>
        <p:nvSpPr>
          <p:cNvPr id="10" name="TextBox 9"/>
          <p:cNvSpPr txBox="1"/>
          <p:nvPr/>
        </p:nvSpPr>
        <p:spPr>
          <a:xfrm>
            <a:off x="1389888" y="3483864"/>
            <a:ext cx="3611880" cy="493776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600" b="0" i="0">
                <a:solidFill>
                  <a:srgbClr val="1F2937"/>
                </a:solidFill>
                <a:latin typeface="Arial"/>
              </a:rPr>
              <a:t>Problem Statement and What DBARS Adds</a:t>
            </a:r>
            <a:endParaRPr sz="1600"/>
          </a:p>
        </p:txBody>
      </p:sp>
      <p:sp>
        <p:nvSpPr>
          <p:cNvPr id="11" name="Oval 10"/>
          <p:cNvSpPr/>
          <p:nvPr/>
        </p:nvSpPr>
        <p:spPr>
          <a:xfrm>
            <a:off x="822960" y="4270248"/>
            <a:ext cx="420624" cy="42062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1389888" y="4233672"/>
            <a:ext cx="3611880" cy="493776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600" b="0" i="0">
                <a:solidFill>
                  <a:srgbClr val="1F2937"/>
                </a:solidFill>
                <a:latin typeface="Arial"/>
              </a:rPr>
              <a:t>Objectives</a:t>
            </a:r>
            <a:endParaRPr sz="1600"/>
          </a:p>
        </p:txBody>
      </p:sp>
      <p:sp>
        <p:nvSpPr>
          <p:cNvPr id="13" name="Oval 12"/>
          <p:cNvSpPr/>
          <p:nvPr/>
        </p:nvSpPr>
        <p:spPr>
          <a:xfrm>
            <a:off x="822960" y="5020055"/>
            <a:ext cx="420624" cy="42062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  <a:endParaRPr sz="1400"/>
          </a:p>
        </p:txBody>
      </p:sp>
      <p:sp>
        <p:nvSpPr>
          <p:cNvPr id="14" name="TextBox 13"/>
          <p:cNvSpPr txBox="1"/>
          <p:nvPr/>
        </p:nvSpPr>
        <p:spPr>
          <a:xfrm>
            <a:off x="1389888" y="4983479"/>
            <a:ext cx="3611880" cy="493776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600" b="0" i="0">
                <a:solidFill>
                  <a:srgbClr val="1F2937"/>
                </a:solidFill>
                <a:latin typeface="Arial"/>
              </a:rPr>
              <a:t>Proposed Methodology</a:t>
            </a:r>
            <a:endParaRPr sz="1600"/>
          </a:p>
        </p:txBody>
      </p:sp>
      <p:sp>
        <p:nvSpPr>
          <p:cNvPr id="15" name="Oval 14"/>
          <p:cNvSpPr/>
          <p:nvPr/>
        </p:nvSpPr>
        <p:spPr>
          <a:xfrm>
            <a:off x="5074920" y="1271016"/>
            <a:ext cx="420624" cy="42062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5641848" y="1234440"/>
            <a:ext cx="3611880" cy="493776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600" b="0" i="0">
                <a:solidFill>
                  <a:srgbClr val="1F2937"/>
                </a:solidFill>
                <a:latin typeface="Arial"/>
              </a:rPr>
              <a:t>Sustainable Development Goals</a:t>
            </a:r>
            <a:endParaRPr sz="1600"/>
          </a:p>
        </p:txBody>
      </p:sp>
      <p:sp>
        <p:nvSpPr>
          <p:cNvPr id="17" name="Oval 16"/>
          <p:cNvSpPr/>
          <p:nvPr/>
        </p:nvSpPr>
        <p:spPr>
          <a:xfrm>
            <a:off x="5074920" y="2020824"/>
            <a:ext cx="420624" cy="42062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8</a:t>
            </a:r>
            <a:endParaRPr sz="1400"/>
          </a:p>
        </p:txBody>
      </p:sp>
      <p:sp>
        <p:nvSpPr>
          <p:cNvPr id="18" name="TextBox 17"/>
          <p:cNvSpPr txBox="1"/>
          <p:nvPr/>
        </p:nvSpPr>
        <p:spPr>
          <a:xfrm>
            <a:off x="5641848" y="1984248"/>
            <a:ext cx="3611880" cy="493776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600" b="0" i="0">
                <a:solidFill>
                  <a:srgbClr val="1F2937"/>
                </a:solidFill>
                <a:latin typeface="Arial"/>
              </a:rPr>
              <a:t>Expected Outcomes</a:t>
            </a:r>
            <a:endParaRPr sz="1600"/>
          </a:p>
        </p:txBody>
      </p:sp>
      <p:sp>
        <p:nvSpPr>
          <p:cNvPr id="19" name="Oval 18"/>
          <p:cNvSpPr/>
          <p:nvPr/>
        </p:nvSpPr>
        <p:spPr>
          <a:xfrm>
            <a:off x="5074920" y="2770632"/>
            <a:ext cx="420624" cy="42062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9</a:t>
            </a:r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5641848" y="2734056"/>
            <a:ext cx="3611880" cy="493776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600" b="0" i="0">
                <a:solidFill>
                  <a:srgbClr val="1F2937"/>
                </a:solidFill>
                <a:latin typeface="Arial"/>
              </a:rPr>
              <a:t>Gantt Chart for Work Plan</a:t>
            </a:r>
            <a:endParaRPr sz="1600"/>
          </a:p>
        </p:txBody>
      </p:sp>
      <p:sp>
        <p:nvSpPr>
          <p:cNvPr id="21" name="Oval 20"/>
          <p:cNvSpPr/>
          <p:nvPr/>
        </p:nvSpPr>
        <p:spPr>
          <a:xfrm>
            <a:off x="5074920" y="3520440"/>
            <a:ext cx="420624" cy="42062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10</a:t>
            </a:r>
            <a:endParaRPr sz="1400"/>
          </a:p>
        </p:txBody>
      </p:sp>
      <p:sp>
        <p:nvSpPr>
          <p:cNvPr id="22" name="TextBox 21"/>
          <p:cNvSpPr txBox="1"/>
          <p:nvPr/>
        </p:nvSpPr>
        <p:spPr>
          <a:xfrm>
            <a:off x="5641848" y="3483864"/>
            <a:ext cx="3611880" cy="493776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600" b="0" i="0">
                <a:solidFill>
                  <a:srgbClr val="1F2937"/>
                </a:solidFill>
                <a:latin typeface="Arial"/>
              </a:rPr>
              <a:t>Conclusion</a:t>
            </a:r>
            <a:endParaRPr sz="1600"/>
          </a:p>
        </p:txBody>
      </p:sp>
      <p:sp>
        <p:nvSpPr>
          <p:cNvPr id="23" name="Oval 22"/>
          <p:cNvSpPr/>
          <p:nvPr/>
        </p:nvSpPr>
        <p:spPr>
          <a:xfrm>
            <a:off x="5074920" y="4270248"/>
            <a:ext cx="420624" cy="42062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11</a:t>
            </a:r>
            <a:endParaRPr sz="1400"/>
          </a:p>
        </p:txBody>
      </p:sp>
      <p:sp>
        <p:nvSpPr>
          <p:cNvPr id="24" name="TextBox 23"/>
          <p:cNvSpPr txBox="1"/>
          <p:nvPr/>
        </p:nvSpPr>
        <p:spPr>
          <a:xfrm>
            <a:off x="5641848" y="4233672"/>
            <a:ext cx="3611880" cy="493776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600" b="0" i="0">
                <a:solidFill>
                  <a:srgbClr val="1F2937"/>
                </a:solidFill>
                <a:latin typeface="Arial"/>
              </a:rPr>
              <a:t>References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988552" cy="603504"/>
          </a:xfrm>
        </p:spPr>
        <p:txBody>
          <a:bodyPr anchor="ctr" wrap="square"/>
          <a:lstStyle/>
          <a:p>
            <a:pPr algn="ctr"/>
            <a:r>
              <a:rPr sz="2800" b="1" i="0">
                <a:solidFill>
                  <a:srgbClr val="FF0000"/>
                </a:solidFill>
                <a:latin typeface="Arial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434840" cy="13716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" y="1060704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  <a:endParaRPr sz="1300"/>
          </a:p>
        </p:txBody>
      </p:sp>
      <p:sp>
        <p:nvSpPr>
          <p:cNvPr id="5" name="TextBox 4"/>
          <p:cNvSpPr txBox="1"/>
          <p:nvPr/>
        </p:nvSpPr>
        <p:spPr>
          <a:xfrm>
            <a:off x="1115568" y="1042416"/>
            <a:ext cx="3611879" cy="420624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700" b="1" i="0">
                <a:solidFill>
                  <a:srgbClr val="C00000"/>
                </a:solidFill>
                <a:latin typeface="Arial"/>
              </a:rPr>
              <a:t>The domain</a:t>
            </a:r>
            <a:endParaRPr sz="1700"/>
          </a:p>
        </p:txBody>
      </p:sp>
      <p:sp>
        <p:nvSpPr>
          <p:cNvPr id="6" name="TextBox 5"/>
          <p:cNvSpPr txBox="1"/>
          <p:nvPr/>
        </p:nvSpPr>
        <p:spPr>
          <a:xfrm>
            <a:off x="621792" y="1517904"/>
            <a:ext cx="4105655" cy="73152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Urban public transport: Bengaluru's BMTC city bus network.</a:t>
            </a:r>
            <a:endParaRPr sz="1400"/>
          </a:p>
        </p:txBody>
      </p:sp>
      <p:sp>
        <p:nvSpPr>
          <p:cNvPr id="7" name="Rounded Rectangle 6"/>
          <p:cNvSpPr/>
          <p:nvPr/>
        </p:nvSpPr>
        <p:spPr>
          <a:xfrm>
            <a:off x="5010912" y="914400"/>
            <a:ext cx="4434840" cy="13716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75503" y="1060704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  <a:endParaRPr sz="1300"/>
          </a:p>
        </p:txBody>
      </p:sp>
      <p:sp>
        <p:nvSpPr>
          <p:cNvPr id="9" name="TextBox 8"/>
          <p:cNvSpPr txBox="1"/>
          <p:nvPr/>
        </p:nvSpPr>
        <p:spPr>
          <a:xfrm>
            <a:off x="5669279" y="1042416"/>
            <a:ext cx="3611879" cy="420624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700" b="1" i="0">
                <a:solidFill>
                  <a:srgbClr val="C00000"/>
                </a:solidFill>
                <a:latin typeface="Arial"/>
              </a:rPr>
              <a:t>Why it matters</a:t>
            </a:r>
            <a:endParaRPr sz="1700"/>
          </a:p>
        </p:txBody>
      </p:sp>
      <p:sp>
        <p:nvSpPr>
          <p:cNvPr id="10" name="TextBox 9"/>
          <p:cNvSpPr txBox="1"/>
          <p:nvPr/>
        </p:nvSpPr>
        <p:spPr>
          <a:xfrm>
            <a:off x="5175503" y="1517904"/>
            <a:ext cx="4105655" cy="73152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Buses are the city's everyday mass transport. Riders and the operator both depend on good data.</a:t>
            </a:r>
            <a:endParaRPr sz="1400"/>
          </a:p>
        </p:txBody>
      </p:sp>
      <p:sp>
        <p:nvSpPr>
          <p:cNvPr id="11" name="Rounded Rectangle 10"/>
          <p:cNvSpPr/>
          <p:nvPr/>
        </p:nvSpPr>
        <p:spPr>
          <a:xfrm>
            <a:off x="457200" y="2404872"/>
            <a:ext cx="4434840" cy="13716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" y="255117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  <a:endParaRPr sz="1300"/>
          </a:p>
        </p:txBody>
      </p:sp>
      <p:sp>
        <p:nvSpPr>
          <p:cNvPr id="13" name="TextBox 12"/>
          <p:cNvSpPr txBox="1"/>
          <p:nvPr/>
        </p:nvSpPr>
        <p:spPr>
          <a:xfrm>
            <a:off x="1115568" y="2532888"/>
            <a:ext cx="3611879" cy="420624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700" b="1" i="0">
                <a:solidFill>
                  <a:srgbClr val="C00000"/>
                </a:solidFill>
                <a:latin typeface="Arial"/>
              </a:rPr>
              <a:t>The issue</a:t>
            </a:r>
            <a:endParaRPr sz="1700"/>
          </a:p>
        </p:txBody>
      </p:sp>
      <p:sp>
        <p:nvSpPr>
          <p:cNvPr id="14" name="TextBox 13"/>
          <p:cNvSpPr txBox="1"/>
          <p:nvPr/>
        </p:nvSpPr>
        <p:spPr>
          <a:xfrm>
            <a:off x="621792" y="3008376"/>
            <a:ext cx="4105655" cy="73152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Apps help riders find a bus, but nothing links rider demand to how many buses and crew BMTC runs.</a:t>
            </a:r>
            <a:endParaRPr sz="1400"/>
          </a:p>
        </p:txBody>
      </p:sp>
      <p:sp>
        <p:nvSpPr>
          <p:cNvPr id="15" name="Rounded Rectangle 14"/>
          <p:cNvSpPr/>
          <p:nvPr/>
        </p:nvSpPr>
        <p:spPr>
          <a:xfrm>
            <a:off x="5010912" y="2404872"/>
            <a:ext cx="4434840" cy="13716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75503" y="255117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  <a:endParaRPr sz="1300"/>
          </a:p>
        </p:txBody>
      </p:sp>
      <p:sp>
        <p:nvSpPr>
          <p:cNvPr id="17" name="TextBox 16"/>
          <p:cNvSpPr txBox="1"/>
          <p:nvPr/>
        </p:nvSpPr>
        <p:spPr>
          <a:xfrm>
            <a:off x="5669279" y="2532888"/>
            <a:ext cx="3611879" cy="420624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700" b="1" i="0">
                <a:solidFill>
                  <a:srgbClr val="C00000"/>
                </a:solidFill>
                <a:latin typeface="Arial"/>
              </a:rPr>
              <a:t>Why now</a:t>
            </a:r>
            <a:endParaRPr sz="1700"/>
          </a:p>
        </p:txBody>
      </p:sp>
      <p:sp>
        <p:nvSpPr>
          <p:cNvPr id="18" name="TextBox 17"/>
          <p:cNvSpPr txBox="1"/>
          <p:nvPr/>
        </p:nvSpPr>
        <p:spPr>
          <a:xfrm>
            <a:off x="5175503" y="3008376"/>
            <a:ext cx="4105655" cy="73152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The Shakti free-travel scheme (2023) changed ridership, and tickets and tracking are going digital.</a:t>
            </a:r>
            <a:endParaRPr sz="1400"/>
          </a:p>
        </p:txBody>
      </p:sp>
      <p:sp>
        <p:nvSpPr>
          <p:cNvPr id="19" name="Rounded Rectangle 18"/>
          <p:cNvSpPr/>
          <p:nvPr/>
        </p:nvSpPr>
        <p:spPr>
          <a:xfrm>
            <a:off x="457200" y="3977639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23360"/>
            <a:ext cx="2148840" cy="54864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ctr"/>
            <a:r>
              <a:rPr sz="2800" b="1" i="0">
                <a:solidFill>
                  <a:srgbClr val="C00000"/>
                </a:solidFill>
                <a:latin typeface="Arial"/>
              </a:rPr>
              <a:t>7,000+</a:t>
            </a:r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457200" y="4553712"/>
            <a:ext cx="2148840" cy="329184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ctr"/>
            <a:r>
              <a:rPr sz="1300" b="0" i="0">
                <a:solidFill>
                  <a:srgbClr val="4B5563"/>
                </a:solidFill>
                <a:latin typeface="Arial"/>
              </a:rPr>
              <a:t>BMTC buses</a:t>
            </a:r>
            <a:endParaRPr sz="1300"/>
          </a:p>
        </p:txBody>
      </p:sp>
      <p:sp>
        <p:nvSpPr>
          <p:cNvPr id="22" name="Rounded Rectangle 21"/>
          <p:cNvSpPr/>
          <p:nvPr/>
        </p:nvSpPr>
        <p:spPr>
          <a:xfrm>
            <a:off x="2736799" y="3977639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36799" y="4023360"/>
            <a:ext cx="2148840" cy="54864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ctr"/>
            <a:r>
              <a:rPr sz="2800" b="1" i="0">
                <a:solidFill>
                  <a:srgbClr val="C00000"/>
                </a:solidFill>
                <a:latin typeface="Arial"/>
              </a:rPr>
              <a:t>6,737</a:t>
            </a:r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2736799" y="4553712"/>
            <a:ext cx="2148840" cy="329184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ctr"/>
            <a:r>
              <a:rPr sz="1300" b="0" i="0">
                <a:solidFill>
                  <a:srgbClr val="4B5563"/>
                </a:solidFill>
                <a:latin typeface="Arial"/>
              </a:rPr>
              <a:t>route-directions</a:t>
            </a:r>
            <a:endParaRPr sz="1300"/>
          </a:p>
        </p:txBody>
      </p:sp>
      <p:sp>
        <p:nvSpPr>
          <p:cNvPr id="25" name="Rounded Rectangle 24"/>
          <p:cNvSpPr/>
          <p:nvPr/>
        </p:nvSpPr>
        <p:spPr>
          <a:xfrm>
            <a:off x="5016398" y="3977639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6398" y="4023360"/>
            <a:ext cx="2148840" cy="54864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ctr"/>
            <a:r>
              <a:rPr sz="2800" b="1" i="0">
                <a:solidFill>
                  <a:srgbClr val="C00000"/>
                </a:solidFill>
                <a:latin typeface="Arial"/>
              </a:rPr>
              <a:t>4,883</a:t>
            </a:r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5016398" y="4553712"/>
            <a:ext cx="2148840" cy="329184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ctr"/>
            <a:r>
              <a:rPr sz="1300" b="0" i="0">
                <a:solidFill>
                  <a:srgbClr val="4B5563"/>
                </a:solidFill>
                <a:latin typeface="Arial"/>
              </a:rPr>
              <a:t>bus stops</a:t>
            </a:r>
            <a:endParaRPr sz="1300"/>
          </a:p>
        </p:txBody>
      </p:sp>
      <p:sp>
        <p:nvSpPr>
          <p:cNvPr id="28" name="Rounded Rectangle 27"/>
          <p:cNvSpPr/>
          <p:nvPr/>
        </p:nvSpPr>
        <p:spPr>
          <a:xfrm>
            <a:off x="7295997" y="3977639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95997" y="4023360"/>
            <a:ext cx="2148840" cy="54864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ctr"/>
            <a:r>
              <a:rPr sz="2800" b="1" i="0">
                <a:solidFill>
                  <a:srgbClr val="C00000"/>
                </a:solidFill>
                <a:latin typeface="Arial"/>
              </a:rPr>
              <a:t>44</a:t>
            </a:r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7295997" y="4553712"/>
            <a:ext cx="2148840" cy="329184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ctr"/>
            <a:r>
              <a:rPr sz="1300" b="0" i="0">
                <a:solidFill>
                  <a:srgbClr val="4B5563"/>
                </a:solidFill>
                <a:latin typeface="Arial"/>
              </a:rPr>
              <a:t>depots</a:t>
            </a:r>
            <a:endParaRPr sz="1300"/>
          </a:p>
        </p:txBody>
      </p:sp>
      <p:sp>
        <p:nvSpPr>
          <p:cNvPr id="31" name="Rounded Rectangle 30"/>
          <p:cNvSpPr/>
          <p:nvPr/>
        </p:nvSpPr>
        <p:spPr>
          <a:xfrm>
            <a:off x="457200" y="5166360"/>
            <a:ext cx="8988552" cy="96012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0B8A3E"/>
                </a:solidFill>
                <a:latin typeface="Arial"/>
              </a:rPr>
              <a:t>DBARS: one BMTC timetable, three products</a:t>
            </a:r>
            <a:endParaRPr sz="1600"/>
          </a:p>
          <a:p>
            <a:pPr algn="ctr"/>
            <a:r>
              <a:rPr sz="1400" b="0" i="0">
                <a:solidFill>
                  <a:srgbClr val="0B8A3E"/>
                </a:solidFill>
                <a:latin typeface="Arial"/>
              </a:rPr>
              <a:t>Find the bus (riders)  |  Plan the fleet (depots)  |  Open the data (other apps)</a:t>
            </a:r>
            <a:endParaRPr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988552" cy="603504"/>
          </a:xfrm>
        </p:spPr>
        <p:txBody>
          <a:bodyPr anchor="ctr" wrap="square"/>
          <a:lstStyle/>
          <a:p>
            <a:pPr algn="ctr"/>
            <a:r>
              <a:rPr sz="2800" b="1" i="0">
                <a:solidFill>
                  <a:srgbClr val="FF0000"/>
                </a:solidFill>
                <a:latin typeface="Arial"/>
              </a:rPr>
              <a:t>Literature Survey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988552" cy="50840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11480"/>
                <a:gridCol w="2514600"/>
                <a:gridCol w="1691640"/>
                <a:gridCol w="1417320"/>
                <a:gridCol w="1234440"/>
                <a:gridCol w="1719072"/>
              </a:tblGrid>
              <a:tr h="329184">
                <a:tc>
                  <a:txBody>
                    <a:bodyPr wrap="square" anchor="ctr" lIns="45720" tIns="27432" rIns="45720" bIns="27432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Ref.</a:t>
                      </a:r>
                      <a:endParaRPr sz="10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Title and Year</a:t>
                      </a:r>
                      <a:endParaRPr sz="10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Methodology</a:t>
                      </a:r>
                      <a:endParaRPr sz="10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  <a:endParaRPr sz="10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Limitations</a:t>
                      </a:r>
                      <a:endParaRPr sz="10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Observations</a:t>
                      </a:r>
                      <a:endParaRPr sz="10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475488">
                <a:tc>
                  <a:txBody>
                    <a:bodyPr wrap="square" anchor="ctr" lIns="45720" tIns="27432" rIns="45720" bIns="27432"/>
                    <a:lstStyle/>
                    <a:p>
                      <a:pPr algn="ctr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[1]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ULTRA: unlimited transfers for journey planning (Baum et al., 2023)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Transfer shortcuts; best trade-off journeys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City transit networks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Rider side only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Transfers decide journey quality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 anchor="ctr" lIns="45720" tIns="27432" rIns="45720" bIns="27432"/>
                    <a:lstStyle/>
                    <a:p>
                      <a:pPr algn="ctr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[2]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Analysing transit systems using GTFS (Liu et al., 2025)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GTFS to time-space network; shortest paths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Nashville GTFS, 2019-24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One feed; no demand side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GTFS is the standard input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 wrap="square" anchor="ctr" lIns="45720" tIns="27432" rIns="45720" bIns="27432"/>
                    <a:lstStyle/>
                    <a:p>
                      <a:pPr algn="ctr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[3]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Visualising transit operation with GTFS, Calgary (Prommaharaj et al., 2020)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Interactive visuals; clustering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Calgary static GTFS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No real-time data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Analysis only; no trip search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 anchor="ctr" lIns="45720" tIns="27432" rIns="45720" bIns="27432"/>
                    <a:lstStyle/>
                    <a:p>
                      <a:pPr algn="ctr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[4]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Multi-depot vehicle scheduling on overlapped routes (Shang et al., 2023)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Bi-objective integer programming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Beijing, 6 bus lines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Small scale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Not tested city-wide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 wrap="square" anchor="ctr" lIns="45720" tIns="27432" rIns="45720" bIns="27432"/>
                    <a:lstStyle/>
                    <a:p>
                      <a:pPr algn="ctr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[5]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Exact multi-depot e-bus scheduling (Gkiotsalitis et al., 2023)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Mixed-integer linear programming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Benchmark sets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Up to 30 trips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Exact methods do not scale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 anchor="ctr" lIns="45720" tIns="27432" rIns="45720" bIns="27432"/>
                    <a:lstStyle/>
                    <a:p>
                      <a:pPr algn="ctr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[6]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GRASP for bus crew scheduling (Pardo-Pena et al., 2024)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GRASP heuristic with local search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42-595 shifts; real operator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Depends on tuning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Crew planned apart from buses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 wrap="square" anchor="ctr" lIns="45720" tIns="27432" rIns="45720" bIns="27432"/>
                    <a:lstStyle/>
                    <a:p>
                      <a:pPr algn="ctr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[7]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Driver scheduling by set covering (Argilan &amp; Bekesi, 2025)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Set covering; column generation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200-400 trip benchmarks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Simplified driving rules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Crew rules are the hard part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 anchor="ctr" lIns="45720" tIns="27432" rIns="45720" bIns="27432"/>
                    <a:lstStyle/>
                    <a:p>
                      <a:pPr algn="ctr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[8]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Direct demand model for bus ridership, Bengaluru (Deepa et al., 2022)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Stop-route demand model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BMTC boardings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Needs fare-stage data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Allocate buses by demand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 wrap="square" anchor="ctr" lIns="45720" tIns="27432" rIns="45720" bIns="27432"/>
                    <a:lstStyle/>
                    <a:p>
                      <a:pPr algn="ctr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[9]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Headway variability and bus ridership, Bengaluru (Deepa et al., 2023)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Route and stop demand models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BMTC demand and supply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Single city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Irregular service loses riders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 anchor="ctr" lIns="45720" tIns="27432" rIns="45720" bIns="27432"/>
                    <a:lstStyle/>
                    <a:p>
                      <a:pPr algn="ctr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[10]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Arial"/>
                        </a:rPr>
                        <a:t>Bus arrival-time prediction with AI: a review (Singh &amp; Kumar, 2022)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Systematic review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Published studies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Review only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lIns="45720" tIns="27432" rIns="45720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Arial"/>
                        </a:rPr>
                        <a:t>Needs live data; label estimates</a:t>
                      </a:r>
                      <a:endParaRPr sz="950"/>
                    </a:p>
                  </a:txBody>
                  <a:tcPr marL="45720" marT="27432" marR="45720" marB="27432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988552" cy="603504"/>
          </a:xfrm>
        </p:spPr>
        <p:txBody>
          <a:bodyPr anchor="ctr" wrap="square"/>
          <a:lstStyle/>
          <a:p>
            <a:pPr algn="ctr"/>
            <a:r>
              <a:rPr sz="2800" b="1" i="0">
                <a:solidFill>
                  <a:srgbClr val="FF0000"/>
                </a:solidFill>
                <a:latin typeface="Arial"/>
              </a:rPr>
              <a:t>Literature Survey: Research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988552" cy="10058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097280"/>
            <a:ext cx="685800" cy="64008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G1</a:t>
            </a:r>
            <a:endParaRPr sz="1700"/>
          </a:p>
        </p:txBody>
      </p:sp>
      <p:sp>
        <p:nvSpPr>
          <p:cNvPr id="5" name="TextBox 4"/>
          <p:cNvSpPr txBox="1"/>
          <p:nvPr/>
        </p:nvSpPr>
        <p:spPr>
          <a:xfrm>
            <a:off x="1463040" y="1005840"/>
            <a:ext cx="7863840" cy="36576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600" b="1" i="0">
                <a:solidFill>
                  <a:srgbClr val="C00000"/>
                </a:solidFill>
                <a:latin typeface="Arial"/>
              </a:rPr>
              <a:t>Rider and operator sides are studied separately</a:t>
            </a:r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7863840" cy="50292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Journey planners serve riders; scheduling work serves buses and crews. None does both from one dataset.</a:t>
            </a:r>
            <a:endParaRPr sz="1400"/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8988552" cy="10058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5800" cy="64008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G2</a:t>
            </a:r>
            <a:endParaRPr sz="1700"/>
          </a:p>
        </p:txBody>
      </p:sp>
      <p:sp>
        <p:nvSpPr>
          <p:cNvPr id="9" name="TextBox 8"/>
          <p:cNvSpPr txBox="1"/>
          <p:nvPr/>
        </p:nvSpPr>
        <p:spPr>
          <a:xfrm>
            <a:off x="1463040" y="2103120"/>
            <a:ext cx="7863840" cy="36576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600" b="1" i="0">
                <a:solidFill>
                  <a:srgbClr val="C00000"/>
                </a:solidFill>
                <a:latin typeface="Arial"/>
              </a:rPr>
              <a:t>Scheduling is tested only on small cases</a:t>
            </a:r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1463040" y="2468880"/>
            <a:ext cx="7863840" cy="50292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Six lines, 30 trips or 595 shifts, not a full city timetable with 6,737 route-directions.</a:t>
            </a:r>
            <a:endParaRPr sz="1400"/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8988552" cy="10058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3291840"/>
            <a:ext cx="685800" cy="64008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G3</a:t>
            </a:r>
            <a:endParaRPr sz="1700"/>
          </a:p>
        </p:txBody>
      </p:sp>
      <p:sp>
        <p:nvSpPr>
          <p:cNvPr id="13" name="TextBox 12"/>
          <p:cNvSpPr txBox="1"/>
          <p:nvPr/>
        </p:nvSpPr>
        <p:spPr>
          <a:xfrm>
            <a:off x="1463040" y="3200400"/>
            <a:ext cx="7863840" cy="36576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600" b="1" i="0">
                <a:solidFill>
                  <a:srgbClr val="C00000"/>
                </a:solidFill>
                <a:latin typeface="Arial"/>
              </a:rPr>
              <a:t>Open data stops at static timetables</a:t>
            </a:r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1463040" y="3566160"/>
            <a:ext cx="7863840" cy="50292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No live service alerts, and estimated values are not clearly labelled.</a:t>
            </a:r>
            <a:endParaRPr sz="1400"/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8988552" cy="10058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4389120"/>
            <a:ext cx="685800" cy="64008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G4</a:t>
            </a:r>
            <a:endParaRPr sz="1700"/>
          </a:p>
        </p:txBody>
      </p:sp>
      <p:sp>
        <p:nvSpPr>
          <p:cNvPr id="17" name="TextBox 16"/>
          <p:cNvSpPr txBox="1"/>
          <p:nvPr/>
        </p:nvSpPr>
        <p:spPr>
          <a:xfrm>
            <a:off x="1463040" y="4297680"/>
            <a:ext cx="7863840" cy="36576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600" b="1" i="0">
                <a:solidFill>
                  <a:srgbClr val="C00000"/>
                </a:solidFill>
                <a:latin typeface="Arial"/>
              </a:rPr>
              <a:t>Rider demand never reaches the depot</a:t>
            </a:r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1463040" y="4663440"/>
            <a:ext cx="7863840" cy="50292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Demand studies are offline; riders cannot signal where they need more buses.</a:t>
            </a:r>
            <a:endParaRPr sz="1400"/>
          </a:p>
        </p:txBody>
      </p:sp>
      <p:sp>
        <p:nvSpPr>
          <p:cNvPr id="19" name="Rounded Rectangle 18"/>
          <p:cNvSpPr/>
          <p:nvPr/>
        </p:nvSpPr>
        <p:spPr>
          <a:xfrm>
            <a:off x="457200" y="5349240"/>
            <a:ext cx="8988552" cy="6858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500" b="1" i="0">
                <a:solidFill>
                  <a:srgbClr val="FFC9C9"/>
                </a:solidFill>
                <a:latin typeface="Arial"/>
              </a:rPr>
              <a:t>Our bridge: </a:t>
            </a:r>
            <a:r>
              <a:rPr sz="1500" b="0" i="0">
                <a:solidFill>
                  <a:srgbClr val="FFFFFF"/>
                </a:solidFill>
                <a:latin typeface="Arial"/>
              </a:rPr>
              <a:t>DBARS connects riders and the operator using one BMTC dataset.</a:t>
            </a:r>
            <a:endParaRPr sz="1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988552" cy="603504"/>
          </a:xfrm>
        </p:spPr>
        <p:txBody>
          <a:bodyPr anchor="ctr" wrap="square"/>
          <a:lstStyle/>
          <a:p>
            <a:pPr algn="ctr"/>
            <a:r>
              <a:rPr sz="2800" b="1" i="0">
                <a:solidFill>
                  <a:srgbClr val="FF0000"/>
                </a:solidFill>
                <a:latin typeface="Arial"/>
              </a:rPr>
              <a:t>Proposed Work /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988552" cy="141732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wrap="square" lIns="274320" tIns="73152" rIns="274320" bIns="73152"/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Bengaluru's bus network has 3,940 bus numbers and 4,883 stops. Existing apps help riders find a bus, but none links what riders need to how many buses and crew BMTC runs. DBARS proposes one platform, built on BMTC's timetable, that serves riders and the operator together.</a:t>
            </a:r>
            <a:endParaRPr sz="1500"/>
          </a:p>
        </p:txBody>
      </p:sp>
      <p:sp>
        <p:nvSpPr>
          <p:cNvPr id="4" name="Rounded Rectangle 3"/>
          <p:cNvSpPr/>
          <p:nvPr/>
        </p:nvSpPr>
        <p:spPr>
          <a:xfrm>
            <a:off x="457200" y="2514600"/>
            <a:ext cx="3611880" cy="3337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78608"/>
            <a:ext cx="3337560" cy="68580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/>
            <a:r>
              <a:rPr sz="1600" b="1" i="0">
                <a:solidFill>
                  <a:srgbClr val="1F2937"/>
                </a:solidFill>
                <a:latin typeface="Arial"/>
              </a:rPr>
              <a:t>Existing apps already offer</a:t>
            </a:r>
            <a:endParaRPr sz="1600"/>
          </a:p>
          <a:p>
            <a:pPr algn="l"/>
            <a:r>
              <a:rPr sz="1200" b="0" i="1">
                <a:solidFill>
                  <a:srgbClr val="4B5563"/>
                </a:solidFill>
                <a:latin typeface="Arial"/>
              </a:rPr>
              <a:t>Namma BMTC 2.0, Moovit, Google Maps</a:t>
            </a:r>
            <a:endParaRPr sz="1200"/>
          </a:p>
        </p:txBody>
      </p:sp>
      <p:sp>
        <p:nvSpPr>
          <p:cNvPr id="6" name="TextBox 5"/>
          <p:cNvSpPr txBox="1"/>
          <p:nvPr/>
        </p:nvSpPr>
        <p:spPr>
          <a:xfrm>
            <a:off x="594360" y="3474720"/>
            <a:ext cx="3337560" cy="228600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 marL="164592" indent="-164592">
              <a:spcAft>
                <a:spcPts val="1800"/>
              </a:spcAft>
              <a:buClr>
                <a:srgbClr val="4B5563"/>
              </a:buClr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Arial"/>
              </a:rPr>
              <a:t>Journey planning</a:t>
            </a:r>
            <a:endParaRPr sz="1700"/>
          </a:p>
          <a:p>
            <a:pPr algn="l" marL="164592" indent="-164592">
              <a:spcAft>
                <a:spcPts val="1800"/>
              </a:spcAft>
              <a:buClr>
                <a:srgbClr val="4B5563"/>
              </a:buClr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Arial"/>
              </a:rPr>
              <a:t>Live bus tracking</a:t>
            </a:r>
            <a:endParaRPr sz="1700"/>
          </a:p>
          <a:p>
            <a:pPr algn="l" marL="164592" indent="-164592">
              <a:spcAft>
                <a:spcPts val="1800"/>
              </a:spcAft>
              <a:buClr>
                <a:srgbClr val="4B5563"/>
              </a:buClr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Arial"/>
              </a:rPr>
              <a:t>Digital tickets and passes</a:t>
            </a:r>
            <a:endParaRPr sz="1700"/>
          </a:p>
        </p:txBody>
      </p:sp>
      <p:sp>
        <p:nvSpPr>
          <p:cNvPr id="7" name="Right Arrow 6"/>
          <p:cNvSpPr/>
          <p:nvPr/>
        </p:nvSpPr>
        <p:spPr>
          <a:xfrm>
            <a:off x="4160520" y="3931920"/>
            <a:ext cx="457200" cy="45720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60" y="2514600"/>
            <a:ext cx="4736592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578608"/>
            <a:ext cx="4462272" cy="45720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600" b="1" i="0">
                <a:solidFill>
                  <a:srgbClr val="C00000"/>
                </a:solidFill>
                <a:latin typeface="Arial"/>
              </a:rPr>
              <a:t>What DBARS adds</a:t>
            </a:r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4846320" y="3108960"/>
            <a:ext cx="4462272" cy="269748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Arial"/>
              </a:rPr>
              <a:t>Rider votes become depot recommendations</a:t>
            </a:r>
            <a:endParaRPr sz="1600"/>
          </a:p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Arial"/>
              </a:rPr>
              <a:t>Minimum buses and crew for a timetable</a:t>
            </a:r>
            <a:endParaRPr sz="1600"/>
          </a:p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Arial"/>
              </a:rPr>
              <a:t>Offline conductor waybill with cash check</a:t>
            </a:r>
            <a:endParaRPr sz="1600"/>
          </a:p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Arial"/>
              </a:rPr>
              <a:t>Shakti free rides counted for reimbursement</a:t>
            </a:r>
            <a:endParaRPr sz="1600"/>
          </a:p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Arial"/>
              </a:rPr>
              <a:t>Open timetable data with live alerts</a:t>
            </a:r>
            <a:endParaRPr sz="1600"/>
          </a:p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Arial"/>
              </a:rPr>
              <a:t>Four languages, plus SMS for basic phones</a:t>
            </a:r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457200" y="5916168"/>
            <a:ext cx="8988552" cy="27432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/>
            <a:r>
              <a:rPr sz="1000" b="0" i="1">
                <a:solidFill>
                  <a:srgbClr val="4B5563"/>
                </a:solidFill>
                <a:latin typeface="Arial"/>
              </a:rPr>
              <a:t>Comparison based on the apps' public feature descriptions, September 2026.</a:t>
            </a:r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988552" cy="603504"/>
          </a:xfrm>
        </p:spPr>
        <p:txBody>
          <a:bodyPr anchor="ctr" wrap="square"/>
          <a:lstStyle/>
          <a:p>
            <a:pPr algn="ctr"/>
            <a:r>
              <a:rPr sz="2800" b="1" i="0">
                <a:solidFill>
                  <a:srgbClr val="FF0000"/>
                </a:solidFill>
                <a:latin typeface="Arial"/>
              </a:rPr>
              <a:t>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8988552" cy="1143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1261872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1463040" y="960120"/>
            <a:ext cx="7772400" cy="114300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900" b="1" i="0">
                <a:solidFill>
                  <a:srgbClr val="C00000"/>
                </a:solidFill>
                <a:latin typeface="Arial"/>
              </a:rPr>
              <a:t>To develop </a:t>
            </a:r>
            <a:r>
              <a:rPr sz="1900" b="0" i="0">
                <a:solidFill>
                  <a:srgbClr val="1F2937"/>
                </a:solidFill>
                <a:latin typeface="Arial"/>
              </a:rPr>
              <a:t>a journey planner for direct and connecting bus trips across 4,883 stops.</a:t>
            </a:r>
            <a:endParaRPr sz="1900"/>
          </a:p>
        </p:txBody>
      </p:sp>
      <p:sp>
        <p:nvSpPr>
          <p:cNvPr id="6" name="Rounded Rectangle 5"/>
          <p:cNvSpPr/>
          <p:nvPr/>
        </p:nvSpPr>
        <p:spPr>
          <a:xfrm>
            <a:off x="457200" y="2240280"/>
            <a:ext cx="8988552" cy="1143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2542032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463040" y="2240280"/>
            <a:ext cx="7772400" cy="114300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900" b="1" i="0">
                <a:solidFill>
                  <a:srgbClr val="C00000"/>
                </a:solidFill>
                <a:latin typeface="Arial"/>
              </a:rPr>
              <a:t>To establish </a:t>
            </a:r>
            <a:r>
              <a:rPr sz="1900" b="0" i="0">
                <a:solidFill>
                  <a:srgbClr val="1F2937"/>
                </a:solidFill>
                <a:latin typeface="Arial"/>
              </a:rPr>
              <a:t>a planner for the minimum buses and crew a timetable needs.</a:t>
            </a:r>
            <a:endParaRPr sz="1900"/>
          </a:p>
        </p:txBody>
      </p:sp>
      <p:sp>
        <p:nvSpPr>
          <p:cNvPr id="9" name="Rounded Rectangle 8"/>
          <p:cNvSpPr/>
          <p:nvPr/>
        </p:nvSpPr>
        <p:spPr>
          <a:xfrm>
            <a:off x="457200" y="3520440"/>
            <a:ext cx="8988552" cy="1143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3822191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463040" y="3520440"/>
            <a:ext cx="7772400" cy="114300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900" b="1" i="0">
                <a:solidFill>
                  <a:srgbClr val="C00000"/>
                </a:solidFill>
                <a:latin typeface="Arial"/>
              </a:rPr>
              <a:t>To analyse </a:t>
            </a:r>
            <a:r>
              <a:rPr sz="1900" b="0" i="0">
                <a:solidFill>
                  <a:srgbClr val="1F2937"/>
                </a:solidFill>
                <a:latin typeface="Arial"/>
              </a:rPr>
              <a:t>rider demand and turn it into ranked recommendations for depot managers.</a:t>
            </a:r>
            <a:endParaRPr sz="1900"/>
          </a:p>
        </p:txBody>
      </p:sp>
      <p:sp>
        <p:nvSpPr>
          <p:cNvPr id="12" name="Rounded Rectangle 11"/>
          <p:cNvSpPr/>
          <p:nvPr/>
        </p:nvSpPr>
        <p:spPr>
          <a:xfrm>
            <a:off x="457200" y="4800600"/>
            <a:ext cx="8988552" cy="1143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5102352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1463040" y="4800600"/>
            <a:ext cx="7772400" cy="114300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900" b="1" i="0">
                <a:solidFill>
                  <a:srgbClr val="C00000"/>
                </a:solidFill>
                <a:latin typeface="Arial"/>
              </a:rPr>
              <a:t>To publish </a:t>
            </a:r>
            <a:r>
              <a:rPr sz="1900" b="0" i="0">
                <a:solidFill>
                  <a:srgbClr val="1F2937"/>
                </a:solidFill>
                <a:latin typeface="Arial"/>
              </a:rPr>
              <a:t>the bus network as open data and evaluate the system honestly.</a:t>
            </a:r>
            <a:endParaRPr sz="1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988552" cy="603504"/>
          </a:xfrm>
        </p:spPr>
        <p:txBody>
          <a:bodyPr anchor="ctr" wrap="square"/>
          <a:lstStyle/>
          <a:p>
            <a:pPr algn="ctr"/>
            <a:r>
              <a:rPr sz="2800" b="1" i="0">
                <a:solidFill>
                  <a:srgbClr val="FF0000"/>
                </a:solidFill>
                <a:latin typeface="Arial"/>
              </a:rPr>
              <a:t>Methods / Proposed Methodology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988552" cy="33832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4206240"/>
                <a:gridCol w="2862072"/>
              </a:tblGrid>
              <a:tr h="384048">
                <a:tc>
                  <a:txBody>
                    <a:bodyPr wrap="square" anchor="ctr" tIns="36576" bIns="36576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  <a:endParaRPr sz="1300"/>
                    </a:p>
                  </a:txBody>
                  <a:tcPr marL="91440" marT="36576" marR="91440" marB="36576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tIns="36576" bIns="36576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How we will do it</a:t>
                      </a:r>
                      <a:endParaRPr sz="1300"/>
                    </a:p>
                  </a:txBody>
                  <a:tcPr marL="91440" marT="36576" marR="91440" marB="36576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tIns="36576" bIns="36576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Why this method</a:t>
                      </a:r>
                      <a:endParaRPr sz="1300"/>
                    </a:p>
                  </a:txBody>
                  <a:tcPr marL="91440" marT="36576" marR="91440" marB="36576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749808">
                <a:tc>
                  <a:txBody>
                    <a:bodyPr wrap="square" anchor="ctr" tIns="36576" bIns="36576"/>
                    <a:lstStyle/>
                    <a:p>
                      <a:pPr algn="l"/>
                      <a:r>
                        <a:rPr sz="1250" b="1" i="0">
                          <a:solidFill>
                            <a:srgbClr val="C00000"/>
                          </a:solidFill>
                          <a:latin typeface="Arial"/>
                        </a:rPr>
                        <a:t>1  Journey planner</a:t>
                      </a:r>
                      <a:endParaRPr sz="1250"/>
                    </a:p>
                  </a:txBody>
                  <a:tcPr marL="91440" marT="36576" marR="91440" marB="36576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tIns="36576" bIns="36576"/>
                    <a:lstStyle/>
                    <a:p>
                      <a:pPr algn="l"/>
                      <a:r>
                        <a:rPr sz="1250" b="0" i="0">
                          <a:solidFill>
                            <a:srgbClr val="1F2937"/>
                          </a:solidFill>
                          <a:latin typeface="Arial"/>
                        </a:rPr>
                        <a:t>Index routes by stop order; match stop names; allow only short-walk transfers; rank by directness</a:t>
                      </a:r>
                      <a:endParaRPr sz="1250"/>
                    </a:p>
                  </a:txBody>
                  <a:tcPr marL="91440" marT="36576" marR="91440" marB="36576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tIns="36576" bIns="36576"/>
                    <a:lstStyle/>
                    <a:p>
                      <a:pPr algn="l"/>
                      <a:r>
                        <a:rPr sz="1250" b="0" i="0">
                          <a:solidFill>
                            <a:srgbClr val="1F2937"/>
                          </a:solidFill>
                          <a:latin typeface="Arial"/>
                        </a:rPr>
                        <a:t>Fast and exact on a route list with no training labels</a:t>
                      </a:r>
                      <a:endParaRPr sz="1250"/>
                    </a:p>
                  </a:txBody>
                  <a:tcPr marL="91440" marT="36576" marR="91440" marB="36576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749808">
                <a:tc>
                  <a:txBody>
                    <a:bodyPr wrap="square" anchor="ctr" tIns="36576" bIns="36576"/>
                    <a:lstStyle/>
                    <a:p>
                      <a:pPr algn="l"/>
                      <a:r>
                        <a:rPr sz="1250" b="1" i="0">
                          <a:solidFill>
                            <a:srgbClr val="C00000"/>
                          </a:solidFill>
                          <a:latin typeface="Arial"/>
                        </a:rPr>
                        <a:t>2  Fleet and crew planner</a:t>
                      </a:r>
                      <a:endParaRPr sz="1250"/>
                    </a:p>
                  </a:txBody>
                  <a:tcPr marL="91440" marT="36576" marR="91440" marB="36576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tIns="36576" bIns="36576"/>
                    <a:lstStyle/>
                    <a:p>
                      <a:pPr algn="l"/>
                      <a:r>
                        <a:rPr sz="1250" b="0" i="0">
                          <a:solidFill>
                            <a:srgbClr val="1F2937"/>
                          </a:solidFill>
                          <a:latin typeface="Arial"/>
                        </a:rPr>
                        <a:t>Chain trips into bus schedules; check against a lower bound; build legal crew duties</a:t>
                      </a:r>
                      <a:endParaRPr sz="1250"/>
                    </a:p>
                  </a:txBody>
                  <a:tcPr marL="91440" marT="36576" marR="91440" marB="36576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tIns="36576" bIns="36576"/>
                    <a:lstStyle/>
                    <a:p>
                      <a:pPr algn="l"/>
                      <a:r>
                        <a:rPr sz="1250" b="0" i="0">
                          <a:solidFill>
                            <a:srgbClr val="1F2937"/>
                          </a:solidFill>
                          <a:latin typeface="Arial"/>
                        </a:rPr>
                        <a:t>Shows how close to the minimum the fleet is</a:t>
                      </a:r>
                      <a:endParaRPr sz="1250"/>
                    </a:p>
                  </a:txBody>
                  <a:tcPr marL="91440" marT="36576" marR="91440" marB="36576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</a:tr>
              <a:tr h="749808">
                <a:tc>
                  <a:txBody>
                    <a:bodyPr wrap="square" anchor="ctr" tIns="36576" bIns="36576"/>
                    <a:lstStyle/>
                    <a:p>
                      <a:pPr algn="l"/>
                      <a:r>
                        <a:rPr sz="1250" b="1" i="0">
                          <a:solidFill>
                            <a:srgbClr val="C00000"/>
                          </a:solidFill>
                          <a:latin typeface="Arial"/>
                        </a:rPr>
                        <a:t>3  Demand and tickets</a:t>
                      </a:r>
                      <a:endParaRPr sz="1250"/>
                    </a:p>
                  </a:txBody>
                  <a:tcPr marL="91440" marT="36576" marR="91440" marB="36576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tIns="36576" bIns="36576"/>
                    <a:lstStyle/>
                    <a:p>
                      <a:pPr algn="l"/>
                      <a:r>
                        <a:rPr sz="1250" b="0" i="0">
                          <a:solidFill>
                            <a:srgbClr val="1F2937"/>
                          </a:solidFill>
                          <a:latin typeface="Arial"/>
                        </a:rPr>
                        <a:t>Check votes for abuse, group by origin and destination, rank for depots; QR tickets; offline conductor sales</a:t>
                      </a:r>
                      <a:endParaRPr sz="1250"/>
                    </a:p>
                  </a:txBody>
                  <a:tcPr marL="91440" marT="36576" marR="91440" marB="36576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tIns="36576" bIns="36576"/>
                    <a:lstStyle/>
                    <a:p>
                      <a:pPr algn="l"/>
                      <a:r>
                        <a:rPr sz="1250" b="0" i="0">
                          <a:solidFill>
                            <a:srgbClr val="1F2937"/>
                          </a:solidFill>
                          <a:latin typeface="Arial"/>
                        </a:rPr>
                        <a:t>Links riders to depot decisions; works without signal</a:t>
                      </a:r>
                      <a:endParaRPr sz="1250"/>
                    </a:p>
                  </a:txBody>
                  <a:tcPr marL="91440" marT="36576" marR="91440" marB="36576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749808">
                <a:tc>
                  <a:txBody>
                    <a:bodyPr wrap="square" anchor="ctr" tIns="36576" bIns="36576"/>
                    <a:lstStyle/>
                    <a:p>
                      <a:pPr algn="l"/>
                      <a:r>
                        <a:rPr sz="1250" b="1" i="0">
                          <a:solidFill>
                            <a:srgbClr val="C00000"/>
                          </a:solidFill>
                          <a:latin typeface="Arial"/>
                        </a:rPr>
                        <a:t>4  Open data and evaluation</a:t>
                      </a:r>
                      <a:endParaRPr sz="1250"/>
                    </a:p>
                  </a:txBody>
                  <a:tcPr marL="91440" marT="36576" marR="91440" marB="36576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tIns="36576" bIns="36576"/>
                    <a:lstStyle/>
                    <a:p>
                      <a:pPr algn="l"/>
                      <a:r>
                        <a:rPr sz="1250" b="0" i="0">
                          <a:solidFill>
                            <a:srgbClr val="1F2937"/>
                          </a:solidFill>
                          <a:latin typeface="Arial"/>
                        </a:rPr>
                        <a:t>Publish in the GTFS format; label estimates; test with a metric that can fail</a:t>
                      </a:r>
                      <a:endParaRPr sz="1250"/>
                    </a:p>
                  </a:txBody>
                  <a:tcPr marL="91440" marT="36576" marR="91440" marB="36576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 tIns="36576" bIns="36576"/>
                    <a:lstStyle/>
                    <a:p>
                      <a:pPr algn="l"/>
                      <a:r>
                        <a:rPr sz="1250" b="0" i="0">
                          <a:solidFill>
                            <a:srgbClr val="1F2937"/>
                          </a:solidFill>
                          <a:latin typeface="Arial"/>
                        </a:rPr>
                        <a:t>Any app can reuse it; results stay honest</a:t>
                      </a:r>
                      <a:endParaRPr sz="1250"/>
                    </a:p>
                  </a:txBody>
                  <a:tcPr marL="91440" marT="36576" marR="91440" marB="36576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8988552" cy="32004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/>
            <a:r>
              <a:rPr sz="1300" b="1" i="0">
                <a:solidFill>
                  <a:srgbClr val="C00000"/>
                </a:solidFill>
                <a:latin typeface="Arial"/>
              </a:rPr>
              <a:t>How it fits together</a:t>
            </a:r>
            <a:endParaRPr sz="1300"/>
          </a:p>
        </p:txBody>
      </p:sp>
      <p:sp>
        <p:nvSpPr>
          <p:cNvPr id="5" name="Rounded Rectangle 4"/>
          <p:cNvSpPr/>
          <p:nvPr/>
        </p:nvSpPr>
        <p:spPr>
          <a:xfrm>
            <a:off x="457200" y="4956048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BMTC timetable</a:t>
            </a:r>
            <a:endParaRPr sz="1500"/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routes, stops, fares</a:t>
            </a:r>
            <a:endParaRPr sz="1100"/>
          </a:p>
        </p:txBody>
      </p:sp>
      <p:sp>
        <p:nvSpPr>
          <p:cNvPr id="6" name="Rounded Rectangle 5"/>
          <p:cNvSpPr/>
          <p:nvPr/>
        </p:nvSpPr>
        <p:spPr>
          <a:xfrm>
            <a:off x="3063240" y="4956048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DBARS</a:t>
            </a:r>
            <a:endParaRPr sz="1500"/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find the bus  |  plan the fleet  |  open the data</a:t>
            </a:r>
            <a:endParaRPr sz="1100"/>
          </a:p>
        </p:txBody>
      </p:sp>
      <p:sp>
        <p:nvSpPr>
          <p:cNvPr id="7" name="Rounded Rectangle 6"/>
          <p:cNvSpPr/>
          <p:nvPr/>
        </p:nvSpPr>
        <p:spPr>
          <a:xfrm>
            <a:off x="7086600" y="4956048"/>
            <a:ext cx="2359152" cy="9144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Users</a:t>
            </a:r>
            <a:endParaRPr sz="1500"/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riders, depot managers, other apps</a:t>
            </a:r>
            <a:endParaRPr sz="1100"/>
          </a:p>
        </p:txBody>
      </p:sp>
      <p:sp>
        <p:nvSpPr>
          <p:cNvPr id="8" name="Right Arrow 7"/>
          <p:cNvSpPr/>
          <p:nvPr/>
        </p:nvSpPr>
        <p:spPr>
          <a:xfrm>
            <a:off x="2633472" y="5230368"/>
            <a:ext cx="365760" cy="365760"/>
          </a:xfrm>
          <a:prstGeom prst="rightArrow">
            <a:avLst/>
          </a:prstGeom>
          <a:solidFill>
            <a:srgbClr val="4B55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6647688" y="5230368"/>
            <a:ext cx="365760" cy="365760"/>
          </a:xfrm>
          <a:prstGeom prst="rightArrow">
            <a:avLst/>
          </a:prstGeom>
          <a:solidFill>
            <a:srgbClr val="4B55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5897880"/>
            <a:ext cx="6382512" cy="27432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ctr"/>
            <a:r>
              <a:rPr sz="1100" b="0" i="1">
                <a:solidFill>
                  <a:srgbClr val="4B5563"/>
                </a:solidFill>
                <a:latin typeface="Arial"/>
              </a:rPr>
              <a:t>Rider votes flow back into depot planning</a:t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988552" cy="603504"/>
          </a:xfrm>
        </p:spPr>
        <p:txBody>
          <a:bodyPr anchor="ctr" wrap="square"/>
          <a:lstStyle/>
          <a:p>
            <a:pPr algn="ctr"/>
            <a:r>
              <a:rPr sz="2400" b="1" i="0">
                <a:solidFill>
                  <a:srgbClr val="FF0000"/>
                </a:solidFill>
                <a:latin typeface="Arial"/>
              </a:rPr>
              <a:t>Sustainable Development Goals Aligned to the Project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434840" cy="23317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09728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D9D24"/>
          </a:solidFill>
          <a:ln>
            <a:noFill/>
          </a:ln>
          <a:effectLst/>
        </p:spPr>
        <p:txBody>
          <a:bodyPr rtlCol="0" anchor="ctr" wrap="square" lIns="45720" tIns="36576" rIns="45720" bIns="36576"/>
          <a:lstStyle/>
          <a:p>
            <a:pPr algn="ctr"/>
            <a:r>
              <a:rPr sz="2200" b="1" i="0">
                <a:solidFill>
                  <a:srgbClr val="1F2937"/>
                </a:solidFill>
                <a:latin typeface="Arial"/>
              </a:rPr>
              <a:t>SDG 11</a:t>
            </a:r>
            <a:endParaRPr sz="2200"/>
          </a:p>
          <a:p>
            <a:pPr algn="ctr"/>
            <a:r>
              <a:rPr sz="1000" b="1" i="0">
                <a:solidFill>
                  <a:srgbClr val="1F2937"/>
                </a:solidFill>
                <a:latin typeface="Arial"/>
              </a:rPr>
              <a:t>Sustainable Cities</a:t>
            </a:r>
            <a:endParaRPr sz="1000"/>
          </a:p>
        </p:txBody>
      </p:sp>
      <p:sp>
        <p:nvSpPr>
          <p:cNvPr id="5" name="TextBox 4"/>
          <p:cNvSpPr txBox="1"/>
          <p:nvPr/>
        </p:nvSpPr>
        <p:spPr>
          <a:xfrm>
            <a:off x="2148840" y="1097280"/>
            <a:ext cx="2606039" cy="137160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500" b="1" i="0">
                <a:solidFill>
                  <a:srgbClr val="C00000"/>
                </a:solidFill>
                <a:latin typeface="Arial"/>
              </a:rPr>
              <a:t>Target 11.2: accessible public transport</a:t>
            </a:r>
            <a:endParaRPr sz="1500"/>
          </a:p>
        </p:txBody>
      </p:sp>
      <p:sp>
        <p:nvSpPr>
          <p:cNvPr id="6" name="TextBox 5"/>
          <p:cNvSpPr txBox="1"/>
          <p:nvPr/>
        </p:nvSpPr>
        <p:spPr>
          <a:xfrm>
            <a:off x="621792" y="2560320"/>
            <a:ext cx="4105655" cy="64008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Easier bus trips in four languages, plus SMS for basic phones.</a:t>
            </a:r>
            <a:endParaRPr sz="1400"/>
          </a:p>
        </p:txBody>
      </p:sp>
      <p:sp>
        <p:nvSpPr>
          <p:cNvPr id="7" name="Rounded Rectangle 6"/>
          <p:cNvSpPr/>
          <p:nvPr/>
        </p:nvSpPr>
        <p:spPr>
          <a:xfrm>
            <a:off x="5010912" y="914400"/>
            <a:ext cx="4434840" cy="23317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75503" y="109728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36D25"/>
          </a:solidFill>
          <a:ln>
            <a:noFill/>
          </a:ln>
          <a:effectLst/>
        </p:spPr>
        <p:txBody>
          <a:bodyPr rtlCol="0" anchor="ctr" wrap="square" lIns="45720" tIns="36576" rIns="45720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SDG 9</a:t>
            </a:r>
            <a:endParaRPr sz="2200"/>
          </a:p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Industry and Infrastructure</a:t>
            </a:r>
            <a:endParaRPr sz="1000"/>
          </a:p>
        </p:txBody>
      </p:sp>
      <p:sp>
        <p:nvSpPr>
          <p:cNvPr id="9" name="TextBox 8"/>
          <p:cNvSpPr txBox="1"/>
          <p:nvPr/>
        </p:nvSpPr>
        <p:spPr>
          <a:xfrm>
            <a:off x="6702552" y="1097280"/>
            <a:ext cx="2606039" cy="137160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500" b="1" i="0">
                <a:solidFill>
                  <a:srgbClr val="C00000"/>
                </a:solidFill>
                <a:latin typeface="Arial"/>
              </a:rPr>
              <a:t>Target 9.1: reliable infrastructure</a:t>
            </a:r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5175503" y="2560320"/>
            <a:ext cx="4105655" cy="64008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Data-driven planning of buses and crew for dependable service.</a:t>
            </a:r>
            <a:endParaRPr sz="1400"/>
          </a:p>
        </p:txBody>
      </p:sp>
      <p:sp>
        <p:nvSpPr>
          <p:cNvPr id="11" name="Rounded Rectangle 10"/>
          <p:cNvSpPr/>
          <p:nvPr/>
        </p:nvSpPr>
        <p:spPr>
          <a:xfrm>
            <a:off x="457200" y="3383279"/>
            <a:ext cx="4434840" cy="23317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" y="356616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3A21"/>
          </a:solidFill>
          <a:ln>
            <a:noFill/>
          </a:ln>
          <a:effectLst/>
        </p:spPr>
        <p:txBody>
          <a:bodyPr rtlCol="0" anchor="ctr" wrap="square" lIns="45720" tIns="36576" rIns="45720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SDG 5</a:t>
            </a:r>
            <a:endParaRPr sz="2200"/>
          </a:p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Gender Equality</a:t>
            </a:r>
            <a:endParaRPr sz="1000"/>
          </a:p>
        </p:txBody>
      </p:sp>
      <p:sp>
        <p:nvSpPr>
          <p:cNvPr id="13" name="TextBox 12"/>
          <p:cNvSpPr txBox="1"/>
          <p:nvPr/>
        </p:nvSpPr>
        <p:spPr>
          <a:xfrm>
            <a:off x="2148840" y="3566160"/>
            <a:ext cx="2606039" cy="137160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500" b="1" i="0">
                <a:solidFill>
                  <a:srgbClr val="C00000"/>
                </a:solidFill>
                <a:latin typeface="Arial"/>
              </a:rPr>
              <a:t>Target 5.b: technology for women</a:t>
            </a:r>
            <a:endParaRPr sz="1500"/>
          </a:p>
        </p:txBody>
      </p:sp>
      <p:sp>
        <p:nvSpPr>
          <p:cNvPr id="14" name="TextBox 13"/>
          <p:cNvSpPr txBox="1"/>
          <p:nvPr/>
        </p:nvSpPr>
        <p:spPr>
          <a:xfrm>
            <a:off x="621792" y="5029200"/>
            <a:ext cx="4105655" cy="64008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Shakti free travel supported digitally and counted in full.</a:t>
            </a:r>
            <a:endParaRPr sz="1400"/>
          </a:p>
        </p:txBody>
      </p:sp>
      <p:sp>
        <p:nvSpPr>
          <p:cNvPr id="15" name="Rounded Rectangle 14"/>
          <p:cNvSpPr/>
          <p:nvPr/>
        </p:nvSpPr>
        <p:spPr>
          <a:xfrm>
            <a:off x="5010912" y="3383279"/>
            <a:ext cx="4434840" cy="23317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75503" y="356616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00689D"/>
          </a:solidFill>
          <a:ln>
            <a:noFill/>
          </a:ln>
          <a:effectLst/>
        </p:spPr>
        <p:txBody>
          <a:bodyPr rtlCol="0" anchor="ctr" wrap="square" lIns="45720" tIns="36576" rIns="45720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SDG 16</a:t>
            </a:r>
            <a:endParaRPr sz="2200"/>
          </a:p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Strong Institutions</a:t>
            </a:r>
            <a:endParaRPr sz="1000"/>
          </a:p>
        </p:txBody>
      </p:sp>
      <p:sp>
        <p:nvSpPr>
          <p:cNvPr id="17" name="TextBox 16"/>
          <p:cNvSpPr txBox="1"/>
          <p:nvPr/>
        </p:nvSpPr>
        <p:spPr>
          <a:xfrm>
            <a:off x="6702552" y="3566160"/>
            <a:ext cx="2606039" cy="137160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500" b="1" i="0">
                <a:solidFill>
                  <a:srgbClr val="C00000"/>
                </a:solidFill>
                <a:latin typeface="Arial"/>
              </a:rPr>
              <a:t>Target 16.6: transparent institutions</a:t>
            </a:r>
            <a:endParaRPr sz="1500"/>
          </a:p>
        </p:txBody>
      </p:sp>
      <p:sp>
        <p:nvSpPr>
          <p:cNvPr id="18" name="TextBox 17"/>
          <p:cNvSpPr txBox="1"/>
          <p:nvPr/>
        </p:nvSpPr>
        <p:spPr>
          <a:xfrm>
            <a:off x="5175503" y="5029200"/>
            <a:ext cx="4105655" cy="64008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Audit log and honest cash and data reporting.</a:t>
            </a:r>
            <a:endParaRPr sz="1400"/>
          </a:p>
        </p:txBody>
      </p:sp>
      <p:sp>
        <p:nvSpPr>
          <p:cNvPr id="19" name="TextBox 18"/>
          <p:cNvSpPr txBox="1"/>
          <p:nvPr/>
        </p:nvSpPr>
        <p:spPr>
          <a:xfrm>
            <a:off x="457200" y="5897880"/>
            <a:ext cx="8988552" cy="27432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/>
            <a:r>
              <a:rPr sz="1000" b="0" i="1">
                <a:solidFill>
                  <a:srgbClr val="4B5563"/>
                </a:solidFill>
                <a:latin typeface="Arial"/>
              </a:rPr>
              <a:t>Source: https://sdgs.un.org/goals</a:t>
            </a:r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988552" cy="603504"/>
          </a:xfrm>
        </p:spPr>
        <p:txBody>
          <a:bodyPr anchor="ctr" wrap="square"/>
          <a:lstStyle/>
          <a:p>
            <a:pPr algn="ctr"/>
            <a:r>
              <a:rPr sz="2800" b="1" i="0">
                <a:solidFill>
                  <a:srgbClr val="FF0000"/>
                </a:solidFill>
                <a:latin typeface="Arial"/>
              </a:rPr>
              <a:t>Expected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434840" cy="248716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" y="1060704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</a:t>
            </a:r>
            <a:endParaRPr sz="1300"/>
          </a:p>
        </p:txBody>
      </p:sp>
      <p:sp>
        <p:nvSpPr>
          <p:cNvPr id="5" name="TextBox 4"/>
          <p:cNvSpPr txBox="1"/>
          <p:nvPr/>
        </p:nvSpPr>
        <p:spPr>
          <a:xfrm>
            <a:off x="1115568" y="1042416"/>
            <a:ext cx="3611879" cy="420624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700" b="1" i="0">
                <a:solidFill>
                  <a:srgbClr val="C00000"/>
                </a:solidFill>
                <a:latin typeface="Arial"/>
              </a:rPr>
              <a:t>Functional</a:t>
            </a:r>
            <a:endParaRPr sz="1700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069079" cy="1755648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Arial"/>
              </a:rPr>
              <a:t>Journey search with fares and maps</a:t>
            </a:r>
            <a:endParaRPr sz="1500"/>
          </a:p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Arial"/>
              </a:rPr>
              <a:t>Fleet and crew plans with what-if changes</a:t>
            </a:r>
            <a:endParaRPr sz="1500"/>
          </a:p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Arial"/>
              </a:rPr>
              <a:t>Rider demand turned into depot recommendations</a:t>
            </a:r>
            <a:endParaRPr sz="1500"/>
          </a:p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Arial"/>
              </a:rPr>
              <a:t>Open timetable data with alerts</a:t>
            </a:r>
            <a:endParaRPr sz="1500"/>
          </a:p>
        </p:txBody>
      </p:sp>
      <p:sp>
        <p:nvSpPr>
          <p:cNvPr id="7" name="Rounded Rectangle 6"/>
          <p:cNvSpPr/>
          <p:nvPr/>
        </p:nvSpPr>
        <p:spPr>
          <a:xfrm>
            <a:off x="5010912" y="914400"/>
            <a:ext cx="4434840" cy="248716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75503" y="1060704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B</a:t>
            </a:r>
            <a:endParaRPr sz="1300"/>
          </a:p>
        </p:txBody>
      </p:sp>
      <p:sp>
        <p:nvSpPr>
          <p:cNvPr id="9" name="TextBox 8"/>
          <p:cNvSpPr txBox="1"/>
          <p:nvPr/>
        </p:nvSpPr>
        <p:spPr>
          <a:xfrm>
            <a:off x="5669279" y="1042416"/>
            <a:ext cx="3611879" cy="420624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700" b="1" i="0">
                <a:solidFill>
                  <a:srgbClr val="C00000"/>
                </a:solidFill>
                <a:latin typeface="Arial"/>
              </a:rPr>
              <a:t>Performance</a:t>
            </a:r>
            <a:endParaRPr sz="1700"/>
          </a:p>
        </p:txBody>
      </p:sp>
      <p:sp>
        <p:nvSpPr>
          <p:cNvPr id="10" name="TextBox 9"/>
          <p:cNvSpPr txBox="1"/>
          <p:nvPr/>
        </p:nvSpPr>
        <p:spPr>
          <a:xfrm>
            <a:off x="5193792" y="1600200"/>
            <a:ext cx="4069079" cy="1755648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Arial"/>
              </a:rPr>
              <a:t>Best bus ranked first in most test cases</a:t>
            </a:r>
            <a:endParaRPr sz="1500"/>
          </a:p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Arial"/>
              </a:rPr>
              <a:t>Fast responses for real-time use</a:t>
            </a:r>
            <a:endParaRPr sz="1500"/>
          </a:p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Arial"/>
              </a:rPr>
              <a:t>Fleet size compared with a proven minimum</a:t>
            </a:r>
            <a:endParaRPr sz="1500"/>
          </a:p>
        </p:txBody>
      </p:sp>
      <p:sp>
        <p:nvSpPr>
          <p:cNvPr id="11" name="Rounded Rectangle 10"/>
          <p:cNvSpPr/>
          <p:nvPr/>
        </p:nvSpPr>
        <p:spPr>
          <a:xfrm>
            <a:off x="457200" y="3520440"/>
            <a:ext cx="4434840" cy="248716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" y="3666744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</a:t>
            </a:r>
            <a:endParaRPr sz="1300"/>
          </a:p>
        </p:txBody>
      </p:sp>
      <p:sp>
        <p:nvSpPr>
          <p:cNvPr id="13" name="TextBox 12"/>
          <p:cNvSpPr txBox="1"/>
          <p:nvPr/>
        </p:nvSpPr>
        <p:spPr>
          <a:xfrm>
            <a:off x="1115568" y="3648456"/>
            <a:ext cx="3611879" cy="420624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700" b="1" i="0">
                <a:solidFill>
                  <a:srgbClr val="C00000"/>
                </a:solidFill>
                <a:latin typeface="Arial"/>
              </a:rPr>
              <a:t>Practical impact</a:t>
            </a:r>
            <a:endParaRPr sz="1700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4069079" cy="1755648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Arial"/>
              </a:rPr>
              <a:t>Riders: easier, clearer trips</a:t>
            </a:r>
            <a:endParaRPr sz="1500"/>
          </a:p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Arial"/>
              </a:rPr>
              <a:t>Depots: see what a timetable change costs</a:t>
            </a:r>
            <a:endParaRPr sz="1500"/>
          </a:p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Arial"/>
              </a:rPr>
              <a:t>BMTC finance: Shakti and cash clearly reported</a:t>
            </a:r>
            <a:endParaRPr sz="1500"/>
          </a:p>
        </p:txBody>
      </p:sp>
      <p:sp>
        <p:nvSpPr>
          <p:cNvPr id="15" name="Rounded Rectangle 14"/>
          <p:cNvSpPr/>
          <p:nvPr/>
        </p:nvSpPr>
        <p:spPr>
          <a:xfrm>
            <a:off x="5010912" y="3520440"/>
            <a:ext cx="4434840" cy="248716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75503" y="3666744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</a:t>
            </a:r>
            <a:endParaRPr sz="1300"/>
          </a:p>
        </p:txBody>
      </p:sp>
      <p:sp>
        <p:nvSpPr>
          <p:cNvPr id="17" name="TextBox 16"/>
          <p:cNvSpPr txBox="1"/>
          <p:nvPr/>
        </p:nvSpPr>
        <p:spPr>
          <a:xfrm>
            <a:off x="5669279" y="3648456"/>
            <a:ext cx="3611879" cy="420624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700" b="1" i="0">
                <a:solidFill>
                  <a:srgbClr val="C00000"/>
                </a:solidFill>
                <a:latin typeface="Arial"/>
              </a:rPr>
              <a:t>Extension</a:t>
            </a:r>
            <a:endParaRPr sz="1700"/>
          </a:p>
        </p:txBody>
      </p:sp>
      <p:sp>
        <p:nvSpPr>
          <p:cNvPr id="18" name="TextBox 17"/>
          <p:cNvSpPr txBox="1"/>
          <p:nvPr/>
        </p:nvSpPr>
        <p:spPr>
          <a:xfrm>
            <a:off x="5193792" y="4206240"/>
            <a:ext cx="4069079" cy="1755648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Arial"/>
              </a:rPr>
              <a:t>Connect BMTC's live bus-location feed</a:t>
            </a:r>
            <a:endParaRPr sz="1500"/>
          </a:p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Arial"/>
              </a:rPr>
              <a:t>Pilot at one depot against real rosters</a:t>
            </a:r>
            <a:endParaRPr sz="1500"/>
          </a:p>
          <a:p>
            <a:pPr algn="l" marL="164592" indent="-164592"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Arial"/>
              </a:rPr>
              <a:t>Payment gateway for tickets and Shakti</a:t>
            </a:r>
            <a:endParaRPr sz="15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988552" cy="603504"/>
          </a:xfrm>
        </p:spPr>
        <p:txBody>
          <a:bodyPr anchor="ctr" wrap="square"/>
          <a:lstStyle/>
          <a:p>
            <a:pPr algn="ctr"/>
            <a:r>
              <a:rPr sz="2800" b="1" i="0">
                <a:solidFill>
                  <a:srgbClr val="FF0000"/>
                </a:solidFill>
                <a:latin typeface="Arial"/>
              </a:rPr>
              <a:t>Gantt Chart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9006840" cy="438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71800"/>
                <a:gridCol w="377190"/>
                <a:gridCol w="377190"/>
                <a:gridCol w="377190"/>
                <a:gridCol w="377190"/>
                <a:gridCol w="377190"/>
                <a:gridCol w="377190"/>
                <a:gridCol w="377190"/>
                <a:gridCol w="377190"/>
                <a:gridCol w="377190"/>
                <a:gridCol w="377190"/>
                <a:gridCol w="377190"/>
                <a:gridCol w="377190"/>
                <a:gridCol w="377190"/>
                <a:gridCol w="377190"/>
                <a:gridCol w="377190"/>
                <a:gridCol w="377190"/>
              </a:tblGrid>
              <a:tr h="310896">
                <a:tc gridSpan="17">
                  <a:txBody>
                    <a:bodyPr wrap="square" anchor="ctr" lIns="54864" tIns="18288" rIns="27432" bIns="18288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Project Work (UG) 16 weeks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 wrap="square" anchor="ctr" lIns="54864" tIns="18288" rIns="27432" bIns="18288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Week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7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8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10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11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12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13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14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15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16</a:t>
                      </a:r>
                      <a:endParaRPr sz="105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420624">
                <a:tc>
                  <a:txBody>
                    <a:bodyPr wrap="square" anchor="ctr" lIns="54864" tIns="18288" rIns="27432" bIns="18288"/>
                    <a:lstStyle/>
                    <a:p>
                      <a:pPr algn="l"/>
                      <a:r>
                        <a:rPr sz="1100" b="1" i="0">
                          <a:solidFill>
                            <a:srgbClr val="C00000"/>
                          </a:solidFill>
                          <a:latin typeface="Arial"/>
                        </a:rPr>
                        <a:t>1  </a:t>
                      </a:r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>Requirements, data and literature survey</a:t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 wrap="square" anchor="ctr" lIns="54864" tIns="18288" rIns="27432" bIns="18288"/>
                    <a:lstStyle/>
                    <a:p>
                      <a:pPr algn="l"/>
                      <a:r>
                        <a:rPr sz="1100" b="1" i="0">
                          <a:solidFill>
                            <a:srgbClr val="C00000"/>
                          </a:solidFill>
                          <a:latin typeface="Arial"/>
                        </a:rPr>
                        <a:t>2  </a:t>
                      </a:r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>Journey planner: search, transfers, ranking</a:t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 wrap="square" anchor="ctr" lIns="54864" tIns="18288" rIns="27432" bIns="18288"/>
                    <a:lstStyle/>
                    <a:p>
                      <a:pPr algn="l"/>
                      <a:r>
                        <a:rPr sz="1100" b="1" i="0">
                          <a:solidFill>
                            <a:srgbClr val="C00000"/>
                          </a:solidFill>
                          <a:latin typeface="Arial"/>
                        </a:rPr>
                        <a:t>3  </a:t>
                      </a:r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>Backend services: logins, roles, storage</a:t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 wrap="square" anchor="ctr" lIns="54864" tIns="18288" rIns="27432" bIns="18288"/>
                    <a:lstStyle/>
                    <a:p>
                      <a:pPr algn="l"/>
                      <a:r>
                        <a:rPr sz="1100" b="1" i="0">
                          <a:solidFill>
                            <a:srgbClr val="C00000"/>
                          </a:solidFill>
                          <a:latin typeface="Arial"/>
                        </a:rPr>
                        <a:t>4  </a:t>
                      </a:r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>User interface and languages</a:t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 wrap="square" anchor="ctr" lIns="54864" tIns="18288" rIns="27432" bIns="18288"/>
                    <a:lstStyle/>
                    <a:p>
                      <a:pPr algn="l"/>
                      <a:r>
                        <a:rPr sz="1100" b="1" i="0">
                          <a:solidFill>
                            <a:srgbClr val="C00000"/>
                          </a:solidFill>
                          <a:latin typeface="Arial"/>
                        </a:rPr>
                        <a:t>5  </a:t>
                      </a:r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>Fleet and crew planner</a:t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 wrap="square" anchor="ctr" lIns="54864" tIns="18288" rIns="27432" bIns="18288"/>
                    <a:lstStyle/>
                    <a:p>
                      <a:pPr algn="l"/>
                      <a:r>
                        <a:rPr sz="1100" b="1" i="0">
                          <a:solidFill>
                            <a:srgbClr val="C00000"/>
                          </a:solidFill>
                          <a:latin typeface="Arial"/>
                        </a:rPr>
                        <a:t>6  </a:t>
                      </a:r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>Demand voting, tickets, Shakti, waybills</a:t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 wrap="square" anchor="ctr" lIns="54864" tIns="18288" rIns="27432" bIns="18288"/>
                    <a:lstStyle/>
                    <a:p>
                      <a:pPr algn="l"/>
                      <a:r>
                        <a:rPr sz="1100" b="1" i="0">
                          <a:solidFill>
                            <a:srgbClr val="C00000"/>
                          </a:solidFill>
                          <a:latin typeface="Arial"/>
                        </a:rPr>
                        <a:t>7  </a:t>
                      </a:r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>Open data export and alerts</a:t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 wrap="square" anchor="ctr" lIns="54864" tIns="18288" rIns="27432" bIns="18288"/>
                    <a:lstStyle/>
                    <a:p>
                      <a:pPr algn="l"/>
                      <a:r>
                        <a:rPr sz="1100" b="1" i="0">
                          <a:solidFill>
                            <a:srgbClr val="C00000"/>
                          </a:solidFill>
                          <a:latin typeface="Arial"/>
                        </a:rPr>
                        <a:t>8  </a:t>
                      </a:r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>Evaluation and improvements</a:t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 wrap="square" anchor="ctr" lIns="54864" tIns="18288" rIns="27432" bIns="18288"/>
                    <a:lstStyle/>
                    <a:p>
                      <a:pPr algn="l"/>
                      <a:r>
                        <a:rPr sz="1100" b="1" i="0">
                          <a:solidFill>
                            <a:srgbClr val="C00000"/>
                          </a:solidFill>
                          <a:latin typeface="Arial"/>
                        </a:rPr>
                        <a:t>9  </a:t>
                      </a:r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>Testing, final report and review</a:t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noFill/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anchor="ctr" lIns="54864" tIns="18288" rIns="27432" bIns="18288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  <a:endParaRPr sz="1100"/>
                    </a:p>
                  </a:txBody>
                  <a:tcPr marL="54864" marT="18288" marR="27432" marB="18288" anchor="ctr">
                    <a:lnL w="9525">
                      <a:solidFill>
                        <a:srgbClr val="D1D5DB"/>
                      </a:solidFill>
                    </a:lnL>
                    <a:lnR w="9525">
                      <a:solidFill>
                        <a:srgbClr val="D1D5DB"/>
                      </a:solidFill>
                    </a:lnR>
                    <a:lnT w="9525">
                      <a:solidFill>
                        <a:srgbClr val="D1D5DB"/>
                      </a:solidFill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C0000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40680"/>
            <a:ext cx="8988552" cy="68580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250" b="1" i="0">
                <a:solidFill>
                  <a:srgbClr val="C00000"/>
                </a:solidFill>
                <a:latin typeface="Arial"/>
              </a:rPr>
              <a:t>Review points: </a:t>
            </a:r>
            <a:r>
              <a:rPr sz="1250" b="0" i="0">
                <a:solidFill>
                  <a:srgbClr val="1F2937"/>
                </a:solidFill>
                <a:latin typeface="Arial"/>
              </a:rPr>
              <a:t>week 4 problem and literature  |  week 8 journey planner  |  week 12 full platform  |  week 16 final evaluation</a:t>
            </a:r>
            <a:endParaRPr sz="125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988552" cy="603504"/>
          </a:xfrm>
        </p:spPr>
        <p:txBody>
          <a:bodyPr anchor="ctr" wrap="square"/>
          <a:lstStyle/>
          <a:p>
            <a:pPr algn="ctr"/>
            <a:r>
              <a:rPr sz="3200" b="1" i="0">
                <a:solidFill>
                  <a:srgbClr val="FF0000"/>
                </a:solidFill>
                <a:latin typeface="Arial"/>
              </a:rP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988552" cy="9601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828800" cy="6858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Problem</a:t>
            </a:r>
            <a:endParaRPr sz="1500"/>
          </a:p>
        </p:txBody>
      </p:sp>
      <p:sp>
        <p:nvSpPr>
          <p:cNvPr id="5" name="TextBox 4"/>
          <p:cNvSpPr txBox="1"/>
          <p:nvPr/>
        </p:nvSpPr>
        <p:spPr>
          <a:xfrm>
            <a:off x="2606040" y="914400"/>
            <a:ext cx="6720840" cy="96012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Riders and BMTC use separate tools; rider demand never reaches depot planning.</a:t>
            </a:r>
            <a:endParaRPr sz="1500"/>
          </a:p>
        </p:txBody>
      </p:sp>
      <p:sp>
        <p:nvSpPr>
          <p:cNvPr id="6" name="Rounded Rectangle 5"/>
          <p:cNvSpPr/>
          <p:nvPr/>
        </p:nvSpPr>
        <p:spPr>
          <a:xfrm>
            <a:off x="457200" y="1984248"/>
            <a:ext cx="8988552" cy="9601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21408"/>
            <a:ext cx="1828800" cy="6858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Relevance</a:t>
            </a:r>
            <a:endParaRPr sz="1500"/>
          </a:p>
        </p:txBody>
      </p:sp>
      <p:sp>
        <p:nvSpPr>
          <p:cNvPr id="8" name="TextBox 7"/>
          <p:cNvSpPr txBox="1"/>
          <p:nvPr/>
        </p:nvSpPr>
        <p:spPr>
          <a:xfrm>
            <a:off x="2606040" y="1984248"/>
            <a:ext cx="6720840" cy="96012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7,000+ buses, ridership changed by Shakti, and tickets and tracking going digital.</a:t>
            </a:r>
            <a:endParaRPr sz="1500"/>
          </a:p>
        </p:txBody>
      </p:sp>
      <p:sp>
        <p:nvSpPr>
          <p:cNvPr id="9" name="Rounded Rectangle 8"/>
          <p:cNvSpPr/>
          <p:nvPr/>
        </p:nvSpPr>
        <p:spPr>
          <a:xfrm>
            <a:off x="457200" y="3054096"/>
            <a:ext cx="8988552" cy="9601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3191256"/>
            <a:ext cx="1828800" cy="6858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Outcome</a:t>
            </a:r>
            <a:endParaRPr sz="1500"/>
          </a:p>
        </p:txBody>
      </p:sp>
      <p:sp>
        <p:nvSpPr>
          <p:cNvPr id="11" name="TextBox 10"/>
          <p:cNvSpPr txBox="1"/>
          <p:nvPr/>
        </p:nvSpPr>
        <p:spPr>
          <a:xfrm>
            <a:off x="2606040" y="3054096"/>
            <a:ext cx="6720840" cy="96012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One platform: find the bus, plan the fleet, open the data.</a:t>
            </a:r>
            <a:endParaRPr sz="1500"/>
          </a:p>
        </p:txBody>
      </p:sp>
      <p:sp>
        <p:nvSpPr>
          <p:cNvPr id="12" name="Rounded Rectangle 11"/>
          <p:cNvSpPr/>
          <p:nvPr/>
        </p:nvSpPr>
        <p:spPr>
          <a:xfrm>
            <a:off x="457200" y="4123944"/>
            <a:ext cx="8988552" cy="9601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4261104"/>
            <a:ext cx="1828800" cy="6858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Feasibility</a:t>
            </a:r>
            <a:endParaRPr sz="1500"/>
          </a:p>
        </p:txBody>
      </p:sp>
      <p:sp>
        <p:nvSpPr>
          <p:cNvPr id="14" name="TextBox 13"/>
          <p:cNvSpPr txBox="1"/>
          <p:nvPr/>
        </p:nvSpPr>
        <p:spPr>
          <a:xfrm>
            <a:off x="2606040" y="4123944"/>
            <a:ext cx="6720840" cy="960120"/>
          </a:xfrm>
          <a:prstGeom prst="rect">
            <a:avLst/>
          </a:prstGeom>
          <a:noFill/>
        </p:spPr>
        <p:txBody>
          <a:bodyPr wrap="square" anchor="ctr" lIns="73152" rIns="73152"/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Public BMTC data, proven methods, standard tools and a 16-week phased plan.</a:t>
            </a:r>
            <a:endParaRPr sz="1500"/>
          </a:p>
        </p:txBody>
      </p:sp>
      <p:sp>
        <p:nvSpPr>
          <p:cNvPr id="15" name="Rounded Rectangle 14"/>
          <p:cNvSpPr/>
          <p:nvPr/>
        </p:nvSpPr>
        <p:spPr>
          <a:xfrm>
            <a:off x="457200" y="5239512"/>
            <a:ext cx="8988552" cy="86868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0B8A3E"/>
                </a:solidFill>
                <a:latin typeface="Arial"/>
              </a:rPr>
              <a:t>DBARS answers both questions: which bus to take, and how many buses to run.</a:t>
            </a:r>
            <a:endParaRPr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988552" cy="603504"/>
          </a:xfrm>
        </p:spPr>
        <p:txBody>
          <a:bodyPr anchor="ctr" wrap="square"/>
          <a:lstStyle/>
          <a:p>
            <a:pPr algn="ctr"/>
            <a:r>
              <a:rPr sz="3000" b="1" i="0">
                <a:solidFill>
                  <a:srgbClr val="FF0000"/>
                </a:solidFill>
                <a:latin typeface="Arial"/>
              </a:rPr>
              <a:t>References (APA format)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988552" cy="5349240"/>
          </a:xfrm>
          <a:prstGeom prst="rect">
            <a:avLst/>
          </a:prstGeom>
          <a:noFill/>
        </p:spPr>
        <p:txBody>
          <a:bodyPr wrap="square" anchor="t" lIns="73152" rIns="73152"/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[1] Baum, M., Buchhold, V., Sauer, J., Wagner, D., &amp; Zündorf, T. (2023). ULTRA: Unlimited transfers for efficient multimodal journey planning. Transportation Science, 57(6), 1536-1559.</a:t>
            </a:r>
            <a:endParaRPr sz="1050"/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[2] Liu, D., Guo, J., Gu, Y., King, M., Han, L. D., &amp; Brakewood, C. (2025). Analyzing transit systems using General Transit Feed Specification (GTFS) by generating spatiotemporal transit networks. Information, 16(1), 24.</a:t>
            </a:r>
            <a:endParaRPr sz="1050"/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[3] Prommaharaj, P., Phithakkitnukoon, S., Demissie, M. G., Kattan, L., &amp; Ratti, C. (2020). Visualizing public transit system operation with GTFS data: A case study of Calgary, Canada. Heliyon, 6(4), e03729.</a:t>
            </a:r>
            <a:endParaRPr sz="1050"/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[4] Shang, H., Liu, Y., Wu, W., &amp; Zhao, F. (2023). Multi-depot vehicle scheduling with multiple vehicle types on overlapped bus routes. Expert Systems with Applications, 228, 120352.</a:t>
            </a:r>
            <a:endParaRPr sz="1050"/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[5] Gkiotsalitis, K., Iliopoulou, C., &amp; Kepaptsoglou, K. (2023). An exact approach for the multi-depot electric bus scheduling problem with time windows. European Journal of Operational Research, 306(1), 189-206.</a:t>
            </a:r>
            <a:endParaRPr sz="1050"/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[6] Pardo-Peña, D., Álvarez-Martínez, D., &amp; Escobar, J. W. (2024). A GRASP algorithm for the bus crew scheduling problem. International Journal of Industrial Engineering Computations, 15, 443-456.</a:t>
            </a:r>
            <a:endParaRPr sz="1050"/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[7] Árgilán, V. S., &amp; Békési, J. (2025). Optimizing bus driver scheduling: A set covering approach for reducing transportation costs. Applied System Innovation, 8(5), 122.</a:t>
            </a:r>
            <a:endParaRPr sz="1050"/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[8] Deepa, L., Pinjari, A. R., Nirmale, S. K., Srinivasan, K. K., &amp; Rambha, T. (2022). A direct demand model for bus transit ridership in Bengaluru, India. Transportation Research Part A, 163, 126-147.</a:t>
            </a:r>
            <a:endParaRPr sz="1050"/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[9] Deepa, L., Pinjari, A. R., Nirmale, S. K., Biswas, M., &amp; Srinivasan, K. K. (2023). The adverse impact of headway variability on bus transit ridership: Evidence from Bengaluru, India. Transport Policy, 141, 343-356.</a:t>
            </a:r>
            <a:endParaRPr sz="1050"/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[10] Singh, N., &amp; Kumar, K. (2022). A review of bus arrival time prediction using artificial intelligence. WIREs Data Mining and Knowledge Discovery, 12(4), e1457.</a:t>
            </a:r>
            <a:endParaRPr sz="1050"/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[11] Halder, T., &amp; Jayadev, A. (2025). Gender, welfare, and mobility: Impact of Shakti scheme on BMTC transport transformation [Report]. Azim Premji University.</a:t>
            </a:r>
            <a:endParaRPr sz="1050"/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[12] United Nations. (n.d.). The 17 Sustainable Development Goals. https://sdgs.un.org/goals</a:t>
            </a:r>
            <a:endParaRPr sz="1050"/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[13] Namma BMTC 2.0 [Mobile app]. (2026). Google Play. https://play.google.com/store/apps/details?id=com.bmtc.bmtcavls.two</a:t>
            </a:r>
            <a:endParaRPr sz="1050"/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[14] Asianet Newsable. (2026). BMTC launches Namma BMTC 2.0 app, one NCMC card for bus and Metro.</a:t>
            </a:r>
            <a:endParaRPr sz="1050"/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[15] Moovit. (n.d.). BMTC, Bengaluru: Bus schedules, routes &amp; updates. https://moovitapp.com</a:t>
            </a:r>
            <a:endParaRPr sz="1050"/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[16] Mobility Database. (n.d.). BMTC GTFS Schedule feed (mdb-2595). https://mobilitydatabase.org/feeds/gtfs/mdb-2595</a:t>
            </a:r>
            <a:endParaRPr sz="1050"/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[17] Sustainable Bus. (2025, September 8). One in five buses in Bangalore now electric as BMTC fleet surpasses 7,000 units.</a:t>
            </a:r>
            <a:endParaRPr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8051</Words>
  <Application>Microsoft Office PowerPoint</Application>
  <PresentationFormat>A4 Paper (210x297 mm)</PresentationFormat>
  <Paragraphs>606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Bookman Old Style</vt:lpstr>
      <vt:lpstr>Calibri</vt:lpstr>
      <vt:lpstr>Cambria</vt:lpstr>
      <vt:lpstr>Palatino Linotype</vt:lpstr>
      <vt:lpstr>Times New Roman</vt:lpstr>
      <vt:lpstr>Office Theme</vt:lpstr>
      <vt:lpstr>Faculty of Engineering and Technology Department of Computer Science and Engineering</vt:lpstr>
      <vt:lpstr>Outline</vt:lpstr>
      <vt:lpstr>Introduction</vt:lpstr>
      <vt:lpstr>Literature Survey (1/2)</vt:lpstr>
      <vt:lpstr>Literature Survey (2/2)</vt:lpstr>
      <vt:lpstr>Literature Survey: Gaps in Existing Work</vt:lpstr>
      <vt:lpstr>Proposed Work / Problem Statement</vt:lpstr>
      <vt:lpstr>Objectives</vt:lpstr>
      <vt:lpstr>Methods / Proposed Methodology</vt:lpstr>
      <vt:lpstr>Proposed System Architecture</vt:lpstr>
      <vt:lpstr>Planned Features by User</vt:lpstr>
      <vt:lpstr>Existing Services vs DBARS</vt:lpstr>
      <vt:lpstr>Why DBARS Is Unique</vt:lpstr>
      <vt:lpstr>Sustainable Development Goals Aligned to the Project</vt:lpstr>
      <vt:lpstr>Expected Outcomes</vt:lpstr>
      <vt:lpstr>Value for BMTC and Pilot Plan</vt:lpstr>
      <vt:lpstr>Gantt Chart</vt:lpstr>
      <vt:lpstr>Risks and Mitigation</vt:lpstr>
      <vt:lpstr>Conclusion</vt:lpstr>
      <vt:lpstr>References (APA format)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 BHARATH KUMAR</dc:creator>
  <cp:lastModifiedBy>M BHARATH KUMAR</cp:lastModifiedBy>
  <cp:revision>1</cp:revision>
  <dcterms:modified xsi:type="dcterms:W3CDTF">2026-09-29T10:13:45Z</dcterms:modified>
</cp:coreProperties>
</file>