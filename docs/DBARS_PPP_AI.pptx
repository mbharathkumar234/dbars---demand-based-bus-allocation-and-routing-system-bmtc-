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89" r:id="rId3"/>
    <p:sldId id="290" r:id="rId4"/>
    <p:sldId id="291" r:id="rId5"/>
    <p:sldId id="301" r:id="rId21"/>
    <p:sldId id="293" r:id="rId7"/>
    <p:sldId id="294" r:id="rId8"/>
    <p:sldId id="302" r:id="rId22"/>
    <p:sldId id="296" r:id="rId10"/>
    <p:sldId id="297" r:id="rId11"/>
    <p:sldId id="298" r:id="rId12"/>
    <p:sldId id="299" r:id="rId13"/>
    <p:sldId id="300" r:id="rId14"/>
    <p:sldId id="269" r:id="rId15"/>
  </p:sldIdLst>
  <p:sldSz cx="9906000" cy="6858000" type="A4"/>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3132">
          <p15:clr>
            <a:srgbClr val="A4A3A4"/>
          </p15:clr>
        </p15:guide>
        <p15:guide id="2" pos="213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9B3D1C26-BEBA-40EB-B880-04AE644533D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9F6D2E3C-A018-442B-BF50-C8C78C53ADB0}"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330" y="48"/>
      </p:cViewPr>
      <p:guideLst>
        <p:guide orient="horz" pos="2160"/>
        <p:guide pos="312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132"/>
        <p:guide pos="213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7.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7126"/>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7126"/>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7126"/>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OPENING (30 seconds). Good morning. We are proposing DBARS, the Demand Based Bus Allocation and Routing System, for BMTC. In one line: one published timetable, three products. A journey planner for riders, a fleet and crew planner for depot managers, and open timetable data for other apps.</a:t>
            </a:r>
          </a:p>
          <a:p>
            <a:endParaRPr/>
          </a:p>
          <a:p>
            <a:r>
              <a:t>Before presenting: fill in the guide's designation (still highlighted).</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OUTLINE (15 seconds). We follow the university's pre-project format. One addition: the problem statement slide also shows what existing apps already offer and what DBARS adds.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INTRODUCTION (1 minute). Domain: BMTC, Bengaluru's city bus operator, with a fleet of over 7,000 buses. Why it matters: buses are the city's mass transport. The issue: rider apps and operator planning are disconnected. Why now: Shakti changed ridership, and tickets and tracking are going digital.</a:t>
            </a:r>
          </a:p>
          <a:p/>
          <a:p>
            <a:r>
              <a:t>The numbers 6,737 route-directions, 4,883 stops and 44 depots describe the published BMTC timetable we will work from. The fleet figure is from Sustainable Bus (September 2025).</a:t>
            </a:r>
          </a:p>
          <a:p/>
          <a:p>
            <a:r>
              <a:t>AI/ML in one sentence: DBARS uses machine-learning text search (TF-IDF and fuzzy matching) to find the right bus even from misspelt or spoken stop names, and a retrieval-augmented AI assistant that answers only from BMTC data.</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LITERATURE SURVEY (1 minute 30 seconds). Eleven peer-reviewed journal papers, 2020 to 2025, in four themes: journey planning and open data [1-3], bus and crew scheduling [4-7], Bengaluru demand studies [8, 9], and AI for transport and text [10, 11].</a:t>
            </a:r>
          </a:p>
          <a:p/>
          <a:p>
            <a:r>
              <a:t>The key contrast: [1] serves only the rider; [4] to [7] serve only the operator, and on small cases. [8] and [9] use BMTC's own data and show that frequency and regular service drive ridership. [10] reviews AI arrival-time prediction and stresses the need for live data. [11] shows that language-model AI can invent facts, which is why the DBARS assistant must answer only from retrieved BMTC data and cite it.</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PROBLEM STATEMENT (1 minute). Read the statement. Then be fair to the competition: Namma BMTC 2.0 (launched September 2026), Moovit and Google Maps already do journey planning, tracking and tickets, and DBARS will match those. What makes DBARS different is the right-hand box: operator-side features that the public descriptions of those apps do not mention.</a:t>
            </a:r>
          </a:p>
          <a:p>
            <a:endParaRPr/>
          </a:p>
          <a:p>
            <a:r>
              <a:t>Wording: say 'not described in their public features', never 'they do not have it'. A static BMTC timetable feed is already listed publicly; DBARS extends it with alerts and clear labels. DBARS complements Namma BMTC 2.0; it does not replace it.</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OBJECTIVES (1 minute). Four objectives, each starting with an infinitive verb.</a:t>
            </a:r>
          </a:p>
          <a:p/>
          <a:p>
            <a:r>
              <a:t>How each will be judged: 1) the ML-based planner ranks the best bus first in most test cases, and results come back fast; 2) the fleet number is compared with a proven minimum, and every result states its assumptions; 3) suspicious votes are filtered, every recommendation maps to a real bus route, and free Shakti rides keep their full fare value; 4) the timetable exports in the open GTFS format, the AI assistant answers only from BMTC data with sources, and accuracy is judged by a metric that can fail.</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SDGs (45 seconds). Main goal: SDG 11, target 11.2, accessible and affordable public transport. Supporting: SDG 9 (target 9.1, reliable infrastructure), SDG 5 (target 5.b, technology for women's empowerment, through Shakti-aware ticketing) and SDG 16 (target 16.6, transparent institutions).</a:t>
            </a:r>
          </a:p>
          <a:p>
            <a:endParaRPr/>
          </a:p>
          <a:p>
            <a:r>
              <a:t>Be modest on SDG 5: DBARS supports and counts the free-travel entitlement; it does not verify eligibility.</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EXPECTED OUTCOMES (1 minute). Functional: what the system will do. Performance: how we will judge it. Practical impact: who benefits. Extension: what comes next, including a proposed pilot with BMTC: compare our fleet and crew plan with one depot's real rosters, connect a live bus-location feed, and trial the conductor waybill on a few routes.</a:t>
            </a:r>
          </a:p>
          <a:p/>
          <a:p>
            <a:r>
              <a:t>Do not quote rupee savings; we have no measured figure yet.</a:t>
            </a:r>
          </a:p>
          <a:p/>
          <a:p>
            <a:r>
              <a:t>AI/ML points: the journey search is ML-ranked and accepts voice input; ranking quality is scored with nDCG@5 and 5-fold cross-validation; depot staff can ask the grounded AI assistant questions in plain language. ML demand forecasting is an extension, not part of the 16-week plan.</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GANTT CHART (30 seconds). Ten activities over 16 weeks. The core (ML journey planner, then fleet and crew planner) comes first; model evaluation and the AI assistant come after the core is working. If time runs short, extras slip, not the core. Review points at weeks 4, 8, 12 and 16 let the guide track progress.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CONCLUSION (45 seconds). Answer the template's four questions: problem, relevance, outcome, feasibility. Close with the ask: 'We request approval to proceed with DBARS as our final-year project.'</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REFERENCES. [1]-[11] are the peer-reviewed journal papers in the literature survey (2020-2025); [10] and [11] cover AI for transport and AI hallucination. [12] is the Shakti ridership report. [13] is the UN SDG site. [14]-[18] are the web sources behind the fleet size and the comparison with existing apps, accessed September 2026.</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5: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r>
              <a:t>CLOSE (15 seconds). Thank the panel and invite questions. Likely questions and honest answers:</a:t>
            </a:r>
          </a:p>
          <a:p>
            <a:r>
              <a:t>1) Where is the AI/ML? Three places. (a) ML search: TF-IDF vectors with word, word-pair and character 3-gram features, cosine similarity and fuzzy matching, followed by a weighted hybrid ranker; four rankers are compared with 5-fold cross-validation. (b) A retrieval-augmented AI assistant: BM25 plus vector search, an LLM (Google Gemini) through LangChain agents, grounding checks and prompt-injection guardrails. (c) Voice search through speech recognition in four languages. Vote fraud checks are rule-based, not ML; say so.</a:t>
            </a:r>
          </a:p>
          <a:p>
            <a:r>
              <a:t>2) Why no deep learning for routes? The route data has no labels to learn from; a vector-space model with a tuned ranker is the right tool, and it is measured with ranking metrics.</a:t>
            </a:r>
          </a:p>
          <a:p>
            <a:r>
              <a:t>3) Can the AI assistant give a wrong bus? It answers only from retrieved BMTC data, cites it, and a grounding checker rejects routes that do not exist; if evidence is missing it says so.</a:t>
            </a:r>
          </a:p>
          <a:p>
            <a:r>
              <a:t>4) What is new versus Namma BMTC 2.0 or Google Maps? They serve riders; DBARS adds the operator side and open data, and complements them.</a:t>
            </a:r>
          </a:p>
          <a:p>
            <a:r>
              <a:t>5) How much have you done already? Answer truthfully.</a:t>
            </a:r>
          </a:p>
        </p:txBody>
      </p:sp>
      <p:sp>
        <p:nvSpPr>
          <p:cNvPr id="162" name="Google Shape;162;p15:notes"/>
          <p:cNvSpPr>
            <a:spLocks noGrp="1" noRot="1" noChangeAspect="1"/>
          </p:cNvSpPr>
          <p:nvPr>
            <p:ph type="sldImg" idx="2"/>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RESEARCH GAPS (1 minute). A gap is what existing work has not addressed. G1: the two sides are studied separately [1] versus [4-7]. G2: scheduling papers use small cases [4-7]. G3: GTFS studies use static feeds [2, 3]. G4: BMTC demand studies are offline models [8, 9]. G5: language-model AI can hallucinate [11], and none of the surveyed transport work grounds an assistant in the operator's own data.</a:t>
            </a:r>
          </a:p>
          <a:p/>
          <a:p>
            <a:r>
              <a:t>If challenged, say 'in the papers we surveyed', not 'in all research'.</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METHODOLOGY (2 minutes). Read each row as objective, how, why.</a:t>
            </a:r>
          </a:p>
          <a:p/>
          <a:p>
            <a:r>
              <a:t>1) ML search: every route is turned into a TF-IDF vector built from words, word pairs and 3-letter character chunks, so 'Majestik' still matches 'Majestic'. Cosine similarity and fuzzy matching find candidate stops; a weighted hybrid ranker then orders buses by stop match, correct direction, trip frequency and distance. Voice input uses the browser's speech recognition in English, Kannada, Hindi and Telugu.</a:t>
            </a:r>
          </a:p>
          <a:p>
            <a:r>
              <a:t>2) Fleet and crew: trips are chained into bus schedules and checked against a hard lower bound; this part is optimisation, not ML.</a:t>
            </a:r>
          </a:p>
          <a:p>
            <a:r>
              <a:t>3) Votes pass four rule-based anomaly checks (the same route repeated, more than 30 votes an hour, one IP voting across accounts, too many unrelated destinations) and feed a voter reliability score.</a:t>
            </a:r>
          </a:p>
          <a:p>
            <a:r>
              <a:t>4) Evaluation: four candidate rankers (TF-IDF cosine, ordered fuzzy match, distance-aware ranker, live transfer search) are compared on the same test pairs with 5-fold cross-validation; the headline metric is ranking quality (nDCG@5, best-option rate), not coverage.</a:t>
            </a:r>
          </a:p>
          <a:p>
            <a:r>
              <a:t>5) AI assistant: retrieval-augmented generation. BM25 keyword search and vector embeddings retrieve BMTC evidence; an LLM (Google Gemini, through LangChain agents) writes the answer; a grounding checker rejects invented routes and labels claims as confirmed, inferred or unknown; guardrails block prompt injection; an offline mode answers from retrieved evidence if the LLM is unavailable.</a:t>
            </a:r>
          </a:p>
          <a:p/>
          <a:p>
            <a:r>
              <a:t>If asked 'is the route search deep learning?': no. It is a vector-space ML model plus a tuned ranker, chosen because the route data has no labels to train a deep model on.</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17"/>
          <p:cNvSpPr txBox="1">
            <a:spLocks noGrp="1"/>
          </p:cNvSpPr>
          <p:nvPr>
            <p:ph type="ctrTitle"/>
          </p:nvPr>
        </p:nvSpPr>
        <p:spPr>
          <a:xfrm>
            <a:off x="742950" y="2130426"/>
            <a:ext cx="8420100" cy="147002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 name="Google Shape;18;p17"/>
          <p:cNvSpPr txBox="1">
            <a:spLocks noGrp="1"/>
          </p:cNvSpPr>
          <p:nvPr>
            <p:ph type="subTitle" idx="1"/>
          </p:nvPr>
        </p:nvSpPr>
        <p:spPr>
          <a:xfrm>
            <a:off x="1485900" y="3886200"/>
            <a:ext cx="6934200" cy="17526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R="0" lvl="1"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9" name="Google Shape;19;p17"/>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17"/>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17"/>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8"/>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4" name="Google Shape;24;p18"/>
          <p:cNvSpPr txBox="1">
            <a:spLocks noGrp="1"/>
          </p:cNvSpPr>
          <p:nvPr>
            <p:ph type="body" idx="1"/>
          </p:nvPr>
        </p:nvSpPr>
        <p:spPr>
          <a:xfrm>
            <a:off x="495300" y="1600201"/>
            <a:ext cx="89154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 name="Google Shape;25;p18"/>
          <p:cNvSpPr txBox="1">
            <a:spLocks noGrp="1"/>
          </p:cNvSpPr>
          <p:nvPr>
            <p:ph type="dt" idx="10"/>
          </p:nvPr>
        </p:nvSpPr>
        <p:spPr>
          <a:xfrm>
            <a:off x="519336" y="6308727"/>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18"/>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18"/>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28" name="Google Shape;28;p18"/>
          <p:cNvSpPr/>
          <p:nvPr/>
        </p:nvSpPr>
        <p:spPr>
          <a:xfrm>
            <a:off x="200472" y="6721476"/>
            <a:ext cx="294828" cy="91900"/>
          </a:xfrm>
          <a:prstGeom prst="rect">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9" name="Google Shape;29;p18"/>
          <p:cNvPicPr preferRelativeResize="0"/>
          <p:nvPr/>
        </p:nvPicPr>
        <p:blipFill rotWithShape="1">
          <a:blip r:embed="rId2">
            <a:alphaModFix/>
          </a:blip>
          <a:srcRect/>
          <a:stretch/>
        </p:blipFill>
        <p:spPr>
          <a:xfrm>
            <a:off x="272480" y="6705906"/>
            <a:ext cx="2416616" cy="15209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19"/>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2" name="Google Shape;32;p19"/>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19"/>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19"/>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20"/>
          <p:cNvSpPr txBox="1">
            <a:spLocks noGrp="1"/>
          </p:cNvSpPr>
          <p:nvPr>
            <p:ph type="title"/>
          </p:nvPr>
        </p:nvSpPr>
        <p:spPr>
          <a:xfrm>
            <a:off x="782506" y="4406901"/>
            <a:ext cx="8420100" cy="13620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7" name="Google Shape;37;p20"/>
          <p:cNvSpPr txBox="1">
            <a:spLocks noGrp="1"/>
          </p:cNvSpPr>
          <p:nvPr>
            <p:ph type="body" idx="1"/>
          </p:nvPr>
        </p:nvSpPr>
        <p:spPr>
          <a:xfrm>
            <a:off x="782506" y="2906713"/>
            <a:ext cx="8420100" cy="1500187"/>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8" name="Google Shape;38;p20"/>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20"/>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0" name="Google Shape;40;p20"/>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21"/>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3" name="Google Shape;43;p21"/>
          <p:cNvSpPr txBox="1">
            <a:spLocks noGrp="1"/>
          </p:cNvSpPr>
          <p:nvPr>
            <p:ph type="body" idx="1"/>
          </p:nvPr>
        </p:nvSpPr>
        <p:spPr>
          <a:xfrm>
            <a:off x="495300" y="1600201"/>
            <a:ext cx="437515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21"/>
          <p:cNvSpPr txBox="1">
            <a:spLocks noGrp="1"/>
          </p:cNvSpPr>
          <p:nvPr>
            <p:ph type="body" idx="2"/>
          </p:nvPr>
        </p:nvSpPr>
        <p:spPr>
          <a:xfrm>
            <a:off x="5035550" y="1600201"/>
            <a:ext cx="437515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 name="Google Shape;45;p21"/>
          <p:cNvSpPr txBox="1">
            <a:spLocks noGrp="1"/>
          </p:cNvSpPr>
          <p:nvPr>
            <p:ph type="dt" idx="10"/>
          </p:nvPr>
        </p:nvSpPr>
        <p:spPr>
          <a:xfrm>
            <a:off x="1280592" y="6356351"/>
            <a:ext cx="26575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6" name="Google Shape;46;p21"/>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21"/>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22"/>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0" name="Google Shape;50;p22"/>
          <p:cNvSpPr txBox="1">
            <a:spLocks noGrp="1"/>
          </p:cNvSpPr>
          <p:nvPr>
            <p:ph type="body" idx="1"/>
          </p:nvPr>
        </p:nvSpPr>
        <p:spPr>
          <a:xfrm>
            <a:off x="495300" y="1535113"/>
            <a:ext cx="4376870"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1" name="Google Shape;51;p22"/>
          <p:cNvSpPr txBox="1">
            <a:spLocks noGrp="1"/>
          </p:cNvSpPr>
          <p:nvPr>
            <p:ph type="body" idx="2"/>
          </p:nvPr>
        </p:nvSpPr>
        <p:spPr>
          <a:xfrm>
            <a:off x="495300" y="2174875"/>
            <a:ext cx="4376870" cy="395128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52" name="Google Shape;52;p22"/>
          <p:cNvSpPr txBox="1">
            <a:spLocks noGrp="1"/>
          </p:cNvSpPr>
          <p:nvPr>
            <p:ph type="body" idx="3"/>
          </p:nvPr>
        </p:nvSpPr>
        <p:spPr>
          <a:xfrm>
            <a:off x="5032111" y="1535113"/>
            <a:ext cx="4378590"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3" name="Google Shape;53;p22"/>
          <p:cNvSpPr txBox="1">
            <a:spLocks noGrp="1"/>
          </p:cNvSpPr>
          <p:nvPr>
            <p:ph type="body" idx="4"/>
          </p:nvPr>
        </p:nvSpPr>
        <p:spPr>
          <a:xfrm>
            <a:off x="5032111" y="2174875"/>
            <a:ext cx="4378590" cy="395128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54" name="Google Shape;54;p22"/>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22"/>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22"/>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57"/>
        <p:cNvGrpSpPr/>
        <p:nvPr/>
      </p:nvGrpSpPr>
      <p:grpSpPr>
        <a:xfrm>
          <a:off x="0" y="0"/>
          <a:ext cx="0" cy="0"/>
          <a:chOff x="0" y="0"/>
          <a:chExt cx="0" cy="0"/>
        </a:xfrm>
      </p:grpSpPr>
      <p:sp>
        <p:nvSpPr>
          <p:cNvPr id="58" name="Google Shape;58;p23"/>
          <p:cNvSpPr/>
          <p:nvPr/>
        </p:nvSpPr>
        <p:spPr>
          <a:xfrm>
            <a:off x="0" y="0"/>
            <a:ext cx="9906000" cy="152400"/>
          </a:xfrm>
          <a:prstGeom prst="rect">
            <a:avLst/>
          </a:prstGeom>
          <a:solidFill>
            <a:srgbClr val="0099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 name="Google Shape;59;p23"/>
          <p:cNvSpPr/>
          <p:nvPr/>
        </p:nvSpPr>
        <p:spPr>
          <a:xfrm>
            <a:off x="0" y="6705600"/>
            <a:ext cx="9906000" cy="1524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 name="Google Shape;60;p23"/>
          <p:cNvSpPr txBox="1"/>
          <p:nvPr/>
        </p:nvSpPr>
        <p:spPr>
          <a:xfrm>
            <a:off x="0" y="6654842"/>
            <a:ext cx="2747868" cy="2539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lt1"/>
                </a:solidFill>
                <a:latin typeface="Calibri"/>
                <a:ea typeface="Calibri"/>
                <a:cs typeface="Calibri"/>
                <a:sym typeface="Calibri"/>
              </a:rPr>
              <a:t>©M. S. Ramaiah University of Applied Sciences</a:t>
            </a:r>
            <a:endParaRPr sz="1050" b="0" i="0" u="none" strike="noStrike" cap="none">
              <a:solidFill>
                <a:schemeClr val="lt1"/>
              </a:solidFill>
              <a:latin typeface="Calibri"/>
              <a:ea typeface="Calibri"/>
              <a:cs typeface="Calibri"/>
              <a:sym typeface="Calibri"/>
            </a:endParaRPr>
          </a:p>
        </p:txBody>
      </p:sp>
      <p:sp>
        <p:nvSpPr>
          <p:cNvPr id="61" name="Google Shape;61;p23"/>
          <p:cNvSpPr/>
          <p:nvPr/>
        </p:nvSpPr>
        <p:spPr>
          <a:xfrm>
            <a:off x="9525000" y="6324600"/>
            <a:ext cx="381000" cy="5334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 name="Google Shape;62;p23"/>
          <p:cNvSpPr/>
          <p:nvPr/>
        </p:nvSpPr>
        <p:spPr>
          <a:xfrm>
            <a:off x="9505750" y="6324600"/>
            <a:ext cx="45717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lt1"/>
                </a:solidFill>
                <a:latin typeface="Calibri"/>
                <a:ea typeface="Calibri"/>
                <a:cs typeface="Calibri"/>
                <a:sym typeface="Calibri"/>
              </a:rPr>
              <a:pPr marL="0" marR="0" lvl="0" indent="0" algn="l" rtl="0">
                <a:lnSpc>
                  <a:spcPct val="100000"/>
                </a:lnSpc>
                <a:spcBef>
                  <a:spcPts val="0"/>
                </a:spcBef>
                <a:spcAft>
                  <a:spcPts val="0"/>
                </a:spcAft>
                <a:buClr>
                  <a:srgbClr val="000000"/>
                </a:buClr>
                <a:buSzPts val="1800"/>
                <a:buFont typeface="Arial"/>
                <a:buNone/>
              </a:pPr>
              <a:t>‹#›</a:t>
            </a:fld>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24"/>
          <p:cNvSpPr txBox="1">
            <a:spLocks noGrp="1"/>
          </p:cNvSpPr>
          <p:nvPr>
            <p:ph type="title"/>
          </p:nvPr>
        </p:nvSpPr>
        <p:spPr>
          <a:xfrm>
            <a:off x="495300" y="273050"/>
            <a:ext cx="3259006" cy="11620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5" name="Google Shape;65;p24"/>
          <p:cNvSpPr txBox="1">
            <a:spLocks noGrp="1"/>
          </p:cNvSpPr>
          <p:nvPr>
            <p:ph type="body" idx="1"/>
          </p:nvPr>
        </p:nvSpPr>
        <p:spPr>
          <a:xfrm>
            <a:off x="3872971" y="273051"/>
            <a:ext cx="5537729" cy="585311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6" name="Google Shape;66;p24"/>
          <p:cNvSpPr txBox="1">
            <a:spLocks noGrp="1"/>
          </p:cNvSpPr>
          <p:nvPr>
            <p:ph type="body" idx="2"/>
          </p:nvPr>
        </p:nvSpPr>
        <p:spPr>
          <a:xfrm>
            <a:off x="495300" y="1435101"/>
            <a:ext cx="3259006" cy="46910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7" name="Google Shape;67;p24"/>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24"/>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24"/>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25"/>
          <p:cNvSpPr txBox="1">
            <a:spLocks noGrp="1"/>
          </p:cNvSpPr>
          <p:nvPr>
            <p:ph type="title"/>
          </p:nvPr>
        </p:nvSpPr>
        <p:spPr>
          <a:xfrm>
            <a:off x="1941645" y="4800600"/>
            <a:ext cx="5943600" cy="5667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2" name="Google Shape;72;p25"/>
          <p:cNvSpPr>
            <a:spLocks noGrp="1"/>
          </p:cNvSpPr>
          <p:nvPr>
            <p:ph type="pic" idx="2"/>
          </p:nvPr>
        </p:nvSpPr>
        <p:spPr>
          <a:xfrm>
            <a:off x="1941645" y="612775"/>
            <a:ext cx="5943600" cy="4114800"/>
          </a:xfrm>
          <a:prstGeom prst="rect">
            <a:avLst/>
          </a:prstGeom>
          <a:noFill/>
          <a:ln>
            <a:noFill/>
          </a:ln>
        </p:spPr>
      </p:sp>
      <p:sp>
        <p:nvSpPr>
          <p:cNvPr id="73" name="Google Shape;73;p25"/>
          <p:cNvSpPr txBox="1">
            <a:spLocks noGrp="1"/>
          </p:cNvSpPr>
          <p:nvPr>
            <p:ph type="body" idx="1"/>
          </p:nvPr>
        </p:nvSpPr>
        <p:spPr>
          <a:xfrm>
            <a:off x="1941645" y="5367338"/>
            <a:ext cx="5943600" cy="8048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74" name="Google Shape;74;p25"/>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5" name="Google Shape;75;p25"/>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25"/>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26"/>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9" name="Google Shape;79;p26"/>
          <p:cNvSpPr txBox="1">
            <a:spLocks noGrp="1"/>
          </p:cNvSpPr>
          <p:nvPr>
            <p:ph type="body" idx="1"/>
          </p:nvPr>
        </p:nvSpPr>
        <p:spPr>
          <a:xfrm rot="5400000">
            <a:off x="2690018" y="-594518"/>
            <a:ext cx="4525963" cy="89154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0" name="Google Shape;80;p26"/>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1" name="Google Shape;81;p26"/>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26"/>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27"/>
          <p:cNvSpPr txBox="1">
            <a:spLocks noGrp="1"/>
          </p:cNvSpPr>
          <p:nvPr>
            <p:ph type="title"/>
          </p:nvPr>
        </p:nvSpPr>
        <p:spPr>
          <a:xfrm rot="5400000">
            <a:off x="5370512" y="2085976"/>
            <a:ext cx="5851525" cy="222885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5" name="Google Shape;85;p27"/>
          <p:cNvSpPr txBox="1">
            <a:spLocks noGrp="1"/>
          </p:cNvSpPr>
          <p:nvPr>
            <p:ph type="body" idx="1"/>
          </p:nvPr>
        </p:nvSpPr>
        <p:spPr>
          <a:xfrm rot="5400000">
            <a:off x="830262" y="-60323"/>
            <a:ext cx="5851525" cy="652145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6" name="Google Shape;86;p27"/>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7" name="Google Shape;87;p27"/>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27"/>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p:nvPr/>
        </p:nvSpPr>
        <p:spPr>
          <a:xfrm>
            <a:off x="0" y="0"/>
            <a:ext cx="9906000" cy="152400"/>
          </a:xfrm>
          <a:prstGeom prst="rect">
            <a:avLst/>
          </a:prstGeom>
          <a:solidFill>
            <a:srgbClr val="0099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 name="Google Shape;11;p16"/>
          <p:cNvSpPr/>
          <p:nvPr/>
        </p:nvSpPr>
        <p:spPr>
          <a:xfrm>
            <a:off x="0" y="6705600"/>
            <a:ext cx="9906000" cy="1524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 name="Google Shape;12;p16"/>
          <p:cNvSpPr txBox="1"/>
          <p:nvPr/>
        </p:nvSpPr>
        <p:spPr>
          <a:xfrm>
            <a:off x="6633" y="6654842"/>
            <a:ext cx="2747868" cy="2539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lt1"/>
                </a:solidFill>
                <a:latin typeface="Calibri"/>
                <a:ea typeface="Calibri"/>
                <a:cs typeface="Calibri"/>
                <a:sym typeface="Calibri"/>
              </a:rPr>
              <a:t>©M. S. Ramaiah University of Applied Sciences</a:t>
            </a:r>
            <a:endParaRPr sz="1050" b="0" i="0" u="none" strike="noStrike" cap="none">
              <a:solidFill>
                <a:schemeClr val="lt1"/>
              </a:solidFill>
              <a:latin typeface="Calibri"/>
              <a:ea typeface="Calibri"/>
              <a:cs typeface="Calibri"/>
              <a:sym typeface="Calibri"/>
            </a:endParaRPr>
          </a:p>
        </p:txBody>
      </p:sp>
      <p:sp>
        <p:nvSpPr>
          <p:cNvPr id="13" name="Google Shape;13;p16"/>
          <p:cNvSpPr/>
          <p:nvPr/>
        </p:nvSpPr>
        <p:spPr>
          <a:xfrm>
            <a:off x="9525000" y="6324600"/>
            <a:ext cx="381000" cy="5334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 name="Google Shape;14;p16"/>
          <p:cNvSpPr/>
          <p:nvPr/>
        </p:nvSpPr>
        <p:spPr>
          <a:xfrm>
            <a:off x="9505750" y="6324600"/>
            <a:ext cx="45717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lt1"/>
                </a:solidFill>
                <a:latin typeface="Calibri"/>
                <a:ea typeface="Calibri"/>
                <a:cs typeface="Calibri"/>
                <a:sym typeface="Calibri"/>
              </a:rPr>
              <a:pPr marL="0" marR="0" lvl="0" indent="0" algn="l" rtl="0">
                <a:lnSpc>
                  <a:spcPct val="100000"/>
                </a:lnSpc>
                <a:spcBef>
                  <a:spcPts val="0"/>
                </a:spcBef>
                <a:spcAft>
                  <a:spcPts val="0"/>
                </a:spcAft>
                <a:buClr>
                  <a:srgbClr val="000000"/>
                </a:buClr>
                <a:buSzPts val="1800"/>
                <a:buFont typeface="Arial"/>
                <a:buNone/>
              </a:pPr>
              <a:t>‹#›</a:t>
            </a:fld>
            <a:endParaRPr sz="1800" b="0" i="0" u="none" strike="noStrike" cap="none">
              <a:solidFill>
                <a:schemeClr val="lt1"/>
              </a:solidFill>
              <a:latin typeface="Calibri"/>
              <a:ea typeface="Calibri"/>
              <a:cs typeface="Calibri"/>
              <a:sym typeface="Calibri"/>
            </a:endParaRPr>
          </a:p>
        </p:txBody>
      </p:sp>
      <p:pic>
        <p:nvPicPr>
          <p:cNvPr id="15" name="Google Shape;15;p16" descr="C:\Users\Paramesh\Desktop\Logo\Logo.png"/>
          <p:cNvPicPr preferRelativeResize="0"/>
          <p:nvPr/>
        </p:nvPicPr>
        <p:blipFill rotWithShape="1">
          <a:blip r:embed="rId13">
            <a:alphaModFix/>
          </a:blip>
          <a:srcRect/>
          <a:stretch/>
        </p:blipFill>
        <p:spPr>
          <a:xfrm>
            <a:off x="128464" y="6337321"/>
            <a:ext cx="262890" cy="3429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txBox="1">
            <a:spLocks noGrp="1"/>
          </p:cNvSpPr>
          <p:nvPr>
            <p:ph type="ctrTitle"/>
          </p:nvPr>
        </p:nvSpPr>
        <p:spPr>
          <a:xfrm>
            <a:off x="776726" y="1685696"/>
            <a:ext cx="8352545" cy="707846"/>
          </a:xfrm>
          <a:prstGeom prst="rect">
            <a:avLst/>
          </a:prstGeom>
          <a:noFill/>
        </p:spPr>
        <p:txBody>
          <a:bodyPr wrap="square" rtlCol="0">
            <a:spAutoFit/>
          </a:bodyPr>
          <a:lstStyle/>
          <a:p>
            <a:pPr algn="ctr"/>
            <a:r>
              <a:rPr lang="en-US" sz="2000" b="1" dirty="0">
                <a:solidFill>
                  <a:schemeClr val="tx1"/>
                </a:solidFill>
              </a:rPr>
              <a:t>Faculty of Engineering and Technology</a:t>
            </a:r>
          </a:p>
          <a:p>
            <a:pPr algn="ctr"/>
            <a:r>
              <a:rPr lang="en-US" sz="2000" b="1" dirty="0">
                <a:solidFill>
                  <a:schemeClr val="tx1"/>
                </a:solidFill>
              </a:rPr>
              <a:t>Department of Computer Science and Engineering</a:t>
            </a:r>
          </a:p>
        </p:txBody>
      </p:sp>
      <p:sp>
        <p:nvSpPr>
          <p:cNvPr id="6" name="Text Box 9"/>
          <p:cNvSpPr txBox="1">
            <a:spLocks noChangeArrowheads="1"/>
          </p:cNvSpPr>
          <p:nvPr/>
        </p:nvSpPr>
        <p:spPr bwMode="auto">
          <a:xfrm>
            <a:off x="5574250" y="4458422"/>
            <a:ext cx="3955547" cy="1785104"/>
          </a:xfrm>
          <a:prstGeom prst="rect">
            <a:avLst/>
          </a:prstGeom>
          <a:noFill/>
          <a:ln w="9525">
            <a:noFill/>
            <a:miter lim="800000"/>
            <a:headEnd/>
            <a:tailEnd/>
          </a:ln>
        </p:spPr>
        <p:txBody>
          <a:bodyPr wrap="square">
            <a:spAutoFit/>
          </a:bodyPr>
          <a:lstStyle/>
          <a:p>
            <a:pPr>
              <a:spcBef>
                <a:spcPct val="20000"/>
              </a:spcBef>
              <a:buClrTx/>
            </a:pPr>
            <a:r>
              <a:rPr lang="en-US" sz="1800" b="1" kern="1200">
                <a:solidFill>
                  <a:schemeClr val="tx1"/>
                </a:solidFill>
                <a:latin typeface="+mj-lt"/>
                <a:ea typeface="+mn-ea"/>
                <a:cs typeface="+mn-cs"/>
              </a:rPr>
              <a:t>Guide: </a:t>
            </a:r>
            <a:endParaRPr lang="en-US" sz="1800" b="1" kern="1200" dirty="0">
              <a:solidFill>
                <a:schemeClr val="tx1"/>
              </a:solidFill>
              <a:latin typeface="+mj-lt"/>
              <a:ea typeface="+mn-ea"/>
              <a:cs typeface="+mn-cs"/>
            </a:endParaRPr>
          </a:p>
          <a:p>
            <a:pPr>
              <a:spcBef>
                <a:spcPts val="600"/>
              </a:spcBef>
              <a:buClrTx/>
              <a:buFontTx/>
              <a:buNone/>
            </a:pPr>
            <a:r>
              <a:rPr lang="en-US" sz="1800" b="1" kern="1200" dirty="0">
                <a:solidFill>
                  <a:schemeClr val="tx1"/>
                </a:solidFill>
                <a:latin typeface="+mj-lt"/>
                <a:ea typeface="+mn-ea"/>
                <a:cs typeface="+mn-cs"/>
              </a:rPr>
              <a:t>Ms. Sheethal Raj T.G.   </a:t>
            </a:r>
          </a:p>
          <a:p>
            <a:pPr>
              <a:spcBef>
                <a:spcPts val="600"/>
              </a:spcBef>
              <a:buClrTx/>
              <a:buFontTx/>
              <a:buNone/>
            </a:pPr>
            <a:r>
              <a:rPr lang="en-US" sz="1800" b="1" kern="1200" dirty="0">
                <a:solidFill>
                  <a:schemeClr val="tx1"/>
                </a:solidFill>
                <a:latin typeface="+mn-lt"/>
                <a:ea typeface="+mn-ea"/>
                <a:cs typeface="+mn-cs"/>
              </a:rPr>
              <a:t>Asst. Professor</a:t>
            </a:r>
          </a:p>
          <a:p>
            <a:pPr>
              <a:spcBef>
                <a:spcPts val="600"/>
              </a:spcBef>
              <a:buClrTx/>
              <a:buFontTx/>
              <a:buNone/>
            </a:pPr>
            <a:r>
              <a:rPr lang="en-US" sz="1800" kern="1200" dirty="0">
                <a:solidFill>
                  <a:schemeClr val="tx1"/>
                </a:solidFill>
                <a:latin typeface="+mn-lt"/>
                <a:ea typeface="+mn-ea"/>
                <a:cs typeface="+mn-cs"/>
              </a:rPr>
              <a:t>Dept. of CSE, MSRUAS, Bengaluru</a:t>
            </a:r>
          </a:p>
          <a:p>
            <a:pPr>
              <a:spcBef>
                <a:spcPts val="600"/>
              </a:spcBef>
              <a:buClrTx/>
              <a:buFontTx/>
              <a:buNone/>
            </a:pPr>
            <a:endParaRPr lang="en-US" sz="1800" kern="1200" dirty="0">
              <a:solidFill>
                <a:schemeClr val="tx1"/>
              </a:solidFill>
              <a:latin typeface="+mn-lt"/>
              <a:ea typeface="+mn-ea"/>
              <a:cs typeface="+mn-cs"/>
            </a:endParaRPr>
          </a:p>
        </p:txBody>
      </p:sp>
      <p:sp>
        <p:nvSpPr>
          <p:cNvPr id="7" name="Google Shape;93;p1"/>
          <p:cNvSpPr txBox="1">
            <a:spLocks/>
          </p:cNvSpPr>
          <p:nvPr/>
        </p:nvSpPr>
        <p:spPr>
          <a:xfrm>
            <a:off x="550163" y="2517000"/>
            <a:ext cx="8805672" cy="1733854"/>
          </a:xfrm>
          <a:prstGeom prst="rect">
            <a:avLst/>
          </a:prstGeom>
          <a:noFill/>
          <a:ln>
            <a:noFill/>
          </a:ln>
        </p:spPr>
        <p:txBody>
          <a:bodyPr spcFirstLastPara="1" vert="horz" wrap="square" lIns="91425" tIns="45700" rIns="91425" bIns="45700" rtlCol="0" anchor="ctr" anchorCtr="0">
            <a:noAutofit/>
          </a:bodyPr>
          <a:lstStyle>
            <a:lvl1pPr algn="ctr" defTabSz="742950" rtl="0" eaLnBrk="1" latinLnBrk="0" hangingPunct="1">
              <a:lnSpc>
                <a:spcPct val="90000"/>
              </a:lnSpc>
              <a:spcBef>
                <a:spcPct val="0"/>
              </a:spcBef>
              <a:buNone/>
              <a:defRPr sz="3900" kern="1200">
                <a:solidFill>
                  <a:schemeClr val="tx1"/>
                </a:solidFill>
                <a:latin typeface="+mj-lt"/>
                <a:ea typeface="+mj-ea"/>
                <a:cs typeface="+mj-cs"/>
              </a:defRPr>
            </a:lvl1pPr>
          </a:lstStyle>
          <a:p>
            <a:pPr>
              <a:lnSpc>
                <a:spcPct val="100000"/>
              </a:lnSpc>
              <a:spcBef>
                <a:spcPts val="600"/>
              </a:spcBef>
              <a:buClr>
                <a:srgbClr val="FF0000"/>
              </a:buClr>
              <a:buSzPts val="3200"/>
              <a:buFontTx/>
            </a:pPr>
            <a:r>
              <a:rPr lang="en-US" sz="2400" b="1" dirty="0"/>
              <a:t>Pre-Project Presentation</a:t>
            </a:r>
            <a:br>
              <a:rPr lang="en-US" sz="2400" b="1" dirty="0"/>
            </a:br>
            <a:r>
              <a:rPr lang="en-US" sz="2200" b="1" dirty="0">
                <a:solidFill>
                  <a:srgbClr val="FF0000"/>
                </a:solidFill>
              </a:rPr>
              <a:t>DBARS: Demand Based Bus Allocation &amp; Routing System</a:t>
            </a:r>
          </a:p>
          <a:p>
            <a:pPr>
              <a:lnSpc>
                <a:spcPct val="100000"/>
              </a:lnSpc>
              <a:spcBef>
                <a:spcPts val="600"/>
              </a:spcBef>
              <a:buClr>
                <a:srgbClr val="FF0000"/>
              </a:buClr>
              <a:buSzPts val="3200"/>
              <a:buFontTx/>
            </a:pPr>
            <a:r>
              <a:rPr lang="en-US" sz="1400" b="0" i="1" dirty="0">
                <a:solidFill>
                  <a:srgbClr val="4B5563"/>
                </a:solidFill>
              </a:rPr>
              <a:t>One BMTC timetable, three products: find the bus and vote for route or bus |  plan the fleet  |  open the data</a:t>
            </a:r>
          </a:p>
          <a:p>
            <a:pPr>
              <a:lnSpc>
                <a:spcPct val="100000"/>
              </a:lnSpc>
              <a:spcBef>
                <a:spcPts val="600"/>
              </a:spcBef>
              <a:buClr>
                <a:srgbClr val="FF0000"/>
              </a:buClr>
              <a:buSzPts val="3200"/>
              <a:buFontTx/>
            </a:pPr>
            <a:r>
              <a:rPr lang="en-US" sz="1600" b="1" dirty="0">
                <a:solidFill>
                  <a:srgbClr val="FF0000"/>
                </a:solidFill>
              </a:rPr>
              <a:t>Project Batch No.: 26PB54</a:t>
            </a:r>
            <a:br>
              <a:rPr lang="en-US" sz="2400" b="1" dirty="0">
                <a:solidFill>
                  <a:srgbClr val="FF0000"/>
                </a:solidFill>
              </a:rPr>
            </a:br>
            <a:endParaRPr lang="en-US" sz="2400" b="1" dirty="0">
              <a:solidFill>
                <a:srgbClr val="FF0000"/>
              </a:solidFill>
            </a:endParaRPr>
          </a:p>
        </p:txBody>
      </p:sp>
      <p:pic>
        <p:nvPicPr>
          <p:cNvPr id="9" name="Picture 8">
            <a:extLst>
              <a:ext uri="{FF2B5EF4-FFF2-40B4-BE49-F238E27FC236}">
                <a16:creationId xmlns:a16="http://schemas.microsoft.com/office/drawing/2014/main" id="{ED9AE390-1EBF-06F6-7AA0-D50F7D61EA96}"/>
              </a:ext>
            </a:extLst>
          </p:cNvPr>
          <p:cNvPicPr>
            <a:picLocks noChangeAspect="1"/>
          </p:cNvPicPr>
          <p:nvPr/>
        </p:nvPicPr>
        <p:blipFill>
          <a:blip r:embed="rId3"/>
          <a:stretch>
            <a:fillRect/>
          </a:stretch>
        </p:blipFill>
        <p:spPr>
          <a:xfrm>
            <a:off x="3066380" y="337475"/>
            <a:ext cx="3310210" cy="1155033"/>
          </a:xfrm>
          <a:prstGeom prst="rect">
            <a:avLst/>
          </a:prstGeom>
        </p:spPr>
      </p:pic>
      <p:sp>
        <p:nvSpPr>
          <p:cNvPr id="11" name="object 4">
            <a:extLst>
              <a:ext uri="{FF2B5EF4-FFF2-40B4-BE49-F238E27FC236}">
                <a16:creationId xmlns:a16="http://schemas.microsoft.com/office/drawing/2014/main" id="{4D30523C-8E0C-4AE4-DCF6-713DBB88ABD7}"/>
              </a:ext>
            </a:extLst>
          </p:cNvPr>
          <p:cNvSpPr txBox="1"/>
          <p:nvPr/>
        </p:nvSpPr>
        <p:spPr>
          <a:xfrm>
            <a:off x="550163" y="4444042"/>
            <a:ext cx="3955547" cy="1659429"/>
          </a:xfrm>
          <a:prstGeom prst="rect">
            <a:avLst/>
          </a:prstGeom>
          <a:noFill/>
        </p:spPr>
        <p:txBody>
          <a:bodyPr vert="horz" wrap="square" lIns="0" tIns="12700" rIns="0" bIns="0" rtlCol="0">
            <a:spAutoFit/>
          </a:bodyPr>
          <a:lstStyle/>
          <a:p>
            <a:pPr marL="12700">
              <a:lnSpc>
                <a:spcPct val="100000"/>
              </a:lnSpc>
              <a:spcBef>
                <a:spcPts val="100"/>
              </a:spcBef>
              <a:spcAft>
                <a:spcPts val="1200"/>
              </a:spcAft>
            </a:pPr>
            <a:r>
              <a:rPr sz="1800" b="1" spc="80" dirty="0">
                <a:latin typeface="+mj-lt"/>
                <a:cs typeface="Cambria"/>
              </a:rPr>
              <a:t>Team</a:t>
            </a:r>
            <a:r>
              <a:rPr sz="1800" b="1" spc="114" dirty="0">
                <a:latin typeface="+mj-lt"/>
                <a:cs typeface="Cambria"/>
              </a:rPr>
              <a:t> </a:t>
            </a:r>
            <a:r>
              <a:rPr sz="1800" b="1" spc="55" dirty="0">
                <a:latin typeface="+mj-lt"/>
                <a:cs typeface="Cambria"/>
              </a:rPr>
              <a:t>Details</a:t>
            </a:r>
            <a:r>
              <a:rPr lang="en-US" sz="1800" b="1" spc="55" dirty="0">
                <a:latin typeface="+mj-lt"/>
                <a:cs typeface="Cambria"/>
              </a:rPr>
              <a:t>:</a:t>
            </a:r>
            <a:endParaRPr lang="en-IN" sz="1800" b="1" spc="55" dirty="0">
              <a:latin typeface="+mj-lt"/>
              <a:cs typeface="Cambria"/>
            </a:endParaRPr>
          </a:p>
          <a:p>
            <a:pPr lvl="8" fontAlgn="t">
              <a:spcAft>
                <a:spcPts val="600"/>
              </a:spcAft>
            </a:pPr>
            <a:r>
              <a:rPr lang="en-IN" sz="1600" b="1" dirty="0">
                <a:latin typeface="+mn-lt"/>
              </a:rPr>
              <a:t>    M Bharath Kumar  </a:t>
            </a:r>
            <a:r>
              <a:rPr lang="en-IN" sz="1600" dirty="0">
                <a:latin typeface="+mn-lt"/>
              </a:rPr>
              <a:t>23ETCS002066</a:t>
            </a:r>
          </a:p>
          <a:p>
            <a:pPr lvl="8" fontAlgn="t">
              <a:spcAft>
                <a:spcPts val="600"/>
              </a:spcAft>
            </a:pPr>
            <a:r>
              <a:rPr lang="en-IN" sz="1600" b="1" dirty="0">
                <a:latin typeface="+mn-lt"/>
                <a:cs typeface="Palatino Linotype" panose="02040502050505030304" pitchFamily="18" charset="0"/>
              </a:rPr>
              <a:t>    Nagendra</a:t>
            </a:r>
            <a:r>
              <a:rPr lang="en-IN" sz="1600" b="1" spc="-25" dirty="0">
                <a:latin typeface="+mn-lt"/>
                <a:cs typeface="Palatino Linotype" panose="02040502050505030304" pitchFamily="18" charset="0"/>
              </a:rPr>
              <a:t> </a:t>
            </a:r>
            <a:r>
              <a:rPr lang="en-IN" sz="1600" b="1" dirty="0">
                <a:latin typeface="+mn-lt"/>
                <a:cs typeface="Palatino Linotype" panose="02040502050505030304" pitchFamily="18" charset="0"/>
              </a:rPr>
              <a:t>S</a:t>
            </a:r>
            <a:r>
              <a:rPr lang="en-IN" sz="1600" b="1" spc="-10" dirty="0">
                <a:latin typeface="+mn-lt"/>
                <a:cs typeface="Palatino Linotype" panose="02040502050505030304" pitchFamily="18" charset="0"/>
              </a:rPr>
              <a:t> </a:t>
            </a:r>
            <a:r>
              <a:rPr lang="en-IN" sz="1600" b="1" spc="-20" dirty="0">
                <a:latin typeface="+mn-lt"/>
                <a:cs typeface="Palatino Linotype" panose="02040502050505030304" pitchFamily="18" charset="0"/>
              </a:rPr>
              <a:t>Jadav  </a:t>
            </a:r>
            <a:r>
              <a:rPr lang="en-IN" sz="1600" spc="-10" dirty="0">
                <a:latin typeface="+mn-lt"/>
                <a:cs typeface="Palatino Linotype"/>
              </a:rPr>
              <a:t>23ETCS002077</a:t>
            </a:r>
            <a:endParaRPr lang="en-IN" sz="1600" dirty="0">
              <a:latin typeface="+mn-lt"/>
              <a:cs typeface="Palatino Linotype"/>
            </a:endParaRPr>
          </a:p>
          <a:p>
            <a:pPr lvl="8" fontAlgn="t">
              <a:spcAft>
                <a:spcPts val="600"/>
              </a:spcAft>
            </a:pPr>
            <a:r>
              <a:rPr lang="en-IN" sz="1600" b="1" dirty="0">
                <a:latin typeface="+mn-lt"/>
                <a:cs typeface="Palatino Linotype"/>
              </a:rPr>
              <a:t>    Pavan</a:t>
            </a:r>
            <a:r>
              <a:rPr lang="en-IN" sz="1600" b="1" spc="-25" dirty="0">
                <a:latin typeface="+mn-lt"/>
                <a:cs typeface="Palatino Linotype"/>
              </a:rPr>
              <a:t> </a:t>
            </a:r>
            <a:r>
              <a:rPr lang="en-IN" sz="1600" b="1" spc="-10" dirty="0">
                <a:latin typeface="+mn-lt"/>
                <a:cs typeface="Palatino Linotype"/>
              </a:rPr>
              <a:t>Panchal  </a:t>
            </a:r>
            <a:r>
              <a:rPr lang="en-IN" sz="1600" spc="-10" dirty="0">
                <a:latin typeface="+mn-lt"/>
                <a:cs typeface="Palatino Linotype"/>
              </a:rPr>
              <a:t>23ETCS002086</a:t>
            </a:r>
            <a:endParaRPr lang="en-IN" sz="1600" dirty="0">
              <a:latin typeface="+mn-lt"/>
              <a:cs typeface="Palatino Linotype"/>
            </a:endParaRPr>
          </a:p>
          <a:p>
            <a:pPr lvl="8" fontAlgn="t">
              <a:spcAft>
                <a:spcPts val="600"/>
              </a:spcAft>
            </a:pPr>
            <a:r>
              <a:rPr lang="en-IN" sz="1600" b="1" dirty="0">
                <a:latin typeface="+mn-lt"/>
                <a:cs typeface="Palatino Linotype"/>
              </a:rPr>
              <a:t>    Vishrutha</a:t>
            </a:r>
            <a:r>
              <a:rPr lang="en-IN" sz="1600" b="1" spc="-20" dirty="0">
                <a:latin typeface="+mn-lt"/>
                <a:cs typeface="Palatino Linotype"/>
              </a:rPr>
              <a:t> </a:t>
            </a:r>
            <a:r>
              <a:rPr lang="en-IN" sz="1600" b="1" spc="-50" dirty="0">
                <a:latin typeface="+mn-lt"/>
                <a:cs typeface="Palatino Linotype"/>
              </a:rPr>
              <a:t>T  </a:t>
            </a:r>
            <a:r>
              <a:rPr lang="en-IN" sz="1600" spc="-10" dirty="0">
                <a:latin typeface="+mn-lt"/>
                <a:cs typeface="Palatino Linotype"/>
              </a:rPr>
              <a:t>23ETCS002163</a:t>
            </a:r>
            <a:endParaRPr lang="en-IN" sz="1600" dirty="0">
              <a:latin typeface="+mn-lt"/>
              <a:cs typeface="Palatino Linotype"/>
            </a:endParaRPr>
          </a:p>
        </p:txBody>
      </p:sp>
      <p:sp>
        <p:nvSpPr>
          <p:cNvPr id="23" name="object 2">
            <a:extLst>
              <a:ext uri="{FF2B5EF4-FFF2-40B4-BE49-F238E27FC236}">
                <a16:creationId xmlns:a16="http://schemas.microsoft.com/office/drawing/2014/main" id="{2D990855-38F0-9227-C958-45EC7C89B873}"/>
              </a:ext>
            </a:extLst>
          </p:cNvPr>
          <p:cNvSpPr/>
          <p:nvPr/>
        </p:nvSpPr>
        <p:spPr>
          <a:xfrm>
            <a:off x="640080" y="6196151"/>
            <a:ext cx="1679575" cy="180975"/>
          </a:xfrm>
          <a:custGeom>
            <a:avLst/>
            <a:gdLst/>
            <a:ahLst/>
            <a:cxnLst/>
            <a:rect l="l" t="t" r="r" b="b"/>
            <a:pathLst>
              <a:path w="1679575" h="180975">
                <a:moveTo>
                  <a:pt x="1679498" y="0"/>
                </a:moveTo>
                <a:lnTo>
                  <a:pt x="1679498" y="0"/>
                </a:lnTo>
                <a:lnTo>
                  <a:pt x="0" y="0"/>
                </a:lnTo>
                <a:lnTo>
                  <a:pt x="0" y="180975"/>
                </a:lnTo>
                <a:lnTo>
                  <a:pt x="1679498" y="180975"/>
                </a:lnTo>
                <a:lnTo>
                  <a:pt x="1679498" y="0"/>
                </a:lnTo>
                <a:close/>
              </a:path>
            </a:pathLst>
          </a:custGeom>
          <a:noFill/>
        </p:spPr>
        <p:txBody>
          <a:bodyPr wrap="square" lIns="0" tIns="0" rIns="0" bIns="0" rtlCol="0"/>
          <a:lstStyle/>
          <a:p>
            <a:endParaRPr/>
          </a:p>
        </p:txBody>
      </p:sp>
    </p:spTree>
    <p:extLst>
      <p:ext uri="{BB962C8B-B14F-4D97-AF65-F5344CB8AC3E}">
        <p14:creationId xmlns:p14="http://schemas.microsoft.com/office/powerpoint/2010/main" val="1387724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988552" cy="603504"/>
          </a:xfrm>
        </p:spPr>
        <p:txBody>
          <a:bodyPr wrap="square" anchor="ctr"/>
          <a:lstStyle/>
          <a:p>
            <a:pPr algn="ctr"/>
            <a:r>
              <a:rPr sz="2800" b="1" i="0">
                <a:solidFill>
                  <a:srgbClr val="FF0000"/>
                </a:solidFill>
                <a:latin typeface="Arial"/>
              </a:rPr>
              <a:t>Outline</a:t>
            </a:r>
          </a:p>
        </p:txBody>
      </p:sp>
      <p:sp>
        <p:nvSpPr>
          <p:cNvPr id="3" name="Oval 2"/>
          <p:cNvSpPr/>
          <p:nvPr/>
        </p:nvSpPr>
        <p:spPr>
          <a:xfrm>
            <a:off x="822960" y="1271016"/>
            <a:ext cx="420624" cy="420624"/>
          </a:xfrm>
          <a:prstGeom prst="ellipse">
            <a:avLst/>
          </a:prstGeom>
          <a:solidFill>
            <a:srgbClr val="C00000"/>
          </a:solidFill>
          <a:ln>
            <a:noFill/>
          </a:ln>
          <a:effectLst/>
        </p:spPr>
        <p:txBody>
          <a:bodyPr wrap="none" lIns="0" tIns="0" rIns="0" bIns="0" rtlCol="0" anchor="ctr"/>
          <a:lstStyle/>
          <a:p>
            <a:pPr algn="ctr"/>
            <a:r>
              <a:rPr sz="1400" b="1" i="0">
                <a:solidFill>
                  <a:srgbClr val="FFFFFF"/>
                </a:solidFill>
                <a:latin typeface="Arial"/>
              </a:rPr>
              <a:t>1</a:t>
            </a:r>
            <a:endParaRPr sz="1400"/>
          </a:p>
        </p:txBody>
      </p:sp>
      <p:sp>
        <p:nvSpPr>
          <p:cNvPr id="4" name="TextBox 3"/>
          <p:cNvSpPr txBox="1"/>
          <p:nvPr/>
        </p:nvSpPr>
        <p:spPr>
          <a:xfrm>
            <a:off x="1389888" y="1234440"/>
            <a:ext cx="3611880" cy="493776"/>
          </a:xfrm>
          <a:prstGeom prst="rect">
            <a:avLst/>
          </a:prstGeom>
          <a:noFill/>
        </p:spPr>
        <p:txBody>
          <a:bodyPr wrap="square" lIns="73152" rIns="73152" anchor="ctr"/>
          <a:lstStyle/>
          <a:p>
            <a:pPr algn="l"/>
            <a:r>
              <a:rPr sz="1600" b="0" i="0">
                <a:solidFill>
                  <a:srgbClr val="1F2937"/>
                </a:solidFill>
                <a:latin typeface="Arial"/>
              </a:rPr>
              <a:t>Introduction</a:t>
            </a:r>
            <a:endParaRPr sz="1600"/>
          </a:p>
        </p:txBody>
      </p:sp>
      <p:sp>
        <p:nvSpPr>
          <p:cNvPr id="5" name="Oval 4"/>
          <p:cNvSpPr/>
          <p:nvPr/>
        </p:nvSpPr>
        <p:spPr>
          <a:xfrm>
            <a:off x="822960" y="2020824"/>
            <a:ext cx="420624" cy="420624"/>
          </a:xfrm>
          <a:prstGeom prst="ellipse">
            <a:avLst/>
          </a:prstGeom>
          <a:solidFill>
            <a:srgbClr val="C00000"/>
          </a:solidFill>
          <a:ln>
            <a:noFill/>
          </a:ln>
          <a:effectLst/>
        </p:spPr>
        <p:txBody>
          <a:bodyPr wrap="none" lIns="0" tIns="0" rIns="0" bIns="0" rtlCol="0" anchor="ctr"/>
          <a:lstStyle/>
          <a:p>
            <a:pPr algn="ctr"/>
            <a:r>
              <a:rPr sz="1400" b="1" i="0">
                <a:solidFill>
                  <a:srgbClr val="FFFFFF"/>
                </a:solidFill>
                <a:latin typeface="Arial"/>
              </a:rPr>
              <a:t>2</a:t>
            </a:r>
            <a:endParaRPr sz="1400"/>
          </a:p>
        </p:txBody>
      </p:sp>
      <p:sp>
        <p:nvSpPr>
          <p:cNvPr id="6" name="TextBox 5"/>
          <p:cNvSpPr txBox="1"/>
          <p:nvPr/>
        </p:nvSpPr>
        <p:spPr>
          <a:xfrm>
            <a:off x="1389888" y="1984248"/>
            <a:ext cx="3611880" cy="493776"/>
          </a:xfrm>
          <a:prstGeom prst="rect">
            <a:avLst/>
          </a:prstGeom>
          <a:noFill/>
        </p:spPr>
        <p:txBody>
          <a:bodyPr wrap="square" lIns="73152" rIns="73152" anchor="ctr"/>
          <a:lstStyle/>
          <a:p>
            <a:pPr algn="l"/>
            <a:r>
              <a:rPr sz="1600" b="0" i="0">
                <a:solidFill>
                  <a:srgbClr val="1F2937"/>
                </a:solidFill>
                <a:latin typeface="Arial"/>
              </a:rPr>
              <a:t>Literature Survey</a:t>
            </a:r>
            <a:endParaRPr sz="1600"/>
          </a:p>
        </p:txBody>
      </p:sp>
      <p:sp>
        <p:nvSpPr>
          <p:cNvPr id="7" name="Oval 6"/>
          <p:cNvSpPr/>
          <p:nvPr/>
        </p:nvSpPr>
        <p:spPr>
          <a:xfrm>
            <a:off x="822960" y="2770632"/>
            <a:ext cx="420624" cy="420624"/>
          </a:xfrm>
          <a:prstGeom prst="ellipse">
            <a:avLst/>
          </a:prstGeom>
          <a:solidFill>
            <a:srgbClr val="C00000"/>
          </a:solidFill>
          <a:ln>
            <a:noFill/>
          </a:ln>
          <a:effectLst/>
        </p:spPr>
        <p:txBody>
          <a:bodyPr wrap="none" lIns="0" tIns="0" rIns="0" bIns="0" rtlCol="0" anchor="ctr"/>
          <a:lstStyle/>
          <a:p>
            <a:pPr algn="ctr"/>
            <a:r>
              <a:rPr sz="1400" b="1" i="0">
                <a:solidFill>
                  <a:srgbClr val="FFFFFF"/>
                </a:solidFill>
                <a:latin typeface="Arial"/>
              </a:rPr>
              <a:t>3</a:t>
            </a:r>
            <a:endParaRPr sz="1400"/>
          </a:p>
        </p:txBody>
      </p:sp>
      <p:sp>
        <p:nvSpPr>
          <p:cNvPr id="8" name="TextBox 7"/>
          <p:cNvSpPr txBox="1"/>
          <p:nvPr/>
        </p:nvSpPr>
        <p:spPr>
          <a:xfrm>
            <a:off x="1389888" y="2734056"/>
            <a:ext cx="3611880" cy="493776"/>
          </a:xfrm>
          <a:prstGeom prst="rect">
            <a:avLst/>
          </a:prstGeom>
          <a:noFill/>
        </p:spPr>
        <p:txBody>
          <a:bodyPr wrap="square" lIns="73152" rIns="73152" anchor="ctr"/>
          <a:lstStyle/>
          <a:p>
            <a:pPr algn="l"/>
            <a:r>
              <a:rPr sz="1600" b="0" i="0">
                <a:solidFill>
                  <a:srgbClr val="1F2937"/>
                </a:solidFill>
                <a:latin typeface="Arial"/>
              </a:rPr>
              <a:t>Research Gaps</a:t>
            </a:r>
            <a:endParaRPr sz="1600"/>
          </a:p>
        </p:txBody>
      </p:sp>
      <p:sp>
        <p:nvSpPr>
          <p:cNvPr id="9" name="Oval 8"/>
          <p:cNvSpPr/>
          <p:nvPr/>
        </p:nvSpPr>
        <p:spPr>
          <a:xfrm>
            <a:off x="822960" y="3520440"/>
            <a:ext cx="420624" cy="420624"/>
          </a:xfrm>
          <a:prstGeom prst="ellipse">
            <a:avLst/>
          </a:prstGeom>
          <a:solidFill>
            <a:srgbClr val="C00000"/>
          </a:solidFill>
          <a:ln>
            <a:noFill/>
          </a:ln>
          <a:effectLst/>
        </p:spPr>
        <p:txBody>
          <a:bodyPr wrap="none" lIns="0" tIns="0" rIns="0" bIns="0" rtlCol="0" anchor="ctr"/>
          <a:lstStyle/>
          <a:p>
            <a:pPr algn="ctr"/>
            <a:r>
              <a:rPr sz="1400" b="1" i="0">
                <a:solidFill>
                  <a:srgbClr val="FFFFFF"/>
                </a:solidFill>
                <a:latin typeface="Arial"/>
              </a:rPr>
              <a:t>4</a:t>
            </a:r>
            <a:endParaRPr sz="1400"/>
          </a:p>
        </p:txBody>
      </p:sp>
      <p:sp>
        <p:nvSpPr>
          <p:cNvPr id="10" name="TextBox 9"/>
          <p:cNvSpPr txBox="1"/>
          <p:nvPr/>
        </p:nvSpPr>
        <p:spPr>
          <a:xfrm>
            <a:off x="1389888" y="3483864"/>
            <a:ext cx="3611880" cy="493776"/>
          </a:xfrm>
          <a:prstGeom prst="rect">
            <a:avLst/>
          </a:prstGeom>
          <a:noFill/>
        </p:spPr>
        <p:txBody>
          <a:bodyPr wrap="square" lIns="73152" rIns="73152" anchor="ctr"/>
          <a:lstStyle/>
          <a:p>
            <a:pPr algn="l"/>
            <a:r>
              <a:rPr sz="1600" b="0" i="0">
                <a:solidFill>
                  <a:srgbClr val="1F2937"/>
                </a:solidFill>
                <a:latin typeface="Arial"/>
              </a:rPr>
              <a:t>Problem Statement and What DBARS Adds</a:t>
            </a:r>
            <a:endParaRPr sz="1600"/>
          </a:p>
        </p:txBody>
      </p:sp>
      <p:sp>
        <p:nvSpPr>
          <p:cNvPr id="11" name="Oval 10"/>
          <p:cNvSpPr/>
          <p:nvPr/>
        </p:nvSpPr>
        <p:spPr>
          <a:xfrm>
            <a:off x="822960" y="4270248"/>
            <a:ext cx="420624" cy="420624"/>
          </a:xfrm>
          <a:prstGeom prst="ellipse">
            <a:avLst/>
          </a:prstGeom>
          <a:solidFill>
            <a:srgbClr val="C00000"/>
          </a:solidFill>
          <a:ln>
            <a:noFill/>
          </a:ln>
          <a:effectLst/>
        </p:spPr>
        <p:txBody>
          <a:bodyPr wrap="none" lIns="0" tIns="0" rIns="0" bIns="0" rtlCol="0" anchor="ctr"/>
          <a:lstStyle/>
          <a:p>
            <a:pPr algn="ctr"/>
            <a:r>
              <a:rPr sz="1400" b="1" i="0">
                <a:solidFill>
                  <a:srgbClr val="FFFFFF"/>
                </a:solidFill>
                <a:latin typeface="Arial"/>
              </a:rPr>
              <a:t>5</a:t>
            </a:r>
            <a:endParaRPr sz="1400"/>
          </a:p>
        </p:txBody>
      </p:sp>
      <p:sp>
        <p:nvSpPr>
          <p:cNvPr id="12" name="TextBox 11"/>
          <p:cNvSpPr txBox="1"/>
          <p:nvPr/>
        </p:nvSpPr>
        <p:spPr>
          <a:xfrm>
            <a:off x="1389888" y="4233672"/>
            <a:ext cx="3611880" cy="493776"/>
          </a:xfrm>
          <a:prstGeom prst="rect">
            <a:avLst/>
          </a:prstGeom>
          <a:noFill/>
        </p:spPr>
        <p:txBody>
          <a:bodyPr wrap="square" lIns="73152" rIns="73152" anchor="ctr"/>
          <a:lstStyle/>
          <a:p>
            <a:pPr algn="l"/>
            <a:r>
              <a:rPr sz="1600" b="0" i="0">
                <a:solidFill>
                  <a:srgbClr val="1F2937"/>
                </a:solidFill>
                <a:latin typeface="Arial"/>
              </a:rPr>
              <a:t>Objectives</a:t>
            </a:r>
            <a:endParaRPr sz="1600"/>
          </a:p>
        </p:txBody>
      </p:sp>
      <p:sp>
        <p:nvSpPr>
          <p:cNvPr id="13" name="Oval 12"/>
          <p:cNvSpPr/>
          <p:nvPr/>
        </p:nvSpPr>
        <p:spPr>
          <a:xfrm>
            <a:off x="822960" y="5020055"/>
            <a:ext cx="420624" cy="420624"/>
          </a:xfrm>
          <a:prstGeom prst="ellipse">
            <a:avLst/>
          </a:prstGeom>
          <a:solidFill>
            <a:srgbClr val="C00000"/>
          </a:solidFill>
          <a:ln>
            <a:noFill/>
          </a:ln>
          <a:effectLst/>
        </p:spPr>
        <p:txBody>
          <a:bodyPr wrap="none" lIns="0" tIns="0" rIns="0" bIns="0" rtlCol="0" anchor="ctr"/>
          <a:lstStyle/>
          <a:p>
            <a:pPr algn="ctr"/>
            <a:r>
              <a:rPr sz="1400" b="1" i="0">
                <a:solidFill>
                  <a:srgbClr val="FFFFFF"/>
                </a:solidFill>
                <a:latin typeface="Arial"/>
              </a:rPr>
              <a:t>6</a:t>
            </a:r>
            <a:endParaRPr sz="1400"/>
          </a:p>
        </p:txBody>
      </p:sp>
      <p:sp>
        <p:nvSpPr>
          <p:cNvPr id="14" name="TextBox 13"/>
          <p:cNvSpPr txBox="1"/>
          <p:nvPr/>
        </p:nvSpPr>
        <p:spPr>
          <a:xfrm>
            <a:off x="1389888" y="4983479"/>
            <a:ext cx="3611880" cy="493776"/>
          </a:xfrm>
          <a:prstGeom prst="rect">
            <a:avLst/>
          </a:prstGeom>
          <a:noFill/>
        </p:spPr>
        <p:txBody>
          <a:bodyPr wrap="square" lIns="73152" rIns="73152" anchor="ctr"/>
          <a:lstStyle/>
          <a:p>
            <a:pPr algn="l"/>
            <a:r>
              <a:rPr sz="1600" b="0" i="0">
                <a:solidFill>
                  <a:srgbClr val="1F2937"/>
                </a:solidFill>
                <a:latin typeface="Arial"/>
              </a:rPr>
              <a:t>Proposed Methodology</a:t>
            </a:r>
            <a:endParaRPr sz="1600"/>
          </a:p>
        </p:txBody>
      </p:sp>
      <p:sp>
        <p:nvSpPr>
          <p:cNvPr id="15" name="Oval 14"/>
          <p:cNvSpPr/>
          <p:nvPr/>
        </p:nvSpPr>
        <p:spPr>
          <a:xfrm>
            <a:off x="5074920" y="1271016"/>
            <a:ext cx="420624" cy="420624"/>
          </a:xfrm>
          <a:prstGeom prst="ellipse">
            <a:avLst/>
          </a:prstGeom>
          <a:solidFill>
            <a:srgbClr val="C00000"/>
          </a:solidFill>
          <a:ln>
            <a:noFill/>
          </a:ln>
          <a:effectLst/>
        </p:spPr>
        <p:txBody>
          <a:bodyPr wrap="none" lIns="0" tIns="0" rIns="0" bIns="0" rtlCol="0" anchor="ctr"/>
          <a:lstStyle/>
          <a:p>
            <a:pPr algn="ctr"/>
            <a:r>
              <a:rPr sz="1400" b="1" i="0">
                <a:solidFill>
                  <a:srgbClr val="FFFFFF"/>
                </a:solidFill>
                <a:latin typeface="Arial"/>
              </a:rPr>
              <a:t>7</a:t>
            </a:r>
            <a:endParaRPr sz="1400"/>
          </a:p>
        </p:txBody>
      </p:sp>
      <p:sp>
        <p:nvSpPr>
          <p:cNvPr id="16" name="TextBox 15"/>
          <p:cNvSpPr txBox="1"/>
          <p:nvPr/>
        </p:nvSpPr>
        <p:spPr>
          <a:xfrm>
            <a:off x="5641848" y="1234440"/>
            <a:ext cx="3611880" cy="493776"/>
          </a:xfrm>
          <a:prstGeom prst="rect">
            <a:avLst/>
          </a:prstGeom>
          <a:noFill/>
        </p:spPr>
        <p:txBody>
          <a:bodyPr wrap="square" lIns="73152" rIns="73152" anchor="ctr"/>
          <a:lstStyle/>
          <a:p>
            <a:pPr algn="l"/>
            <a:r>
              <a:rPr sz="1600" b="0" i="0">
                <a:solidFill>
                  <a:srgbClr val="1F2937"/>
                </a:solidFill>
                <a:latin typeface="Arial"/>
              </a:rPr>
              <a:t>Sustainable Development Goals</a:t>
            </a:r>
            <a:endParaRPr sz="1600"/>
          </a:p>
        </p:txBody>
      </p:sp>
      <p:sp>
        <p:nvSpPr>
          <p:cNvPr id="17" name="Oval 16"/>
          <p:cNvSpPr/>
          <p:nvPr/>
        </p:nvSpPr>
        <p:spPr>
          <a:xfrm>
            <a:off x="5074920" y="2020824"/>
            <a:ext cx="420624" cy="420624"/>
          </a:xfrm>
          <a:prstGeom prst="ellipse">
            <a:avLst/>
          </a:prstGeom>
          <a:solidFill>
            <a:srgbClr val="C00000"/>
          </a:solidFill>
          <a:ln>
            <a:noFill/>
          </a:ln>
          <a:effectLst/>
        </p:spPr>
        <p:txBody>
          <a:bodyPr wrap="none" lIns="0" tIns="0" rIns="0" bIns="0" rtlCol="0" anchor="ctr"/>
          <a:lstStyle/>
          <a:p>
            <a:pPr algn="ctr"/>
            <a:r>
              <a:rPr sz="1400" b="1" i="0">
                <a:solidFill>
                  <a:srgbClr val="FFFFFF"/>
                </a:solidFill>
                <a:latin typeface="Arial"/>
              </a:rPr>
              <a:t>8</a:t>
            </a:r>
            <a:endParaRPr sz="1400"/>
          </a:p>
        </p:txBody>
      </p:sp>
      <p:sp>
        <p:nvSpPr>
          <p:cNvPr id="18" name="TextBox 17"/>
          <p:cNvSpPr txBox="1"/>
          <p:nvPr/>
        </p:nvSpPr>
        <p:spPr>
          <a:xfrm>
            <a:off x="5641848" y="1984248"/>
            <a:ext cx="3611880" cy="493776"/>
          </a:xfrm>
          <a:prstGeom prst="rect">
            <a:avLst/>
          </a:prstGeom>
          <a:noFill/>
        </p:spPr>
        <p:txBody>
          <a:bodyPr wrap="square" lIns="73152" rIns="73152" anchor="ctr"/>
          <a:lstStyle/>
          <a:p>
            <a:pPr algn="l"/>
            <a:r>
              <a:rPr sz="1600" b="0" i="0">
                <a:solidFill>
                  <a:srgbClr val="1F2937"/>
                </a:solidFill>
                <a:latin typeface="Arial"/>
              </a:rPr>
              <a:t>Expected Outcomes</a:t>
            </a:r>
            <a:endParaRPr sz="1600"/>
          </a:p>
        </p:txBody>
      </p:sp>
      <p:sp>
        <p:nvSpPr>
          <p:cNvPr id="19" name="Oval 18"/>
          <p:cNvSpPr/>
          <p:nvPr/>
        </p:nvSpPr>
        <p:spPr>
          <a:xfrm>
            <a:off x="5074920" y="2770632"/>
            <a:ext cx="420624" cy="420624"/>
          </a:xfrm>
          <a:prstGeom prst="ellipse">
            <a:avLst/>
          </a:prstGeom>
          <a:solidFill>
            <a:srgbClr val="C00000"/>
          </a:solidFill>
          <a:ln>
            <a:noFill/>
          </a:ln>
          <a:effectLst/>
        </p:spPr>
        <p:txBody>
          <a:bodyPr wrap="none" lIns="0" tIns="0" rIns="0" bIns="0" rtlCol="0" anchor="ctr"/>
          <a:lstStyle/>
          <a:p>
            <a:pPr algn="ctr"/>
            <a:r>
              <a:rPr sz="1400" b="1" i="0">
                <a:solidFill>
                  <a:srgbClr val="FFFFFF"/>
                </a:solidFill>
                <a:latin typeface="Arial"/>
              </a:rPr>
              <a:t>9</a:t>
            </a:r>
            <a:endParaRPr sz="1400"/>
          </a:p>
        </p:txBody>
      </p:sp>
      <p:sp>
        <p:nvSpPr>
          <p:cNvPr id="20" name="TextBox 19"/>
          <p:cNvSpPr txBox="1"/>
          <p:nvPr/>
        </p:nvSpPr>
        <p:spPr>
          <a:xfrm>
            <a:off x="5641848" y="2734056"/>
            <a:ext cx="3611880" cy="493776"/>
          </a:xfrm>
          <a:prstGeom prst="rect">
            <a:avLst/>
          </a:prstGeom>
          <a:noFill/>
        </p:spPr>
        <p:txBody>
          <a:bodyPr wrap="square" lIns="73152" rIns="73152" anchor="ctr"/>
          <a:lstStyle/>
          <a:p>
            <a:pPr algn="l"/>
            <a:r>
              <a:rPr sz="1600" b="0" i="0">
                <a:solidFill>
                  <a:srgbClr val="1F2937"/>
                </a:solidFill>
                <a:latin typeface="Arial"/>
              </a:rPr>
              <a:t>Gantt Chart for Work Plan</a:t>
            </a:r>
            <a:endParaRPr sz="1600"/>
          </a:p>
        </p:txBody>
      </p:sp>
      <p:sp>
        <p:nvSpPr>
          <p:cNvPr id="21" name="Oval 20"/>
          <p:cNvSpPr/>
          <p:nvPr/>
        </p:nvSpPr>
        <p:spPr>
          <a:xfrm>
            <a:off x="5074920" y="3520440"/>
            <a:ext cx="420624" cy="420624"/>
          </a:xfrm>
          <a:prstGeom prst="ellipse">
            <a:avLst/>
          </a:prstGeom>
          <a:solidFill>
            <a:srgbClr val="C00000"/>
          </a:solidFill>
          <a:ln>
            <a:noFill/>
          </a:ln>
          <a:effectLst/>
        </p:spPr>
        <p:txBody>
          <a:bodyPr wrap="none" lIns="0" tIns="0" rIns="0" bIns="0" rtlCol="0" anchor="ctr"/>
          <a:lstStyle/>
          <a:p>
            <a:pPr algn="ctr"/>
            <a:r>
              <a:rPr sz="1400" b="1" i="0">
                <a:solidFill>
                  <a:srgbClr val="FFFFFF"/>
                </a:solidFill>
                <a:latin typeface="Arial"/>
              </a:rPr>
              <a:t>10</a:t>
            </a:r>
            <a:endParaRPr sz="1400"/>
          </a:p>
        </p:txBody>
      </p:sp>
      <p:sp>
        <p:nvSpPr>
          <p:cNvPr id="22" name="TextBox 21"/>
          <p:cNvSpPr txBox="1"/>
          <p:nvPr/>
        </p:nvSpPr>
        <p:spPr>
          <a:xfrm>
            <a:off x="5641848" y="3483864"/>
            <a:ext cx="3611880" cy="493776"/>
          </a:xfrm>
          <a:prstGeom prst="rect">
            <a:avLst/>
          </a:prstGeom>
          <a:noFill/>
        </p:spPr>
        <p:txBody>
          <a:bodyPr wrap="square" lIns="73152" rIns="73152" anchor="ctr"/>
          <a:lstStyle/>
          <a:p>
            <a:pPr algn="l"/>
            <a:r>
              <a:rPr sz="1600" b="0" i="0">
                <a:solidFill>
                  <a:srgbClr val="1F2937"/>
                </a:solidFill>
                <a:latin typeface="Arial"/>
              </a:rPr>
              <a:t>Conclusion</a:t>
            </a:r>
            <a:endParaRPr sz="1600"/>
          </a:p>
        </p:txBody>
      </p:sp>
      <p:sp>
        <p:nvSpPr>
          <p:cNvPr id="23" name="Oval 22"/>
          <p:cNvSpPr/>
          <p:nvPr/>
        </p:nvSpPr>
        <p:spPr>
          <a:xfrm>
            <a:off x="5074920" y="4270248"/>
            <a:ext cx="420624" cy="420624"/>
          </a:xfrm>
          <a:prstGeom prst="ellipse">
            <a:avLst/>
          </a:prstGeom>
          <a:solidFill>
            <a:srgbClr val="C00000"/>
          </a:solidFill>
          <a:ln>
            <a:noFill/>
          </a:ln>
          <a:effectLst/>
        </p:spPr>
        <p:txBody>
          <a:bodyPr wrap="none" lIns="0" tIns="0" rIns="0" bIns="0" rtlCol="0" anchor="ctr"/>
          <a:lstStyle/>
          <a:p>
            <a:pPr algn="ctr"/>
            <a:r>
              <a:rPr sz="1400" b="1" i="0">
                <a:solidFill>
                  <a:srgbClr val="FFFFFF"/>
                </a:solidFill>
                <a:latin typeface="Arial"/>
              </a:rPr>
              <a:t>11</a:t>
            </a:r>
            <a:endParaRPr sz="1400"/>
          </a:p>
        </p:txBody>
      </p:sp>
      <p:sp>
        <p:nvSpPr>
          <p:cNvPr id="24" name="TextBox 23"/>
          <p:cNvSpPr txBox="1"/>
          <p:nvPr/>
        </p:nvSpPr>
        <p:spPr>
          <a:xfrm>
            <a:off x="5641848" y="4233672"/>
            <a:ext cx="3611880" cy="493776"/>
          </a:xfrm>
          <a:prstGeom prst="rect">
            <a:avLst/>
          </a:prstGeom>
          <a:noFill/>
        </p:spPr>
        <p:txBody>
          <a:bodyPr wrap="square" lIns="73152" rIns="73152" anchor="ctr"/>
          <a:lstStyle/>
          <a:p>
            <a:pPr algn="l"/>
            <a:r>
              <a:rPr sz="1600" b="0" i="0">
                <a:solidFill>
                  <a:srgbClr val="1F2937"/>
                </a:solidFill>
                <a:latin typeface="Arial"/>
              </a:rPr>
              <a:t>References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988552" cy="603504"/>
          </a:xfrm>
        </p:spPr>
        <p:txBody>
          <a:bodyPr wrap="square" anchor="ctr"/>
          <a:lstStyle/>
          <a:p>
            <a:pPr algn="ctr"/>
            <a:r>
              <a:rPr sz="2800" b="1" i="0">
                <a:solidFill>
                  <a:srgbClr val="FF0000"/>
                </a:solidFill>
                <a:latin typeface="Arial"/>
              </a:rPr>
              <a:t>Introduction</a:t>
            </a:r>
          </a:p>
        </p:txBody>
      </p:sp>
      <p:sp>
        <p:nvSpPr>
          <p:cNvPr id="3" name="Rounded Rectangle 2"/>
          <p:cNvSpPr/>
          <p:nvPr/>
        </p:nvSpPr>
        <p:spPr>
          <a:xfrm>
            <a:off x="457200" y="914400"/>
            <a:ext cx="4434840" cy="1371600"/>
          </a:xfrm>
          <a:prstGeom prst="roundRect">
            <a:avLst>
              <a:gd name="adj" fmla="val 6000"/>
            </a:avLst>
          </a:prstGeom>
          <a:solidFill>
            <a:srgbClr val="F3F4F6"/>
          </a:solidFill>
          <a:ln>
            <a:noFill/>
          </a:ln>
          <a:effectLst/>
        </p:spPr>
        <p:txBody>
          <a:bodyPr rtlCol="0" anchor="ctr"/>
          <a:lstStyle/>
          <a:p>
            <a:pPr algn="ctr"/>
            <a:endParaRPr/>
          </a:p>
        </p:txBody>
      </p:sp>
      <p:sp>
        <p:nvSpPr>
          <p:cNvPr id="4" name="Oval 3"/>
          <p:cNvSpPr/>
          <p:nvPr/>
        </p:nvSpPr>
        <p:spPr>
          <a:xfrm>
            <a:off x="621792" y="1060704"/>
            <a:ext cx="384048" cy="384048"/>
          </a:xfrm>
          <a:prstGeom prst="ellipse">
            <a:avLst/>
          </a:prstGeom>
          <a:solidFill>
            <a:srgbClr val="C00000"/>
          </a:solidFill>
          <a:ln>
            <a:noFill/>
          </a:ln>
          <a:effectLst/>
        </p:spPr>
        <p:txBody>
          <a:bodyPr wrap="none" lIns="0" tIns="0" rIns="0" bIns="0" rtlCol="0" anchor="ctr"/>
          <a:lstStyle/>
          <a:p>
            <a:pPr algn="ctr"/>
            <a:r>
              <a:rPr sz="1300" b="1" i="0">
                <a:solidFill>
                  <a:srgbClr val="FFFFFF"/>
                </a:solidFill>
                <a:latin typeface="Arial"/>
              </a:rPr>
              <a:t>1</a:t>
            </a:r>
            <a:endParaRPr sz="1300"/>
          </a:p>
        </p:txBody>
      </p:sp>
      <p:sp>
        <p:nvSpPr>
          <p:cNvPr id="5" name="TextBox 4"/>
          <p:cNvSpPr txBox="1"/>
          <p:nvPr/>
        </p:nvSpPr>
        <p:spPr>
          <a:xfrm>
            <a:off x="1115568" y="1042416"/>
            <a:ext cx="3611879" cy="420624"/>
          </a:xfrm>
          <a:prstGeom prst="rect">
            <a:avLst/>
          </a:prstGeom>
          <a:noFill/>
        </p:spPr>
        <p:txBody>
          <a:bodyPr wrap="square" lIns="73152" rIns="73152" anchor="ctr"/>
          <a:lstStyle/>
          <a:p>
            <a:pPr algn="l"/>
            <a:r>
              <a:rPr sz="1700" b="1" i="0">
                <a:solidFill>
                  <a:srgbClr val="C00000"/>
                </a:solidFill>
                <a:latin typeface="Arial"/>
              </a:rPr>
              <a:t>The domain</a:t>
            </a:r>
            <a:endParaRPr sz="1700"/>
          </a:p>
        </p:txBody>
      </p:sp>
      <p:sp>
        <p:nvSpPr>
          <p:cNvPr id="6" name="TextBox 5"/>
          <p:cNvSpPr txBox="1"/>
          <p:nvPr/>
        </p:nvSpPr>
        <p:spPr>
          <a:xfrm>
            <a:off x="621792" y="1517904"/>
            <a:ext cx="4105655" cy="731520"/>
          </a:xfrm>
          <a:prstGeom prst="rect">
            <a:avLst/>
          </a:prstGeom>
          <a:noFill/>
        </p:spPr>
        <p:txBody>
          <a:bodyPr wrap="square" lIns="73152" rIns="73152" anchor="t"/>
          <a:lstStyle/>
          <a:p>
            <a:pPr algn="l"/>
            <a:r>
              <a:rPr sz="1400" b="0" i="0">
                <a:solidFill>
                  <a:srgbClr val="1F2937"/>
                </a:solidFill>
                <a:latin typeface="Arial"/>
              </a:rPr>
              <a:t>Urban public transport: Bengaluru's BMTC city bus network.</a:t>
            </a:r>
            <a:endParaRPr sz="1400"/>
          </a:p>
        </p:txBody>
      </p:sp>
      <p:sp>
        <p:nvSpPr>
          <p:cNvPr id="7" name="Rounded Rectangle 6"/>
          <p:cNvSpPr/>
          <p:nvPr/>
        </p:nvSpPr>
        <p:spPr>
          <a:xfrm>
            <a:off x="5010912" y="914400"/>
            <a:ext cx="4434840" cy="1371600"/>
          </a:xfrm>
          <a:prstGeom prst="roundRect">
            <a:avLst>
              <a:gd name="adj" fmla="val 6000"/>
            </a:avLst>
          </a:prstGeom>
          <a:solidFill>
            <a:srgbClr val="F3F4F6"/>
          </a:solidFill>
          <a:ln>
            <a:noFill/>
          </a:ln>
          <a:effectLst/>
        </p:spPr>
        <p:txBody>
          <a:bodyPr rtlCol="0" anchor="ctr"/>
          <a:lstStyle/>
          <a:p>
            <a:pPr algn="ctr"/>
            <a:endParaRPr/>
          </a:p>
        </p:txBody>
      </p:sp>
      <p:sp>
        <p:nvSpPr>
          <p:cNvPr id="8" name="Oval 7"/>
          <p:cNvSpPr/>
          <p:nvPr/>
        </p:nvSpPr>
        <p:spPr>
          <a:xfrm>
            <a:off x="5175503" y="1060704"/>
            <a:ext cx="384048" cy="384048"/>
          </a:xfrm>
          <a:prstGeom prst="ellipse">
            <a:avLst/>
          </a:prstGeom>
          <a:solidFill>
            <a:srgbClr val="C00000"/>
          </a:solidFill>
          <a:ln>
            <a:noFill/>
          </a:ln>
          <a:effectLst/>
        </p:spPr>
        <p:txBody>
          <a:bodyPr wrap="none" lIns="0" tIns="0" rIns="0" bIns="0" rtlCol="0" anchor="ctr"/>
          <a:lstStyle/>
          <a:p>
            <a:pPr algn="ctr"/>
            <a:r>
              <a:rPr sz="1300" b="1" i="0">
                <a:solidFill>
                  <a:srgbClr val="FFFFFF"/>
                </a:solidFill>
                <a:latin typeface="Arial"/>
              </a:rPr>
              <a:t>2</a:t>
            </a:r>
            <a:endParaRPr sz="1300"/>
          </a:p>
        </p:txBody>
      </p:sp>
      <p:sp>
        <p:nvSpPr>
          <p:cNvPr id="9" name="TextBox 8"/>
          <p:cNvSpPr txBox="1"/>
          <p:nvPr/>
        </p:nvSpPr>
        <p:spPr>
          <a:xfrm>
            <a:off x="5669279" y="1042416"/>
            <a:ext cx="3611879" cy="420624"/>
          </a:xfrm>
          <a:prstGeom prst="rect">
            <a:avLst/>
          </a:prstGeom>
          <a:noFill/>
        </p:spPr>
        <p:txBody>
          <a:bodyPr wrap="square" lIns="73152" rIns="73152" anchor="ctr"/>
          <a:lstStyle/>
          <a:p>
            <a:pPr algn="l"/>
            <a:r>
              <a:rPr sz="1700" b="1" i="0">
                <a:solidFill>
                  <a:srgbClr val="C00000"/>
                </a:solidFill>
                <a:latin typeface="Arial"/>
              </a:rPr>
              <a:t>Why it matters</a:t>
            </a:r>
            <a:endParaRPr sz="1700"/>
          </a:p>
        </p:txBody>
      </p:sp>
      <p:sp>
        <p:nvSpPr>
          <p:cNvPr id="10" name="TextBox 9"/>
          <p:cNvSpPr txBox="1"/>
          <p:nvPr/>
        </p:nvSpPr>
        <p:spPr>
          <a:xfrm>
            <a:off x="5175503" y="1517904"/>
            <a:ext cx="4105655" cy="731520"/>
          </a:xfrm>
          <a:prstGeom prst="rect">
            <a:avLst/>
          </a:prstGeom>
          <a:noFill/>
        </p:spPr>
        <p:txBody>
          <a:bodyPr wrap="square" lIns="73152" rIns="73152" anchor="t"/>
          <a:lstStyle/>
          <a:p>
            <a:pPr algn="l"/>
            <a:r>
              <a:rPr sz="1400" b="0" i="0">
                <a:solidFill>
                  <a:srgbClr val="1F2937"/>
                </a:solidFill>
                <a:latin typeface="Arial"/>
              </a:rPr>
              <a:t>Buses are the city's everyday mass transport. Riders and the operator both depend on good data.</a:t>
            </a:r>
            <a:endParaRPr sz="1400"/>
          </a:p>
        </p:txBody>
      </p:sp>
      <p:sp>
        <p:nvSpPr>
          <p:cNvPr id="11" name="Rounded Rectangle 10"/>
          <p:cNvSpPr/>
          <p:nvPr/>
        </p:nvSpPr>
        <p:spPr>
          <a:xfrm>
            <a:off x="457200" y="2404872"/>
            <a:ext cx="4434840" cy="1371600"/>
          </a:xfrm>
          <a:prstGeom prst="roundRect">
            <a:avLst>
              <a:gd name="adj" fmla="val 6000"/>
            </a:avLst>
          </a:prstGeom>
          <a:solidFill>
            <a:srgbClr val="F3F4F6"/>
          </a:solidFill>
          <a:ln>
            <a:noFill/>
          </a:ln>
          <a:effectLst/>
        </p:spPr>
        <p:txBody>
          <a:bodyPr rtlCol="0" anchor="ctr"/>
          <a:lstStyle/>
          <a:p>
            <a:pPr algn="ctr"/>
            <a:endParaRPr/>
          </a:p>
        </p:txBody>
      </p:sp>
      <p:sp>
        <p:nvSpPr>
          <p:cNvPr id="12" name="Oval 11"/>
          <p:cNvSpPr/>
          <p:nvPr/>
        </p:nvSpPr>
        <p:spPr>
          <a:xfrm>
            <a:off x="621792" y="2551176"/>
            <a:ext cx="384048" cy="384048"/>
          </a:xfrm>
          <a:prstGeom prst="ellipse">
            <a:avLst/>
          </a:prstGeom>
          <a:solidFill>
            <a:srgbClr val="C00000"/>
          </a:solidFill>
          <a:ln>
            <a:noFill/>
          </a:ln>
          <a:effectLst/>
        </p:spPr>
        <p:txBody>
          <a:bodyPr wrap="none" lIns="0" tIns="0" rIns="0" bIns="0" rtlCol="0" anchor="ctr"/>
          <a:lstStyle/>
          <a:p>
            <a:pPr algn="ctr"/>
            <a:r>
              <a:rPr sz="1300" b="1" i="0">
                <a:solidFill>
                  <a:srgbClr val="FFFFFF"/>
                </a:solidFill>
                <a:latin typeface="Arial"/>
              </a:rPr>
              <a:t>3</a:t>
            </a:r>
            <a:endParaRPr sz="1300"/>
          </a:p>
        </p:txBody>
      </p:sp>
      <p:sp>
        <p:nvSpPr>
          <p:cNvPr id="13" name="TextBox 12"/>
          <p:cNvSpPr txBox="1"/>
          <p:nvPr/>
        </p:nvSpPr>
        <p:spPr>
          <a:xfrm>
            <a:off x="1115568" y="2532888"/>
            <a:ext cx="3611879" cy="420624"/>
          </a:xfrm>
          <a:prstGeom prst="rect">
            <a:avLst/>
          </a:prstGeom>
          <a:noFill/>
        </p:spPr>
        <p:txBody>
          <a:bodyPr wrap="square" lIns="73152" rIns="73152" anchor="ctr"/>
          <a:lstStyle/>
          <a:p>
            <a:pPr algn="l"/>
            <a:r>
              <a:rPr sz="1700" b="1" i="0">
                <a:solidFill>
                  <a:srgbClr val="C00000"/>
                </a:solidFill>
                <a:latin typeface="Arial"/>
              </a:rPr>
              <a:t>The issue</a:t>
            </a:r>
            <a:endParaRPr sz="1700"/>
          </a:p>
        </p:txBody>
      </p:sp>
      <p:sp>
        <p:nvSpPr>
          <p:cNvPr id="14" name="TextBox 13"/>
          <p:cNvSpPr txBox="1"/>
          <p:nvPr/>
        </p:nvSpPr>
        <p:spPr>
          <a:xfrm>
            <a:off x="621792" y="3008376"/>
            <a:ext cx="4105655" cy="731520"/>
          </a:xfrm>
          <a:prstGeom prst="rect">
            <a:avLst/>
          </a:prstGeom>
          <a:noFill/>
        </p:spPr>
        <p:txBody>
          <a:bodyPr wrap="square" lIns="73152" rIns="73152" anchor="t"/>
          <a:lstStyle/>
          <a:p>
            <a:r>
              <a:rPr lang="en-IN" dirty="0"/>
              <a:t>Fixed bus schedules lead to overcrowding during peak hours and underutilization during off-peak periods, reducing overall transit efficiency.</a:t>
            </a:r>
            <a:endParaRPr sz="1400" dirty="0"/>
          </a:p>
        </p:txBody>
      </p:sp>
      <p:sp>
        <p:nvSpPr>
          <p:cNvPr id="15" name="Rounded Rectangle 14"/>
          <p:cNvSpPr/>
          <p:nvPr/>
        </p:nvSpPr>
        <p:spPr>
          <a:xfrm>
            <a:off x="5010912" y="2404872"/>
            <a:ext cx="4434840" cy="1371600"/>
          </a:xfrm>
          <a:prstGeom prst="roundRect">
            <a:avLst>
              <a:gd name="adj" fmla="val 6000"/>
            </a:avLst>
          </a:prstGeom>
          <a:solidFill>
            <a:srgbClr val="F3F4F6"/>
          </a:solidFill>
          <a:ln>
            <a:noFill/>
          </a:ln>
          <a:effectLst/>
        </p:spPr>
        <p:txBody>
          <a:bodyPr rtlCol="0" anchor="ctr"/>
          <a:lstStyle/>
          <a:p>
            <a:pPr algn="ctr"/>
            <a:endParaRPr/>
          </a:p>
        </p:txBody>
      </p:sp>
      <p:sp>
        <p:nvSpPr>
          <p:cNvPr id="16" name="Oval 15"/>
          <p:cNvSpPr/>
          <p:nvPr/>
        </p:nvSpPr>
        <p:spPr>
          <a:xfrm>
            <a:off x="5175503" y="2551176"/>
            <a:ext cx="384048" cy="384048"/>
          </a:xfrm>
          <a:prstGeom prst="ellipse">
            <a:avLst/>
          </a:prstGeom>
          <a:solidFill>
            <a:srgbClr val="C00000"/>
          </a:solidFill>
          <a:ln>
            <a:noFill/>
          </a:ln>
          <a:effectLst/>
        </p:spPr>
        <p:txBody>
          <a:bodyPr wrap="none" lIns="0" tIns="0" rIns="0" bIns="0" rtlCol="0" anchor="ctr"/>
          <a:lstStyle/>
          <a:p>
            <a:pPr algn="ctr"/>
            <a:r>
              <a:rPr sz="1300" b="1" i="0">
                <a:solidFill>
                  <a:srgbClr val="FFFFFF"/>
                </a:solidFill>
                <a:latin typeface="Arial"/>
              </a:rPr>
              <a:t>4</a:t>
            </a:r>
            <a:endParaRPr sz="1300"/>
          </a:p>
        </p:txBody>
      </p:sp>
      <p:sp>
        <p:nvSpPr>
          <p:cNvPr id="17" name="TextBox 16"/>
          <p:cNvSpPr txBox="1"/>
          <p:nvPr/>
        </p:nvSpPr>
        <p:spPr>
          <a:xfrm>
            <a:off x="5669279" y="2532888"/>
            <a:ext cx="3611879" cy="420624"/>
          </a:xfrm>
          <a:prstGeom prst="rect">
            <a:avLst/>
          </a:prstGeom>
          <a:noFill/>
        </p:spPr>
        <p:txBody>
          <a:bodyPr wrap="square" lIns="73152" rIns="73152" anchor="ctr"/>
          <a:lstStyle/>
          <a:p>
            <a:pPr algn="l"/>
            <a:r>
              <a:rPr sz="1700" b="1" i="0">
                <a:solidFill>
                  <a:srgbClr val="C00000"/>
                </a:solidFill>
                <a:latin typeface="Arial"/>
              </a:rPr>
              <a:t>Why now</a:t>
            </a:r>
            <a:endParaRPr sz="1700"/>
          </a:p>
        </p:txBody>
      </p:sp>
      <p:sp>
        <p:nvSpPr>
          <p:cNvPr id="18" name="TextBox 17"/>
          <p:cNvSpPr txBox="1"/>
          <p:nvPr/>
        </p:nvSpPr>
        <p:spPr>
          <a:xfrm>
            <a:off x="5175503" y="3008376"/>
            <a:ext cx="4105655" cy="731520"/>
          </a:xfrm>
          <a:prstGeom prst="rect">
            <a:avLst/>
          </a:prstGeom>
          <a:noFill/>
        </p:spPr>
        <p:txBody>
          <a:bodyPr wrap="square" lIns="73152" rIns="73152" anchor="t"/>
          <a:lstStyle/>
          <a:p>
            <a:pPr algn="l"/>
            <a:r>
              <a:rPr sz="1400" b="0" i="0">
                <a:solidFill>
                  <a:srgbClr val="1F2937"/>
                </a:solidFill>
                <a:latin typeface="Arial"/>
              </a:rPr>
              <a:t>The Shakti scheme (2023) changed ridership; digital tickets, tracking and AI now make demand-aware planning possible.</a:t>
            </a:r>
            <a:endParaRPr sz="1400"/>
          </a:p>
        </p:txBody>
      </p:sp>
      <p:sp>
        <p:nvSpPr>
          <p:cNvPr id="19" name="Rounded Rectangle 18"/>
          <p:cNvSpPr/>
          <p:nvPr/>
        </p:nvSpPr>
        <p:spPr>
          <a:xfrm>
            <a:off x="457200" y="3977639"/>
            <a:ext cx="2148840" cy="960120"/>
          </a:xfrm>
          <a:prstGeom prst="roundRect">
            <a:avLst>
              <a:gd name="adj" fmla="val 8000"/>
            </a:avLst>
          </a:prstGeom>
          <a:solidFill>
            <a:srgbClr val="FFFFFF"/>
          </a:solidFill>
          <a:ln w="15875">
            <a:solidFill>
              <a:srgbClr val="C00000"/>
            </a:solidFill>
          </a:ln>
          <a:effectLst/>
        </p:spPr>
        <p:txBody>
          <a:bodyPr rtlCol="0" anchor="ctr"/>
          <a:lstStyle/>
          <a:p>
            <a:pPr algn="ctr"/>
            <a:endParaRPr/>
          </a:p>
        </p:txBody>
      </p:sp>
      <p:sp>
        <p:nvSpPr>
          <p:cNvPr id="20" name="TextBox 19"/>
          <p:cNvSpPr txBox="1"/>
          <p:nvPr/>
        </p:nvSpPr>
        <p:spPr>
          <a:xfrm>
            <a:off x="457200" y="4023360"/>
            <a:ext cx="2148840" cy="548640"/>
          </a:xfrm>
          <a:prstGeom prst="rect">
            <a:avLst/>
          </a:prstGeom>
          <a:noFill/>
        </p:spPr>
        <p:txBody>
          <a:bodyPr wrap="square" lIns="73152" rIns="73152" anchor="ctr"/>
          <a:lstStyle/>
          <a:p>
            <a:pPr algn="ctr"/>
            <a:r>
              <a:rPr sz="2800" b="1" i="0">
                <a:solidFill>
                  <a:srgbClr val="C00000"/>
                </a:solidFill>
                <a:latin typeface="Arial"/>
              </a:rPr>
              <a:t>7,000+</a:t>
            </a:r>
            <a:endParaRPr sz="2800"/>
          </a:p>
        </p:txBody>
      </p:sp>
      <p:sp>
        <p:nvSpPr>
          <p:cNvPr id="21" name="TextBox 20"/>
          <p:cNvSpPr txBox="1"/>
          <p:nvPr/>
        </p:nvSpPr>
        <p:spPr>
          <a:xfrm>
            <a:off x="457200" y="4553712"/>
            <a:ext cx="2148840" cy="329184"/>
          </a:xfrm>
          <a:prstGeom prst="rect">
            <a:avLst/>
          </a:prstGeom>
          <a:noFill/>
        </p:spPr>
        <p:txBody>
          <a:bodyPr wrap="square" lIns="73152" rIns="73152" anchor="t"/>
          <a:lstStyle/>
          <a:p>
            <a:pPr algn="ctr"/>
            <a:r>
              <a:rPr sz="1300" b="0" i="0">
                <a:solidFill>
                  <a:srgbClr val="4B5563"/>
                </a:solidFill>
                <a:latin typeface="Arial"/>
              </a:rPr>
              <a:t>BMTC buses</a:t>
            </a:r>
            <a:endParaRPr sz="1300"/>
          </a:p>
        </p:txBody>
      </p:sp>
      <p:sp>
        <p:nvSpPr>
          <p:cNvPr id="22" name="Rounded Rectangle 21"/>
          <p:cNvSpPr/>
          <p:nvPr/>
        </p:nvSpPr>
        <p:spPr>
          <a:xfrm>
            <a:off x="2736799" y="3977639"/>
            <a:ext cx="2148840" cy="960120"/>
          </a:xfrm>
          <a:prstGeom prst="roundRect">
            <a:avLst>
              <a:gd name="adj" fmla="val 8000"/>
            </a:avLst>
          </a:prstGeom>
          <a:solidFill>
            <a:srgbClr val="FFFFFF"/>
          </a:solidFill>
          <a:ln w="15875">
            <a:solidFill>
              <a:srgbClr val="C00000"/>
            </a:solidFill>
          </a:ln>
          <a:effectLst/>
        </p:spPr>
        <p:txBody>
          <a:bodyPr rtlCol="0" anchor="ctr"/>
          <a:lstStyle/>
          <a:p>
            <a:pPr algn="ctr"/>
            <a:endParaRPr/>
          </a:p>
        </p:txBody>
      </p:sp>
      <p:sp>
        <p:nvSpPr>
          <p:cNvPr id="23" name="TextBox 22"/>
          <p:cNvSpPr txBox="1"/>
          <p:nvPr/>
        </p:nvSpPr>
        <p:spPr>
          <a:xfrm>
            <a:off x="2736799" y="4023360"/>
            <a:ext cx="2148840" cy="548640"/>
          </a:xfrm>
          <a:prstGeom prst="rect">
            <a:avLst/>
          </a:prstGeom>
          <a:noFill/>
        </p:spPr>
        <p:txBody>
          <a:bodyPr wrap="square" lIns="73152" rIns="73152" anchor="ctr"/>
          <a:lstStyle/>
          <a:p>
            <a:pPr algn="ctr"/>
            <a:r>
              <a:rPr sz="2800" b="1" i="0">
                <a:solidFill>
                  <a:srgbClr val="C00000"/>
                </a:solidFill>
                <a:latin typeface="Arial"/>
              </a:rPr>
              <a:t>6,737</a:t>
            </a:r>
            <a:endParaRPr sz="2800"/>
          </a:p>
        </p:txBody>
      </p:sp>
      <p:sp>
        <p:nvSpPr>
          <p:cNvPr id="24" name="TextBox 23"/>
          <p:cNvSpPr txBox="1"/>
          <p:nvPr/>
        </p:nvSpPr>
        <p:spPr>
          <a:xfrm>
            <a:off x="2736799" y="4553712"/>
            <a:ext cx="2148840" cy="329184"/>
          </a:xfrm>
          <a:prstGeom prst="rect">
            <a:avLst/>
          </a:prstGeom>
          <a:noFill/>
        </p:spPr>
        <p:txBody>
          <a:bodyPr wrap="square" lIns="73152" rIns="73152" anchor="t"/>
          <a:lstStyle/>
          <a:p>
            <a:pPr algn="ctr"/>
            <a:r>
              <a:rPr sz="1300" b="0" i="0">
                <a:solidFill>
                  <a:srgbClr val="4B5563"/>
                </a:solidFill>
                <a:latin typeface="Arial"/>
              </a:rPr>
              <a:t>route-directions</a:t>
            </a:r>
            <a:endParaRPr sz="1300"/>
          </a:p>
        </p:txBody>
      </p:sp>
      <p:sp>
        <p:nvSpPr>
          <p:cNvPr id="25" name="Rounded Rectangle 24"/>
          <p:cNvSpPr/>
          <p:nvPr/>
        </p:nvSpPr>
        <p:spPr>
          <a:xfrm>
            <a:off x="5016398" y="3977639"/>
            <a:ext cx="2148840" cy="960120"/>
          </a:xfrm>
          <a:prstGeom prst="roundRect">
            <a:avLst>
              <a:gd name="adj" fmla="val 8000"/>
            </a:avLst>
          </a:prstGeom>
          <a:solidFill>
            <a:srgbClr val="FFFFFF"/>
          </a:solidFill>
          <a:ln w="15875">
            <a:solidFill>
              <a:srgbClr val="C00000"/>
            </a:solidFill>
          </a:ln>
          <a:effectLst/>
        </p:spPr>
        <p:txBody>
          <a:bodyPr rtlCol="0" anchor="ctr"/>
          <a:lstStyle/>
          <a:p>
            <a:pPr algn="ctr"/>
            <a:endParaRPr/>
          </a:p>
        </p:txBody>
      </p:sp>
      <p:sp>
        <p:nvSpPr>
          <p:cNvPr id="26" name="TextBox 25"/>
          <p:cNvSpPr txBox="1"/>
          <p:nvPr/>
        </p:nvSpPr>
        <p:spPr>
          <a:xfrm>
            <a:off x="5016398" y="4023360"/>
            <a:ext cx="2148840" cy="548640"/>
          </a:xfrm>
          <a:prstGeom prst="rect">
            <a:avLst/>
          </a:prstGeom>
          <a:noFill/>
        </p:spPr>
        <p:txBody>
          <a:bodyPr wrap="square" lIns="73152" rIns="73152" anchor="ctr"/>
          <a:lstStyle/>
          <a:p>
            <a:pPr algn="ctr"/>
            <a:r>
              <a:rPr sz="2800" b="1" i="0">
                <a:solidFill>
                  <a:srgbClr val="C00000"/>
                </a:solidFill>
                <a:latin typeface="Arial"/>
              </a:rPr>
              <a:t>4,883</a:t>
            </a:r>
            <a:endParaRPr sz="2800"/>
          </a:p>
        </p:txBody>
      </p:sp>
      <p:sp>
        <p:nvSpPr>
          <p:cNvPr id="27" name="TextBox 26"/>
          <p:cNvSpPr txBox="1"/>
          <p:nvPr/>
        </p:nvSpPr>
        <p:spPr>
          <a:xfrm>
            <a:off x="5016398" y="4553712"/>
            <a:ext cx="2148840" cy="329184"/>
          </a:xfrm>
          <a:prstGeom prst="rect">
            <a:avLst/>
          </a:prstGeom>
          <a:noFill/>
        </p:spPr>
        <p:txBody>
          <a:bodyPr wrap="square" lIns="73152" rIns="73152" anchor="t"/>
          <a:lstStyle/>
          <a:p>
            <a:pPr algn="ctr"/>
            <a:r>
              <a:rPr sz="1300" b="0" i="0">
                <a:solidFill>
                  <a:srgbClr val="4B5563"/>
                </a:solidFill>
                <a:latin typeface="Arial"/>
              </a:rPr>
              <a:t>bus stops</a:t>
            </a:r>
            <a:endParaRPr sz="1300"/>
          </a:p>
        </p:txBody>
      </p:sp>
      <p:sp>
        <p:nvSpPr>
          <p:cNvPr id="28" name="Rounded Rectangle 27"/>
          <p:cNvSpPr/>
          <p:nvPr/>
        </p:nvSpPr>
        <p:spPr>
          <a:xfrm>
            <a:off x="7295997" y="3977639"/>
            <a:ext cx="2148840" cy="960120"/>
          </a:xfrm>
          <a:prstGeom prst="roundRect">
            <a:avLst>
              <a:gd name="adj" fmla="val 8000"/>
            </a:avLst>
          </a:prstGeom>
          <a:solidFill>
            <a:srgbClr val="FFFFFF"/>
          </a:solidFill>
          <a:ln w="15875">
            <a:solidFill>
              <a:srgbClr val="C00000"/>
            </a:solidFill>
          </a:ln>
          <a:effectLst/>
        </p:spPr>
        <p:txBody>
          <a:bodyPr rtlCol="0" anchor="ctr"/>
          <a:lstStyle/>
          <a:p>
            <a:pPr algn="ctr"/>
            <a:endParaRPr/>
          </a:p>
        </p:txBody>
      </p:sp>
      <p:sp>
        <p:nvSpPr>
          <p:cNvPr id="29" name="TextBox 28"/>
          <p:cNvSpPr txBox="1"/>
          <p:nvPr/>
        </p:nvSpPr>
        <p:spPr>
          <a:xfrm>
            <a:off x="7295997" y="4023360"/>
            <a:ext cx="2148840" cy="548640"/>
          </a:xfrm>
          <a:prstGeom prst="rect">
            <a:avLst/>
          </a:prstGeom>
          <a:noFill/>
        </p:spPr>
        <p:txBody>
          <a:bodyPr wrap="square" lIns="73152" rIns="73152" anchor="ctr"/>
          <a:lstStyle/>
          <a:p>
            <a:pPr algn="ctr"/>
            <a:r>
              <a:rPr sz="2800" b="1" i="0">
                <a:solidFill>
                  <a:srgbClr val="C00000"/>
                </a:solidFill>
                <a:latin typeface="Arial"/>
              </a:rPr>
              <a:t>44</a:t>
            </a:r>
            <a:endParaRPr sz="2800"/>
          </a:p>
        </p:txBody>
      </p:sp>
      <p:sp>
        <p:nvSpPr>
          <p:cNvPr id="30" name="TextBox 29"/>
          <p:cNvSpPr txBox="1"/>
          <p:nvPr/>
        </p:nvSpPr>
        <p:spPr>
          <a:xfrm>
            <a:off x="7295997" y="4553712"/>
            <a:ext cx="2148840" cy="329184"/>
          </a:xfrm>
          <a:prstGeom prst="rect">
            <a:avLst/>
          </a:prstGeom>
          <a:noFill/>
        </p:spPr>
        <p:txBody>
          <a:bodyPr wrap="square" lIns="73152" rIns="73152" anchor="t"/>
          <a:lstStyle/>
          <a:p>
            <a:pPr algn="ctr"/>
            <a:r>
              <a:rPr sz="1300" b="0" i="0">
                <a:solidFill>
                  <a:srgbClr val="4B5563"/>
                </a:solidFill>
                <a:latin typeface="Arial"/>
              </a:rPr>
              <a:t>depots</a:t>
            </a:r>
            <a:endParaRPr sz="1300"/>
          </a:p>
        </p:txBody>
      </p:sp>
      <p:sp>
        <p:nvSpPr>
          <p:cNvPr id="31" name="Rounded Rectangle 30"/>
          <p:cNvSpPr/>
          <p:nvPr/>
        </p:nvSpPr>
        <p:spPr>
          <a:xfrm>
            <a:off x="457200" y="5166360"/>
            <a:ext cx="8988552" cy="960120"/>
          </a:xfrm>
          <a:prstGeom prst="roundRect">
            <a:avLst>
              <a:gd name="adj" fmla="val 10000"/>
            </a:avLst>
          </a:prstGeom>
          <a:solidFill>
            <a:srgbClr val="E6F4EA"/>
          </a:solidFill>
          <a:ln>
            <a:noFill/>
          </a:ln>
          <a:effectLst/>
        </p:spPr>
        <p:txBody>
          <a:bodyPr wrap="square" lIns="73152" rIns="73152" rtlCol="0" anchor="ctr"/>
          <a:lstStyle/>
          <a:p>
            <a:pPr algn="ctr">
              <a:spcAft>
                <a:spcPts val="300"/>
              </a:spcAft>
            </a:pPr>
            <a:r>
              <a:rPr sz="1600" b="1" i="0" dirty="0">
                <a:solidFill>
                  <a:srgbClr val="0B8A3E"/>
                </a:solidFill>
                <a:latin typeface="Arial"/>
              </a:rPr>
              <a:t>DBARS: one BMTC timetable, three products</a:t>
            </a:r>
            <a:endParaRPr sz="1600" dirty="0"/>
          </a:p>
          <a:p>
            <a:pPr algn="ctr"/>
            <a:r>
              <a:rPr sz="1400" b="0" i="0" dirty="0">
                <a:solidFill>
                  <a:srgbClr val="0B8A3E"/>
                </a:solidFill>
                <a:latin typeface="Arial"/>
              </a:rPr>
              <a:t>Find </a:t>
            </a:r>
            <a:r>
              <a:rPr lang="en-US" sz="1400" b="0" i="0" dirty="0">
                <a:solidFill>
                  <a:srgbClr val="0B8A3E"/>
                </a:solidFill>
                <a:latin typeface="Arial"/>
              </a:rPr>
              <a:t>and vote for </a:t>
            </a:r>
            <a:r>
              <a:rPr sz="1400" b="0" i="0" dirty="0">
                <a:solidFill>
                  <a:srgbClr val="0B8A3E"/>
                </a:solidFill>
                <a:latin typeface="Arial"/>
              </a:rPr>
              <a:t>the bus (riders)  |  Plan the fleet (depots)  |  Open the data (other apps)</a:t>
            </a:r>
            <a:endParaRPr sz="1400" dirty="0"/>
          </a:p>
          <a:p>
            <a:pPr algn="ctr">
              <a:spcBef>
                <a:spcPts val="300"/>
              </a:spcBef>
            </a:pPr>
            <a:r>
              <a:rPr sz="1200" b="1" i="0" dirty="0">
                <a:solidFill>
                  <a:srgbClr val="0B8A3E"/>
                </a:solidFill>
                <a:latin typeface="Arial"/>
              </a:rPr>
              <a:t>AI/ML inside: smart bus search, voice input and a grounded AI assistant</a:t>
            </a:r>
            <a:endParaRP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988552" cy="603504"/>
          </a:xfrm>
        </p:spPr>
        <p:txBody>
          <a:bodyPr wrap="square" anchor="ctr"/>
          <a:lstStyle/>
          <a:p>
            <a:pPr algn="ctr"/>
            <a:r>
              <a:rPr sz="2800" b="1" i="0">
                <a:solidFill>
                  <a:srgbClr val="FF0000"/>
                </a:solidFill>
                <a:latin typeface="Arial"/>
              </a:rPr>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1499502304"/>
              </p:ext>
            </p:extLst>
          </p:nvPr>
        </p:nvGraphicFramePr>
        <p:xfrm>
          <a:off x="457200" y="914400"/>
          <a:ext cx="8988552" cy="5106924"/>
        </p:xfrm>
        <a:graphic>
          <a:graphicData uri="http://schemas.openxmlformats.org/drawingml/2006/table">
            <a:tbl>
              <a:tblPr>
                <a:tableStyleId>{2D5ABB26-0587-4C30-8999-92F81FD0307C}</a:tableStyleId>
              </a:tblPr>
              <a:tblGrid>
                <a:gridCol w="41148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719072">
                  <a:extLst>
                    <a:ext uri="{9D8B030D-6E8A-4147-A177-3AD203B41FA5}">
                      <a16:colId xmlns:a16="http://schemas.microsoft.com/office/drawing/2014/main" val="20005"/>
                    </a:ext>
                  </a:extLst>
                </a:gridCol>
              </a:tblGrid>
              <a:tr h="329184">
                <a:tc>
                  <a:txBody>
                    <a:bodyPr/>
                    <a:lstStyle/>
                    <a:p>
                      <a:pPr algn="ctr"/>
                      <a:r>
                        <a:rPr sz="1050" b="1" i="0">
                          <a:solidFill>
                            <a:srgbClr val="FFFFFF"/>
                          </a:solidFill>
                          <a:latin typeface="Arial"/>
                        </a:rPr>
                        <a:t>Ref.</a:t>
                      </a:r>
                      <a:endParaRPr sz="10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l"/>
                      <a:r>
                        <a:rPr sz="1050" b="1" i="0">
                          <a:solidFill>
                            <a:srgbClr val="FFFFFF"/>
                          </a:solidFill>
                          <a:latin typeface="Arial"/>
                        </a:rPr>
                        <a:t>Title and Year</a:t>
                      </a:r>
                      <a:endParaRPr sz="10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l"/>
                      <a:r>
                        <a:rPr sz="1050" b="1" i="0">
                          <a:solidFill>
                            <a:srgbClr val="FFFFFF"/>
                          </a:solidFill>
                          <a:latin typeface="Arial"/>
                        </a:rPr>
                        <a:t>Methodology</a:t>
                      </a:r>
                      <a:endParaRPr sz="10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l"/>
                      <a:r>
                        <a:rPr sz="1050" b="1" i="0">
                          <a:solidFill>
                            <a:srgbClr val="FFFFFF"/>
                          </a:solidFill>
                          <a:latin typeface="Arial"/>
                        </a:rPr>
                        <a:t>Dataset</a:t>
                      </a:r>
                      <a:endParaRPr sz="10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l"/>
                      <a:r>
                        <a:rPr sz="1050" b="1" i="0">
                          <a:solidFill>
                            <a:srgbClr val="FFFFFF"/>
                          </a:solidFill>
                          <a:latin typeface="Arial"/>
                        </a:rPr>
                        <a:t>Limitations</a:t>
                      </a:r>
                      <a:endParaRPr sz="10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l"/>
                      <a:r>
                        <a:rPr sz="1050" b="1" i="0">
                          <a:solidFill>
                            <a:srgbClr val="FFFFFF"/>
                          </a:solidFill>
                          <a:latin typeface="Arial"/>
                        </a:rPr>
                        <a:t>Observations</a:t>
                      </a:r>
                      <a:endParaRPr sz="10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extLst>
                  <a:ext uri="{0D108BD9-81ED-4DB2-BD59-A6C34878D82A}">
                    <a16:rowId xmlns:a16="http://schemas.microsoft.com/office/drawing/2014/main" val="10000"/>
                  </a:ext>
                </a:extLst>
              </a:tr>
              <a:tr h="434340">
                <a:tc>
                  <a:txBody>
                    <a:bodyPr/>
                    <a:lstStyle/>
                    <a:p>
                      <a:pPr algn="ctr"/>
                      <a:r>
                        <a:rPr sz="950" b="1" i="0">
                          <a:solidFill>
                            <a:srgbClr val="1F2937"/>
                          </a:solidFill>
                          <a:latin typeface="Arial"/>
                        </a:rPr>
                        <a:t>[1]</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1" i="0">
                          <a:solidFill>
                            <a:srgbClr val="1F2937"/>
                          </a:solidFill>
                          <a:latin typeface="Arial"/>
                        </a:rPr>
                        <a:t>ULTRA: unlimited transfers for journey planning (Baum et al., 2023)</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Transfer shortcuts; best trade-off journeys</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City transit networks</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Rider side only</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Transfers decide journey quality</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extLst>
                  <a:ext uri="{0D108BD9-81ED-4DB2-BD59-A6C34878D82A}">
                    <a16:rowId xmlns:a16="http://schemas.microsoft.com/office/drawing/2014/main" val="10001"/>
                  </a:ext>
                </a:extLst>
              </a:tr>
              <a:tr h="434340">
                <a:tc>
                  <a:txBody>
                    <a:bodyPr/>
                    <a:lstStyle/>
                    <a:p>
                      <a:pPr algn="ctr"/>
                      <a:r>
                        <a:rPr sz="950" b="1" i="0">
                          <a:solidFill>
                            <a:srgbClr val="1F2937"/>
                          </a:solidFill>
                          <a:latin typeface="Arial"/>
                        </a:rPr>
                        <a:t>[2]</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1" i="0">
                          <a:solidFill>
                            <a:srgbClr val="1F2937"/>
                          </a:solidFill>
                          <a:latin typeface="Arial"/>
                        </a:rPr>
                        <a:t>Analysing transit systems using GTFS (Liu et al., 2025)</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GTFS to time-space network; shortest paths</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Nashville GTFS, 2019-24</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One feed; no demand side</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GTFS is the standard input</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extLst>
                  <a:ext uri="{0D108BD9-81ED-4DB2-BD59-A6C34878D82A}">
                    <a16:rowId xmlns:a16="http://schemas.microsoft.com/office/drawing/2014/main" val="10002"/>
                  </a:ext>
                </a:extLst>
              </a:tr>
              <a:tr h="434340">
                <a:tc>
                  <a:txBody>
                    <a:bodyPr/>
                    <a:lstStyle/>
                    <a:p>
                      <a:pPr algn="ctr"/>
                      <a:r>
                        <a:rPr sz="950" b="1" i="0">
                          <a:solidFill>
                            <a:srgbClr val="1F2937"/>
                          </a:solidFill>
                          <a:latin typeface="Arial"/>
                        </a:rPr>
                        <a:t>[3]</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1" i="0">
                          <a:solidFill>
                            <a:srgbClr val="1F2937"/>
                          </a:solidFill>
                          <a:latin typeface="Arial"/>
                        </a:rPr>
                        <a:t>Visualising transit operation with GTFS, Calgary (Prommaharaj et al., 2020)</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Interactive visuals; clustering</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Calgary static GTFS</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No real-time data</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Analysis only; no trip search</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extLst>
                  <a:ext uri="{0D108BD9-81ED-4DB2-BD59-A6C34878D82A}">
                    <a16:rowId xmlns:a16="http://schemas.microsoft.com/office/drawing/2014/main" val="10003"/>
                  </a:ext>
                </a:extLst>
              </a:tr>
              <a:tr h="434340">
                <a:tc>
                  <a:txBody>
                    <a:bodyPr/>
                    <a:lstStyle/>
                    <a:p>
                      <a:pPr algn="ctr"/>
                      <a:r>
                        <a:rPr sz="950" b="1" i="0">
                          <a:solidFill>
                            <a:srgbClr val="1F2937"/>
                          </a:solidFill>
                          <a:latin typeface="Arial"/>
                        </a:rPr>
                        <a:t>[4]</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1" i="0" dirty="0">
                          <a:solidFill>
                            <a:srgbClr val="1F2937"/>
                          </a:solidFill>
                          <a:latin typeface="Arial"/>
                        </a:rPr>
                        <a:t>Multi-depot vehicle scheduling on overlapped routes (Shang et al., 2023)</a:t>
                      </a:r>
                      <a:endParaRPr sz="950" dirty="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Bi-objective integer programming</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Beijing, 6 bus lines</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Small scale</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Not tested city-wide</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extLst>
                  <a:ext uri="{0D108BD9-81ED-4DB2-BD59-A6C34878D82A}">
                    <a16:rowId xmlns:a16="http://schemas.microsoft.com/office/drawing/2014/main" val="10004"/>
                  </a:ext>
                </a:extLst>
              </a:tr>
              <a:tr h="434340">
                <a:tc>
                  <a:txBody>
                    <a:bodyPr/>
                    <a:lstStyle/>
                    <a:p>
                      <a:pPr algn="ctr"/>
                      <a:r>
                        <a:rPr sz="950" b="1" i="0">
                          <a:solidFill>
                            <a:srgbClr val="1F2937"/>
                          </a:solidFill>
                          <a:latin typeface="Arial"/>
                        </a:rPr>
                        <a:t>[5]</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1" i="0">
                          <a:solidFill>
                            <a:srgbClr val="1F2937"/>
                          </a:solidFill>
                          <a:latin typeface="Arial"/>
                        </a:rPr>
                        <a:t>Exact multi-depot e-bus scheduling (Gkiotsalitis et al., 2023)</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Mixed-integer linear programming</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Benchmark sets</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Up to 30 trips</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Exact methods do not scale</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extLst>
                  <a:ext uri="{0D108BD9-81ED-4DB2-BD59-A6C34878D82A}">
                    <a16:rowId xmlns:a16="http://schemas.microsoft.com/office/drawing/2014/main" val="10005"/>
                  </a:ext>
                </a:extLst>
              </a:tr>
              <a:tr h="434340">
                <a:tc>
                  <a:txBody>
                    <a:bodyPr/>
                    <a:lstStyle/>
                    <a:p>
                      <a:pPr algn="ctr"/>
                      <a:r>
                        <a:rPr sz="950" b="1" i="0">
                          <a:solidFill>
                            <a:srgbClr val="1F2937"/>
                          </a:solidFill>
                          <a:latin typeface="Arial"/>
                        </a:rPr>
                        <a:t>[6]</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1" i="0">
                          <a:solidFill>
                            <a:srgbClr val="1F2937"/>
                          </a:solidFill>
                          <a:latin typeface="Arial"/>
                        </a:rPr>
                        <a:t>GRASP for bus crew scheduling (Pardo-Pena et al., 2024)</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GRASP heuristic with local search</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42-595 shifts; real operator</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Depends on tuning</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Crew planned apart from buses</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extLst>
                  <a:ext uri="{0D108BD9-81ED-4DB2-BD59-A6C34878D82A}">
                    <a16:rowId xmlns:a16="http://schemas.microsoft.com/office/drawing/2014/main" val="10006"/>
                  </a:ext>
                </a:extLst>
              </a:tr>
              <a:tr h="434340">
                <a:tc>
                  <a:txBody>
                    <a:bodyPr/>
                    <a:lstStyle/>
                    <a:p>
                      <a:pPr algn="ctr"/>
                      <a:r>
                        <a:rPr sz="950" b="1" i="0">
                          <a:solidFill>
                            <a:srgbClr val="1F2937"/>
                          </a:solidFill>
                          <a:latin typeface="Arial"/>
                        </a:rPr>
                        <a:t>[7]</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1" i="0">
                          <a:solidFill>
                            <a:srgbClr val="1F2937"/>
                          </a:solidFill>
                          <a:latin typeface="Arial"/>
                        </a:rPr>
                        <a:t>Driver scheduling by set covering (Argilan &amp; Bekesi, 2025)</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Set covering; column generation</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200-400 trip benchmarks</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Simplified driving rules</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Crew rules are the hard part</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extLst>
                  <a:ext uri="{0D108BD9-81ED-4DB2-BD59-A6C34878D82A}">
                    <a16:rowId xmlns:a16="http://schemas.microsoft.com/office/drawing/2014/main" val="10007"/>
                  </a:ext>
                </a:extLst>
              </a:tr>
              <a:tr h="434340">
                <a:tc>
                  <a:txBody>
                    <a:bodyPr/>
                    <a:lstStyle/>
                    <a:p>
                      <a:pPr algn="ctr"/>
                      <a:r>
                        <a:rPr sz="950" b="1" i="0">
                          <a:solidFill>
                            <a:srgbClr val="1F2937"/>
                          </a:solidFill>
                          <a:latin typeface="Arial"/>
                        </a:rPr>
                        <a:t>[8]</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1" i="0">
                          <a:solidFill>
                            <a:srgbClr val="1F2937"/>
                          </a:solidFill>
                          <a:latin typeface="Arial"/>
                        </a:rPr>
                        <a:t>Direct demand model for bus ridership, Bengaluru (Deepa et al., 2022)</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Stop-route demand model</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BMTC boardings</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Needs fare-stage data</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Allocate buses by demand</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extLst>
                  <a:ext uri="{0D108BD9-81ED-4DB2-BD59-A6C34878D82A}">
                    <a16:rowId xmlns:a16="http://schemas.microsoft.com/office/drawing/2014/main" val="10008"/>
                  </a:ext>
                </a:extLst>
              </a:tr>
              <a:tr h="434340">
                <a:tc>
                  <a:txBody>
                    <a:bodyPr/>
                    <a:lstStyle/>
                    <a:p>
                      <a:pPr algn="ctr"/>
                      <a:r>
                        <a:rPr sz="950" b="1" i="0">
                          <a:solidFill>
                            <a:srgbClr val="1F2937"/>
                          </a:solidFill>
                          <a:latin typeface="Arial"/>
                        </a:rPr>
                        <a:t>[9]</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1" i="0">
                          <a:solidFill>
                            <a:srgbClr val="1F2937"/>
                          </a:solidFill>
                          <a:latin typeface="Arial"/>
                        </a:rPr>
                        <a:t>Headway variability and bus ridership, Bengaluru (Deepa et al., 2023)</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Route and stop demand models</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BMTC demand and supply</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Single city</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Irregular service loses riders</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extLst>
                  <a:ext uri="{0D108BD9-81ED-4DB2-BD59-A6C34878D82A}">
                    <a16:rowId xmlns:a16="http://schemas.microsoft.com/office/drawing/2014/main" val="10009"/>
                  </a:ext>
                </a:extLst>
              </a:tr>
              <a:tr h="434340">
                <a:tc>
                  <a:txBody>
                    <a:bodyPr/>
                    <a:lstStyle/>
                    <a:p>
                      <a:pPr algn="ctr"/>
                      <a:r>
                        <a:rPr sz="950" b="1" i="0">
                          <a:solidFill>
                            <a:srgbClr val="1F2937"/>
                          </a:solidFill>
                          <a:latin typeface="Arial"/>
                        </a:rPr>
                        <a:t>[10]</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1" i="0">
                          <a:solidFill>
                            <a:srgbClr val="1F2937"/>
                          </a:solidFill>
                          <a:latin typeface="Arial"/>
                        </a:rPr>
                        <a:t>Bus arrival-time prediction with AI: a review (Singh &amp; Kumar, 2022)</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Systematic review</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Published studies</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a:solidFill>
                            <a:srgbClr val="1F2937"/>
                          </a:solidFill>
                          <a:latin typeface="Arial"/>
                        </a:rPr>
                        <a:t>Review only</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a:lstStyle/>
                    <a:p>
                      <a:pPr algn="l"/>
                      <a:r>
                        <a:rPr sz="950" b="0" i="0" dirty="0">
                          <a:solidFill>
                            <a:srgbClr val="1F2937"/>
                          </a:solidFill>
                          <a:latin typeface="Arial"/>
                        </a:rPr>
                        <a:t>Needs live data; label estimates</a:t>
                      </a:r>
                      <a:endParaRPr sz="950" dirty="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extLst>
                  <a:ext uri="{0D108BD9-81ED-4DB2-BD59-A6C34878D82A}">
                    <a16:rowId xmlns:a16="http://schemas.microsoft.com/office/drawing/2014/main" val="10010"/>
                  </a:ext>
                </a:extLst>
              </a:tr>
              <a:tr h="434340">
                <a:tc>
                  <a:txBody>
                    <a:bodyPr/>
                    <a:lstStyle/>
                    <a:p>
                      <a:pPr algn="ctr"/>
                      <a:r>
                        <a:rPr sz="950" b="1" i="0">
                          <a:solidFill>
                            <a:srgbClr val="1F2937"/>
                          </a:solidFill>
                          <a:latin typeface="Arial"/>
                        </a:rPr>
                        <a:t>[11]</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1" i="0">
                          <a:solidFill>
                            <a:srgbClr val="1F2937"/>
                          </a:solidFill>
                          <a:latin typeface="Arial"/>
                        </a:rPr>
                        <a:t>Survey of hallucination in natural language generation (Ji et al., 2023)</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Survey of causes, metrics and fixes for AI hallucination</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Summarisation, dialogue and QA studies</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a:solidFill>
                            <a:srgbClr val="1F2937"/>
                          </a:solidFill>
                          <a:latin typeface="Arial"/>
                        </a:rPr>
                        <a:t>General text AI, not transport</a:t>
                      </a:r>
                      <a:endParaRPr sz="95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l"/>
                      <a:r>
                        <a:rPr sz="950" b="0" i="0" dirty="0">
                          <a:solidFill>
                            <a:srgbClr val="1F2937"/>
                          </a:solidFill>
                          <a:latin typeface="Arial"/>
                        </a:rPr>
                        <a:t>AI answers must be grounded in real data</a:t>
                      </a:r>
                      <a:endParaRPr sz="950" dirty="0"/>
                    </a:p>
                  </a:txBody>
                  <a:tcPr marL="45720" marR="45720" marT="27432" marB="27432" anchor="ctr">
                    <a:lnL w="9525">
                      <a:solidFill>
                        <a:srgbClr val="D1D5DB"/>
                      </a:solidFill>
                    </a:lnL>
                    <a:lnR w="9525">
                      <a:solidFill>
                        <a:srgbClr val="D1D5DB"/>
                      </a:solidFill>
                    </a:lnR>
                    <a:lnT w="9525">
                      <a:solidFill>
                        <a:srgbClr val="D1D5DB"/>
                      </a:solidFill>
                    </a:lnT>
                    <a:lnB w="9525">
                      <a:solidFill>
                        <a:srgbClr val="D1D5DB"/>
                      </a:solidFill>
                    </a:lnB>
                    <a:no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988552" cy="603504"/>
          </a:xfrm>
        </p:spPr>
        <p:txBody>
          <a:bodyPr wrap="square" anchor="ctr"/>
          <a:lstStyle/>
          <a:p>
            <a:pPr algn="ctr"/>
            <a:r>
              <a:rPr sz="2800" b="1" i="0" dirty="0">
                <a:solidFill>
                  <a:srgbClr val="FF0000"/>
                </a:solidFill>
                <a:latin typeface="Arial"/>
              </a:rPr>
              <a:t>Proposed Work / Problem Statement</a:t>
            </a:r>
          </a:p>
        </p:txBody>
      </p:sp>
      <p:sp>
        <p:nvSpPr>
          <p:cNvPr id="3" name="Rounded Rectangle 2"/>
          <p:cNvSpPr/>
          <p:nvPr/>
        </p:nvSpPr>
        <p:spPr>
          <a:xfrm>
            <a:off x="457200" y="914399"/>
            <a:ext cx="8861612" cy="2011681"/>
          </a:xfrm>
          <a:prstGeom prst="roundRect">
            <a:avLst>
              <a:gd name="adj" fmla="val 6000"/>
            </a:avLst>
          </a:prstGeom>
          <a:solidFill>
            <a:srgbClr val="E6F4EA"/>
          </a:solidFill>
          <a:ln>
            <a:noFill/>
          </a:ln>
          <a:effectLst/>
        </p:spPr>
        <p:txBody>
          <a:bodyPr wrap="square" lIns="274320" tIns="73152" rIns="274320" bIns="73152" rtlCol="0" anchor="ctr"/>
          <a:lstStyle/>
          <a:p>
            <a:pPr marL="285750" indent="-285750" algn="l">
              <a:buFont typeface="Arial" panose="020B0604020202020204" pitchFamily="34" charset="0"/>
              <a:buChar char="•"/>
            </a:pPr>
            <a:r>
              <a:rPr sz="1500" b="0" i="0" dirty="0">
                <a:solidFill>
                  <a:schemeClr val="tx1"/>
                </a:solidFill>
                <a:latin typeface="Arial"/>
              </a:rPr>
              <a:t>Bengaluru's bus network has 3,940 bus numbers and 4,883 stops. Existing apps help riders find a bus, but none links what riders need to how many buses and crew BMTC runs.</a:t>
            </a:r>
            <a:endParaRPr lang="en-IN" sz="1500" b="0" i="0" dirty="0">
              <a:solidFill>
                <a:schemeClr val="tx1"/>
              </a:solidFill>
              <a:latin typeface="Arial"/>
            </a:endParaRPr>
          </a:p>
          <a:p>
            <a:pPr marL="285750" indent="-285750" algn="l">
              <a:buFont typeface="Arial" panose="020B0604020202020204" pitchFamily="34" charset="0"/>
              <a:buChar char="•"/>
            </a:pPr>
            <a:r>
              <a:rPr sz="1500" b="0" i="0" dirty="0">
                <a:solidFill>
                  <a:schemeClr val="tx1"/>
                </a:solidFill>
                <a:latin typeface="Arial"/>
              </a:rPr>
              <a:t>DBARS proposes one platform, built on BMTC's timetable, that serves riders and the operator together.</a:t>
            </a:r>
            <a:endParaRPr lang="en-IN" sz="1500" b="0" i="0" dirty="0">
              <a:solidFill>
                <a:schemeClr val="tx1"/>
              </a:solidFill>
              <a:latin typeface="Arial"/>
            </a:endParaRPr>
          </a:p>
          <a:p>
            <a:pPr marL="285750" indent="-285750">
              <a:buFont typeface="Arial" panose="020B0604020202020204" pitchFamily="34" charset="0"/>
              <a:buChar char="•"/>
            </a:pPr>
            <a:r>
              <a:rPr lang="en-IN" sz="1600" dirty="0">
                <a:solidFill>
                  <a:schemeClr val="tx1"/>
                </a:solidFill>
              </a:rPr>
              <a:t>Current public bus transit systems operate on fixed schedules that fail to respond to real-time passenger demand, resulting in significant inefficiencies across urban transport networks.</a:t>
            </a:r>
            <a:endParaRPr sz="1500" dirty="0">
              <a:solidFill>
                <a:schemeClr val="tx1"/>
              </a:solidFill>
            </a:endParaRPr>
          </a:p>
        </p:txBody>
      </p:sp>
      <p:pic>
        <p:nvPicPr>
          <p:cNvPr id="14" name="Picture 13">
            <a:extLst>
              <a:ext uri="{FF2B5EF4-FFF2-40B4-BE49-F238E27FC236}">
                <a16:creationId xmlns:a16="http://schemas.microsoft.com/office/drawing/2014/main" id="{8B86382A-8625-B7F7-8751-0A97E8207A78}"/>
              </a:ext>
            </a:extLst>
          </p:cNvPr>
          <p:cNvPicPr>
            <a:picLocks noChangeAspect="1"/>
          </p:cNvPicPr>
          <p:nvPr/>
        </p:nvPicPr>
        <p:blipFill>
          <a:blip r:embed="rId3"/>
          <a:srcRect t="-1" b="62053"/>
          <a:stretch>
            <a:fillRect/>
          </a:stretch>
        </p:blipFill>
        <p:spPr>
          <a:xfrm>
            <a:off x="460249" y="3017519"/>
            <a:ext cx="4422647" cy="312455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6" name="Picture 15">
            <a:extLst>
              <a:ext uri="{FF2B5EF4-FFF2-40B4-BE49-F238E27FC236}">
                <a16:creationId xmlns:a16="http://schemas.microsoft.com/office/drawing/2014/main" id="{DC6E74E3-D63D-C293-B642-2C7C8A157640}"/>
              </a:ext>
            </a:extLst>
          </p:cNvPr>
          <p:cNvPicPr>
            <a:picLocks noChangeAspect="1"/>
          </p:cNvPicPr>
          <p:nvPr/>
        </p:nvPicPr>
        <p:blipFill>
          <a:blip r:embed="rId3"/>
          <a:srcRect t="37947" b="19809"/>
          <a:stretch>
            <a:fillRect/>
          </a:stretch>
        </p:blipFill>
        <p:spPr>
          <a:xfrm>
            <a:off x="5220014" y="3017519"/>
            <a:ext cx="4098798" cy="321599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988552" cy="603504"/>
          </a:xfrm>
        </p:spPr>
        <p:txBody>
          <a:bodyPr wrap="square" anchor="ctr"/>
          <a:lstStyle/>
          <a:p>
            <a:pPr algn="ctr"/>
            <a:r>
              <a:rPr sz="2800" b="1" i="0">
                <a:solidFill>
                  <a:srgbClr val="FF0000"/>
                </a:solidFill>
                <a:latin typeface="Arial"/>
              </a:rPr>
              <a:t>Objectives</a:t>
            </a:r>
          </a:p>
        </p:txBody>
      </p:sp>
      <p:sp>
        <p:nvSpPr>
          <p:cNvPr id="3" name="Rounded Rectangle 2"/>
          <p:cNvSpPr/>
          <p:nvPr/>
        </p:nvSpPr>
        <p:spPr>
          <a:xfrm>
            <a:off x="457200" y="960120"/>
            <a:ext cx="4495800" cy="1143000"/>
          </a:xfrm>
          <a:prstGeom prst="roundRect">
            <a:avLst>
              <a:gd name="adj" fmla="val 6000"/>
            </a:avLst>
          </a:prstGeom>
          <a:solidFill>
            <a:srgbClr val="F3F4F6"/>
          </a:solidFill>
          <a:ln>
            <a:noFill/>
          </a:ln>
          <a:effectLst/>
        </p:spPr>
        <p:txBody>
          <a:bodyPr rtlCol="0" anchor="ctr"/>
          <a:lstStyle/>
          <a:p>
            <a:pPr algn="ctr"/>
            <a:endParaRPr/>
          </a:p>
        </p:txBody>
      </p:sp>
      <p:sp>
        <p:nvSpPr>
          <p:cNvPr id="4" name="Oval 3"/>
          <p:cNvSpPr/>
          <p:nvPr/>
        </p:nvSpPr>
        <p:spPr>
          <a:xfrm>
            <a:off x="658368" y="1261872"/>
            <a:ext cx="548640" cy="548640"/>
          </a:xfrm>
          <a:prstGeom prst="ellipse">
            <a:avLst/>
          </a:prstGeom>
          <a:solidFill>
            <a:srgbClr val="C00000"/>
          </a:solidFill>
          <a:ln>
            <a:noFill/>
          </a:ln>
          <a:effectLst/>
        </p:spPr>
        <p:txBody>
          <a:bodyPr wrap="none" lIns="0" tIns="0" rIns="0" bIns="0" rtlCol="0" anchor="ctr"/>
          <a:lstStyle/>
          <a:p>
            <a:pPr algn="ctr"/>
            <a:r>
              <a:rPr sz="2000" b="1" i="0">
                <a:solidFill>
                  <a:srgbClr val="FFFFFF"/>
                </a:solidFill>
                <a:latin typeface="Arial"/>
              </a:rPr>
              <a:t>1</a:t>
            </a:r>
            <a:endParaRPr sz="2000"/>
          </a:p>
        </p:txBody>
      </p:sp>
      <p:sp>
        <p:nvSpPr>
          <p:cNvPr id="5" name="TextBox 4"/>
          <p:cNvSpPr txBox="1"/>
          <p:nvPr/>
        </p:nvSpPr>
        <p:spPr>
          <a:xfrm>
            <a:off x="1463040" y="960120"/>
            <a:ext cx="3489960" cy="1143000"/>
          </a:xfrm>
          <a:prstGeom prst="rect">
            <a:avLst/>
          </a:prstGeom>
          <a:noFill/>
        </p:spPr>
        <p:txBody>
          <a:bodyPr wrap="square" lIns="73152" rIns="73152" anchor="ctr"/>
          <a:lstStyle/>
          <a:p>
            <a:pPr algn="l"/>
            <a:r>
              <a:rPr sz="1700" b="1" i="0" dirty="0">
                <a:solidFill>
                  <a:srgbClr val="C00000"/>
                </a:solidFill>
                <a:latin typeface="Arial"/>
              </a:rPr>
              <a:t>To develop </a:t>
            </a:r>
            <a:r>
              <a:rPr sz="1700" b="0" i="0" dirty="0">
                <a:solidFill>
                  <a:srgbClr val="1F2937"/>
                </a:solidFill>
                <a:latin typeface="Arial"/>
              </a:rPr>
              <a:t>an ML-based journey planner for direct and connecting bus trips across 4,883 stops.</a:t>
            </a:r>
            <a:endParaRPr sz="1900" dirty="0"/>
          </a:p>
        </p:txBody>
      </p:sp>
      <p:sp>
        <p:nvSpPr>
          <p:cNvPr id="6" name="Rounded Rectangle 5"/>
          <p:cNvSpPr/>
          <p:nvPr/>
        </p:nvSpPr>
        <p:spPr>
          <a:xfrm>
            <a:off x="457200" y="2240280"/>
            <a:ext cx="4495800" cy="1143000"/>
          </a:xfrm>
          <a:prstGeom prst="roundRect">
            <a:avLst>
              <a:gd name="adj" fmla="val 6000"/>
            </a:avLst>
          </a:prstGeom>
          <a:solidFill>
            <a:srgbClr val="F3F4F6"/>
          </a:solidFill>
          <a:ln>
            <a:noFill/>
          </a:ln>
          <a:effectLst/>
        </p:spPr>
        <p:txBody>
          <a:bodyPr rtlCol="0" anchor="ctr"/>
          <a:lstStyle/>
          <a:p>
            <a:pPr algn="ctr"/>
            <a:endParaRPr/>
          </a:p>
        </p:txBody>
      </p:sp>
      <p:sp>
        <p:nvSpPr>
          <p:cNvPr id="7" name="Oval 6"/>
          <p:cNvSpPr/>
          <p:nvPr/>
        </p:nvSpPr>
        <p:spPr>
          <a:xfrm>
            <a:off x="658368" y="2542032"/>
            <a:ext cx="548640" cy="548640"/>
          </a:xfrm>
          <a:prstGeom prst="ellipse">
            <a:avLst/>
          </a:prstGeom>
          <a:solidFill>
            <a:srgbClr val="C00000"/>
          </a:solidFill>
          <a:ln>
            <a:noFill/>
          </a:ln>
          <a:effectLst/>
        </p:spPr>
        <p:txBody>
          <a:bodyPr wrap="none" lIns="0" tIns="0" rIns="0" bIns="0" rtlCol="0" anchor="ctr"/>
          <a:lstStyle/>
          <a:p>
            <a:pPr algn="ctr"/>
            <a:r>
              <a:rPr sz="2000" b="1" i="0" dirty="0">
                <a:solidFill>
                  <a:srgbClr val="FFFFFF"/>
                </a:solidFill>
                <a:latin typeface="Arial"/>
              </a:rPr>
              <a:t>2</a:t>
            </a:r>
            <a:endParaRPr sz="2000" dirty="0"/>
          </a:p>
        </p:txBody>
      </p:sp>
      <p:sp>
        <p:nvSpPr>
          <p:cNvPr id="8" name="TextBox 7"/>
          <p:cNvSpPr txBox="1"/>
          <p:nvPr/>
        </p:nvSpPr>
        <p:spPr>
          <a:xfrm>
            <a:off x="1463040" y="2240280"/>
            <a:ext cx="3489960" cy="1143000"/>
          </a:xfrm>
          <a:prstGeom prst="rect">
            <a:avLst/>
          </a:prstGeom>
          <a:noFill/>
        </p:spPr>
        <p:txBody>
          <a:bodyPr wrap="square" lIns="73152" rIns="73152" anchor="ctr"/>
          <a:lstStyle/>
          <a:p>
            <a:pPr algn="l"/>
            <a:r>
              <a:rPr sz="1700" b="1" i="0" dirty="0">
                <a:solidFill>
                  <a:srgbClr val="C00000"/>
                </a:solidFill>
                <a:latin typeface="Arial"/>
              </a:rPr>
              <a:t>To establish </a:t>
            </a:r>
            <a:r>
              <a:rPr sz="1700" b="0" i="0" dirty="0">
                <a:solidFill>
                  <a:srgbClr val="1F2937"/>
                </a:solidFill>
                <a:latin typeface="Arial"/>
              </a:rPr>
              <a:t>a planner for the minimum buses and crew a timetable needs.</a:t>
            </a:r>
            <a:endParaRPr sz="1900" dirty="0"/>
          </a:p>
        </p:txBody>
      </p:sp>
      <p:sp>
        <p:nvSpPr>
          <p:cNvPr id="9" name="Rounded Rectangle 8"/>
          <p:cNvSpPr/>
          <p:nvPr/>
        </p:nvSpPr>
        <p:spPr>
          <a:xfrm>
            <a:off x="457200" y="3520440"/>
            <a:ext cx="4495800" cy="1143000"/>
          </a:xfrm>
          <a:prstGeom prst="roundRect">
            <a:avLst>
              <a:gd name="adj" fmla="val 6000"/>
            </a:avLst>
          </a:prstGeom>
          <a:solidFill>
            <a:srgbClr val="F3F4F6"/>
          </a:solidFill>
          <a:ln>
            <a:noFill/>
          </a:ln>
          <a:effectLst/>
        </p:spPr>
        <p:txBody>
          <a:bodyPr rtlCol="0" anchor="ctr"/>
          <a:lstStyle/>
          <a:p>
            <a:pPr algn="ctr"/>
            <a:endParaRPr/>
          </a:p>
        </p:txBody>
      </p:sp>
      <p:sp>
        <p:nvSpPr>
          <p:cNvPr id="10" name="Oval 9"/>
          <p:cNvSpPr/>
          <p:nvPr/>
        </p:nvSpPr>
        <p:spPr>
          <a:xfrm>
            <a:off x="658368" y="3822191"/>
            <a:ext cx="548640" cy="548640"/>
          </a:xfrm>
          <a:prstGeom prst="ellipse">
            <a:avLst/>
          </a:prstGeom>
          <a:solidFill>
            <a:srgbClr val="C00000"/>
          </a:solidFill>
          <a:ln>
            <a:noFill/>
          </a:ln>
          <a:effectLst/>
        </p:spPr>
        <p:txBody>
          <a:bodyPr wrap="none" lIns="0" tIns="0" rIns="0" bIns="0" rtlCol="0" anchor="ctr"/>
          <a:lstStyle/>
          <a:p>
            <a:pPr algn="ctr"/>
            <a:r>
              <a:rPr sz="2000" b="1" i="0">
                <a:solidFill>
                  <a:srgbClr val="FFFFFF"/>
                </a:solidFill>
                <a:latin typeface="Arial"/>
              </a:rPr>
              <a:t>3</a:t>
            </a:r>
            <a:endParaRPr sz="2000"/>
          </a:p>
        </p:txBody>
      </p:sp>
      <p:sp>
        <p:nvSpPr>
          <p:cNvPr id="11" name="TextBox 10"/>
          <p:cNvSpPr txBox="1"/>
          <p:nvPr/>
        </p:nvSpPr>
        <p:spPr>
          <a:xfrm>
            <a:off x="1463040" y="3520440"/>
            <a:ext cx="3489960" cy="1143000"/>
          </a:xfrm>
          <a:prstGeom prst="rect">
            <a:avLst/>
          </a:prstGeom>
          <a:noFill/>
        </p:spPr>
        <p:txBody>
          <a:bodyPr wrap="square" lIns="73152" rIns="73152" anchor="ctr"/>
          <a:lstStyle/>
          <a:p>
            <a:pPr algn="l"/>
            <a:r>
              <a:rPr sz="1700" b="1" i="0" dirty="0">
                <a:solidFill>
                  <a:srgbClr val="C00000"/>
                </a:solidFill>
                <a:latin typeface="Arial"/>
              </a:rPr>
              <a:t>To </a:t>
            </a:r>
            <a:r>
              <a:rPr sz="1700" b="1" i="0" dirty="0" err="1">
                <a:solidFill>
                  <a:srgbClr val="C00000"/>
                </a:solidFill>
                <a:latin typeface="Arial"/>
              </a:rPr>
              <a:t>analyse</a:t>
            </a:r>
            <a:r>
              <a:rPr sz="1700" b="1" i="0" dirty="0">
                <a:solidFill>
                  <a:srgbClr val="C00000"/>
                </a:solidFill>
                <a:latin typeface="Arial"/>
              </a:rPr>
              <a:t> </a:t>
            </a:r>
            <a:r>
              <a:rPr sz="1700" b="0" i="0" dirty="0">
                <a:solidFill>
                  <a:srgbClr val="1F2937"/>
                </a:solidFill>
                <a:latin typeface="Arial"/>
              </a:rPr>
              <a:t>rider demand and turn it into ranked recommendations for depot managers.</a:t>
            </a:r>
            <a:endParaRPr sz="1900" dirty="0"/>
          </a:p>
        </p:txBody>
      </p:sp>
      <p:sp>
        <p:nvSpPr>
          <p:cNvPr id="12" name="Rounded Rectangle 11"/>
          <p:cNvSpPr/>
          <p:nvPr/>
        </p:nvSpPr>
        <p:spPr>
          <a:xfrm>
            <a:off x="457200" y="4787153"/>
            <a:ext cx="4495800" cy="1143000"/>
          </a:xfrm>
          <a:prstGeom prst="roundRect">
            <a:avLst>
              <a:gd name="adj" fmla="val 6000"/>
            </a:avLst>
          </a:prstGeom>
          <a:solidFill>
            <a:srgbClr val="F3F4F6"/>
          </a:solidFill>
          <a:ln>
            <a:noFill/>
          </a:ln>
          <a:effectLst/>
        </p:spPr>
        <p:txBody>
          <a:bodyPr rtlCol="0" anchor="ctr"/>
          <a:lstStyle/>
          <a:p>
            <a:pPr algn="ctr"/>
            <a:endParaRPr/>
          </a:p>
        </p:txBody>
      </p:sp>
      <p:sp>
        <p:nvSpPr>
          <p:cNvPr id="13" name="Oval 12"/>
          <p:cNvSpPr/>
          <p:nvPr/>
        </p:nvSpPr>
        <p:spPr>
          <a:xfrm>
            <a:off x="658368" y="5102352"/>
            <a:ext cx="548640" cy="548640"/>
          </a:xfrm>
          <a:prstGeom prst="ellipse">
            <a:avLst/>
          </a:prstGeom>
          <a:solidFill>
            <a:srgbClr val="C00000"/>
          </a:solidFill>
          <a:ln>
            <a:noFill/>
          </a:ln>
          <a:effectLst/>
        </p:spPr>
        <p:txBody>
          <a:bodyPr wrap="none" lIns="0" tIns="0" rIns="0" bIns="0" rtlCol="0" anchor="ctr"/>
          <a:lstStyle/>
          <a:p>
            <a:pPr algn="ctr"/>
            <a:r>
              <a:rPr sz="2000" b="1" i="0">
                <a:solidFill>
                  <a:srgbClr val="FFFFFF"/>
                </a:solidFill>
                <a:latin typeface="Arial"/>
              </a:rPr>
              <a:t>4</a:t>
            </a:r>
            <a:endParaRPr sz="2000"/>
          </a:p>
        </p:txBody>
      </p:sp>
      <p:sp>
        <p:nvSpPr>
          <p:cNvPr id="14" name="TextBox 13"/>
          <p:cNvSpPr txBox="1"/>
          <p:nvPr/>
        </p:nvSpPr>
        <p:spPr>
          <a:xfrm>
            <a:off x="1463040" y="4800600"/>
            <a:ext cx="3489960" cy="1143000"/>
          </a:xfrm>
          <a:prstGeom prst="rect">
            <a:avLst/>
          </a:prstGeom>
          <a:noFill/>
        </p:spPr>
        <p:txBody>
          <a:bodyPr wrap="square" lIns="73152" rIns="73152" anchor="ctr"/>
          <a:lstStyle/>
          <a:p>
            <a:pPr algn="l"/>
            <a:r>
              <a:rPr sz="1700" b="1" i="0">
                <a:solidFill>
                  <a:srgbClr val="C00000"/>
                </a:solidFill>
                <a:latin typeface="Arial"/>
              </a:rPr>
              <a:t>To publish </a:t>
            </a:r>
            <a:r>
              <a:rPr sz="1700" b="0" i="0">
                <a:solidFill>
                  <a:srgbClr val="1F2937"/>
                </a:solidFill>
                <a:latin typeface="Arial"/>
              </a:rPr>
              <a:t>the bus network as open data, add a grounded AI assistant, and evaluate the system honestly.</a:t>
            </a:r>
            <a:endParaRPr sz="1900"/>
          </a:p>
        </p:txBody>
      </p:sp>
      <p:sp>
        <p:nvSpPr>
          <p:cNvPr id="16" name="Rounded Rectangle 3">
            <a:extLst>
              <a:ext uri="{FF2B5EF4-FFF2-40B4-BE49-F238E27FC236}">
                <a16:creationId xmlns:a16="http://schemas.microsoft.com/office/drawing/2014/main" id="{98BA347B-75C1-C722-A260-ED3E698BC930}"/>
              </a:ext>
            </a:extLst>
          </p:cNvPr>
          <p:cNvSpPr/>
          <p:nvPr/>
        </p:nvSpPr>
        <p:spPr>
          <a:xfrm>
            <a:off x="5405718" y="902203"/>
            <a:ext cx="4040034" cy="1816253"/>
          </a:xfrm>
          <a:prstGeom prst="roundRect">
            <a:avLst>
              <a:gd name="adj" fmla="val 6000"/>
            </a:avLst>
          </a:prstGeom>
          <a:solidFill>
            <a:srgbClr val="F3F4F6"/>
          </a:solidFill>
          <a:ln>
            <a:noFill/>
          </a:ln>
          <a:effectLst/>
        </p:spPr>
        <p:txBody>
          <a:bodyPr rtlCol="0" anchor="ctr"/>
          <a:lstStyle/>
          <a:p>
            <a:pPr algn="ctr"/>
            <a:endParaRPr/>
          </a:p>
        </p:txBody>
      </p:sp>
      <p:sp>
        <p:nvSpPr>
          <p:cNvPr id="18" name="TextBox 17">
            <a:extLst>
              <a:ext uri="{FF2B5EF4-FFF2-40B4-BE49-F238E27FC236}">
                <a16:creationId xmlns:a16="http://schemas.microsoft.com/office/drawing/2014/main" id="{3C86C2EE-B1AD-A60B-8E4A-CD8CEF2A1CD0}"/>
              </a:ext>
            </a:extLst>
          </p:cNvPr>
          <p:cNvSpPr txBox="1"/>
          <p:nvPr/>
        </p:nvSpPr>
        <p:spPr>
          <a:xfrm>
            <a:off x="5635325" y="1014984"/>
            <a:ext cx="2807635" cy="447406"/>
          </a:xfrm>
          <a:prstGeom prst="rect">
            <a:avLst/>
          </a:prstGeom>
          <a:noFill/>
        </p:spPr>
        <p:txBody>
          <a:bodyPr wrap="square" lIns="73152" rIns="73152" anchor="t"/>
          <a:lstStyle/>
          <a:p>
            <a:pPr algn="l"/>
            <a:r>
              <a:rPr sz="1600" b="1" i="0" dirty="0">
                <a:solidFill>
                  <a:srgbClr val="1F2937"/>
                </a:solidFill>
                <a:latin typeface="Arial"/>
              </a:rPr>
              <a:t>Existing apps already offer</a:t>
            </a:r>
            <a:endParaRPr sz="1600" dirty="0"/>
          </a:p>
          <a:p>
            <a:pPr algn="l"/>
            <a:r>
              <a:rPr sz="1200" b="0" i="1" dirty="0" err="1">
                <a:solidFill>
                  <a:srgbClr val="4B5563"/>
                </a:solidFill>
                <a:latin typeface="Arial"/>
              </a:rPr>
              <a:t>Namma</a:t>
            </a:r>
            <a:r>
              <a:rPr sz="1200" b="0" i="1" dirty="0">
                <a:solidFill>
                  <a:srgbClr val="4B5563"/>
                </a:solidFill>
                <a:latin typeface="Arial"/>
              </a:rPr>
              <a:t> BMTC 2.0,  Google Maps</a:t>
            </a:r>
            <a:endParaRPr sz="1200" dirty="0"/>
          </a:p>
        </p:txBody>
      </p:sp>
      <p:sp>
        <p:nvSpPr>
          <p:cNvPr id="20" name="TextBox 19">
            <a:extLst>
              <a:ext uri="{FF2B5EF4-FFF2-40B4-BE49-F238E27FC236}">
                <a16:creationId xmlns:a16="http://schemas.microsoft.com/office/drawing/2014/main" id="{9A42016A-AF7C-D25A-FAFA-D5450695EA6B}"/>
              </a:ext>
            </a:extLst>
          </p:cNvPr>
          <p:cNvSpPr txBox="1"/>
          <p:nvPr/>
        </p:nvSpPr>
        <p:spPr>
          <a:xfrm>
            <a:off x="5635325" y="1475778"/>
            <a:ext cx="2807635" cy="1140511"/>
          </a:xfrm>
          <a:prstGeom prst="rect">
            <a:avLst/>
          </a:prstGeom>
          <a:noFill/>
        </p:spPr>
        <p:txBody>
          <a:bodyPr wrap="square" lIns="73152" rIns="73152" anchor="t"/>
          <a:lstStyle/>
          <a:p>
            <a:pPr marL="164592" indent="-164592" algn="l">
              <a:spcAft>
                <a:spcPts val="1800"/>
              </a:spcAft>
              <a:buClr>
                <a:srgbClr val="4B5563"/>
              </a:buClr>
              <a:buFont typeface="Arial"/>
              <a:buChar char="•"/>
            </a:pPr>
            <a:r>
              <a:rPr b="0" i="0" dirty="0">
                <a:solidFill>
                  <a:srgbClr val="1F2937"/>
                </a:solidFill>
                <a:latin typeface="Arial"/>
              </a:rPr>
              <a:t>Journey planning</a:t>
            </a:r>
            <a:endParaRPr dirty="0"/>
          </a:p>
          <a:p>
            <a:pPr marL="164592" indent="-164592" algn="l">
              <a:spcAft>
                <a:spcPts val="1800"/>
              </a:spcAft>
              <a:buClr>
                <a:srgbClr val="4B5563"/>
              </a:buClr>
              <a:buFont typeface="Arial"/>
              <a:buChar char="•"/>
            </a:pPr>
            <a:r>
              <a:rPr b="0" i="0" dirty="0">
                <a:solidFill>
                  <a:srgbClr val="1F2937"/>
                </a:solidFill>
                <a:latin typeface="Arial"/>
              </a:rPr>
              <a:t>Live bus tracking</a:t>
            </a:r>
            <a:endParaRPr dirty="0"/>
          </a:p>
          <a:p>
            <a:pPr marL="164592" indent="-164592" algn="l">
              <a:spcAft>
                <a:spcPts val="1800"/>
              </a:spcAft>
              <a:buClr>
                <a:srgbClr val="4B5563"/>
              </a:buClr>
              <a:buFont typeface="Arial"/>
              <a:buChar char="•"/>
            </a:pPr>
            <a:r>
              <a:rPr b="0" i="0" dirty="0">
                <a:solidFill>
                  <a:srgbClr val="1F2937"/>
                </a:solidFill>
                <a:latin typeface="Arial"/>
              </a:rPr>
              <a:t>Digital tickets and passes</a:t>
            </a:r>
            <a:endParaRPr dirty="0"/>
          </a:p>
        </p:txBody>
      </p:sp>
      <p:sp>
        <p:nvSpPr>
          <p:cNvPr id="22" name="Right Arrow 6">
            <a:extLst>
              <a:ext uri="{FF2B5EF4-FFF2-40B4-BE49-F238E27FC236}">
                <a16:creationId xmlns:a16="http://schemas.microsoft.com/office/drawing/2014/main" id="{502C6C22-57B9-CE0C-2741-7A787C918F58}"/>
              </a:ext>
            </a:extLst>
          </p:cNvPr>
          <p:cNvSpPr/>
          <p:nvPr/>
        </p:nvSpPr>
        <p:spPr>
          <a:xfrm rot="5400000">
            <a:off x="7296812" y="2681017"/>
            <a:ext cx="223529" cy="318965"/>
          </a:xfrm>
          <a:prstGeom prst="rightArrow">
            <a:avLst/>
          </a:prstGeom>
          <a:solidFill>
            <a:srgbClr val="C00000"/>
          </a:solidFill>
          <a:ln>
            <a:noFill/>
          </a:ln>
          <a:effectLst/>
        </p:spPr>
        <p:txBody>
          <a:bodyPr rtlCol="0" anchor="ctr"/>
          <a:lstStyle/>
          <a:p>
            <a:pPr algn="ctr"/>
            <a:endParaRPr/>
          </a:p>
        </p:txBody>
      </p:sp>
      <p:sp>
        <p:nvSpPr>
          <p:cNvPr id="24" name="Rounded Rectangle 7">
            <a:extLst>
              <a:ext uri="{FF2B5EF4-FFF2-40B4-BE49-F238E27FC236}">
                <a16:creationId xmlns:a16="http://schemas.microsoft.com/office/drawing/2014/main" id="{6262DD8C-CF2E-93BD-C1BA-EBB87F04A0F8}"/>
              </a:ext>
            </a:extLst>
          </p:cNvPr>
          <p:cNvSpPr/>
          <p:nvPr/>
        </p:nvSpPr>
        <p:spPr>
          <a:xfrm>
            <a:off x="5405718" y="3008376"/>
            <a:ext cx="4040034" cy="3419856"/>
          </a:xfrm>
          <a:prstGeom prst="roundRect">
            <a:avLst>
              <a:gd name="adj" fmla="val 6000"/>
            </a:avLst>
          </a:prstGeom>
          <a:solidFill>
            <a:srgbClr val="FFFFFF"/>
          </a:solidFill>
          <a:ln w="19050">
            <a:solidFill>
              <a:srgbClr val="C00000"/>
            </a:solidFill>
          </a:ln>
          <a:effectLst/>
        </p:spPr>
        <p:txBody>
          <a:bodyPr rtlCol="0" anchor="ctr"/>
          <a:lstStyle/>
          <a:p>
            <a:pPr algn="ctr"/>
            <a:endParaRPr/>
          </a:p>
        </p:txBody>
      </p:sp>
      <p:sp>
        <p:nvSpPr>
          <p:cNvPr id="26" name="TextBox 25">
            <a:extLst>
              <a:ext uri="{FF2B5EF4-FFF2-40B4-BE49-F238E27FC236}">
                <a16:creationId xmlns:a16="http://schemas.microsoft.com/office/drawing/2014/main" id="{EF160087-63F1-BD36-B130-B4F63ED1B020}"/>
              </a:ext>
            </a:extLst>
          </p:cNvPr>
          <p:cNvSpPr txBox="1"/>
          <p:nvPr/>
        </p:nvSpPr>
        <p:spPr>
          <a:xfrm>
            <a:off x="5635325" y="3018001"/>
            <a:ext cx="3227538" cy="381068"/>
          </a:xfrm>
          <a:prstGeom prst="rect">
            <a:avLst/>
          </a:prstGeom>
          <a:noFill/>
        </p:spPr>
        <p:txBody>
          <a:bodyPr wrap="square" lIns="73152" rIns="73152" anchor="ctr"/>
          <a:lstStyle/>
          <a:p>
            <a:pPr algn="l"/>
            <a:r>
              <a:rPr sz="1600" b="1" i="0" dirty="0">
                <a:solidFill>
                  <a:srgbClr val="C00000"/>
                </a:solidFill>
                <a:latin typeface="Arial"/>
              </a:rPr>
              <a:t>What DBARS adds</a:t>
            </a:r>
            <a:endParaRPr sz="1600" dirty="0"/>
          </a:p>
        </p:txBody>
      </p:sp>
      <p:sp>
        <p:nvSpPr>
          <p:cNvPr id="28" name="TextBox 27">
            <a:extLst>
              <a:ext uri="{FF2B5EF4-FFF2-40B4-BE49-F238E27FC236}">
                <a16:creationId xmlns:a16="http://schemas.microsoft.com/office/drawing/2014/main" id="{817EA7EA-942A-167B-1EC7-CA909D12BF5D}"/>
              </a:ext>
            </a:extLst>
          </p:cNvPr>
          <p:cNvSpPr txBox="1"/>
          <p:nvPr/>
        </p:nvSpPr>
        <p:spPr>
          <a:xfrm>
            <a:off x="5635325" y="3319273"/>
            <a:ext cx="3612307" cy="3017520"/>
          </a:xfrm>
          <a:prstGeom prst="rect">
            <a:avLst/>
          </a:prstGeom>
          <a:noFill/>
        </p:spPr>
        <p:txBody>
          <a:bodyPr wrap="square" lIns="73152" rIns="73152" anchor="t"/>
          <a:lstStyle/>
          <a:p>
            <a:pPr marL="164592" indent="-164592" algn="l">
              <a:spcAft>
                <a:spcPts val="900"/>
              </a:spcAft>
              <a:buClr>
                <a:srgbClr val="C00000"/>
              </a:buClr>
              <a:buFont typeface="Arial"/>
              <a:buChar char="•"/>
            </a:pPr>
            <a:r>
              <a:rPr b="0" i="0" dirty="0">
                <a:solidFill>
                  <a:srgbClr val="1F2937"/>
                </a:solidFill>
                <a:latin typeface="Arial"/>
              </a:rPr>
              <a:t>Rider votes become depot recommendations</a:t>
            </a:r>
            <a:endParaRPr dirty="0"/>
          </a:p>
          <a:p>
            <a:pPr marL="164592" indent="-164592" algn="l">
              <a:spcAft>
                <a:spcPts val="900"/>
              </a:spcAft>
              <a:buClr>
                <a:srgbClr val="C00000"/>
              </a:buClr>
              <a:buFont typeface="Arial"/>
              <a:buChar char="•"/>
            </a:pPr>
            <a:r>
              <a:rPr b="0" i="0" dirty="0">
                <a:solidFill>
                  <a:srgbClr val="1F2937"/>
                </a:solidFill>
                <a:latin typeface="Arial"/>
              </a:rPr>
              <a:t>Minimum buses and crew for a timetable</a:t>
            </a:r>
            <a:endParaRPr dirty="0"/>
          </a:p>
          <a:p>
            <a:pPr marL="164592" indent="-164592" algn="l">
              <a:spcAft>
                <a:spcPts val="900"/>
              </a:spcAft>
              <a:buClr>
                <a:srgbClr val="C00000"/>
              </a:buClr>
              <a:buFont typeface="Arial"/>
              <a:buChar char="•"/>
            </a:pPr>
            <a:r>
              <a:rPr b="0" i="0" dirty="0">
                <a:solidFill>
                  <a:srgbClr val="1F2937"/>
                </a:solidFill>
                <a:latin typeface="Arial"/>
              </a:rPr>
              <a:t>Offline conductor waybill with cash check</a:t>
            </a:r>
            <a:endParaRPr lang="en-US" b="0" i="0" dirty="0">
              <a:solidFill>
                <a:srgbClr val="1F2937"/>
              </a:solidFill>
              <a:latin typeface="Arial"/>
            </a:endParaRPr>
          </a:p>
          <a:p>
            <a:pPr marL="164592" indent="-164592">
              <a:spcAft>
                <a:spcPts val="900"/>
              </a:spcAft>
              <a:buClr>
                <a:srgbClr val="C00000"/>
              </a:buClr>
              <a:buFont typeface="Arial"/>
              <a:buChar char="•"/>
            </a:pPr>
            <a:r>
              <a:rPr lang="en-US" dirty="0">
                <a:solidFill>
                  <a:srgbClr val="1F2937"/>
                </a:solidFill>
              </a:rPr>
              <a:t>Online ticket verification, with unique 6 digits alphanumeric code.</a:t>
            </a:r>
            <a:endParaRPr dirty="0"/>
          </a:p>
          <a:p>
            <a:pPr marL="164592" indent="-164592" algn="l">
              <a:spcAft>
                <a:spcPts val="900"/>
              </a:spcAft>
              <a:buClr>
                <a:srgbClr val="C00000"/>
              </a:buClr>
              <a:buFont typeface="Arial"/>
              <a:buChar char="•"/>
            </a:pPr>
            <a:r>
              <a:rPr b="0" i="0" dirty="0">
                <a:solidFill>
                  <a:srgbClr val="1F2937"/>
                </a:solidFill>
                <a:latin typeface="Arial"/>
              </a:rPr>
              <a:t>Shakti free rides counted for reimbursement</a:t>
            </a:r>
            <a:endParaRPr dirty="0"/>
          </a:p>
          <a:p>
            <a:pPr marL="164592" indent="-164592" algn="l">
              <a:spcAft>
                <a:spcPts val="900"/>
              </a:spcAft>
              <a:buClr>
                <a:srgbClr val="C00000"/>
              </a:buClr>
              <a:buFont typeface="Arial"/>
              <a:buChar char="•"/>
            </a:pPr>
            <a:r>
              <a:rPr b="0" i="0" dirty="0">
                <a:solidFill>
                  <a:srgbClr val="1F2937"/>
                </a:solidFill>
                <a:latin typeface="Arial"/>
              </a:rPr>
              <a:t>Open timetable data with live alerts</a:t>
            </a:r>
            <a:endParaRPr dirty="0"/>
          </a:p>
          <a:p>
            <a:pPr marL="164592" indent="-164592" algn="l">
              <a:spcAft>
                <a:spcPts val="900"/>
              </a:spcAft>
              <a:buClr>
                <a:srgbClr val="C00000"/>
              </a:buClr>
              <a:buFont typeface="Arial"/>
              <a:buChar char="•"/>
            </a:pPr>
            <a:r>
              <a:rPr b="0" i="0" dirty="0">
                <a:solidFill>
                  <a:srgbClr val="1F2937"/>
                </a:solidFill>
                <a:latin typeface="Arial"/>
              </a:rPr>
              <a:t>4 languages, voice search, AI assistant</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988552" cy="603504"/>
          </a:xfrm>
        </p:spPr>
        <p:txBody>
          <a:bodyPr wrap="square" anchor="ctr"/>
          <a:lstStyle/>
          <a:p>
            <a:pPr algn="ctr"/>
            <a:r>
              <a:rPr sz="2400" b="1" i="0">
                <a:solidFill>
                  <a:srgbClr val="FF0000"/>
                </a:solidFill>
                <a:latin typeface="Arial"/>
              </a:rPr>
              <a:t>Sustainable Development Goals Aligned to the Project</a:t>
            </a:r>
          </a:p>
        </p:txBody>
      </p:sp>
      <p:sp>
        <p:nvSpPr>
          <p:cNvPr id="3" name="Rounded Rectangle 2"/>
          <p:cNvSpPr/>
          <p:nvPr/>
        </p:nvSpPr>
        <p:spPr>
          <a:xfrm>
            <a:off x="457200" y="914400"/>
            <a:ext cx="4434840" cy="2331720"/>
          </a:xfrm>
          <a:prstGeom prst="roundRect">
            <a:avLst>
              <a:gd name="adj" fmla="val 6000"/>
            </a:avLst>
          </a:prstGeom>
          <a:solidFill>
            <a:srgbClr val="F3F4F6"/>
          </a:solidFill>
          <a:ln>
            <a:noFill/>
          </a:ln>
          <a:effectLst/>
        </p:spPr>
        <p:txBody>
          <a:bodyPr rtlCol="0" anchor="ctr"/>
          <a:lstStyle/>
          <a:p>
            <a:pPr algn="ctr"/>
            <a:endParaRPr/>
          </a:p>
        </p:txBody>
      </p:sp>
      <p:sp>
        <p:nvSpPr>
          <p:cNvPr id="4" name="Rounded Rectangle 3"/>
          <p:cNvSpPr/>
          <p:nvPr/>
        </p:nvSpPr>
        <p:spPr>
          <a:xfrm>
            <a:off x="621792" y="1097280"/>
            <a:ext cx="1371600" cy="1371600"/>
          </a:xfrm>
          <a:prstGeom prst="roundRect">
            <a:avLst>
              <a:gd name="adj" fmla="val 8000"/>
            </a:avLst>
          </a:prstGeom>
          <a:solidFill>
            <a:srgbClr val="FD9D24"/>
          </a:solidFill>
          <a:ln>
            <a:noFill/>
          </a:ln>
          <a:effectLst/>
        </p:spPr>
        <p:txBody>
          <a:bodyPr wrap="square" lIns="45720" tIns="36576" rIns="45720" bIns="36576" rtlCol="0" anchor="ctr"/>
          <a:lstStyle/>
          <a:p>
            <a:pPr algn="ctr"/>
            <a:r>
              <a:rPr sz="2200" b="1" i="0" dirty="0">
                <a:solidFill>
                  <a:srgbClr val="1F2937"/>
                </a:solidFill>
                <a:latin typeface="Arial"/>
              </a:rPr>
              <a:t>SDG 11</a:t>
            </a:r>
            <a:endParaRPr sz="2200" dirty="0"/>
          </a:p>
          <a:p>
            <a:pPr algn="ctr"/>
            <a:r>
              <a:rPr sz="1000" b="1" i="0" dirty="0">
                <a:solidFill>
                  <a:srgbClr val="1F2937"/>
                </a:solidFill>
                <a:latin typeface="Arial"/>
              </a:rPr>
              <a:t>Sustainable Cities</a:t>
            </a:r>
            <a:endParaRPr sz="1000" dirty="0"/>
          </a:p>
        </p:txBody>
      </p:sp>
      <p:sp>
        <p:nvSpPr>
          <p:cNvPr id="5" name="TextBox 4"/>
          <p:cNvSpPr txBox="1"/>
          <p:nvPr/>
        </p:nvSpPr>
        <p:spPr>
          <a:xfrm>
            <a:off x="2148840" y="1097280"/>
            <a:ext cx="2606039" cy="1371600"/>
          </a:xfrm>
          <a:prstGeom prst="rect">
            <a:avLst/>
          </a:prstGeom>
          <a:noFill/>
        </p:spPr>
        <p:txBody>
          <a:bodyPr wrap="square" lIns="73152" rIns="73152" anchor="ctr"/>
          <a:lstStyle/>
          <a:p>
            <a:pPr algn="l"/>
            <a:r>
              <a:rPr sz="1500" b="1" i="0" dirty="0">
                <a:solidFill>
                  <a:srgbClr val="C00000"/>
                </a:solidFill>
                <a:latin typeface="Arial"/>
              </a:rPr>
              <a:t>Target : accessible public transport</a:t>
            </a:r>
            <a:endParaRPr sz="1500" dirty="0"/>
          </a:p>
        </p:txBody>
      </p:sp>
      <p:sp>
        <p:nvSpPr>
          <p:cNvPr id="6" name="TextBox 5"/>
          <p:cNvSpPr txBox="1"/>
          <p:nvPr/>
        </p:nvSpPr>
        <p:spPr>
          <a:xfrm>
            <a:off x="621792" y="2423160"/>
            <a:ext cx="4105655" cy="777238"/>
          </a:xfrm>
          <a:prstGeom prst="rect">
            <a:avLst/>
          </a:prstGeom>
          <a:noFill/>
        </p:spPr>
        <p:txBody>
          <a:bodyPr wrap="square" lIns="73152" rIns="73152" anchor="t"/>
          <a:lstStyle/>
          <a:p>
            <a:pPr algn="l"/>
            <a:r>
              <a:rPr sz="1400" b="0" i="0" dirty="0">
                <a:solidFill>
                  <a:srgbClr val="1F2937"/>
                </a:solidFill>
                <a:latin typeface="Arial"/>
              </a:rPr>
              <a:t>Easier bus trips in four languages, </a:t>
            </a:r>
            <a:r>
              <a:rPr lang="en-US" dirty="0">
                <a:solidFill>
                  <a:srgbClr val="1F2937"/>
                </a:solidFill>
              </a:rPr>
              <a:t>voice search, reduced dead kilometers, efficient resource usage.</a:t>
            </a:r>
            <a:endParaRPr sz="1400" dirty="0"/>
          </a:p>
        </p:txBody>
      </p:sp>
      <p:sp>
        <p:nvSpPr>
          <p:cNvPr id="7" name="Rounded Rectangle 6"/>
          <p:cNvSpPr/>
          <p:nvPr/>
        </p:nvSpPr>
        <p:spPr>
          <a:xfrm>
            <a:off x="5010912" y="914400"/>
            <a:ext cx="4434840" cy="2331720"/>
          </a:xfrm>
          <a:prstGeom prst="roundRect">
            <a:avLst>
              <a:gd name="adj" fmla="val 6000"/>
            </a:avLst>
          </a:prstGeom>
          <a:solidFill>
            <a:srgbClr val="F3F4F6"/>
          </a:solidFill>
          <a:ln>
            <a:noFill/>
          </a:ln>
          <a:effectLst/>
        </p:spPr>
        <p:txBody>
          <a:bodyPr rtlCol="0" anchor="ctr"/>
          <a:lstStyle/>
          <a:p>
            <a:pPr algn="ctr"/>
            <a:endParaRPr/>
          </a:p>
        </p:txBody>
      </p:sp>
      <p:sp>
        <p:nvSpPr>
          <p:cNvPr id="8" name="Rounded Rectangle 7"/>
          <p:cNvSpPr/>
          <p:nvPr/>
        </p:nvSpPr>
        <p:spPr>
          <a:xfrm>
            <a:off x="5175503" y="1097280"/>
            <a:ext cx="1371600" cy="1371600"/>
          </a:xfrm>
          <a:prstGeom prst="roundRect">
            <a:avLst>
              <a:gd name="adj" fmla="val 8000"/>
            </a:avLst>
          </a:prstGeom>
          <a:solidFill>
            <a:srgbClr val="F36D25"/>
          </a:solidFill>
          <a:ln>
            <a:noFill/>
          </a:ln>
          <a:effectLst/>
        </p:spPr>
        <p:txBody>
          <a:bodyPr wrap="square" lIns="45720" tIns="36576" rIns="45720" bIns="36576" rtlCol="0" anchor="ctr"/>
          <a:lstStyle/>
          <a:p>
            <a:pPr algn="ctr"/>
            <a:r>
              <a:rPr sz="2200" b="1" i="0">
                <a:solidFill>
                  <a:srgbClr val="FFFFFF"/>
                </a:solidFill>
                <a:latin typeface="Arial"/>
              </a:rPr>
              <a:t>SDG 9</a:t>
            </a:r>
            <a:endParaRPr sz="2200"/>
          </a:p>
          <a:p>
            <a:pPr algn="ctr"/>
            <a:r>
              <a:rPr sz="1000" b="1" i="0">
                <a:solidFill>
                  <a:srgbClr val="FFFFFF"/>
                </a:solidFill>
                <a:latin typeface="Arial"/>
              </a:rPr>
              <a:t>Industry and Infrastructure</a:t>
            </a:r>
            <a:endParaRPr sz="1000"/>
          </a:p>
        </p:txBody>
      </p:sp>
      <p:sp>
        <p:nvSpPr>
          <p:cNvPr id="9" name="TextBox 8"/>
          <p:cNvSpPr txBox="1"/>
          <p:nvPr/>
        </p:nvSpPr>
        <p:spPr>
          <a:xfrm>
            <a:off x="6702552" y="1097280"/>
            <a:ext cx="2606039" cy="1371600"/>
          </a:xfrm>
          <a:prstGeom prst="rect">
            <a:avLst/>
          </a:prstGeom>
          <a:noFill/>
        </p:spPr>
        <p:txBody>
          <a:bodyPr wrap="square" lIns="73152" rIns="73152" anchor="ctr"/>
          <a:lstStyle/>
          <a:p>
            <a:pPr algn="l"/>
            <a:r>
              <a:rPr sz="1500" b="1" i="0" dirty="0">
                <a:solidFill>
                  <a:srgbClr val="C00000"/>
                </a:solidFill>
                <a:latin typeface="Arial"/>
              </a:rPr>
              <a:t>Target : reliable infrastructure</a:t>
            </a:r>
            <a:endParaRPr sz="1500" dirty="0"/>
          </a:p>
        </p:txBody>
      </p:sp>
      <p:sp>
        <p:nvSpPr>
          <p:cNvPr id="10" name="TextBox 9"/>
          <p:cNvSpPr txBox="1"/>
          <p:nvPr/>
        </p:nvSpPr>
        <p:spPr>
          <a:xfrm>
            <a:off x="5175503" y="2560320"/>
            <a:ext cx="4105655" cy="640080"/>
          </a:xfrm>
          <a:prstGeom prst="rect">
            <a:avLst/>
          </a:prstGeom>
          <a:noFill/>
        </p:spPr>
        <p:txBody>
          <a:bodyPr wrap="square" lIns="73152" rIns="73152" anchor="t"/>
          <a:lstStyle/>
          <a:p>
            <a:pPr algn="l"/>
            <a:r>
              <a:rPr sz="1400" b="0" i="0">
                <a:solidFill>
                  <a:srgbClr val="1F2937"/>
                </a:solidFill>
                <a:latin typeface="Arial"/>
              </a:rPr>
              <a:t>Innovation: ML-ranked bus search, an AI assistant, and data-driven bus and crew planning.</a:t>
            </a:r>
            <a:endParaRPr sz="1400"/>
          </a:p>
        </p:txBody>
      </p:sp>
      <p:sp>
        <p:nvSpPr>
          <p:cNvPr id="11" name="Rounded Rectangle 10"/>
          <p:cNvSpPr/>
          <p:nvPr/>
        </p:nvSpPr>
        <p:spPr>
          <a:xfrm>
            <a:off x="457200" y="3383279"/>
            <a:ext cx="4434840" cy="2331720"/>
          </a:xfrm>
          <a:prstGeom prst="roundRect">
            <a:avLst>
              <a:gd name="adj" fmla="val 6000"/>
            </a:avLst>
          </a:prstGeom>
          <a:solidFill>
            <a:srgbClr val="F3F4F6"/>
          </a:solidFill>
          <a:ln>
            <a:noFill/>
          </a:ln>
          <a:effectLst/>
        </p:spPr>
        <p:txBody>
          <a:bodyPr rtlCol="0" anchor="ctr"/>
          <a:lstStyle/>
          <a:p>
            <a:pPr algn="ctr"/>
            <a:endParaRPr/>
          </a:p>
        </p:txBody>
      </p:sp>
      <p:sp>
        <p:nvSpPr>
          <p:cNvPr id="12" name="Rounded Rectangle 11"/>
          <p:cNvSpPr/>
          <p:nvPr/>
        </p:nvSpPr>
        <p:spPr>
          <a:xfrm>
            <a:off x="621792" y="3566160"/>
            <a:ext cx="1371600" cy="1371600"/>
          </a:xfrm>
          <a:prstGeom prst="roundRect">
            <a:avLst>
              <a:gd name="adj" fmla="val 8000"/>
            </a:avLst>
          </a:prstGeom>
          <a:solidFill>
            <a:srgbClr val="FF3A21"/>
          </a:solidFill>
          <a:ln>
            <a:noFill/>
          </a:ln>
          <a:effectLst/>
        </p:spPr>
        <p:txBody>
          <a:bodyPr wrap="square" lIns="45720" tIns="36576" rIns="45720" bIns="36576" rtlCol="0" anchor="ctr"/>
          <a:lstStyle/>
          <a:p>
            <a:pPr algn="ctr"/>
            <a:r>
              <a:rPr sz="2200" b="1" i="0">
                <a:solidFill>
                  <a:srgbClr val="FFFFFF"/>
                </a:solidFill>
                <a:latin typeface="Arial"/>
              </a:rPr>
              <a:t>SDG 5</a:t>
            </a:r>
            <a:endParaRPr sz="2200"/>
          </a:p>
          <a:p>
            <a:pPr algn="ctr"/>
            <a:r>
              <a:rPr sz="1000" b="1" i="0">
                <a:solidFill>
                  <a:srgbClr val="FFFFFF"/>
                </a:solidFill>
                <a:latin typeface="Arial"/>
              </a:rPr>
              <a:t>Gender Equality</a:t>
            </a:r>
            <a:endParaRPr sz="1000"/>
          </a:p>
        </p:txBody>
      </p:sp>
      <p:sp>
        <p:nvSpPr>
          <p:cNvPr id="13" name="TextBox 12"/>
          <p:cNvSpPr txBox="1"/>
          <p:nvPr/>
        </p:nvSpPr>
        <p:spPr>
          <a:xfrm>
            <a:off x="2148840" y="3566160"/>
            <a:ext cx="2606039" cy="1371600"/>
          </a:xfrm>
          <a:prstGeom prst="rect">
            <a:avLst/>
          </a:prstGeom>
          <a:noFill/>
        </p:spPr>
        <p:txBody>
          <a:bodyPr wrap="square" lIns="73152" rIns="73152" anchor="ctr"/>
          <a:lstStyle/>
          <a:p>
            <a:pPr algn="l"/>
            <a:r>
              <a:rPr sz="1500" b="1" i="0" dirty="0">
                <a:solidFill>
                  <a:srgbClr val="C00000"/>
                </a:solidFill>
                <a:latin typeface="Arial"/>
              </a:rPr>
              <a:t>Target : technology for women</a:t>
            </a:r>
            <a:endParaRPr sz="1500" dirty="0"/>
          </a:p>
        </p:txBody>
      </p:sp>
      <p:sp>
        <p:nvSpPr>
          <p:cNvPr id="14" name="TextBox 13"/>
          <p:cNvSpPr txBox="1"/>
          <p:nvPr/>
        </p:nvSpPr>
        <p:spPr>
          <a:xfrm>
            <a:off x="621792" y="5029200"/>
            <a:ext cx="4105655" cy="640080"/>
          </a:xfrm>
          <a:prstGeom prst="rect">
            <a:avLst/>
          </a:prstGeom>
          <a:noFill/>
        </p:spPr>
        <p:txBody>
          <a:bodyPr wrap="square" lIns="73152" rIns="73152" anchor="t"/>
          <a:lstStyle/>
          <a:p>
            <a:pPr algn="l"/>
            <a:r>
              <a:rPr sz="1400" b="0" i="0">
                <a:solidFill>
                  <a:srgbClr val="1F2937"/>
                </a:solidFill>
                <a:latin typeface="Arial"/>
              </a:rPr>
              <a:t>Shakti free travel supported digitally and counted in full.</a:t>
            </a:r>
            <a:endParaRPr sz="1400"/>
          </a:p>
        </p:txBody>
      </p:sp>
      <p:sp>
        <p:nvSpPr>
          <p:cNvPr id="15" name="Rounded Rectangle 14"/>
          <p:cNvSpPr/>
          <p:nvPr/>
        </p:nvSpPr>
        <p:spPr>
          <a:xfrm>
            <a:off x="5010912" y="3383279"/>
            <a:ext cx="4434840" cy="2331720"/>
          </a:xfrm>
          <a:prstGeom prst="roundRect">
            <a:avLst>
              <a:gd name="adj" fmla="val 6000"/>
            </a:avLst>
          </a:prstGeom>
          <a:solidFill>
            <a:srgbClr val="F3F4F6"/>
          </a:solidFill>
          <a:ln>
            <a:noFill/>
          </a:ln>
          <a:effectLst/>
        </p:spPr>
        <p:txBody>
          <a:bodyPr rtlCol="0" anchor="ctr"/>
          <a:lstStyle/>
          <a:p>
            <a:pPr algn="ctr"/>
            <a:endParaRPr/>
          </a:p>
        </p:txBody>
      </p:sp>
      <p:sp>
        <p:nvSpPr>
          <p:cNvPr id="16" name="Rounded Rectangle 15"/>
          <p:cNvSpPr/>
          <p:nvPr/>
        </p:nvSpPr>
        <p:spPr>
          <a:xfrm>
            <a:off x="5175503" y="3566160"/>
            <a:ext cx="1371600" cy="1371600"/>
          </a:xfrm>
          <a:prstGeom prst="roundRect">
            <a:avLst>
              <a:gd name="adj" fmla="val 8000"/>
            </a:avLst>
          </a:prstGeom>
          <a:solidFill>
            <a:srgbClr val="00689D"/>
          </a:solidFill>
          <a:ln>
            <a:noFill/>
          </a:ln>
          <a:effectLst/>
        </p:spPr>
        <p:txBody>
          <a:bodyPr wrap="square" lIns="45720" tIns="36576" rIns="45720" bIns="36576" rtlCol="0" anchor="ctr"/>
          <a:lstStyle/>
          <a:p>
            <a:pPr algn="ctr"/>
            <a:r>
              <a:rPr sz="2200" b="1" i="0">
                <a:solidFill>
                  <a:srgbClr val="FFFFFF"/>
                </a:solidFill>
                <a:latin typeface="Arial"/>
              </a:rPr>
              <a:t>SDG 16</a:t>
            </a:r>
            <a:endParaRPr sz="2200"/>
          </a:p>
          <a:p>
            <a:pPr algn="ctr"/>
            <a:r>
              <a:rPr sz="1000" b="1" i="0">
                <a:solidFill>
                  <a:srgbClr val="FFFFFF"/>
                </a:solidFill>
                <a:latin typeface="Arial"/>
              </a:rPr>
              <a:t>Strong Institutions</a:t>
            </a:r>
            <a:endParaRPr sz="1000"/>
          </a:p>
        </p:txBody>
      </p:sp>
      <p:sp>
        <p:nvSpPr>
          <p:cNvPr id="17" name="TextBox 16"/>
          <p:cNvSpPr txBox="1"/>
          <p:nvPr/>
        </p:nvSpPr>
        <p:spPr>
          <a:xfrm>
            <a:off x="6702552" y="3566160"/>
            <a:ext cx="2606039" cy="1371600"/>
          </a:xfrm>
          <a:prstGeom prst="rect">
            <a:avLst/>
          </a:prstGeom>
          <a:noFill/>
        </p:spPr>
        <p:txBody>
          <a:bodyPr wrap="square" lIns="73152" rIns="73152" anchor="ctr"/>
          <a:lstStyle/>
          <a:p>
            <a:pPr algn="l"/>
            <a:r>
              <a:rPr sz="1500" b="1" i="0" dirty="0">
                <a:solidFill>
                  <a:srgbClr val="C00000"/>
                </a:solidFill>
                <a:latin typeface="Arial"/>
              </a:rPr>
              <a:t>Target : transparent institutions</a:t>
            </a:r>
            <a:endParaRPr sz="1500" dirty="0"/>
          </a:p>
        </p:txBody>
      </p:sp>
      <p:sp>
        <p:nvSpPr>
          <p:cNvPr id="18" name="TextBox 17"/>
          <p:cNvSpPr txBox="1"/>
          <p:nvPr/>
        </p:nvSpPr>
        <p:spPr>
          <a:xfrm>
            <a:off x="5175503" y="5029200"/>
            <a:ext cx="4105655" cy="640080"/>
          </a:xfrm>
          <a:prstGeom prst="rect">
            <a:avLst/>
          </a:prstGeom>
          <a:noFill/>
        </p:spPr>
        <p:txBody>
          <a:bodyPr wrap="square" lIns="73152" rIns="73152" anchor="t"/>
          <a:lstStyle/>
          <a:p>
            <a:pPr algn="l"/>
            <a:r>
              <a:rPr sz="1400" b="0" i="0">
                <a:solidFill>
                  <a:srgbClr val="1F2937"/>
                </a:solidFill>
                <a:latin typeface="Arial"/>
              </a:rPr>
              <a:t>Audit log and honest cash and data reporting.</a:t>
            </a:r>
            <a:endParaRPr sz="1400"/>
          </a:p>
        </p:txBody>
      </p:sp>
      <p:sp>
        <p:nvSpPr>
          <p:cNvPr id="19" name="TextBox 18"/>
          <p:cNvSpPr txBox="1"/>
          <p:nvPr/>
        </p:nvSpPr>
        <p:spPr>
          <a:xfrm>
            <a:off x="457200" y="5897880"/>
            <a:ext cx="8988552" cy="274320"/>
          </a:xfrm>
          <a:prstGeom prst="rect">
            <a:avLst/>
          </a:prstGeom>
          <a:noFill/>
        </p:spPr>
        <p:txBody>
          <a:bodyPr wrap="square" lIns="73152" rIns="73152" anchor="t"/>
          <a:lstStyle/>
          <a:p>
            <a:pPr algn="l"/>
            <a:r>
              <a:rPr sz="1000" b="0" i="1">
                <a:solidFill>
                  <a:srgbClr val="4B5563"/>
                </a:solidFill>
                <a:latin typeface="Arial"/>
              </a:rPr>
              <a:t>Source: https://sdgs.un.org/goals</a:t>
            </a:r>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988552" cy="603504"/>
          </a:xfrm>
        </p:spPr>
        <p:txBody>
          <a:bodyPr wrap="square" anchor="ctr"/>
          <a:lstStyle/>
          <a:p>
            <a:pPr algn="ctr"/>
            <a:r>
              <a:rPr sz="2800" b="1" i="0">
                <a:solidFill>
                  <a:srgbClr val="FF0000"/>
                </a:solidFill>
                <a:latin typeface="Arial"/>
              </a:rPr>
              <a:t>Expected Outcomes</a:t>
            </a:r>
          </a:p>
        </p:txBody>
      </p:sp>
      <p:sp>
        <p:nvSpPr>
          <p:cNvPr id="3" name="Rounded Rectangle 2"/>
          <p:cNvSpPr/>
          <p:nvPr/>
        </p:nvSpPr>
        <p:spPr>
          <a:xfrm>
            <a:off x="457200" y="914400"/>
            <a:ext cx="4434840" cy="2487168"/>
          </a:xfrm>
          <a:prstGeom prst="roundRect">
            <a:avLst>
              <a:gd name="adj" fmla="val 6000"/>
            </a:avLst>
          </a:prstGeom>
          <a:solidFill>
            <a:srgbClr val="F3F4F6"/>
          </a:solidFill>
          <a:ln>
            <a:noFill/>
          </a:ln>
          <a:effectLst/>
        </p:spPr>
        <p:txBody>
          <a:bodyPr rtlCol="0" anchor="ctr"/>
          <a:lstStyle/>
          <a:p>
            <a:pPr algn="ctr"/>
            <a:endParaRPr/>
          </a:p>
        </p:txBody>
      </p:sp>
      <p:sp>
        <p:nvSpPr>
          <p:cNvPr id="4" name="Oval 3"/>
          <p:cNvSpPr/>
          <p:nvPr/>
        </p:nvSpPr>
        <p:spPr>
          <a:xfrm>
            <a:off x="621792" y="1060704"/>
            <a:ext cx="384048" cy="384048"/>
          </a:xfrm>
          <a:prstGeom prst="ellipse">
            <a:avLst/>
          </a:prstGeom>
          <a:solidFill>
            <a:srgbClr val="C00000"/>
          </a:solidFill>
          <a:ln>
            <a:noFill/>
          </a:ln>
          <a:effectLst/>
        </p:spPr>
        <p:txBody>
          <a:bodyPr wrap="none" lIns="0" tIns="0" rIns="0" bIns="0" rtlCol="0" anchor="ctr"/>
          <a:lstStyle/>
          <a:p>
            <a:pPr algn="ctr"/>
            <a:r>
              <a:rPr sz="1300" b="1" i="0">
                <a:solidFill>
                  <a:srgbClr val="FFFFFF"/>
                </a:solidFill>
                <a:latin typeface="Arial"/>
              </a:rPr>
              <a:t>A</a:t>
            </a:r>
            <a:endParaRPr sz="1300"/>
          </a:p>
        </p:txBody>
      </p:sp>
      <p:sp>
        <p:nvSpPr>
          <p:cNvPr id="5" name="TextBox 4"/>
          <p:cNvSpPr txBox="1"/>
          <p:nvPr/>
        </p:nvSpPr>
        <p:spPr>
          <a:xfrm>
            <a:off x="1115568" y="1042416"/>
            <a:ext cx="3611879" cy="420624"/>
          </a:xfrm>
          <a:prstGeom prst="rect">
            <a:avLst/>
          </a:prstGeom>
          <a:noFill/>
        </p:spPr>
        <p:txBody>
          <a:bodyPr wrap="square" lIns="73152" rIns="73152" anchor="ctr"/>
          <a:lstStyle/>
          <a:p>
            <a:pPr algn="l"/>
            <a:r>
              <a:rPr sz="1700" b="1" i="0">
                <a:solidFill>
                  <a:srgbClr val="C00000"/>
                </a:solidFill>
                <a:latin typeface="Arial"/>
              </a:rPr>
              <a:t>Functional</a:t>
            </a:r>
            <a:endParaRPr sz="1700"/>
          </a:p>
        </p:txBody>
      </p:sp>
      <p:sp>
        <p:nvSpPr>
          <p:cNvPr id="6" name="TextBox 5"/>
          <p:cNvSpPr txBox="1"/>
          <p:nvPr/>
        </p:nvSpPr>
        <p:spPr>
          <a:xfrm>
            <a:off x="640080" y="1600200"/>
            <a:ext cx="4069079" cy="1755648"/>
          </a:xfrm>
          <a:prstGeom prst="rect">
            <a:avLst/>
          </a:prstGeom>
          <a:noFill/>
        </p:spPr>
        <p:txBody>
          <a:bodyPr wrap="square" lIns="73152" rIns="73152" anchor="t"/>
          <a:lstStyle/>
          <a:p>
            <a:pPr marL="164592" indent="-164592" algn="l">
              <a:spcAft>
                <a:spcPts val="900"/>
              </a:spcAft>
              <a:buClr>
                <a:srgbClr val="C00000"/>
              </a:buClr>
              <a:buFont typeface="Arial"/>
              <a:buChar char="•"/>
            </a:pPr>
            <a:r>
              <a:rPr sz="1500" b="0" i="0">
                <a:solidFill>
                  <a:srgbClr val="1F2937"/>
                </a:solidFill>
                <a:latin typeface="Arial"/>
              </a:rPr>
              <a:t>ML-ranked journey search with voice input</a:t>
            </a:r>
            <a:endParaRPr sz="1500"/>
          </a:p>
          <a:p>
            <a:pPr marL="164592" indent="-164592" algn="l">
              <a:spcAft>
                <a:spcPts val="900"/>
              </a:spcAft>
              <a:buClr>
                <a:srgbClr val="C00000"/>
              </a:buClr>
              <a:buFont typeface="Arial"/>
              <a:buChar char="•"/>
            </a:pPr>
            <a:r>
              <a:rPr sz="1500" b="0" i="0">
                <a:solidFill>
                  <a:srgbClr val="1F2937"/>
                </a:solidFill>
                <a:latin typeface="Arial"/>
              </a:rPr>
              <a:t>Fleet and crew plans with what-if changes</a:t>
            </a:r>
            <a:endParaRPr sz="1500"/>
          </a:p>
          <a:p>
            <a:pPr marL="164592" indent="-164592" algn="l">
              <a:spcAft>
                <a:spcPts val="900"/>
              </a:spcAft>
              <a:buClr>
                <a:srgbClr val="C00000"/>
              </a:buClr>
              <a:buFont typeface="Arial"/>
              <a:buChar char="•"/>
            </a:pPr>
            <a:r>
              <a:rPr sz="1500" b="0" i="0">
                <a:solidFill>
                  <a:srgbClr val="1F2937"/>
                </a:solidFill>
                <a:latin typeface="Arial"/>
              </a:rPr>
              <a:t>Rider demand turned into depot recommendations</a:t>
            </a:r>
            <a:endParaRPr sz="1500"/>
          </a:p>
          <a:p>
            <a:pPr marL="164592" indent="-164592" algn="l">
              <a:spcAft>
                <a:spcPts val="900"/>
              </a:spcAft>
              <a:buClr>
                <a:srgbClr val="C00000"/>
              </a:buClr>
              <a:buFont typeface="Arial"/>
              <a:buChar char="•"/>
            </a:pPr>
            <a:r>
              <a:rPr sz="1500" b="0" i="0">
                <a:solidFill>
                  <a:srgbClr val="1F2937"/>
                </a:solidFill>
                <a:latin typeface="Arial"/>
              </a:rPr>
              <a:t>Open timetable data with alerts</a:t>
            </a:r>
            <a:endParaRPr sz="1500"/>
          </a:p>
        </p:txBody>
      </p:sp>
      <p:sp>
        <p:nvSpPr>
          <p:cNvPr id="7" name="Rounded Rectangle 6"/>
          <p:cNvSpPr/>
          <p:nvPr/>
        </p:nvSpPr>
        <p:spPr>
          <a:xfrm>
            <a:off x="5010912" y="914400"/>
            <a:ext cx="4434840" cy="2487168"/>
          </a:xfrm>
          <a:prstGeom prst="roundRect">
            <a:avLst>
              <a:gd name="adj" fmla="val 6000"/>
            </a:avLst>
          </a:prstGeom>
          <a:solidFill>
            <a:srgbClr val="F3F4F6"/>
          </a:solidFill>
          <a:ln>
            <a:noFill/>
          </a:ln>
          <a:effectLst/>
        </p:spPr>
        <p:txBody>
          <a:bodyPr rtlCol="0" anchor="ctr"/>
          <a:lstStyle/>
          <a:p>
            <a:pPr algn="ctr"/>
            <a:endParaRPr/>
          </a:p>
        </p:txBody>
      </p:sp>
      <p:sp>
        <p:nvSpPr>
          <p:cNvPr id="8" name="Oval 7"/>
          <p:cNvSpPr/>
          <p:nvPr/>
        </p:nvSpPr>
        <p:spPr>
          <a:xfrm>
            <a:off x="5175503" y="1060704"/>
            <a:ext cx="384048" cy="384048"/>
          </a:xfrm>
          <a:prstGeom prst="ellipse">
            <a:avLst/>
          </a:prstGeom>
          <a:solidFill>
            <a:srgbClr val="C00000"/>
          </a:solidFill>
          <a:ln>
            <a:noFill/>
          </a:ln>
          <a:effectLst/>
        </p:spPr>
        <p:txBody>
          <a:bodyPr wrap="none" lIns="0" tIns="0" rIns="0" bIns="0" rtlCol="0" anchor="ctr"/>
          <a:lstStyle/>
          <a:p>
            <a:pPr algn="ctr"/>
            <a:r>
              <a:rPr sz="1300" b="1" i="0">
                <a:solidFill>
                  <a:srgbClr val="FFFFFF"/>
                </a:solidFill>
                <a:latin typeface="Arial"/>
              </a:rPr>
              <a:t>B</a:t>
            </a:r>
            <a:endParaRPr sz="1300"/>
          </a:p>
        </p:txBody>
      </p:sp>
      <p:sp>
        <p:nvSpPr>
          <p:cNvPr id="9" name="TextBox 8"/>
          <p:cNvSpPr txBox="1"/>
          <p:nvPr/>
        </p:nvSpPr>
        <p:spPr>
          <a:xfrm>
            <a:off x="5669279" y="1042416"/>
            <a:ext cx="3611879" cy="420624"/>
          </a:xfrm>
          <a:prstGeom prst="rect">
            <a:avLst/>
          </a:prstGeom>
          <a:noFill/>
        </p:spPr>
        <p:txBody>
          <a:bodyPr wrap="square" lIns="73152" rIns="73152" anchor="ctr"/>
          <a:lstStyle/>
          <a:p>
            <a:pPr algn="l"/>
            <a:r>
              <a:rPr sz="1700" b="1" i="0">
                <a:solidFill>
                  <a:srgbClr val="C00000"/>
                </a:solidFill>
                <a:latin typeface="Arial"/>
              </a:rPr>
              <a:t>Performance</a:t>
            </a:r>
            <a:endParaRPr sz="1700"/>
          </a:p>
        </p:txBody>
      </p:sp>
      <p:sp>
        <p:nvSpPr>
          <p:cNvPr id="10" name="TextBox 9"/>
          <p:cNvSpPr txBox="1"/>
          <p:nvPr/>
        </p:nvSpPr>
        <p:spPr>
          <a:xfrm>
            <a:off x="5193792" y="1600200"/>
            <a:ext cx="4069079" cy="1755648"/>
          </a:xfrm>
          <a:prstGeom prst="rect">
            <a:avLst/>
          </a:prstGeom>
          <a:noFill/>
        </p:spPr>
        <p:txBody>
          <a:bodyPr wrap="square" lIns="73152" rIns="73152" anchor="t"/>
          <a:lstStyle/>
          <a:p>
            <a:pPr marL="164592" indent="-164592" algn="l">
              <a:spcAft>
                <a:spcPts val="900"/>
              </a:spcAft>
              <a:buClr>
                <a:srgbClr val="C00000"/>
              </a:buClr>
              <a:buFont typeface="Arial"/>
              <a:buChar char="•"/>
            </a:pPr>
            <a:r>
              <a:rPr sz="1500" b="0" i="0">
                <a:solidFill>
                  <a:srgbClr val="1F2937"/>
                </a:solidFill>
                <a:latin typeface="Arial"/>
              </a:rPr>
              <a:t>Best bus ranked first in most test cases</a:t>
            </a:r>
            <a:endParaRPr sz="1500"/>
          </a:p>
          <a:p>
            <a:pPr marL="164592" indent="-164592" algn="l">
              <a:spcAft>
                <a:spcPts val="900"/>
              </a:spcAft>
              <a:buClr>
                <a:srgbClr val="C00000"/>
              </a:buClr>
              <a:buFont typeface="Arial"/>
              <a:buChar char="•"/>
            </a:pPr>
            <a:r>
              <a:rPr sz="1500" b="0" i="0">
                <a:solidFill>
                  <a:srgbClr val="1F2937"/>
                </a:solidFill>
                <a:latin typeface="Arial"/>
              </a:rPr>
              <a:t>Fast responses for real-time use</a:t>
            </a:r>
            <a:endParaRPr sz="1500"/>
          </a:p>
          <a:p>
            <a:pPr marL="164592" indent="-164592" algn="l">
              <a:spcAft>
                <a:spcPts val="900"/>
              </a:spcAft>
              <a:buClr>
                <a:srgbClr val="C00000"/>
              </a:buClr>
              <a:buFont typeface="Arial"/>
              <a:buChar char="•"/>
            </a:pPr>
            <a:r>
              <a:rPr sz="1500" b="0" i="0">
                <a:solidFill>
                  <a:srgbClr val="1F2937"/>
                </a:solidFill>
                <a:latin typeface="Arial"/>
              </a:rPr>
              <a:t>Fleet size compared with a proven minimum</a:t>
            </a:r>
            <a:endParaRPr sz="1500"/>
          </a:p>
          <a:p>
            <a:pPr marL="164592" indent="-164592" algn="l">
              <a:spcAft>
                <a:spcPts val="900"/>
              </a:spcAft>
              <a:buClr>
                <a:srgbClr val="C00000"/>
              </a:buClr>
              <a:buFont typeface="Arial"/>
              <a:buChar char="•"/>
            </a:pPr>
            <a:r>
              <a:rPr sz="1500" b="0" i="0">
                <a:solidFill>
                  <a:srgbClr val="1F2937"/>
                </a:solidFill>
                <a:latin typeface="Arial"/>
              </a:rPr>
              <a:t>Ranking scored with nDCG@5 and cross-validation</a:t>
            </a:r>
            <a:endParaRPr sz="1500"/>
          </a:p>
        </p:txBody>
      </p:sp>
      <p:sp>
        <p:nvSpPr>
          <p:cNvPr id="11" name="Rounded Rectangle 10"/>
          <p:cNvSpPr/>
          <p:nvPr/>
        </p:nvSpPr>
        <p:spPr>
          <a:xfrm>
            <a:off x="457200" y="3520440"/>
            <a:ext cx="4434840" cy="2487168"/>
          </a:xfrm>
          <a:prstGeom prst="roundRect">
            <a:avLst>
              <a:gd name="adj" fmla="val 6000"/>
            </a:avLst>
          </a:prstGeom>
          <a:solidFill>
            <a:srgbClr val="F3F4F6"/>
          </a:solidFill>
          <a:ln>
            <a:noFill/>
          </a:ln>
          <a:effectLst/>
        </p:spPr>
        <p:txBody>
          <a:bodyPr rtlCol="0" anchor="ctr"/>
          <a:lstStyle/>
          <a:p>
            <a:pPr algn="ctr"/>
            <a:endParaRPr/>
          </a:p>
        </p:txBody>
      </p:sp>
      <p:sp>
        <p:nvSpPr>
          <p:cNvPr id="12" name="Oval 11"/>
          <p:cNvSpPr/>
          <p:nvPr/>
        </p:nvSpPr>
        <p:spPr>
          <a:xfrm>
            <a:off x="621792" y="3666744"/>
            <a:ext cx="384048" cy="384048"/>
          </a:xfrm>
          <a:prstGeom prst="ellipse">
            <a:avLst/>
          </a:prstGeom>
          <a:solidFill>
            <a:srgbClr val="C00000"/>
          </a:solidFill>
          <a:ln>
            <a:noFill/>
          </a:ln>
          <a:effectLst/>
        </p:spPr>
        <p:txBody>
          <a:bodyPr wrap="none" lIns="0" tIns="0" rIns="0" bIns="0" rtlCol="0" anchor="ctr"/>
          <a:lstStyle/>
          <a:p>
            <a:pPr algn="ctr"/>
            <a:r>
              <a:rPr sz="1300" b="1" i="0">
                <a:solidFill>
                  <a:srgbClr val="FFFFFF"/>
                </a:solidFill>
                <a:latin typeface="Arial"/>
              </a:rPr>
              <a:t>C</a:t>
            </a:r>
            <a:endParaRPr sz="1300"/>
          </a:p>
        </p:txBody>
      </p:sp>
      <p:sp>
        <p:nvSpPr>
          <p:cNvPr id="13" name="TextBox 12"/>
          <p:cNvSpPr txBox="1"/>
          <p:nvPr/>
        </p:nvSpPr>
        <p:spPr>
          <a:xfrm>
            <a:off x="1115568" y="3648456"/>
            <a:ext cx="3611879" cy="420624"/>
          </a:xfrm>
          <a:prstGeom prst="rect">
            <a:avLst/>
          </a:prstGeom>
          <a:noFill/>
        </p:spPr>
        <p:txBody>
          <a:bodyPr wrap="square" lIns="73152" rIns="73152" anchor="ctr"/>
          <a:lstStyle/>
          <a:p>
            <a:pPr algn="l"/>
            <a:r>
              <a:rPr sz="1700" b="1" i="0">
                <a:solidFill>
                  <a:srgbClr val="C00000"/>
                </a:solidFill>
                <a:latin typeface="Arial"/>
              </a:rPr>
              <a:t>Practical impact</a:t>
            </a:r>
            <a:endParaRPr sz="1700"/>
          </a:p>
        </p:txBody>
      </p:sp>
      <p:sp>
        <p:nvSpPr>
          <p:cNvPr id="14" name="TextBox 13"/>
          <p:cNvSpPr txBox="1"/>
          <p:nvPr/>
        </p:nvSpPr>
        <p:spPr>
          <a:xfrm>
            <a:off x="640080" y="4206240"/>
            <a:ext cx="4069079" cy="1755648"/>
          </a:xfrm>
          <a:prstGeom prst="rect">
            <a:avLst/>
          </a:prstGeom>
          <a:noFill/>
        </p:spPr>
        <p:txBody>
          <a:bodyPr wrap="square" lIns="73152" rIns="73152" anchor="t"/>
          <a:lstStyle/>
          <a:p>
            <a:pPr marL="164592" indent="-164592" algn="l">
              <a:spcAft>
                <a:spcPts val="900"/>
              </a:spcAft>
              <a:buClr>
                <a:srgbClr val="C00000"/>
              </a:buClr>
              <a:buFont typeface="Arial"/>
              <a:buChar char="•"/>
            </a:pPr>
            <a:r>
              <a:rPr sz="1500" b="0" i="0">
                <a:solidFill>
                  <a:srgbClr val="1F2937"/>
                </a:solidFill>
                <a:latin typeface="Arial"/>
              </a:rPr>
              <a:t>Riders: easier, clearer trips</a:t>
            </a:r>
            <a:endParaRPr sz="1500"/>
          </a:p>
          <a:p>
            <a:pPr marL="164592" indent="-164592" algn="l">
              <a:spcAft>
                <a:spcPts val="900"/>
              </a:spcAft>
              <a:buClr>
                <a:srgbClr val="C00000"/>
              </a:buClr>
              <a:buFont typeface="Arial"/>
              <a:buChar char="•"/>
            </a:pPr>
            <a:r>
              <a:rPr sz="1500" b="0" i="0">
                <a:solidFill>
                  <a:srgbClr val="1F2937"/>
                </a:solidFill>
                <a:latin typeface="Arial"/>
              </a:rPr>
              <a:t>Depots: see what a timetable change costs</a:t>
            </a:r>
            <a:endParaRPr sz="1500"/>
          </a:p>
          <a:p>
            <a:pPr marL="164592" indent="-164592" algn="l">
              <a:spcAft>
                <a:spcPts val="900"/>
              </a:spcAft>
              <a:buClr>
                <a:srgbClr val="C00000"/>
              </a:buClr>
              <a:buFont typeface="Arial"/>
              <a:buChar char="•"/>
            </a:pPr>
            <a:r>
              <a:rPr sz="1500" b="0" i="0">
                <a:solidFill>
                  <a:srgbClr val="1F2937"/>
                </a:solidFill>
                <a:latin typeface="Arial"/>
              </a:rPr>
              <a:t>BMTC finance: Shakti and cash clearly reported</a:t>
            </a:r>
            <a:endParaRPr sz="1500"/>
          </a:p>
          <a:p>
            <a:pPr marL="164592" indent="-164592" algn="l">
              <a:spcAft>
                <a:spcPts val="900"/>
              </a:spcAft>
              <a:buClr>
                <a:srgbClr val="C00000"/>
              </a:buClr>
              <a:buFont typeface="Arial"/>
              <a:buChar char="•"/>
            </a:pPr>
            <a:r>
              <a:rPr sz="1500" b="0" i="0">
                <a:solidFill>
                  <a:srgbClr val="1F2937"/>
                </a:solidFill>
                <a:latin typeface="Arial"/>
              </a:rPr>
              <a:t>Staff: ask the AI assistant in plain language</a:t>
            </a:r>
            <a:endParaRPr sz="1500"/>
          </a:p>
        </p:txBody>
      </p:sp>
      <p:sp>
        <p:nvSpPr>
          <p:cNvPr id="15" name="Rounded Rectangle 14"/>
          <p:cNvSpPr/>
          <p:nvPr/>
        </p:nvSpPr>
        <p:spPr>
          <a:xfrm>
            <a:off x="5010912" y="3520440"/>
            <a:ext cx="4434840" cy="2487168"/>
          </a:xfrm>
          <a:prstGeom prst="roundRect">
            <a:avLst>
              <a:gd name="adj" fmla="val 6000"/>
            </a:avLst>
          </a:prstGeom>
          <a:solidFill>
            <a:srgbClr val="F3F4F6"/>
          </a:solidFill>
          <a:ln>
            <a:noFill/>
          </a:ln>
          <a:effectLst/>
        </p:spPr>
        <p:txBody>
          <a:bodyPr rtlCol="0" anchor="ctr"/>
          <a:lstStyle/>
          <a:p>
            <a:pPr algn="ctr"/>
            <a:endParaRPr/>
          </a:p>
        </p:txBody>
      </p:sp>
      <p:sp>
        <p:nvSpPr>
          <p:cNvPr id="16" name="Oval 15"/>
          <p:cNvSpPr/>
          <p:nvPr/>
        </p:nvSpPr>
        <p:spPr>
          <a:xfrm>
            <a:off x="5175503" y="3666744"/>
            <a:ext cx="384048" cy="384048"/>
          </a:xfrm>
          <a:prstGeom prst="ellipse">
            <a:avLst/>
          </a:prstGeom>
          <a:solidFill>
            <a:srgbClr val="C00000"/>
          </a:solidFill>
          <a:ln>
            <a:noFill/>
          </a:ln>
          <a:effectLst/>
        </p:spPr>
        <p:txBody>
          <a:bodyPr wrap="none" lIns="0" tIns="0" rIns="0" bIns="0" rtlCol="0" anchor="ctr"/>
          <a:lstStyle/>
          <a:p>
            <a:pPr algn="ctr"/>
            <a:r>
              <a:rPr sz="1300" b="1" i="0">
                <a:solidFill>
                  <a:srgbClr val="FFFFFF"/>
                </a:solidFill>
                <a:latin typeface="Arial"/>
              </a:rPr>
              <a:t>D</a:t>
            </a:r>
            <a:endParaRPr sz="1300"/>
          </a:p>
        </p:txBody>
      </p:sp>
      <p:sp>
        <p:nvSpPr>
          <p:cNvPr id="17" name="TextBox 16"/>
          <p:cNvSpPr txBox="1"/>
          <p:nvPr/>
        </p:nvSpPr>
        <p:spPr>
          <a:xfrm>
            <a:off x="5669279" y="3648456"/>
            <a:ext cx="3611879" cy="420624"/>
          </a:xfrm>
          <a:prstGeom prst="rect">
            <a:avLst/>
          </a:prstGeom>
          <a:noFill/>
        </p:spPr>
        <p:txBody>
          <a:bodyPr wrap="square" lIns="73152" rIns="73152" anchor="ctr"/>
          <a:lstStyle/>
          <a:p>
            <a:pPr algn="l"/>
            <a:r>
              <a:rPr sz="1700" b="1" i="0">
                <a:solidFill>
                  <a:srgbClr val="C00000"/>
                </a:solidFill>
                <a:latin typeface="Arial"/>
              </a:rPr>
              <a:t>Extension</a:t>
            </a:r>
            <a:endParaRPr sz="1700"/>
          </a:p>
        </p:txBody>
      </p:sp>
      <p:sp>
        <p:nvSpPr>
          <p:cNvPr id="18" name="TextBox 17"/>
          <p:cNvSpPr txBox="1"/>
          <p:nvPr/>
        </p:nvSpPr>
        <p:spPr>
          <a:xfrm>
            <a:off x="5193792" y="4206240"/>
            <a:ext cx="4069079" cy="1755648"/>
          </a:xfrm>
          <a:prstGeom prst="rect">
            <a:avLst/>
          </a:prstGeom>
          <a:noFill/>
        </p:spPr>
        <p:txBody>
          <a:bodyPr wrap="square" lIns="73152" rIns="73152" anchor="t"/>
          <a:lstStyle/>
          <a:p>
            <a:pPr marL="164592" indent="-164592" algn="l">
              <a:spcAft>
                <a:spcPts val="900"/>
              </a:spcAft>
              <a:buClr>
                <a:srgbClr val="C00000"/>
              </a:buClr>
              <a:buFont typeface="Arial"/>
              <a:buChar char="•"/>
            </a:pPr>
            <a:r>
              <a:rPr sz="1500" b="0" i="0">
                <a:solidFill>
                  <a:srgbClr val="1F2937"/>
                </a:solidFill>
                <a:latin typeface="Arial"/>
              </a:rPr>
              <a:t>Connect BMTC's live bus-location feed</a:t>
            </a:r>
            <a:endParaRPr sz="1500"/>
          </a:p>
          <a:p>
            <a:pPr marL="164592" indent="-164592" algn="l">
              <a:spcAft>
                <a:spcPts val="900"/>
              </a:spcAft>
              <a:buClr>
                <a:srgbClr val="C00000"/>
              </a:buClr>
              <a:buFont typeface="Arial"/>
              <a:buChar char="•"/>
            </a:pPr>
            <a:r>
              <a:rPr sz="1500" b="0" i="0">
                <a:solidFill>
                  <a:srgbClr val="1F2937"/>
                </a:solidFill>
                <a:latin typeface="Arial"/>
              </a:rPr>
              <a:t>Pilot at one depot against real rosters</a:t>
            </a:r>
            <a:endParaRPr sz="1500"/>
          </a:p>
          <a:p>
            <a:pPr marL="164592" indent="-164592" algn="l">
              <a:spcAft>
                <a:spcPts val="900"/>
              </a:spcAft>
              <a:buClr>
                <a:srgbClr val="C00000"/>
              </a:buClr>
              <a:buFont typeface="Arial"/>
              <a:buChar char="•"/>
            </a:pPr>
            <a:r>
              <a:rPr sz="1500" b="0" i="0">
                <a:solidFill>
                  <a:srgbClr val="1F2937"/>
                </a:solidFill>
                <a:latin typeface="Arial"/>
              </a:rPr>
              <a:t>Payment gateway for tickets and Shakti</a:t>
            </a:r>
            <a:endParaRPr sz="1500"/>
          </a:p>
          <a:p>
            <a:pPr marL="164592" indent="-164592" algn="l">
              <a:spcAft>
                <a:spcPts val="900"/>
              </a:spcAft>
              <a:buClr>
                <a:srgbClr val="C00000"/>
              </a:buClr>
              <a:buFont typeface="Arial"/>
              <a:buChar char="•"/>
            </a:pPr>
            <a:r>
              <a:rPr sz="1500" b="0" i="0">
                <a:solidFill>
                  <a:srgbClr val="1F2937"/>
                </a:solidFill>
                <a:latin typeface="Arial"/>
              </a:rPr>
              <a:t>ML demand forecasting from vote and ticket history</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988552" cy="603504"/>
          </a:xfrm>
        </p:spPr>
        <p:txBody>
          <a:bodyPr wrap="square" anchor="ctr"/>
          <a:lstStyle/>
          <a:p>
            <a:pPr algn="ctr"/>
            <a:r>
              <a:rPr sz="2800" b="1" i="0">
                <a:solidFill>
                  <a:srgbClr val="FF0000"/>
                </a:solidFill>
                <a:latin typeface="Arial"/>
              </a:rPr>
              <a:t>Gantt Chart</a:t>
            </a:r>
          </a:p>
        </p:txBody>
      </p:sp>
      <p:graphicFrame>
        <p:nvGraphicFramePr>
          <p:cNvPr id="3" name="Table 2"/>
          <p:cNvGraphicFramePr>
            <a:graphicFrameLocks noGrp="1"/>
          </p:cNvGraphicFramePr>
          <p:nvPr/>
        </p:nvGraphicFramePr>
        <p:xfrm>
          <a:off x="457200" y="914400"/>
          <a:ext cx="9006840" cy="4626864"/>
        </p:xfrm>
        <a:graphic>
          <a:graphicData uri="http://schemas.openxmlformats.org/drawingml/2006/table">
            <a:tbl>
              <a:tblPr>
                <a:tableStyleId>{2D5ABB26-0587-4C30-8999-92F81FD0307C}</a:tableStyleId>
              </a:tblPr>
              <a:tblGrid>
                <a:gridCol w="2971800">
                  <a:extLst>
                    <a:ext uri="{9D8B030D-6E8A-4147-A177-3AD203B41FA5}">
                      <a16:colId xmlns:a16="http://schemas.microsoft.com/office/drawing/2014/main" val="20000"/>
                    </a:ext>
                  </a:extLst>
                </a:gridCol>
                <a:gridCol w="377190">
                  <a:extLst>
                    <a:ext uri="{9D8B030D-6E8A-4147-A177-3AD203B41FA5}">
                      <a16:colId xmlns:a16="http://schemas.microsoft.com/office/drawing/2014/main" val="20001"/>
                    </a:ext>
                  </a:extLst>
                </a:gridCol>
                <a:gridCol w="377190">
                  <a:extLst>
                    <a:ext uri="{9D8B030D-6E8A-4147-A177-3AD203B41FA5}">
                      <a16:colId xmlns:a16="http://schemas.microsoft.com/office/drawing/2014/main" val="20002"/>
                    </a:ext>
                  </a:extLst>
                </a:gridCol>
                <a:gridCol w="377190">
                  <a:extLst>
                    <a:ext uri="{9D8B030D-6E8A-4147-A177-3AD203B41FA5}">
                      <a16:colId xmlns:a16="http://schemas.microsoft.com/office/drawing/2014/main" val="20003"/>
                    </a:ext>
                  </a:extLst>
                </a:gridCol>
                <a:gridCol w="377190">
                  <a:extLst>
                    <a:ext uri="{9D8B030D-6E8A-4147-A177-3AD203B41FA5}">
                      <a16:colId xmlns:a16="http://schemas.microsoft.com/office/drawing/2014/main" val="20004"/>
                    </a:ext>
                  </a:extLst>
                </a:gridCol>
                <a:gridCol w="377190">
                  <a:extLst>
                    <a:ext uri="{9D8B030D-6E8A-4147-A177-3AD203B41FA5}">
                      <a16:colId xmlns:a16="http://schemas.microsoft.com/office/drawing/2014/main" val="20005"/>
                    </a:ext>
                  </a:extLst>
                </a:gridCol>
                <a:gridCol w="377190">
                  <a:extLst>
                    <a:ext uri="{9D8B030D-6E8A-4147-A177-3AD203B41FA5}">
                      <a16:colId xmlns:a16="http://schemas.microsoft.com/office/drawing/2014/main" val="20006"/>
                    </a:ext>
                  </a:extLst>
                </a:gridCol>
                <a:gridCol w="377190">
                  <a:extLst>
                    <a:ext uri="{9D8B030D-6E8A-4147-A177-3AD203B41FA5}">
                      <a16:colId xmlns:a16="http://schemas.microsoft.com/office/drawing/2014/main" val="20007"/>
                    </a:ext>
                  </a:extLst>
                </a:gridCol>
                <a:gridCol w="377190">
                  <a:extLst>
                    <a:ext uri="{9D8B030D-6E8A-4147-A177-3AD203B41FA5}">
                      <a16:colId xmlns:a16="http://schemas.microsoft.com/office/drawing/2014/main" val="20008"/>
                    </a:ext>
                  </a:extLst>
                </a:gridCol>
                <a:gridCol w="377190">
                  <a:extLst>
                    <a:ext uri="{9D8B030D-6E8A-4147-A177-3AD203B41FA5}">
                      <a16:colId xmlns:a16="http://schemas.microsoft.com/office/drawing/2014/main" val="20009"/>
                    </a:ext>
                  </a:extLst>
                </a:gridCol>
                <a:gridCol w="377190">
                  <a:extLst>
                    <a:ext uri="{9D8B030D-6E8A-4147-A177-3AD203B41FA5}">
                      <a16:colId xmlns:a16="http://schemas.microsoft.com/office/drawing/2014/main" val="20010"/>
                    </a:ext>
                  </a:extLst>
                </a:gridCol>
                <a:gridCol w="377190">
                  <a:extLst>
                    <a:ext uri="{9D8B030D-6E8A-4147-A177-3AD203B41FA5}">
                      <a16:colId xmlns:a16="http://schemas.microsoft.com/office/drawing/2014/main" val="20011"/>
                    </a:ext>
                  </a:extLst>
                </a:gridCol>
                <a:gridCol w="377190">
                  <a:extLst>
                    <a:ext uri="{9D8B030D-6E8A-4147-A177-3AD203B41FA5}">
                      <a16:colId xmlns:a16="http://schemas.microsoft.com/office/drawing/2014/main" val="20012"/>
                    </a:ext>
                  </a:extLst>
                </a:gridCol>
                <a:gridCol w="377190">
                  <a:extLst>
                    <a:ext uri="{9D8B030D-6E8A-4147-A177-3AD203B41FA5}">
                      <a16:colId xmlns:a16="http://schemas.microsoft.com/office/drawing/2014/main" val="20013"/>
                    </a:ext>
                  </a:extLst>
                </a:gridCol>
                <a:gridCol w="377190">
                  <a:extLst>
                    <a:ext uri="{9D8B030D-6E8A-4147-A177-3AD203B41FA5}">
                      <a16:colId xmlns:a16="http://schemas.microsoft.com/office/drawing/2014/main" val="20014"/>
                    </a:ext>
                  </a:extLst>
                </a:gridCol>
                <a:gridCol w="377190">
                  <a:extLst>
                    <a:ext uri="{9D8B030D-6E8A-4147-A177-3AD203B41FA5}">
                      <a16:colId xmlns:a16="http://schemas.microsoft.com/office/drawing/2014/main" val="20015"/>
                    </a:ext>
                  </a:extLst>
                </a:gridCol>
                <a:gridCol w="377190">
                  <a:extLst>
                    <a:ext uri="{9D8B030D-6E8A-4147-A177-3AD203B41FA5}">
                      <a16:colId xmlns:a16="http://schemas.microsoft.com/office/drawing/2014/main" val="20016"/>
                    </a:ext>
                  </a:extLst>
                </a:gridCol>
              </a:tblGrid>
              <a:tr h="310896">
                <a:tc gridSpan="17">
                  <a:txBody>
                    <a:bodyPr/>
                    <a:lstStyle/>
                    <a:p>
                      <a:pPr algn="l"/>
                      <a:r>
                        <a:rPr sz="1050" b="1" i="0">
                          <a:solidFill>
                            <a:srgbClr val="FFFFFF"/>
                          </a:solidFill>
                          <a:latin typeface="Arial"/>
                        </a:rPr>
                        <a:t>Project Work (UG) 16 weeks</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a:lstStyle/>
                    <a:p>
                      <a:pPr algn="ct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extLst>
                  <a:ext uri="{0D108BD9-81ED-4DB2-BD59-A6C34878D82A}">
                    <a16:rowId xmlns:a16="http://schemas.microsoft.com/office/drawing/2014/main" val="10000"/>
                  </a:ext>
                </a:extLst>
              </a:tr>
              <a:tr h="292608">
                <a:tc>
                  <a:txBody>
                    <a:bodyPr/>
                    <a:lstStyle/>
                    <a:p>
                      <a:pPr algn="l"/>
                      <a:r>
                        <a:rPr sz="1050" b="1" i="0">
                          <a:solidFill>
                            <a:srgbClr val="FFFFFF"/>
                          </a:solidFill>
                          <a:latin typeface="Arial"/>
                        </a:rPr>
                        <a:t>Week</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1</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2</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3</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4</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5</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6</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7</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8</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9</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10</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11</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12</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13</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14</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15</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r>
                        <a:rPr sz="1050" b="1" i="0">
                          <a:solidFill>
                            <a:srgbClr val="FFFFFF"/>
                          </a:solidFill>
                          <a:latin typeface="Arial"/>
                        </a:rPr>
                        <a:t>16</a:t>
                      </a:r>
                      <a:endParaRPr sz="105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extLst>
                  <a:ext uri="{0D108BD9-81ED-4DB2-BD59-A6C34878D82A}">
                    <a16:rowId xmlns:a16="http://schemas.microsoft.com/office/drawing/2014/main" val="10001"/>
                  </a:ext>
                </a:extLst>
              </a:tr>
              <a:tr h="402336">
                <a:tc>
                  <a:txBody>
                    <a:bodyPr/>
                    <a:lstStyle/>
                    <a:p>
                      <a:pPr algn="l"/>
                      <a:r>
                        <a:rPr sz="1100" b="1" i="0">
                          <a:solidFill>
                            <a:srgbClr val="C00000"/>
                          </a:solidFill>
                          <a:latin typeface="Arial"/>
                        </a:rPr>
                        <a:t>1  </a:t>
                      </a:r>
                      <a:r>
                        <a:rPr sz="1100" b="0" i="0">
                          <a:solidFill>
                            <a:srgbClr val="1F2937"/>
                          </a:solidFill>
                          <a:latin typeface="Arial"/>
                        </a:rPr>
                        <a:t>Requirements, data and literature survey</a:t>
                      </a: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extLst>
                  <a:ext uri="{0D108BD9-81ED-4DB2-BD59-A6C34878D82A}">
                    <a16:rowId xmlns:a16="http://schemas.microsoft.com/office/drawing/2014/main" val="10002"/>
                  </a:ext>
                </a:extLst>
              </a:tr>
              <a:tr h="402336">
                <a:tc>
                  <a:txBody>
                    <a:bodyPr/>
                    <a:lstStyle/>
                    <a:p>
                      <a:pPr algn="l"/>
                      <a:r>
                        <a:rPr sz="1100" b="1" i="0">
                          <a:solidFill>
                            <a:srgbClr val="C00000"/>
                          </a:solidFill>
                          <a:latin typeface="Arial"/>
                        </a:rPr>
                        <a:t>2  </a:t>
                      </a:r>
                      <a:r>
                        <a:rPr sz="1100" b="0" i="0">
                          <a:solidFill>
                            <a:srgbClr val="1F2937"/>
                          </a:solidFill>
                          <a:latin typeface="Arial"/>
                        </a:rPr>
                        <a:t>Journey planner: TF-IDF search, ML ranking</a:t>
                      </a: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extLst>
                  <a:ext uri="{0D108BD9-81ED-4DB2-BD59-A6C34878D82A}">
                    <a16:rowId xmlns:a16="http://schemas.microsoft.com/office/drawing/2014/main" val="10003"/>
                  </a:ext>
                </a:extLst>
              </a:tr>
              <a:tr h="402336">
                <a:tc>
                  <a:txBody>
                    <a:bodyPr/>
                    <a:lstStyle/>
                    <a:p>
                      <a:pPr algn="l"/>
                      <a:r>
                        <a:rPr sz="1100" b="1" i="0">
                          <a:solidFill>
                            <a:srgbClr val="C00000"/>
                          </a:solidFill>
                          <a:latin typeface="Arial"/>
                        </a:rPr>
                        <a:t>3  </a:t>
                      </a:r>
                      <a:r>
                        <a:rPr sz="1100" b="0" i="0">
                          <a:solidFill>
                            <a:srgbClr val="1F2937"/>
                          </a:solidFill>
                          <a:latin typeface="Arial"/>
                        </a:rPr>
                        <a:t>Backend services: logins, roles, storage</a:t>
                      </a: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extLst>
                  <a:ext uri="{0D108BD9-81ED-4DB2-BD59-A6C34878D82A}">
                    <a16:rowId xmlns:a16="http://schemas.microsoft.com/office/drawing/2014/main" val="10004"/>
                  </a:ext>
                </a:extLst>
              </a:tr>
              <a:tr h="402336">
                <a:tc>
                  <a:txBody>
                    <a:bodyPr/>
                    <a:lstStyle/>
                    <a:p>
                      <a:pPr algn="l"/>
                      <a:r>
                        <a:rPr sz="1100" b="1" i="0">
                          <a:solidFill>
                            <a:srgbClr val="C00000"/>
                          </a:solidFill>
                          <a:latin typeface="Arial"/>
                        </a:rPr>
                        <a:t>4  </a:t>
                      </a:r>
                      <a:r>
                        <a:rPr sz="1100" b="0" i="0">
                          <a:solidFill>
                            <a:srgbClr val="1F2937"/>
                          </a:solidFill>
                          <a:latin typeface="Arial"/>
                        </a:rPr>
                        <a:t>User interface, languages, voice search</a:t>
                      </a: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extLst>
                  <a:ext uri="{0D108BD9-81ED-4DB2-BD59-A6C34878D82A}">
                    <a16:rowId xmlns:a16="http://schemas.microsoft.com/office/drawing/2014/main" val="10005"/>
                  </a:ext>
                </a:extLst>
              </a:tr>
              <a:tr h="402336">
                <a:tc>
                  <a:txBody>
                    <a:bodyPr/>
                    <a:lstStyle/>
                    <a:p>
                      <a:pPr algn="l"/>
                      <a:r>
                        <a:rPr sz="1100" b="1" i="0">
                          <a:solidFill>
                            <a:srgbClr val="C00000"/>
                          </a:solidFill>
                          <a:latin typeface="Arial"/>
                        </a:rPr>
                        <a:t>5  </a:t>
                      </a:r>
                      <a:r>
                        <a:rPr sz="1100" b="0" i="0">
                          <a:solidFill>
                            <a:srgbClr val="1F2937"/>
                          </a:solidFill>
                          <a:latin typeface="Arial"/>
                        </a:rPr>
                        <a:t>Fleet and crew planner</a:t>
                      </a: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extLst>
                  <a:ext uri="{0D108BD9-81ED-4DB2-BD59-A6C34878D82A}">
                    <a16:rowId xmlns:a16="http://schemas.microsoft.com/office/drawing/2014/main" val="10006"/>
                  </a:ext>
                </a:extLst>
              </a:tr>
              <a:tr h="402336">
                <a:tc>
                  <a:txBody>
                    <a:bodyPr/>
                    <a:lstStyle/>
                    <a:p>
                      <a:pPr algn="l"/>
                      <a:r>
                        <a:rPr sz="1100" b="1" i="0">
                          <a:solidFill>
                            <a:srgbClr val="C00000"/>
                          </a:solidFill>
                          <a:latin typeface="Arial"/>
                        </a:rPr>
                        <a:t>6  </a:t>
                      </a:r>
                      <a:r>
                        <a:rPr sz="1100" b="0" i="0">
                          <a:solidFill>
                            <a:srgbClr val="1F2937"/>
                          </a:solidFill>
                          <a:latin typeface="Arial"/>
                        </a:rPr>
                        <a:t>Demand voting, tickets, Shakti, waybills</a:t>
                      </a: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extLst>
                  <a:ext uri="{0D108BD9-81ED-4DB2-BD59-A6C34878D82A}">
                    <a16:rowId xmlns:a16="http://schemas.microsoft.com/office/drawing/2014/main" val="10007"/>
                  </a:ext>
                </a:extLst>
              </a:tr>
              <a:tr h="402336">
                <a:tc>
                  <a:txBody>
                    <a:bodyPr/>
                    <a:lstStyle/>
                    <a:p>
                      <a:pPr algn="l"/>
                      <a:r>
                        <a:rPr sz="1100" b="1" i="0">
                          <a:solidFill>
                            <a:srgbClr val="C00000"/>
                          </a:solidFill>
                          <a:latin typeface="Arial"/>
                        </a:rPr>
                        <a:t>7  </a:t>
                      </a:r>
                      <a:r>
                        <a:rPr sz="1100" b="0" i="0">
                          <a:solidFill>
                            <a:srgbClr val="1F2937"/>
                          </a:solidFill>
                          <a:latin typeface="Arial"/>
                        </a:rPr>
                        <a:t>Open data export and alerts</a:t>
                      </a: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extLst>
                  <a:ext uri="{0D108BD9-81ED-4DB2-BD59-A6C34878D82A}">
                    <a16:rowId xmlns:a16="http://schemas.microsoft.com/office/drawing/2014/main" val="10008"/>
                  </a:ext>
                </a:extLst>
              </a:tr>
              <a:tr h="402336">
                <a:tc>
                  <a:txBody>
                    <a:bodyPr/>
                    <a:lstStyle/>
                    <a:p>
                      <a:pPr algn="l"/>
                      <a:r>
                        <a:rPr sz="1100" b="1" i="0">
                          <a:solidFill>
                            <a:srgbClr val="C00000"/>
                          </a:solidFill>
                          <a:latin typeface="Arial"/>
                        </a:rPr>
                        <a:t>8  </a:t>
                      </a:r>
                      <a:r>
                        <a:rPr sz="1100" b="0" i="0">
                          <a:solidFill>
                            <a:srgbClr val="1F2937"/>
                          </a:solidFill>
                          <a:latin typeface="Arial"/>
                        </a:rPr>
                        <a:t>Model evaluation and cross-validation</a:t>
                      </a: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extLst>
                  <a:ext uri="{0D108BD9-81ED-4DB2-BD59-A6C34878D82A}">
                    <a16:rowId xmlns:a16="http://schemas.microsoft.com/office/drawing/2014/main" val="10009"/>
                  </a:ext>
                </a:extLst>
              </a:tr>
              <a:tr h="402336">
                <a:tc>
                  <a:txBody>
                    <a:bodyPr/>
                    <a:lstStyle/>
                    <a:p>
                      <a:pPr algn="l"/>
                      <a:r>
                        <a:rPr sz="1100" b="1" i="0">
                          <a:solidFill>
                            <a:srgbClr val="C00000"/>
                          </a:solidFill>
                          <a:latin typeface="Arial"/>
                        </a:rPr>
                        <a:t>9  </a:t>
                      </a:r>
                      <a:r>
                        <a:rPr sz="1100" b="0" i="0">
                          <a:solidFill>
                            <a:srgbClr val="1F2937"/>
                          </a:solidFill>
                          <a:latin typeface="Arial"/>
                        </a:rPr>
                        <a:t>AI assistant: RAG, LLM, guardrails</a:t>
                      </a: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extLst>
                  <a:ext uri="{0D108BD9-81ED-4DB2-BD59-A6C34878D82A}">
                    <a16:rowId xmlns:a16="http://schemas.microsoft.com/office/drawing/2014/main" val="10009"/>
                  </a:ext>
                </a:extLst>
              </a:tr>
              <a:tr h="402336">
                <a:tc>
                  <a:txBody>
                    <a:bodyPr/>
                    <a:lstStyle/>
                    <a:p>
                      <a:pPr algn="l"/>
                      <a:r>
                        <a:rPr sz="1100" b="1" i="0">
                          <a:solidFill>
                            <a:srgbClr val="C00000"/>
                          </a:solidFill>
                          <a:latin typeface="Arial"/>
                        </a:rPr>
                        <a:t>10  </a:t>
                      </a:r>
                      <a:r>
                        <a:rPr sz="1100" b="0" i="0">
                          <a:solidFill>
                            <a:srgbClr val="1F2937"/>
                          </a:solidFill>
                          <a:latin typeface="Arial"/>
                        </a:rPr>
                        <a:t>Testing, final report and review</a:t>
                      </a: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a:lstStyle/>
                    <a:p>
                      <a:pPr algn="ctr"/>
                      <a:endParaRPr sz="1100"/>
                    </a:p>
                  </a:txBody>
                  <a:tcPr marL="54864" marR="27432" marT="18288"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extLst>
                  <a:ext uri="{0D108BD9-81ED-4DB2-BD59-A6C34878D82A}">
                    <a16:rowId xmlns:a16="http://schemas.microsoft.com/office/drawing/2014/main" val="10010"/>
                  </a:ext>
                </a:extLst>
              </a:tr>
            </a:tbl>
          </a:graphicData>
        </a:graphic>
      </p:graphicFrame>
      <p:sp>
        <p:nvSpPr>
          <p:cNvPr id="4" name="TextBox 3"/>
          <p:cNvSpPr txBox="1"/>
          <p:nvPr/>
        </p:nvSpPr>
        <p:spPr>
          <a:xfrm>
            <a:off x="457200" y="5596128"/>
            <a:ext cx="8988552" cy="548640"/>
          </a:xfrm>
          <a:prstGeom prst="rect">
            <a:avLst/>
          </a:prstGeom>
          <a:noFill/>
        </p:spPr>
        <p:txBody>
          <a:bodyPr wrap="square" lIns="73152" rIns="73152" anchor="ctr"/>
          <a:lstStyle/>
          <a:p>
            <a:pPr algn="l"/>
            <a:r>
              <a:rPr sz="1250" b="1" i="0">
                <a:solidFill>
                  <a:srgbClr val="C00000"/>
                </a:solidFill>
                <a:latin typeface="Arial"/>
              </a:rPr>
              <a:t>Review points: </a:t>
            </a:r>
            <a:r>
              <a:rPr sz="1250" b="0" i="0">
                <a:solidFill>
                  <a:srgbClr val="1F2937"/>
                </a:solidFill>
                <a:latin typeface="Arial"/>
              </a:rPr>
              <a:t>week 4 problem and literature  |  week 8 journey planner  |  week 12 full platform  |  week 16 final evaluation</a:t>
            </a:r>
            <a:endParaRPr sz="12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988552" cy="603504"/>
          </a:xfrm>
        </p:spPr>
        <p:txBody>
          <a:bodyPr wrap="square" anchor="ctr"/>
          <a:lstStyle/>
          <a:p>
            <a:pPr algn="ctr"/>
            <a:r>
              <a:rPr sz="3200" b="1" i="0">
                <a:solidFill>
                  <a:srgbClr val="FF0000"/>
                </a:solidFill>
                <a:latin typeface="Arial"/>
              </a:rPr>
              <a:t>Conclusion</a:t>
            </a:r>
          </a:p>
        </p:txBody>
      </p:sp>
      <p:sp>
        <p:nvSpPr>
          <p:cNvPr id="3" name="Rounded Rectangle 2"/>
          <p:cNvSpPr/>
          <p:nvPr/>
        </p:nvSpPr>
        <p:spPr>
          <a:xfrm>
            <a:off x="457200" y="914400"/>
            <a:ext cx="8988552" cy="960120"/>
          </a:xfrm>
          <a:prstGeom prst="roundRect">
            <a:avLst>
              <a:gd name="adj" fmla="val 6000"/>
            </a:avLst>
          </a:prstGeom>
          <a:solidFill>
            <a:srgbClr val="F3F4F6"/>
          </a:solidFill>
          <a:ln>
            <a:noFill/>
          </a:ln>
          <a:effectLst/>
        </p:spPr>
        <p:txBody>
          <a:bodyPr rtlCol="0" anchor="ctr"/>
          <a:lstStyle/>
          <a:p>
            <a:pPr algn="ctr"/>
            <a:endParaRPr/>
          </a:p>
        </p:txBody>
      </p:sp>
      <p:sp>
        <p:nvSpPr>
          <p:cNvPr id="4" name="Rounded Rectangle 3"/>
          <p:cNvSpPr/>
          <p:nvPr/>
        </p:nvSpPr>
        <p:spPr>
          <a:xfrm>
            <a:off x="594360" y="1051560"/>
            <a:ext cx="1828800" cy="685800"/>
          </a:xfrm>
          <a:prstGeom prst="roundRect">
            <a:avLst>
              <a:gd name="adj" fmla="val 10000"/>
            </a:avLst>
          </a:prstGeom>
          <a:solidFill>
            <a:srgbClr val="C00000"/>
          </a:solidFill>
          <a:ln>
            <a:noFill/>
          </a:ln>
          <a:effectLst/>
        </p:spPr>
        <p:txBody>
          <a:bodyPr wrap="square" lIns="73152" rIns="73152" rtlCol="0" anchor="ctr"/>
          <a:lstStyle/>
          <a:p>
            <a:pPr algn="ctr"/>
            <a:r>
              <a:rPr sz="1500" b="1" i="0">
                <a:solidFill>
                  <a:srgbClr val="FFFFFF"/>
                </a:solidFill>
                <a:latin typeface="Arial"/>
              </a:rPr>
              <a:t>Problem</a:t>
            </a:r>
            <a:endParaRPr sz="1500"/>
          </a:p>
        </p:txBody>
      </p:sp>
      <p:sp>
        <p:nvSpPr>
          <p:cNvPr id="5" name="TextBox 4"/>
          <p:cNvSpPr txBox="1"/>
          <p:nvPr/>
        </p:nvSpPr>
        <p:spPr>
          <a:xfrm>
            <a:off x="2606040" y="914400"/>
            <a:ext cx="6720840" cy="960120"/>
          </a:xfrm>
          <a:prstGeom prst="rect">
            <a:avLst/>
          </a:prstGeom>
          <a:noFill/>
        </p:spPr>
        <p:txBody>
          <a:bodyPr wrap="square" lIns="73152" rIns="73152" anchor="ctr"/>
          <a:lstStyle/>
          <a:p>
            <a:pPr algn="l"/>
            <a:r>
              <a:rPr sz="1500" b="0" i="0">
                <a:solidFill>
                  <a:srgbClr val="1F2937"/>
                </a:solidFill>
                <a:latin typeface="Arial"/>
              </a:rPr>
              <a:t>Riders and BMTC use separate tools; rider demand never reaches depot planning.</a:t>
            </a:r>
            <a:endParaRPr sz="1500"/>
          </a:p>
        </p:txBody>
      </p:sp>
      <p:sp>
        <p:nvSpPr>
          <p:cNvPr id="6" name="Rounded Rectangle 5"/>
          <p:cNvSpPr/>
          <p:nvPr/>
        </p:nvSpPr>
        <p:spPr>
          <a:xfrm>
            <a:off x="457200" y="1984248"/>
            <a:ext cx="8988552" cy="960120"/>
          </a:xfrm>
          <a:prstGeom prst="roundRect">
            <a:avLst>
              <a:gd name="adj" fmla="val 6000"/>
            </a:avLst>
          </a:prstGeom>
          <a:solidFill>
            <a:srgbClr val="F3F4F6"/>
          </a:solidFill>
          <a:ln>
            <a:noFill/>
          </a:ln>
          <a:effectLst/>
        </p:spPr>
        <p:txBody>
          <a:bodyPr rtlCol="0" anchor="ctr"/>
          <a:lstStyle/>
          <a:p>
            <a:pPr algn="ctr"/>
            <a:endParaRPr/>
          </a:p>
        </p:txBody>
      </p:sp>
      <p:sp>
        <p:nvSpPr>
          <p:cNvPr id="7" name="Rounded Rectangle 6"/>
          <p:cNvSpPr/>
          <p:nvPr/>
        </p:nvSpPr>
        <p:spPr>
          <a:xfrm>
            <a:off x="594360" y="2121408"/>
            <a:ext cx="1828800" cy="685800"/>
          </a:xfrm>
          <a:prstGeom prst="roundRect">
            <a:avLst>
              <a:gd name="adj" fmla="val 10000"/>
            </a:avLst>
          </a:prstGeom>
          <a:solidFill>
            <a:srgbClr val="C00000"/>
          </a:solidFill>
          <a:ln>
            <a:noFill/>
          </a:ln>
          <a:effectLst/>
        </p:spPr>
        <p:txBody>
          <a:bodyPr wrap="square" lIns="73152" rIns="73152" rtlCol="0" anchor="ctr"/>
          <a:lstStyle/>
          <a:p>
            <a:pPr algn="ctr"/>
            <a:r>
              <a:rPr sz="1500" b="1" i="0">
                <a:solidFill>
                  <a:srgbClr val="FFFFFF"/>
                </a:solidFill>
                <a:latin typeface="Arial"/>
              </a:rPr>
              <a:t>Relevance</a:t>
            </a:r>
            <a:endParaRPr sz="1500"/>
          </a:p>
        </p:txBody>
      </p:sp>
      <p:sp>
        <p:nvSpPr>
          <p:cNvPr id="8" name="TextBox 7"/>
          <p:cNvSpPr txBox="1"/>
          <p:nvPr/>
        </p:nvSpPr>
        <p:spPr>
          <a:xfrm>
            <a:off x="2606040" y="1984248"/>
            <a:ext cx="6720840" cy="960120"/>
          </a:xfrm>
          <a:prstGeom prst="rect">
            <a:avLst/>
          </a:prstGeom>
          <a:noFill/>
        </p:spPr>
        <p:txBody>
          <a:bodyPr wrap="square" lIns="73152" rIns="73152" anchor="ctr"/>
          <a:lstStyle/>
          <a:p>
            <a:pPr algn="l"/>
            <a:r>
              <a:rPr sz="1500" b="0" i="0">
                <a:solidFill>
                  <a:srgbClr val="1F2937"/>
                </a:solidFill>
                <a:latin typeface="Arial"/>
              </a:rPr>
              <a:t>7,000+ buses, ridership changed by Shakti, and tickets and tracking going digital.</a:t>
            </a:r>
            <a:endParaRPr sz="1500"/>
          </a:p>
        </p:txBody>
      </p:sp>
      <p:sp>
        <p:nvSpPr>
          <p:cNvPr id="9" name="Rounded Rectangle 8"/>
          <p:cNvSpPr/>
          <p:nvPr/>
        </p:nvSpPr>
        <p:spPr>
          <a:xfrm>
            <a:off x="457200" y="3054096"/>
            <a:ext cx="8988552" cy="960120"/>
          </a:xfrm>
          <a:prstGeom prst="roundRect">
            <a:avLst>
              <a:gd name="adj" fmla="val 6000"/>
            </a:avLst>
          </a:prstGeom>
          <a:solidFill>
            <a:srgbClr val="F3F4F6"/>
          </a:solidFill>
          <a:ln>
            <a:noFill/>
          </a:ln>
          <a:effectLst/>
        </p:spPr>
        <p:txBody>
          <a:bodyPr rtlCol="0" anchor="ctr"/>
          <a:lstStyle/>
          <a:p>
            <a:pPr algn="ctr"/>
            <a:endParaRPr/>
          </a:p>
        </p:txBody>
      </p:sp>
      <p:sp>
        <p:nvSpPr>
          <p:cNvPr id="10" name="Rounded Rectangle 9"/>
          <p:cNvSpPr/>
          <p:nvPr/>
        </p:nvSpPr>
        <p:spPr>
          <a:xfrm>
            <a:off x="594360" y="3191256"/>
            <a:ext cx="1828800" cy="685800"/>
          </a:xfrm>
          <a:prstGeom prst="roundRect">
            <a:avLst>
              <a:gd name="adj" fmla="val 10000"/>
            </a:avLst>
          </a:prstGeom>
          <a:solidFill>
            <a:srgbClr val="C00000"/>
          </a:solidFill>
          <a:ln>
            <a:noFill/>
          </a:ln>
          <a:effectLst/>
        </p:spPr>
        <p:txBody>
          <a:bodyPr wrap="square" lIns="73152" rIns="73152" rtlCol="0" anchor="ctr"/>
          <a:lstStyle/>
          <a:p>
            <a:pPr algn="ctr"/>
            <a:r>
              <a:rPr sz="1500" b="1" i="0">
                <a:solidFill>
                  <a:srgbClr val="FFFFFF"/>
                </a:solidFill>
                <a:latin typeface="Arial"/>
              </a:rPr>
              <a:t>Outcome</a:t>
            </a:r>
            <a:endParaRPr sz="1500"/>
          </a:p>
        </p:txBody>
      </p:sp>
      <p:sp>
        <p:nvSpPr>
          <p:cNvPr id="11" name="TextBox 10"/>
          <p:cNvSpPr txBox="1"/>
          <p:nvPr/>
        </p:nvSpPr>
        <p:spPr>
          <a:xfrm>
            <a:off x="2606040" y="3054096"/>
            <a:ext cx="6720840" cy="960120"/>
          </a:xfrm>
          <a:prstGeom prst="rect">
            <a:avLst/>
          </a:prstGeom>
          <a:noFill/>
        </p:spPr>
        <p:txBody>
          <a:bodyPr wrap="square" lIns="73152" rIns="73152" anchor="ctr"/>
          <a:lstStyle/>
          <a:p>
            <a:pPr algn="l"/>
            <a:r>
              <a:rPr sz="1500" b="0" i="0">
                <a:solidFill>
                  <a:srgbClr val="1F2937"/>
                </a:solidFill>
                <a:latin typeface="Arial"/>
              </a:rPr>
              <a:t>One AI-assisted platform: find the bus, plan the fleet, open the data.</a:t>
            </a:r>
            <a:endParaRPr sz="1500"/>
          </a:p>
        </p:txBody>
      </p:sp>
      <p:sp>
        <p:nvSpPr>
          <p:cNvPr id="12" name="Rounded Rectangle 11"/>
          <p:cNvSpPr/>
          <p:nvPr/>
        </p:nvSpPr>
        <p:spPr>
          <a:xfrm>
            <a:off x="457200" y="4123944"/>
            <a:ext cx="8988552" cy="960120"/>
          </a:xfrm>
          <a:prstGeom prst="roundRect">
            <a:avLst>
              <a:gd name="adj" fmla="val 6000"/>
            </a:avLst>
          </a:prstGeom>
          <a:solidFill>
            <a:srgbClr val="F3F4F6"/>
          </a:solidFill>
          <a:ln>
            <a:noFill/>
          </a:ln>
          <a:effectLst/>
        </p:spPr>
        <p:txBody>
          <a:bodyPr rtlCol="0" anchor="ctr"/>
          <a:lstStyle/>
          <a:p>
            <a:pPr algn="ctr"/>
            <a:endParaRPr/>
          </a:p>
        </p:txBody>
      </p:sp>
      <p:sp>
        <p:nvSpPr>
          <p:cNvPr id="13" name="Rounded Rectangle 12"/>
          <p:cNvSpPr/>
          <p:nvPr/>
        </p:nvSpPr>
        <p:spPr>
          <a:xfrm>
            <a:off x="594360" y="4261104"/>
            <a:ext cx="1828800" cy="685800"/>
          </a:xfrm>
          <a:prstGeom prst="roundRect">
            <a:avLst>
              <a:gd name="adj" fmla="val 10000"/>
            </a:avLst>
          </a:prstGeom>
          <a:solidFill>
            <a:srgbClr val="C00000"/>
          </a:solidFill>
          <a:ln>
            <a:noFill/>
          </a:ln>
          <a:effectLst/>
        </p:spPr>
        <p:txBody>
          <a:bodyPr wrap="square" lIns="73152" rIns="73152" rtlCol="0" anchor="ctr"/>
          <a:lstStyle/>
          <a:p>
            <a:pPr algn="ctr"/>
            <a:r>
              <a:rPr sz="1500" b="1" i="0">
                <a:solidFill>
                  <a:srgbClr val="FFFFFF"/>
                </a:solidFill>
                <a:latin typeface="Arial"/>
              </a:rPr>
              <a:t>Feasibility</a:t>
            </a:r>
            <a:endParaRPr sz="1500"/>
          </a:p>
        </p:txBody>
      </p:sp>
      <p:sp>
        <p:nvSpPr>
          <p:cNvPr id="14" name="TextBox 13"/>
          <p:cNvSpPr txBox="1"/>
          <p:nvPr/>
        </p:nvSpPr>
        <p:spPr>
          <a:xfrm>
            <a:off x="2606040" y="4123944"/>
            <a:ext cx="6720840" cy="960120"/>
          </a:xfrm>
          <a:prstGeom prst="rect">
            <a:avLst/>
          </a:prstGeom>
          <a:noFill/>
        </p:spPr>
        <p:txBody>
          <a:bodyPr wrap="square" lIns="73152" rIns="73152" anchor="ctr"/>
          <a:lstStyle/>
          <a:p>
            <a:pPr algn="l"/>
            <a:r>
              <a:rPr sz="1500" b="0" i="0">
                <a:solidFill>
                  <a:srgbClr val="1F2937"/>
                </a:solidFill>
                <a:latin typeface="Arial"/>
              </a:rPr>
              <a:t>Public BMTC data, proven ML and optimisation methods, standard tools and a 16-week phased plan.</a:t>
            </a:r>
            <a:endParaRPr sz="1500"/>
          </a:p>
        </p:txBody>
      </p:sp>
      <p:sp>
        <p:nvSpPr>
          <p:cNvPr id="15" name="Rounded Rectangle 14"/>
          <p:cNvSpPr/>
          <p:nvPr/>
        </p:nvSpPr>
        <p:spPr>
          <a:xfrm>
            <a:off x="457200" y="5239512"/>
            <a:ext cx="8988552" cy="868680"/>
          </a:xfrm>
          <a:prstGeom prst="roundRect">
            <a:avLst>
              <a:gd name="adj" fmla="val 10000"/>
            </a:avLst>
          </a:prstGeom>
          <a:solidFill>
            <a:srgbClr val="E6F4EA"/>
          </a:solidFill>
          <a:ln>
            <a:noFill/>
          </a:ln>
          <a:effectLst/>
        </p:spPr>
        <p:txBody>
          <a:bodyPr wrap="square" lIns="73152" rIns="73152" rtlCol="0" anchor="ctr"/>
          <a:lstStyle/>
          <a:p>
            <a:pPr algn="ctr"/>
            <a:r>
              <a:rPr sz="1600" b="1" i="0">
                <a:solidFill>
                  <a:srgbClr val="0B8A3E"/>
                </a:solidFill>
                <a:latin typeface="Arial"/>
              </a:rPr>
              <a:t>DBARS answers both questions: which bus to take, and how many buses to run.</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988552" cy="603504"/>
          </a:xfrm>
        </p:spPr>
        <p:txBody>
          <a:bodyPr wrap="square" anchor="ctr"/>
          <a:lstStyle/>
          <a:p>
            <a:pPr algn="ctr"/>
            <a:r>
              <a:rPr sz="3000" b="1" i="0">
                <a:solidFill>
                  <a:srgbClr val="FF0000"/>
                </a:solidFill>
                <a:latin typeface="Arial"/>
              </a:rPr>
              <a:t>References (APA format)</a:t>
            </a:r>
          </a:p>
        </p:txBody>
      </p:sp>
      <p:sp>
        <p:nvSpPr>
          <p:cNvPr id="3" name="TextBox 2"/>
          <p:cNvSpPr txBox="1"/>
          <p:nvPr/>
        </p:nvSpPr>
        <p:spPr>
          <a:xfrm>
            <a:off x="457200" y="896112"/>
            <a:ext cx="8988552" cy="5349240"/>
          </a:xfrm>
          <a:prstGeom prst="rect">
            <a:avLst/>
          </a:prstGeom>
          <a:noFill/>
        </p:spPr>
        <p:txBody>
          <a:bodyPr wrap="square" lIns="73152" rIns="73152" anchor="t"/>
          <a:lstStyle/>
          <a:p>
            <a:pPr algn="l">
              <a:spcAft>
                <a:spcPts val="300"/>
              </a:spcAft>
            </a:pPr>
            <a:r>
              <a:rPr sz="1000" b="0" i="0">
                <a:solidFill>
                  <a:srgbClr val="1F2937"/>
                </a:solidFill>
                <a:latin typeface="Arial"/>
              </a:rPr>
              <a:t>[1] Baum, M., Buchhold, V., Sauer, J., Wagner, D., &amp; Zündorf, T. (2023). ULTRA: Unlimited transfers for efficient multimodal journey planning. Transportation Science, 57(6), 1536-1559.</a:t>
            </a:r>
            <a:endParaRPr sz="1050"/>
          </a:p>
          <a:p>
            <a:pPr algn="l">
              <a:spcAft>
                <a:spcPts val="300"/>
              </a:spcAft>
            </a:pPr>
            <a:r>
              <a:rPr sz="1000" b="0" i="0">
                <a:solidFill>
                  <a:srgbClr val="1F2937"/>
                </a:solidFill>
                <a:latin typeface="Arial"/>
              </a:rPr>
              <a:t>[2] Liu, D., Guo, J., Gu, Y., King, M., Han, L. D., &amp; Brakewood, C. (2025). Analyzing transit systems using General Transit Feed Specification (GTFS) by generating spatiotemporal transit networks. Information, 16(1), 24.</a:t>
            </a:r>
            <a:endParaRPr sz="1050"/>
          </a:p>
          <a:p>
            <a:pPr algn="l">
              <a:spcAft>
                <a:spcPts val="300"/>
              </a:spcAft>
            </a:pPr>
            <a:r>
              <a:rPr sz="1000" b="0" i="0">
                <a:solidFill>
                  <a:srgbClr val="1F2937"/>
                </a:solidFill>
                <a:latin typeface="Arial"/>
              </a:rPr>
              <a:t>[3] Prommaharaj, P., Phithakkitnukoon, S., Demissie, M. G., Kattan, L., &amp; Ratti, C. (2020). Visualizing public transit system operation with GTFS data: A case study of Calgary, Canada. Heliyon, 6(4), e03729.</a:t>
            </a:r>
            <a:endParaRPr sz="1050"/>
          </a:p>
          <a:p>
            <a:pPr algn="l">
              <a:spcAft>
                <a:spcPts val="300"/>
              </a:spcAft>
            </a:pPr>
            <a:r>
              <a:rPr sz="1000" b="0" i="0">
                <a:solidFill>
                  <a:srgbClr val="1F2937"/>
                </a:solidFill>
                <a:latin typeface="Arial"/>
              </a:rPr>
              <a:t>[4] Shang, H., Liu, Y., Wu, W., &amp; Zhao, F. (2023). Multi-depot vehicle scheduling with multiple vehicle types on overlapped bus routes. Expert Systems with Applications, 228, 120352.</a:t>
            </a:r>
            <a:endParaRPr sz="1050"/>
          </a:p>
          <a:p>
            <a:pPr algn="l">
              <a:spcAft>
                <a:spcPts val="300"/>
              </a:spcAft>
            </a:pPr>
            <a:r>
              <a:rPr sz="1000" b="0" i="0">
                <a:solidFill>
                  <a:srgbClr val="1F2937"/>
                </a:solidFill>
                <a:latin typeface="Arial"/>
              </a:rPr>
              <a:t>[5] Gkiotsalitis, K., Iliopoulou, C., &amp; Kepaptsoglou, K. (2023). An exact approach for the multi-depot electric bus scheduling problem with time windows. European Journal of Operational Research, 306(1), 189-206.</a:t>
            </a:r>
            <a:endParaRPr sz="1050"/>
          </a:p>
          <a:p>
            <a:pPr algn="l">
              <a:spcAft>
                <a:spcPts val="300"/>
              </a:spcAft>
            </a:pPr>
            <a:r>
              <a:rPr sz="1000" b="0" i="0">
                <a:solidFill>
                  <a:srgbClr val="1F2937"/>
                </a:solidFill>
                <a:latin typeface="Arial"/>
              </a:rPr>
              <a:t>[6] Pardo-Peña, D., Álvarez-Martínez, D., &amp; Escobar, J. W. (2024). A GRASP algorithm for the bus crew scheduling problem. International Journal of Industrial Engineering Computations, 15, 443-456.</a:t>
            </a:r>
            <a:endParaRPr sz="1050"/>
          </a:p>
          <a:p>
            <a:pPr algn="l">
              <a:spcAft>
                <a:spcPts val="300"/>
              </a:spcAft>
            </a:pPr>
            <a:r>
              <a:rPr sz="1000" b="0" i="0">
                <a:solidFill>
                  <a:srgbClr val="1F2937"/>
                </a:solidFill>
                <a:latin typeface="Arial"/>
              </a:rPr>
              <a:t>[7] Árgilán, V. S., &amp; Békési, J. (2025). Optimizing bus driver scheduling: A set covering approach for reducing transportation costs. Applied System Innovation, 8(5), 122.</a:t>
            </a:r>
            <a:endParaRPr sz="1050"/>
          </a:p>
          <a:p>
            <a:pPr algn="l">
              <a:spcAft>
                <a:spcPts val="300"/>
              </a:spcAft>
            </a:pPr>
            <a:r>
              <a:rPr sz="1000" b="0" i="0">
                <a:solidFill>
                  <a:srgbClr val="1F2937"/>
                </a:solidFill>
                <a:latin typeface="Arial"/>
              </a:rPr>
              <a:t>[8] Deepa, L., Pinjari, A. R., Nirmale, S. K., Srinivasan, K. K., &amp; Rambha, T. (2022). A direct demand model for bus transit ridership in Bengaluru, India. Transportation Research Part A, 163, 126-147.</a:t>
            </a:r>
            <a:endParaRPr sz="1050"/>
          </a:p>
          <a:p>
            <a:pPr algn="l">
              <a:spcAft>
                <a:spcPts val="300"/>
              </a:spcAft>
            </a:pPr>
            <a:r>
              <a:rPr sz="1000" b="0" i="0">
                <a:solidFill>
                  <a:srgbClr val="1F2937"/>
                </a:solidFill>
                <a:latin typeface="Arial"/>
              </a:rPr>
              <a:t>[9] Deepa, L., Pinjari, A. R., Nirmale, S. K., Biswas, M., &amp; Srinivasan, K. K. (2023). The adverse impact of headway variability on bus transit ridership: Evidence from Bengaluru, India. Transport Policy, 141, 343-356.</a:t>
            </a:r>
            <a:endParaRPr sz="1050"/>
          </a:p>
          <a:p>
            <a:pPr algn="l">
              <a:spcAft>
                <a:spcPts val="300"/>
              </a:spcAft>
            </a:pPr>
            <a:r>
              <a:rPr sz="1000" b="0" i="0">
                <a:solidFill>
                  <a:srgbClr val="1F2937"/>
                </a:solidFill>
                <a:latin typeface="Arial"/>
              </a:rPr>
              <a:t>[10] Singh, N., &amp; Kumar, K. (2022). A review of bus arrival time prediction using artificial intelligence. WIREs Data Mining and Knowledge Discovery, 12(4), e1457.</a:t>
            </a:r>
            <a:endParaRPr sz="1050"/>
          </a:p>
          <a:p>
            <a:pPr algn="l">
              <a:spcAft>
                <a:spcPts val="300"/>
              </a:spcAft>
            </a:pPr>
            <a:r>
              <a:rPr sz="1000" b="0" i="0">
                <a:solidFill>
                  <a:srgbClr val="1F2937"/>
                </a:solidFill>
                <a:latin typeface="Arial"/>
              </a:rPr>
              <a:t>[11] Ji, Z., Lee, N., Frieske, R., Yu, T., Su, D., Xu, Y., Ishii, E., Bang, Y. J., Madotto, A., &amp; Fung, P. (2023). Survey of hallucination in natural language generation. ACM Computing Surveys, 55(12), 1-38.</a:t>
            </a:r>
            <a:endParaRPr sz="1050"/>
          </a:p>
          <a:p>
            <a:pPr algn="l">
              <a:spcAft>
                <a:spcPts val="300"/>
              </a:spcAft>
            </a:pPr>
            <a:r>
              <a:rPr sz="1000" b="0" i="0">
                <a:solidFill>
                  <a:srgbClr val="1F2937"/>
                </a:solidFill>
                <a:latin typeface="Arial"/>
              </a:rPr>
              <a:t>[12] Halder, T., &amp; Jayadev, A. (2025). Gender, welfare, and mobility: Impact of Shakti scheme on BMTC transport transformation [Report]. Azim Premji University.</a:t>
            </a:r>
            <a:endParaRPr sz="1050"/>
          </a:p>
          <a:p>
            <a:pPr algn="l">
              <a:spcAft>
                <a:spcPts val="300"/>
              </a:spcAft>
            </a:pPr>
            <a:r>
              <a:rPr sz="1000" b="0" i="0">
                <a:solidFill>
                  <a:srgbClr val="1F2937"/>
                </a:solidFill>
                <a:latin typeface="Arial"/>
              </a:rPr>
              <a:t>[13] United Nations. (n.d.). The 17 Sustainable Development Goals. https://sdgs.un.org/goals</a:t>
            </a:r>
            <a:endParaRPr sz="1050"/>
          </a:p>
          <a:p>
            <a:pPr algn="l">
              <a:spcAft>
                <a:spcPts val="300"/>
              </a:spcAft>
            </a:pPr>
            <a:r>
              <a:rPr sz="1000" b="0" i="0">
                <a:solidFill>
                  <a:srgbClr val="1F2937"/>
                </a:solidFill>
                <a:latin typeface="Arial"/>
              </a:rPr>
              <a:t>[14] Namma BMTC 2.0 [Mobile app]. (2026). Google Play. https://play.google.com/store/apps/details?id=com.bmtc.bmtcavls.two</a:t>
            </a:r>
            <a:endParaRPr sz="1050"/>
          </a:p>
          <a:p>
            <a:pPr algn="l">
              <a:spcAft>
                <a:spcPts val="300"/>
              </a:spcAft>
            </a:pPr>
            <a:r>
              <a:rPr sz="1000" b="0" i="0">
                <a:solidFill>
                  <a:srgbClr val="1F2937"/>
                </a:solidFill>
                <a:latin typeface="Arial"/>
              </a:rPr>
              <a:t>[15] Asianet Newsable. (2026). BMTC launches Namma BMTC 2.0 app, one NCMC card for bus and Metro.</a:t>
            </a:r>
            <a:endParaRPr sz="1050"/>
          </a:p>
          <a:p>
            <a:pPr algn="l">
              <a:spcAft>
                <a:spcPts val="300"/>
              </a:spcAft>
            </a:pPr>
            <a:r>
              <a:rPr sz="1000" b="0" i="0">
                <a:solidFill>
                  <a:srgbClr val="1F2937"/>
                </a:solidFill>
                <a:latin typeface="Arial"/>
              </a:rPr>
              <a:t>[16] Moovit. (n.d.). BMTC, Bengaluru: Bus schedules, routes &amp; updates. https://moovitapp.com</a:t>
            </a:r>
            <a:endParaRPr sz="1050"/>
          </a:p>
          <a:p>
            <a:pPr algn="l">
              <a:spcAft>
                <a:spcPts val="300"/>
              </a:spcAft>
            </a:pPr>
            <a:r>
              <a:rPr sz="1000" b="0" i="0">
                <a:solidFill>
                  <a:srgbClr val="1F2937"/>
                </a:solidFill>
                <a:latin typeface="Arial"/>
              </a:rPr>
              <a:t>[17] Mobility Database. (n.d.). BMTC GTFS Schedule feed (mdb-2595). https://mobilitydatabase.org/feeds/gtfs/mdb-2595</a:t>
            </a:r>
            <a:endParaRPr sz="1050"/>
          </a:p>
          <a:p>
            <a:pPr algn="l">
              <a:spcAft>
                <a:spcPts val="300"/>
              </a:spcAft>
            </a:pPr>
            <a:r>
              <a:rPr sz="1000" b="0" i="0">
                <a:solidFill>
                  <a:srgbClr val="1F2937"/>
                </a:solidFill>
                <a:latin typeface="Arial"/>
              </a:rPr>
              <a:t>[18] Sustainable Bus. (2025, September 8). One in five buses in Bangalore now electric as BMTC fleet surpasses 7,000 units.</a:t>
            </a:r>
            <a:endParaRPr sz="10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5"/>
          <p:cNvSpPr txBox="1">
            <a:spLocks noGrp="1"/>
          </p:cNvSpPr>
          <p:nvPr>
            <p:ph type="ctrTitle"/>
          </p:nvPr>
        </p:nvSpPr>
        <p:spPr>
          <a:xfrm>
            <a:off x="548640" y="1988820"/>
            <a:ext cx="8420100" cy="118872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2"/>
              </a:buClr>
              <a:buSzPts val="4000"/>
              <a:buFont typeface="Calibri"/>
              <a:buNone/>
            </a:pPr>
            <a:r>
              <a:rPr lang="en-US" sz="4000" b="1" dirty="0">
                <a:solidFill>
                  <a:schemeClr val="dk2"/>
                </a:solidFill>
                <a:latin typeface="Calibri"/>
                <a:ea typeface="Calibri"/>
                <a:cs typeface="Calibri"/>
                <a:sym typeface="Calibri"/>
              </a:rPr>
              <a:t>Thank You</a:t>
            </a:r>
            <a:endParaRPr sz="4000" b="1" dirty="0">
              <a:solidFill>
                <a:schemeClr val="dk2"/>
              </a:solidFill>
              <a:latin typeface="Calibri"/>
              <a:ea typeface="Calibri"/>
              <a:cs typeface="Calibri"/>
              <a:sym typeface="Calibri"/>
            </a:endParaRPr>
          </a:p>
        </p:txBody>
      </p:sp>
      <p:pic>
        <p:nvPicPr>
          <p:cNvPr id="165" name="Google Shape;165;p15"/>
          <p:cNvPicPr preferRelativeResize="0"/>
          <p:nvPr/>
        </p:nvPicPr>
        <p:blipFill rotWithShape="1">
          <a:blip r:embed="rId3">
            <a:alphaModFix/>
          </a:blip>
          <a:srcRect/>
          <a:stretch/>
        </p:blipFill>
        <p:spPr>
          <a:xfrm>
            <a:off x="200472" y="6714622"/>
            <a:ext cx="2416616" cy="152094"/>
          </a:xfrm>
          <a:prstGeom prst="rect">
            <a:avLst/>
          </a:prstGeom>
          <a:noFill/>
          <a:ln>
            <a:noFill/>
          </a:ln>
        </p:spPr>
      </p:pic>
      <p:sp>
        <p:nvSpPr>
          <p:cNvPr id="166" name="TextBox 165"/>
          <p:cNvSpPr txBox="1"/>
          <p:nvPr/>
        </p:nvSpPr>
        <p:spPr>
          <a:xfrm>
            <a:off x="548640" y="3291840"/>
            <a:ext cx="8805672" cy="457200"/>
          </a:xfrm>
          <a:prstGeom prst="rect">
            <a:avLst/>
          </a:prstGeom>
          <a:noFill/>
        </p:spPr>
        <p:txBody>
          <a:bodyPr wrap="square" lIns="73152" rIns="73152" anchor="t"/>
          <a:lstStyle/>
          <a:p>
            <a:pPr algn="ctr"/>
            <a:r>
              <a:rPr sz="2200" b="1" i="0">
                <a:solidFill>
                  <a:srgbClr val="C00000"/>
                </a:solidFill>
                <a:latin typeface="Arial"/>
              </a:rPr>
              <a:t>Questions and Discussion</a:t>
            </a:r>
            <a:endParaRPr sz="2200"/>
          </a:p>
        </p:txBody>
      </p:sp>
      <p:sp>
        <p:nvSpPr>
          <p:cNvPr id="167" name="TextBox 166"/>
          <p:cNvSpPr txBox="1"/>
          <p:nvPr/>
        </p:nvSpPr>
        <p:spPr>
          <a:xfrm>
            <a:off x="548640" y="3931920"/>
            <a:ext cx="8805672" cy="457200"/>
          </a:xfrm>
          <a:prstGeom prst="rect">
            <a:avLst/>
          </a:prstGeom>
          <a:noFill/>
        </p:spPr>
        <p:txBody>
          <a:bodyPr wrap="square" lIns="73152" rIns="73152" anchor="t"/>
          <a:lstStyle/>
          <a:p>
            <a:pPr algn="ctr"/>
            <a:r>
              <a:rPr sz="1600" b="1" i="0">
                <a:solidFill>
                  <a:srgbClr val="1F2937"/>
                </a:solidFill>
                <a:latin typeface="Arial"/>
              </a:rPr>
              <a:t>DBARS: Demand Based Bus Allocation &amp; Routing System</a:t>
            </a:r>
            <a:endParaRPr sz="16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Literature Survey: Research Gaps</a:t>
            </a:r>
          </a:p>
        </p:txBody>
      </p:sp>
      <p:sp>
        <p:nvSpPr>
          <p:cNvPr id="3" name="Rounded Rectangle 2"/>
          <p:cNvSpPr/>
          <p:nvPr/>
        </p:nvSpPr>
        <p:spPr>
          <a:xfrm>
            <a:off x="457200" y="914400"/>
            <a:ext cx="8988552" cy="822960"/>
          </a:xfrm>
          <a:prstGeom prst="roundRect">
            <a:avLst>
              <a:gd name="adj" fmla="val 6000"/>
            </a:avLst>
          </a:prstGeom>
          <a:solidFill>
            <a:srgbClr val="F3F4F6"/>
          </a:solidFill>
          <a:ln>
            <a:noFill/>
          </a:ln>
          <a:effectLst/>
        </p:spPr>
        <p:txBody>
          <a:bodyPr rtlCol="0" anchor="ctr"/>
          <a:lstStyle/>
          <a:p>
            <a:pPr algn="ctr"/>
          </a:p>
        </p:txBody>
      </p:sp>
      <p:sp>
        <p:nvSpPr>
          <p:cNvPr id="4" name="Rounded Rectangle 3"/>
          <p:cNvSpPr/>
          <p:nvPr/>
        </p:nvSpPr>
        <p:spPr>
          <a:xfrm>
            <a:off x="594360" y="1042416"/>
            <a:ext cx="685800" cy="566928"/>
          </a:xfrm>
          <a:prstGeom prst="roundRect">
            <a:avLst>
              <a:gd name="adj" fmla="val 15000"/>
            </a:avLst>
          </a:prstGeom>
          <a:solidFill>
            <a:srgbClr val="C00000"/>
          </a:solidFill>
          <a:ln>
            <a:noFill/>
          </a:ln>
          <a:effectLst/>
        </p:spPr>
        <p:txBody>
          <a:bodyPr rtlCol="0" anchor="ctr" wrap="square" lIns="0" tIns="0" rIns="0" bIns="0"/>
          <a:lstStyle/>
          <a:p>
            <a:pPr algn="ctr"/>
            <a:r>
              <a:rPr sz="1700" b="1" i="0">
                <a:solidFill>
                  <a:srgbClr val="FFFFFF"/>
                </a:solidFill>
                <a:latin typeface="Arial"/>
              </a:rPr>
              <a:t>G1</a:t>
            </a:r>
            <a:endParaRPr sz="1700"/>
          </a:p>
        </p:txBody>
      </p:sp>
      <p:sp>
        <p:nvSpPr>
          <p:cNvPr id="5" name="TextBox 4"/>
          <p:cNvSpPr txBox="1"/>
          <p:nvPr/>
        </p:nvSpPr>
        <p:spPr>
          <a:xfrm>
            <a:off x="1463040" y="950976"/>
            <a:ext cx="7863840" cy="347472"/>
          </a:xfrm>
          <a:prstGeom prst="rect">
            <a:avLst/>
          </a:prstGeom>
          <a:noFill/>
        </p:spPr>
        <p:txBody>
          <a:bodyPr wrap="square" anchor="ctr" lIns="73152" rIns="73152"/>
          <a:lstStyle/>
          <a:p>
            <a:pPr algn="l"/>
            <a:r>
              <a:rPr sz="1600" b="1" i="0">
                <a:solidFill>
                  <a:srgbClr val="C00000"/>
                </a:solidFill>
                <a:latin typeface="Arial"/>
              </a:rPr>
              <a:t>Rider and operator sides are studied separately</a:t>
            </a:r>
            <a:endParaRPr sz="1600"/>
          </a:p>
        </p:txBody>
      </p:sp>
      <p:sp>
        <p:nvSpPr>
          <p:cNvPr id="6" name="TextBox 5"/>
          <p:cNvSpPr txBox="1"/>
          <p:nvPr/>
        </p:nvSpPr>
        <p:spPr>
          <a:xfrm>
            <a:off x="1463040" y="1280160"/>
            <a:ext cx="7863840" cy="438912"/>
          </a:xfrm>
          <a:prstGeom prst="rect">
            <a:avLst/>
          </a:prstGeom>
          <a:noFill/>
        </p:spPr>
        <p:txBody>
          <a:bodyPr wrap="square" anchor="t" lIns="73152" rIns="73152"/>
          <a:lstStyle/>
          <a:p>
            <a:pPr algn="l"/>
            <a:r>
              <a:rPr sz="1350" b="0" i="0">
                <a:solidFill>
                  <a:srgbClr val="1F2937"/>
                </a:solidFill>
                <a:latin typeface="Arial"/>
              </a:rPr>
              <a:t>Journey planners serve riders; scheduling work serves buses and crews. None does both from one dataset.</a:t>
            </a:r>
            <a:endParaRPr sz="1350"/>
          </a:p>
        </p:txBody>
      </p:sp>
      <p:sp>
        <p:nvSpPr>
          <p:cNvPr id="7" name="Rounded Rectangle 6"/>
          <p:cNvSpPr/>
          <p:nvPr/>
        </p:nvSpPr>
        <p:spPr>
          <a:xfrm>
            <a:off x="457200" y="1810512"/>
            <a:ext cx="8988552" cy="822960"/>
          </a:xfrm>
          <a:prstGeom prst="roundRect">
            <a:avLst>
              <a:gd name="adj" fmla="val 6000"/>
            </a:avLst>
          </a:prstGeom>
          <a:solidFill>
            <a:srgbClr val="F3F4F6"/>
          </a:solidFill>
          <a:ln>
            <a:noFill/>
          </a:ln>
          <a:effectLst/>
        </p:spPr>
        <p:txBody>
          <a:bodyPr rtlCol="0" anchor="ctr"/>
          <a:lstStyle/>
          <a:p>
            <a:pPr algn="ctr"/>
          </a:p>
        </p:txBody>
      </p:sp>
      <p:sp>
        <p:nvSpPr>
          <p:cNvPr id="8" name="Rounded Rectangle 7"/>
          <p:cNvSpPr/>
          <p:nvPr/>
        </p:nvSpPr>
        <p:spPr>
          <a:xfrm>
            <a:off x="594360" y="1938528"/>
            <a:ext cx="685800" cy="566928"/>
          </a:xfrm>
          <a:prstGeom prst="roundRect">
            <a:avLst>
              <a:gd name="adj" fmla="val 15000"/>
            </a:avLst>
          </a:prstGeom>
          <a:solidFill>
            <a:srgbClr val="C00000"/>
          </a:solidFill>
          <a:ln>
            <a:noFill/>
          </a:ln>
          <a:effectLst/>
        </p:spPr>
        <p:txBody>
          <a:bodyPr rtlCol="0" anchor="ctr" wrap="square" lIns="0" tIns="0" rIns="0" bIns="0"/>
          <a:lstStyle/>
          <a:p>
            <a:pPr algn="ctr"/>
            <a:r>
              <a:rPr sz="1700" b="1" i="0">
                <a:solidFill>
                  <a:srgbClr val="FFFFFF"/>
                </a:solidFill>
                <a:latin typeface="Arial"/>
              </a:rPr>
              <a:t>G2</a:t>
            </a:r>
            <a:endParaRPr sz="1700"/>
          </a:p>
        </p:txBody>
      </p:sp>
      <p:sp>
        <p:nvSpPr>
          <p:cNvPr id="9" name="TextBox 8"/>
          <p:cNvSpPr txBox="1"/>
          <p:nvPr/>
        </p:nvSpPr>
        <p:spPr>
          <a:xfrm>
            <a:off x="1463040" y="1847088"/>
            <a:ext cx="7863840" cy="347472"/>
          </a:xfrm>
          <a:prstGeom prst="rect">
            <a:avLst/>
          </a:prstGeom>
          <a:noFill/>
        </p:spPr>
        <p:txBody>
          <a:bodyPr wrap="square" anchor="ctr" lIns="73152" rIns="73152"/>
          <a:lstStyle/>
          <a:p>
            <a:pPr algn="l"/>
            <a:r>
              <a:rPr sz="1600" b="1" i="0">
                <a:solidFill>
                  <a:srgbClr val="C00000"/>
                </a:solidFill>
                <a:latin typeface="Arial"/>
              </a:rPr>
              <a:t>Scheduling is tested only on small cases</a:t>
            </a:r>
            <a:endParaRPr sz="1600"/>
          </a:p>
        </p:txBody>
      </p:sp>
      <p:sp>
        <p:nvSpPr>
          <p:cNvPr id="10" name="TextBox 9"/>
          <p:cNvSpPr txBox="1"/>
          <p:nvPr/>
        </p:nvSpPr>
        <p:spPr>
          <a:xfrm>
            <a:off x="1463040" y="2176272"/>
            <a:ext cx="7863840" cy="438912"/>
          </a:xfrm>
          <a:prstGeom prst="rect">
            <a:avLst/>
          </a:prstGeom>
          <a:noFill/>
        </p:spPr>
        <p:txBody>
          <a:bodyPr wrap="square" anchor="t" lIns="73152" rIns="73152"/>
          <a:lstStyle/>
          <a:p>
            <a:pPr algn="l"/>
            <a:r>
              <a:rPr sz="1350" b="0" i="0">
                <a:solidFill>
                  <a:srgbClr val="1F2937"/>
                </a:solidFill>
                <a:latin typeface="Arial"/>
              </a:rPr>
              <a:t>Six lines, 30 trips or 595 shifts, not a full city timetable with 6,737 route-directions.</a:t>
            </a:r>
            <a:endParaRPr sz="1350"/>
          </a:p>
        </p:txBody>
      </p:sp>
      <p:sp>
        <p:nvSpPr>
          <p:cNvPr id="11" name="Rounded Rectangle 10"/>
          <p:cNvSpPr/>
          <p:nvPr/>
        </p:nvSpPr>
        <p:spPr>
          <a:xfrm>
            <a:off x="457200" y="2706624"/>
            <a:ext cx="8988552" cy="822960"/>
          </a:xfrm>
          <a:prstGeom prst="roundRect">
            <a:avLst>
              <a:gd name="adj" fmla="val 6000"/>
            </a:avLst>
          </a:prstGeom>
          <a:solidFill>
            <a:srgbClr val="F3F4F6"/>
          </a:solidFill>
          <a:ln>
            <a:noFill/>
          </a:ln>
          <a:effectLst/>
        </p:spPr>
        <p:txBody>
          <a:bodyPr rtlCol="0" anchor="ctr"/>
          <a:lstStyle/>
          <a:p>
            <a:pPr algn="ctr"/>
          </a:p>
        </p:txBody>
      </p:sp>
      <p:sp>
        <p:nvSpPr>
          <p:cNvPr id="12" name="Rounded Rectangle 11"/>
          <p:cNvSpPr/>
          <p:nvPr/>
        </p:nvSpPr>
        <p:spPr>
          <a:xfrm>
            <a:off x="594360" y="2834640"/>
            <a:ext cx="685800" cy="566928"/>
          </a:xfrm>
          <a:prstGeom prst="roundRect">
            <a:avLst>
              <a:gd name="adj" fmla="val 15000"/>
            </a:avLst>
          </a:prstGeom>
          <a:solidFill>
            <a:srgbClr val="C00000"/>
          </a:solidFill>
          <a:ln>
            <a:noFill/>
          </a:ln>
          <a:effectLst/>
        </p:spPr>
        <p:txBody>
          <a:bodyPr rtlCol="0" anchor="ctr" wrap="square" lIns="0" tIns="0" rIns="0" bIns="0"/>
          <a:lstStyle/>
          <a:p>
            <a:pPr algn="ctr"/>
            <a:r>
              <a:rPr sz="1700" b="1" i="0">
                <a:solidFill>
                  <a:srgbClr val="FFFFFF"/>
                </a:solidFill>
                <a:latin typeface="Arial"/>
              </a:rPr>
              <a:t>G3</a:t>
            </a:r>
            <a:endParaRPr sz="1700"/>
          </a:p>
        </p:txBody>
      </p:sp>
      <p:sp>
        <p:nvSpPr>
          <p:cNvPr id="13" name="TextBox 12"/>
          <p:cNvSpPr txBox="1"/>
          <p:nvPr/>
        </p:nvSpPr>
        <p:spPr>
          <a:xfrm>
            <a:off x="1463040" y="2743200"/>
            <a:ext cx="7863840" cy="347472"/>
          </a:xfrm>
          <a:prstGeom prst="rect">
            <a:avLst/>
          </a:prstGeom>
          <a:noFill/>
        </p:spPr>
        <p:txBody>
          <a:bodyPr wrap="square" anchor="ctr" lIns="73152" rIns="73152"/>
          <a:lstStyle/>
          <a:p>
            <a:pPr algn="l"/>
            <a:r>
              <a:rPr sz="1600" b="1" i="0">
                <a:solidFill>
                  <a:srgbClr val="C00000"/>
                </a:solidFill>
                <a:latin typeface="Arial"/>
              </a:rPr>
              <a:t>Open data stops at static timetables</a:t>
            </a:r>
            <a:endParaRPr sz="1600"/>
          </a:p>
        </p:txBody>
      </p:sp>
      <p:sp>
        <p:nvSpPr>
          <p:cNvPr id="14" name="TextBox 13"/>
          <p:cNvSpPr txBox="1"/>
          <p:nvPr/>
        </p:nvSpPr>
        <p:spPr>
          <a:xfrm>
            <a:off x="1463040" y="3072384"/>
            <a:ext cx="7863840" cy="438912"/>
          </a:xfrm>
          <a:prstGeom prst="rect">
            <a:avLst/>
          </a:prstGeom>
          <a:noFill/>
        </p:spPr>
        <p:txBody>
          <a:bodyPr wrap="square" anchor="t" lIns="73152" rIns="73152"/>
          <a:lstStyle/>
          <a:p>
            <a:pPr algn="l"/>
            <a:r>
              <a:rPr sz="1350" b="0" i="0">
                <a:solidFill>
                  <a:srgbClr val="1F2937"/>
                </a:solidFill>
                <a:latin typeface="Arial"/>
              </a:rPr>
              <a:t>No live service alerts, and estimated values are not clearly labelled.</a:t>
            </a:r>
            <a:endParaRPr sz="1350"/>
          </a:p>
        </p:txBody>
      </p:sp>
      <p:sp>
        <p:nvSpPr>
          <p:cNvPr id="15" name="Rounded Rectangle 14"/>
          <p:cNvSpPr/>
          <p:nvPr/>
        </p:nvSpPr>
        <p:spPr>
          <a:xfrm>
            <a:off x="457200" y="3602736"/>
            <a:ext cx="8988552" cy="822960"/>
          </a:xfrm>
          <a:prstGeom prst="roundRect">
            <a:avLst>
              <a:gd name="adj" fmla="val 6000"/>
            </a:avLst>
          </a:prstGeom>
          <a:solidFill>
            <a:srgbClr val="F3F4F6"/>
          </a:solidFill>
          <a:ln>
            <a:noFill/>
          </a:ln>
          <a:effectLst/>
        </p:spPr>
        <p:txBody>
          <a:bodyPr rtlCol="0" anchor="ctr"/>
          <a:lstStyle/>
          <a:p>
            <a:pPr algn="ctr"/>
          </a:p>
        </p:txBody>
      </p:sp>
      <p:sp>
        <p:nvSpPr>
          <p:cNvPr id="16" name="Rounded Rectangle 15"/>
          <p:cNvSpPr/>
          <p:nvPr/>
        </p:nvSpPr>
        <p:spPr>
          <a:xfrm>
            <a:off x="594360" y="3730752"/>
            <a:ext cx="685800" cy="566928"/>
          </a:xfrm>
          <a:prstGeom prst="roundRect">
            <a:avLst>
              <a:gd name="adj" fmla="val 15000"/>
            </a:avLst>
          </a:prstGeom>
          <a:solidFill>
            <a:srgbClr val="C00000"/>
          </a:solidFill>
          <a:ln>
            <a:noFill/>
          </a:ln>
          <a:effectLst/>
        </p:spPr>
        <p:txBody>
          <a:bodyPr rtlCol="0" anchor="ctr" wrap="square" lIns="0" tIns="0" rIns="0" bIns="0"/>
          <a:lstStyle/>
          <a:p>
            <a:pPr algn="ctr"/>
            <a:r>
              <a:rPr sz="1700" b="1" i="0">
                <a:solidFill>
                  <a:srgbClr val="FFFFFF"/>
                </a:solidFill>
                <a:latin typeface="Arial"/>
              </a:rPr>
              <a:t>G4</a:t>
            </a:r>
            <a:endParaRPr sz="1700"/>
          </a:p>
        </p:txBody>
      </p:sp>
      <p:sp>
        <p:nvSpPr>
          <p:cNvPr id="17" name="TextBox 16"/>
          <p:cNvSpPr txBox="1"/>
          <p:nvPr/>
        </p:nvSpPr>
        <p:spPr>
          <a:xfrm>
            <a:off x="1463040" y="3639312"/>
            <a:ext cx="7863840" cy="347472"/>
          </a:xfrm>
          <a:prstGeom prst="rect">
            <a:avLst/>
          </a:prstGeom>
          <a:noFill/>
        </p:spPr>
        <p:txBody>
          <a:bodyPr wrap="square" anchor="ctr" lIns="73152" rIns="73152"/>
          <a:lstStyle/>
          <a:p>
            <a:pPr algn="l"/>
            <a:r>
              <a:rPr sz="1600" b="1" i="0">
                <a:solidFill>
                  <a:srgbClr val="C00000"/>
                </a:solidFill>
                <a:latin typeface="Arial"/>
              </a:rPr>
              <a:t>Rider demand never reaches the depot</a:t>
            </a:r>
            <a:endParaRPr sz="1600"/>
          </a:p>
        </p:txBody>
      </p:sp>
      <p:sp>
        <p:nvSpPr>
          <p:cNvPr id="18" name="TextBox 17"/>
          <p:cNvSpPr txBox="1"/>
          <p:nvPr/>
        </p:nvSpPr>
        <p:spPr>
          <a:xfrm>
            <a:off x="1463040" y="3968496"/>
            <a:ext cx="7863840" cy="438912"/>
          </a:xfrm>
          <a:prstGeom prst="rect">
            <a:avLst/>
          </a:prstGeom>
          <a:noFill/>
        </p:spPr>
        <p:txBody>
          <a:bodyPr wrap="square" anchor="t" lIns="73152" rIns="73152"/>
          <a:lstStyle/>
          <a:p>
            <a:pPr algn="l"/>
            <a:r>
              <a:rPr sz="1350" b="0" i="0">
                <a:solidFill>
                  <a:srgbClr val="1F2937"/>
                </a:solidFill>
                <a:latin typeface="Arial"/>
              </a:rPr>
              <a:t>Demand studies are offline; riders cannot signal where they need more buses.</a:t>
            </a:r>
            <a:endParaRPr sz="1350"/>
          </a:p>
        </p:txBody>
      </p:sp>
      <p:sp>
        <p:nvSpPr>
          <p:cNvPr id="19" name="Rounded Rectangle 18"/>
          <p:cNvSpPr/>
          <p:nvPr/>
        </p:nvSpPr>
        <p:spPr>
          <a:xfrm>
            <a:off x="457200" y="4498848"/>
            <a:ext cx="8988552" cy="822960"/>
          </a:xfrm>
          <a:prstGeom prst="roundRect">
            <a:avLst>
              <a:gd name="adj" fmla="val 6000"/>
            </a:avLst>
          </a:prstGeom>
          <a:solidFill>
            <a:srgbClr val="F3F4F6"/>
          </a:solidFill>
          <a:ln>
            <a:noFill/>
          </a:ln>
          <a:effectLst/>
        </p:spPr>
        <p:txBody>
          <a:bodyPr rtlCol="0" anchor="ctr"/>
          <a:lstStyle/>
          <a:p>
            <a:pPr algn="ctr"/>
          </a:p>
        </p:txBody>
      </p:sp>
      <p:sp>
        <p:nvSpPr>
          <p:cNvPr id="20" name="Rounded Rectangle 19"/>
          <p:cNvSpPr/>
          <p:nvPr/>
        </p:nvSpPr>
        <p:spPr>
          <a:xfrm>
            <a:off x="594360" y="4626864"/>
            <a:ext cx="685800" cy="566928"/>
          </a:xfrm>
          <a:prstGeom prst="roundRect">
            <a:avLst>
              <a:gd name="adj" fmla="val 15000"/>
            </a:avLst>
          </a:prstGeom>
          <a:solidFill>
            <a:srgbClr val="C00000"/>
          </a:solidFill>
          <a:ln>
            <a:noFill/>
          </a:ln>
          <a:effectLst/>
        </p:spPr>
        <p:txBody>
          <a:bodyPr rtlCol="0" anchor="ctr" wrap="square" lIns="0" tIns="0" rIns="0" bIns="0"/>
          <a:lstStyle/>
          <a:p>
            <a:pPr algn="ctr"/>
            <a:r>
              <a:rPr sz="1700" b="1" i="0">
                <a:solidFill>
                  <a:srgbClr val="FFFFFF"/>
                </a:solidFill>
                <a:latin typeface="Arial"/>
              </a:rPr>
              <a:t>G5</a:t>
            </a:r>
            <a:endParaRPr sz="1700"/>
          </a:p>
        </p:txBody>
      </p:sp>
      <p:sp>
        <p:nvSpPr>
          <p:cNvPr id="21" name="TextBox 20"/>
          <p:cNvSpPr txBox="1"/>
          <p:nvPr/>
        </p:nvSpPr>
        <p:spPr>
          <a:xfrm>
            <a:off x="1463040" y="4535424"/>
            <a:ext cx="7863840" cy="347472"/>
          </a:xfrm>
          <a:prstGeom prst="rect">
            <a:avLst/>
          </a:prstGeom>
          <a:noFill/>
        </p:spPr>
        <p:txBody>
          <a:bodyPr wrap="square" anchor="ctr" lIns="73152" rIns="73152"/>
          <a:lstStyle/>
          <a:p>
            <a:pPr algn="l"/>
            <a:r>
              <a:rPr sz="1600" b="1" i="0">
                <a:solidFill>
                  <a:srgbClr val="C00000"/>
                </a:solidFill>
                <a:latin typeface="Arial"/>
              </a:rPr>
              <a:t>AI assistants can invent answers</a:t>
            </a:r>
            <a:endParaRPr sz="1600"/>
          </a:p>
        </p:txBody>
      </p:sp>
      <p:sp>
        <p:nvSpPr>
          <p:cNvPr id="22" name="TextBox 21"/>
          <p:cNvSpPr txBox="1"/>
          <p:nvPr/>
        </p:nvSpPr>
        <p:spPr>
          <a:xfrm>
            <a:off x="1463040" y="4864608"/>
            <a:ext cx="7863840" cy="438912"/>
          </a:xfrm>
          <a:prstGeom prst="rect">
            <a:avLst/>
          </a:prstGeom>
          <a:noFill/>
        </p:spPr>
        <p:txBody>
          <a:bodyPr wrap="square" anchor="t" lIns="73152" rIns="73152"/>
          <a:lstStyle/>
          <a:p>
            <a:pPr algn="l"/>
            <a:r>
              <a:rPr sz="1350" b="0" i="0">
                <a:solidFill>
                  <a:srgbClr val="1F2937"/>
                </a:solidFill>
                <a:latin typeface="Arial"/>
              </a:rPr>
              <a:t>Language-model AI can hallucinate facts; no surveyed transit work grounds an assistant in the operator's own data.</a:t>
            </a:r>
            <a:endParaRPr sz="1350"/>
          </a:p>
        </p:txBody>
      </p:sp>
      <p:sp>
        <p:nvSpPr>
          <p:cNvPr id="23" name="Rounded Rectangle 22"/>
          <p:cNvSpPr/>
          <p:nvPr/>
        </p:nvSpPr>
        <p:spPr>
          <a:xfrm>
            <a:off x="457200" y="5413248"/>
            <a:ext cx="8988552" cy="640080"/>
          </a:xfrm>
          <a:prstGeom prst="roundRect">
            <a:avLst>
              <a:gd name="adj" fmla="val 10000"/>
            </a:avLst>
          </a:prstGeom>
          <a:solidFill>
            <a:srgbClr val="1F2937"/>
          </a:solidFill>
          <a:ln>
            <a:noFill/>
          </a:ln>
          <a:effectLst/>
        </p:spPr>
        <p:txBody>
          <a:bodyPr rtlCol="0" anchor="ctr" wrap="square" lIns="73152" rIns="73152"/>
          <a:lstStyle/>
          <a:p>
            <a:pPr algn="ctr"/>
            <a:r>
              <a:rPr sz="1500" b="1" i="0">
                <a:solidFill>
                  <a:srgbClr val="FFC9C9"/>
                </a:solidFill>
                <a:latin typeface="Arial"/>
              </a:rPr>
              <a:t>Our bridge: </a:t>
            </a:r>
            <a:r>
              <a:rPr sz="1500" b="0" i="0">
                <a:solidFill>
                  <a:srgbClr val="FFFFFF"/>
                </a:solidFill>
                <a:latin typeface="Arial"/>
              </a:rPr>
              <a:t>DBARS connects riders and the operator using one BMTC dataset, with AI grounded in that data.</a:t>
            </a:r>
            <a:endParaRPr sz="15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Methods / Proposed Methodology</a:t>
            </a:r>
          </a:p>
        </p:txBody>
      </p:sp>
      <p:graphicFrame>
        <p:nvGraphicFramePr>
          <p:cNvPr id="3" name="Table 2"/>
          <p:cNvGraphicFramePr>
            <a:graphicFrameLocks noGrp="1"/>
          </p:cNvGraphicFramePr>
          <p:nvPr/>
        </p:nvGraphicFramePr>
        <p:xfrm>
          <a:off x="457200" y="914400"/>
          <a:ext cx="8988552" cy="3657600"/>
        </p:xfrm>
        <a:graphic>
          <a:graphicData uri="http://schemas.openxmlformats.org/drawingml/2006/table">
            <a:tbl>
              <a:tblPr firstRow="0" bandRow="0">
                <a:tableStyleId>{2D5ABB26-0587-4C30-8999-92F81FD0307C}</a:tableStyleId>
              </a:tblPr>
              <a:tblGrid>
                <a:gridCol w="1737360"/>
                <a:gridCol w="4572000"/>
                <a:gridCol w="2679192"/>
              </a:tblGrid>
              <a:tr h="347472">
                <a:tc>
                  <a:txBody>
                    <a:bodyPr wrap="square" anchor="ctr" lIns="73152" tIns="27432" rIns="73152" bIns="27432"/>
                    <a:lstStyle/>
                    <a:p>
                      <a:pPr algn="l"/>
                      <a:r>
                        <a:rPr sz="1200" b="1" i="0">
                          <a:solidFill>
                            <a:srgbClr val="FFFFFF"/>
                          </a:solidFill>
                          <a:latin typeface="Arial"/>
                        </a:rPr>
                        <a:t>Objective</a:t>
                      </a:r>
                      <a:endParaRPr sz="120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73152" tIns="27432" rIns="73152" bIns="27432"/>
                    <a:lstStyle/>
                    <a:p>
                      <a:pPr algn="l"/>
                      <a:r>
                        <a:rPr sz="1200" b="1" i="0">
                          <a:solidFill>
                            <a:srgbClr val="FFFFFF"/>
                          </a:solidFill>
                          <a:latin typeface="Arial"/>
                        </a:rPr>
                        <a:t>How we will do it</a:t>
                      </a:r>
                      <a:endParaRPr sz="120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73152" tIns="27432" rIns="73152" bIns="27432"/>
                    <a:lstStyle/>
                    <a:p>
                      <a:pPr algn="l"/>
                      <a:r>
                        <a:rPr sz="1200" b="1" i="0">
                          <a:solidFill>
                            <a:srgbClr val="FFFFFF"/>
                          </a:solidFill>
                          <a:latin typeface="Arial"/>
                        </a:rPr>
                        <a:t>Why this method</a:t>
                      </a:r>
                      <a:endParaRPr sz="120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r>
              <a:tr h="731520">
                <a:tc>
                  <a:txBody>
                    <a:bodyPr wrap="square" anchor="ctr" lIns="73152" tIns="27432" rIns="73152" bIns="27432"/>
                    <a:lstStyle/>
                    <a:p>
                      <a:pPr algn="l"/>
                      <a:r>
                        <a:rPr sz="1050" b="1" i="0">
                          <a:solidFill>
                            <a:srgbClr val="C00000"/>
                          </a:solidFill>
                          <a:latin typeface="Arial"/>
                        </a:rPr>
                        <a:t>1  Journey planner (ML search)</a:t>
                      </a:r>
                      <a:endParaRPr sz="105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27432" rIns="73152" bIns="27432"/>
                    <a:lstStyle/>
                    <a:p>
                      <a:pPr algn="l"/>
                      <a:r>
                        <a:rPr sz="1050" b="0" i="0">
                          <a:solidFill>
                            <a:srgbClr val="1F2937"/>
                          </a:solidFill>
                          <a:latin typeface="Arial"/>
                        </a:rPr>
                        <a:t>Split stop names into words, word pairs and 3-letter chunks; TF-IDF vectors with cosine similarity; fuzzy matching; hybrid ranker (stop match, order, frequency, distance); voice input</a:t>
                      </a:r>
                      <a:endParaRPr sz="105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27432" rIns="73152" bIns="27432"/>
                    <a:lstStyle/>
                    <a:p>
                      <a:pPr algn="l"/>
                      <a:r>
                        <a:rPr sz="1050" b="0" i="0">
                          <a:solidFill>
                            <a:srgbClr val="1F2937"/>
                          </a:solidFill>
                          <a:latin typeface="Arial"/>
                        </a:rPr>
                        <a:t>Finds the right stop even when misspelt or spoken; needs no training labels</a:t>
                      </a:r>
                      <a:endParaRPr sz="105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noFill/>
                  </a:tcPr>
                </a:tc>
              </a:tr>
              <a:tr h="475488">
                <a:tc>
                  <a:txBody>
                    <a:bodyPr wrap="square" anchor="ctr" lIns="73152" tIns="27432" rIns="73152" bIns="27432"/>
                    <a:lstStyle/>
                    <a:p>
                      <a:pPr algn="l"/>
                      <a:r>
                        <a:rPr sz="1050" b="1" i="0">
                          <a:solidFill>
                            <a:srgbClr val="C00000"/>
                          </a:solidFill>
                          <a:latin typeface="Arial"/>
                        </a:rPr>
                        <a:t>2  Fleet and crew planner</a:t>
                      </a:r>
                      <a:endParaRPr sz="105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27432" rIns="73152" bIns="27432"/>
                    <a:lstStyle/>
                    <a:p>
                      <a:pPr algn="l"/>
                      <a:r>
                        <a:rPr sz="1050" b="0" i="0">
                          <a:solidFill>
                            <a:srgbClr val="1F2937"/>
                          </a:solidFill>
                          <a:latin typeface="Arial"/>
                        </a:rPr>
                        <a:t>Chain trips into bus schedules; check against a lower bound; build legal crew duties</a:t>
                      </a:r>
                      <a:endParaRPr sz="105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27432" rIns="73152" bIns="27432"/>
                    <a:lstStyle/>
                    <a:p>
                      <a:pPr algn="l"/>
                      <a:r>
                        <a:rPr sz="1050" b="0" i="0">
                          <a:solidFill>
                            <a:srgbClr val="1F2937"/>
                          </a:solidFill>
                          <a:latin typeface="Arial"/>
                        </a:rPr>
                        <a:t>Shows how close to the minimum the fleet is</a:t>
                      </a:r>
                      <a:endParaRPr sz="105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r h="658368">
                <a:tc>
                  <a:txBody>
                    <a:bodyPr wrap="square" anchor="ctr" lIns="73152" tIns="27432" rIns="73152" bIns="27432"/>
                    <a:lstStyle/>
                    <a:p>
                      <a:pPr algn="l"/>
                      <a:r>
                        <a:rPr sz="1050" b="1" i="0">
                          <a:solidFill>
                            <a:srgbClr val="C00000"/>
                          </a:solidFill>
                          <a:latin typeface="Arial"/>
                        </a:rPr>
                        <a:t>3  Demand and tickets</a:t>
                      </a:r>
                      <a:endParaRPr sz="105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27432" rIns="73152" bIns="27432"/>
                    <a:lstStyle/>
                    <a:p>
                      <a:pPr algn="l"/>
                      <a:r>
                        <a:rPr sz="1050" b="0" i="0">
                          <a:solidFill>
                            <a:srgbClr val="1F2937"/>
                          </a:solidFill>
                          <a:latin typeface="Arial"/>
                        </a:rPr>
                        <a:t>Rule-based anomaly checks on votes (repeats, vote rate, shared IP, spread) with a voter reliability score; rank for depots; QR tickets; offline sales</a:t>
                      </a:r>
                      <a:endParaRPr sz="105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27432" rIns="73152" bIns="27432"/>
                    <a:lstStyle/>
                    <a:p>
                      <a:pPr algn="l"/>
                      <a:r>
                        <a:rPr sz="1050" b="0" i="0">
                          <a:solidFill>
                            <a:srgbClr val="1F2937"/>
                          </a:solidFill>
                          <a:latin typeface="Arial"/>
                        </a:rPr>
                        <a:t>Fake votes are filtered before they reach a depot; works without signal</a:t>
                      </a:r>
                      <a:endParaRPr sz="105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noFill/>
                  </a:tcPr>
                </a:tc>
              </a:tr>
              <a:tr h="658368">
                <a:tc>
                  <a:txBody>
                    <a:bodyPr wrap="square" anchor="ctr" lIns="73152" tIns="27432" rIns="73152" bIns="27432"/>
                    <a:lstStyle/>
                    <a:p>
                      <a:pPr algn="l"/>
                      <a:r>
                        <a:rPr sz="1050" b="1" i="0">
                          <a:solidFill>
                            <a:srgbClr val="C00000"/>
                          </a:solidFill>
                          <a:latin typeface="Arial"/>
                        </a:rPr>
                        <a:t>4  Open data and evaluation</a:t>
                      </a:r>
                      <a:endParaRPr sz="105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27432" rIns="73152" bIns="27432"/>
                    <a:lstStyle/>
                    <a:p>
                      <a:pPr algn="l"/>
                      <a:r>
                        <a:rPr sz="1050" b="0" i="0">
                          <a:solidFill>
                            <a:srgbClr val="1F2937"/>
                          </a:solidFill>
                          <a:latin typeface="Arial"/>
                        </a:rPr>
                        <a:t>Publish in GTFS; label estimates; compare 4 ranking models with 5-fold cross-validation and ranking metrics (nDCG@5, best-option rate)</a:t>
                      </a:r>
                      <a:endParaRPr sz="105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27432" rIns="73152" bIns="27432"/>
                    <a:lstStyle/>
                    <a:p>
                      <a:pPr algn="l"/>
                      <a:r>
                        <a:rPr sz="1050" b="0" i="0">
                          <a:solidFill>
                            <a:srgbClr val="1F2937"/>
                          </a:solidFill>
                          <a:latin typeface="Arial"/>
                        </a:rPr>
                        <a:t>The model is chosen on evidence; results stay honest</a:t>
                      </a:r>
                      <a:endParaRPr sz="105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r h="786384">
                <a:tc>
                  <a:txBody>
                    <a:bodyPr wrap="square" anchor="ctr" lIns="73152" tIns="27432" rIns="73152" bIns="27432"/>
                    <a:lstStyle/>
                    <a:p>
                      <a:pPr algn="l"/>
                      <a:r>
                        <a:rPr sz="1050" b="1" i="0">
                          <a:solidFill>
                            <a:srgbClr val="C00000"/>
                          </a:solidFill>
                          <a:latin typeface="Arial"/>
                        </a:rPr>
                        <a:t>5  AI assistant (GenAI)</a:t>
                      </a:r>
                      <a:endParaRPr sz="105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27432" rIns="73152" bIns="27432"/>
                    <a:lstStyle/>
                    <a:p>
                      <a:pPr algn="l"/>
                      <a:r>
                        <a:rPr sz="1050" b="0" i="0">
                          <a:solidFill>
                            <a:srgbClr val="1F2937"/>
                          </a:solidFill>
                          <a:latin typeface="Arial"/>
                        </a:rPr>
                        <a:t>Retrieval-augmented generation: BM25 + vector-embedding hybrid search; LLM (Google Gemini) via LangChain agents for travel and operations; grounding checks, prompt-injection guardrails, offline fallback</a:t>
                      </a:r>
                      <a:endParaRPr sz="105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27432" rIns="73152" bIns="27432"/>
                    <a:lstStyle/>
                    <a:p>
                      <a:pPr algn="l"/>
                      <a:r>
                        <a:rPr sz="1050" b="0" i="0">
                          <a:solidFill>
                            <a:srgbClr val="1F2937"/>
                          </a:solidFill>
                          <a:latin typeface="Arial"/>
                        </a:rPr>
                        <a:t>Answers cite BMTC data and never invent a route; read-only, so it cannot change data</a:t>
                      </a:r>
                      <a:endParaRPr sz="1050"/>
                    </a:p>
                  </a:txBody>
                  <a:tcPr marL="73152" marT="27432" marR="73152" marB="27432" anchor="ctr">
                    <a:lnL w="9525">
                      <a:solidFill>
                        <a:srgbClr val="D1D5DB"/>
                      </a:solidFill>
                    </a:lnL>
                    <a:lnR w="9525">
                      <a:solidFill>
                        <a:srgbClr val="D1D5DB"/>
                      </a:solidFill>
                    </a:lnR>
                    <a:lnT w="9525">
                      <a:solidFill>
                        <a:srgbClr val="D1D5DB"/>
                      </a:solidFill>
                    </a:lnT>
                    <a:lnB w="9525">
                      <a:solidFill>
                        <a:srgbClr val="D1D5DB"/>
                      </a:solidFill>
                    </a:lnB>
                    <a:noFill/>
                  </a:tcPr>
                </a:tc>
              </a:tr>
            </a:tbl>
          </a:graphicData>
        </a:graphic>
      </p:graphicFrame>
      <p:sp>
        <p:nvSpPr>
          <p:cNvPr id="4" name="TextBox 3"/>
          <p:cNvSpPr txBox="1"/>
          <p:nvPr/>
        </p:nvSpPr>
        <p:spPr>
          <a:xfrm>
            <a:off x="457200" y="4681728"/>
            <a:ext cx="8988552" cy="274320"/>
          </a:xfrm>
          <a:prstGeom prst="rect">
            <a:avLst/>
          </a:prstGeom>
          <a:noFill/>
        </p:spPr>
        <p:txBody>
          <a:bodyPr wrap="square" anchor="t" lIns="73152" rIns="73152"/>
          <a:lstStyle/>
          <a:p>
            <a:pPr algn="l"/>
            <a:r>
              <a:rPr sz="1200" b="1" i="0">
                <a:solidFill>
                  <a:srgbClr val="C00000"/>
                </a:solidFill>
                <a:latin typeface="Arial"/>
              </a:rPr>
              <a:t>How it fits together</a:t>
            </a:r>
            <a:endParaRPr sz="1200"/>
          </a:p>
        </p:txBody>
      </p:sp>
      <p:sp>
        <p:nvSpPr>
          <p:cNvPr id="5" name="Rounded Rectangle 4"/>
          <p:cNvSpPr/>
          <p:nvPr/>
        </p:nvSpPr>
        <p:spPr>
          <a:xfrm>
            <a:off x="457200" y="4992624"/>
            <a:ext cx="2103120" cy="822960"/>
          </a:xfrm>
          <a:prstGeom prst="roundRect">
            <a:avLst>
              <a:gd name="adj" fmla="val 10000"/>
            </a:avLst>
          </a:prstGeom>
          <a:solidFill>
            <a:srgbClr val="1F2937"/>
          </a:solidFill>
          <a:ln>
            <a:noFill/>
          </a:ln>
          <a:effectLst/>
        </p:spPr>
        <p:txBody>
          <a:bodyPr rtlCol="0" anchor="ctr" wrap="square" lIns="73152" rIns="73152"/>
          <a:lstStyle/>
          <a:p>
            <a:pPr algn="ctr"/>
            <a:r>
              <a:rPr sz="1400" b="1" i="0">
                <a:solidFill>
                  <a:srgbClr val="FFFFFF"/>
                </a:solidFill>
                <a:latin typeface="Arial"/>
              </a:rPr>
              <a:t>BMTC timetable</a:t>
            </a:r>
            <a:endParaRPr sz="1400"/>
          </a:p>
          <a:p>
            <a:pPr algn="ctr"/>
            <a:r>
              <a:rPr sz="1050" b="0" i="0">
                <a:solidFill>
                  <a:srgbClr val="FFFFFF"/>
                </a:solidFill>
                <a:latin typeface="Arial"/>
              </a:rPr>
              <a:t>routes, stops, fares</a:t>
            </a:r>
            <a:endParaRPr sz="1050"/>
          </a:p>
        </p:txBody>
      </p:sp>
      <p:sp>
        <p:nvSpPr>
          <p:cNvPr id="6" name="Rounded Rectangle 5"/>
          <p:cNvSpPr/>
          <p:nvPr/>
        </p:nvSpPr>
        <p:spPr>
          <a:xfrm>
            <a:off x="3063240" y="4992624"/>
            <a:ext cx="3520440" cy="822960"/>
          </a:xfrm>
          <a:prstGeom prst="roundRect">
            <a:avLst>
              <a:gd name="adj" fmla="val 10000"/>
            </a:avLst>
          </a:prstGeom>
          <a:solidFill>
            <a:srgbClr val="C00000"/>
          </a:solidFill>
          <a:ln>
            <a:noFill/>
          </a:ln>
          <a:effectLst/>
        </p:spPr>
        <p:txBody>
          <a:bodyPr rtlCol="0" anchor="ctr" wrap="square" lIns="73152" rIns="73152"/>
          <a:lstStyle/>
          <a:p>
            <a:pPr algn="ctr"/>
            <a:r>
              <a:rPr sz="1400" b="1" i="0">
                <a:solidFill>
                  <a:srgbClr val="FFFFFF"/>
                </a:solidFill>
                <a:latin typeface="Arial"/>
              </a:rPr>
              <a:t>DBARS (ML + AI)</a:t>
            </a:r>
            <a:endParaRPr sz="1400"/>
          </a:p>
          <a:p>
            <a:pPr algn="ctr"/>
            <a:r>
              <a:rPr sz="1050" b="0" i="0">
                <a:solidFill>
                  <a:srgbClr val="FFFFFF"/>
                </a:solidFill>
                <a:latin typeface="Arial"/>
              </a:rPr>
              <a:t>find and vote for the bus  |  plan the fleet  |  open the data</a:t>
            </a:r>
            <a:endParaRPr sz="1050"/>
          </a:p>
        </p:txBody>
      </p:sp>
      <p:sp>
        <p:nvSpPr>
          <p:cNvPr id="7" name="Rounded Rectangle 6"/>
          <p:cNvSpPr/>
          <p:nvPr/>
        </p:nvSpPr>
        <p:spPr>
          <a:xfrm>
            <a:off x="7086600" y="4992624"/>
            <a:ext cx="2359152" cy="822960"/>
          </a:xfrm>
          <a:prstGeom prst="roundRect">
            <a:avLst>
              <a:gd name="adj" fmla="val 10000"/>
            </a:avLst>
          </a:prstGeom>
          <a:solidFill>
            <a:srgbClr val="1F2937"/>
          </a:solidFill>
          <a:ln>
            <a:noFill/>
          </a:ln>
          <a:effectLst/>
        </p:spPr>
        <p:txBody>
          <a:bodyPr rtlCol="0" anchor="ctr" wrap="square" lIns="73152" rIns="73152"/>
          <a:lstStyle/>
          <a:p>
            <a:pPr algn="ctr"/>
            <a:r>
              <a:rPr sz="1400" b="1" i="0">
                <a:solidFill>
                  <a:srgbClr val="FFFFFF"/>
                </a:solidFill>
                <a:latin typeface="Arial"/>
              </a:rPr>
              <a:t>Users</a:t>
            </a:r>
            <a:endParaRPr sz="1400"/>
          </a:p>
          <a:p>
            <a:pPr algn="ctr"/>
            <a:r>
              <a:rPr sz="1050" b="0" i="0">
                <a:solidFill>
                  <a:srgbClr val="FFFFFF"/>
                </a:solidFill>
                <a:latin typeface="Arial"/>
              </a:rPr>
              <a:t>riders, depot managers, other apps</a:t>
            </a:r>
            <a:endParaRPr sz="1050"/>
          </a:p>
        </p:txBody>
      </p:sp>
      <p:sp>
        <p:nvSpPr>
          <p:cNvPr id="8" name="Right Arrow 7"/>
          <p:cNvSpPr/>
          <p:nvPr/>
        </p:nvSpPr>
        <p:spPr>
          <a:xfrm>
            <a:off x="2633472" y="5221224"/>
            <a:ext cx="365760" cy="365760"/>
          </a:xfrm>
          <a:prstGeom prst="rightArrow">
            <a:avLst/>
          </a:prstGeom>
          <a:solidFill>
            <a:srgbClr val="4B5563"/>
          </a:solidFill>
          <a:ln>
            <a:noFill/>
          </a:ln>
          <a:effectLst/>
        </p:spPr>
        <p:txBody>
          <a:bodyPr rtlCol="0" anchor="ctr"/>
          <a:lstStyle/>
          <a:p>
            <a:pPr algn="ctr"/>
          </a:p>
        </p:txBody>
      </p:sp>
      <p:sp>
        <p:nvSpPr>
          <p:cNvPr id="9" name="Right Arrow 8"/>
          <p:cNvSpPr/>
          <p:nvPr/>
        </p:nvSpPr>
        <p:spPr>
          <a:xfrm>
            <a:off x="6647688" y="5221224"/>
            <a:ext cx="365760" cy="365760"/>
          </a:xfrm>
          <a:prstGeom prst="rightArrow">
            <a:avLst/>
          </a:prstGeom>
          <a:solidFill>
            <a:srgbClr val="4B5563"/>
          </a:solidFill>
          <a:ln>
            <a:noFill/>
          </a:ln>
          <a:effectLst/>
        </p:spPr>
        <p:txBody>
          <a:bodyPr rtlCol="0" anchor="ctr"/>
          <a:lstStyle/>
          <a:p>
            <a:pPr algn="ctr"/>
          </a:p>
        </p:txBody>
      </p:sp>
      <p:sp>
        <p:nvSpPr>
          <p:cNvPr id="10" name="TextBox 9"/>
          <p:cNvSpPr txBox="1"/>
          <p:nvPr/>
        </p:nvSpPr>
        <p:spPr>
          <a:xfrm>
            <a:off x="3063240" y="5843016"/>
            <a:ext cx="6382512" cy="256032"/>
          </a:xfrm>
          <a:prstGeom prst="rect">
            <a:avLst/>
          </a:prstGeom>
          <a:noFill/>
        </p:spPr>
        <p:txBody>
          <a:bodyPr wrap="square" anchor="t" lIns="73152" rIns="73152"/>
          <a:lstStyle/>
          <a:p>
            <a:pPr algn="ctr"/>
            <a:r>
              <a:rPr sz="1050" b="0" i="1">
                <a:solidFill>
                  <a:srgbClr val="4B5563"/>
                </a:solidFill>
                <a:latin typeface="Arial"/>
              </a:rPr>
              <a:t>Rider votes flow back into depot planning</a:t>
            </a:r>
            <a:endParaRPr sz="105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3439</Words>
  <Application>Microsoft Office PowerPoint</Application>
  <PresentationFormat>A4 Paper (210x297 mm)</PresentationFormat>
  <Paragraphs>333</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Faculty of Engineering and Technology Department of Computer Science and Engineering</vt:lpstr>
      <vt:lpstr>Outline</vt:lpstr>
      <vt:lpstr>Introduction</vt:lpstr>
      <vt:lpstr>Literature Survey</vt:lpstr>
      <vt:lpstr>Literature Survey: Research Gaps</vt:lpstr>
      <vt:lpstr>Proposed Work / Problem Statement</vt:lpstr>
      <vt:lpstr>Objectives</vt:lpstr>
      <vt:lpstr>Methods / Proposed Methodology</vt:lpstr>
      <vt:lpstr>Sustainable Development Goals Aligned to the Project</vt:lpstr>
      <vt:lpstr>Expected Outcomes</vt:lpstr>
      <vt:lpstr>Gantt Chart</vt:lpstr>
      <vt:lpstr>Conclusion</vt:lpstr>
      <vt:lpstr>References (APA format)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 BHARATH KUMAR</dc:creator>
  <cp:lastModifiedBy>M BHARATH KUMAR</cp:lastModifiedBy>
  <cp:revision>6</cp:revision>
  <dcterms:modified xsi:type="dcterms:W3CDTF">2026-09-30T03:19:59Z</dcterms:modified>
</cp:coreProperties>
</file>